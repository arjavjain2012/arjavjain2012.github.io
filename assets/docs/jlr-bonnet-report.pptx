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7"/>
  </p:notesMasterIdLst>
  <p:sldIdLst>
    <p:sldId id="517" r:id="rId5"/>
    <p:sldId id="589" r:id="rId6"/>
    <p:sldId id="590" r:id="rId7"/>
    <p:sldId id="598" r:id="rId8"/>
    <p:sldId id="622" r:id="rId9"/>
    <p:sldId id="610" r:id="rId10"/>
    <p:sldId id="613" r:id="rId11"/>
    <p:sldId id="621" r:id="rId12"/>
    <p:sldId id="620" r:id="rId13"/>
    <p:sldId id="619" r:id="rId14"/>
    <p:sldId id="617" r:id="rId15"/>
    <p:sldId id="605" r:id="rId16"/>
    <p:sldId id="615" r:id="rId17"/>
    <p:sldId id="626" r:id="rId18"/>
    <p:sldId id="624" r:id="rId19"/>
    <p:sldId id="625" r:id="rId20"/>
    <p:sldId id="608" r:id="rId21"/>
    <p:sldId id="596" r:id="rId22"/>
    <p:sldId id="616" r:id="rId23"/>
    <p:sldId id="600" r:id="rId24"/>
    <p:sldId id="601" r:id="rId25"/>
    <p:sldId id="627" r:id="rId26"/>
  </p:sldIdLst>
  <p:sldSz cx="9144000" cy="5143500" type="screen16x9"/>
  <p:notesSz cx="6858000" cy="9144000"/>
  <p:embeddedFontLst>
    <p:embeddedFont>
      <p:font typeface="Lato" panose="020F0502020204030203" pitchFamily="34" charset="0"/>
      <p:regular r:id="rId28"/>
      <p:bold r:id="rId29"/>
      <p:italic r:id="rId30"/>
      <p:boldItalic r:id="rId31"/>
    </p:embeddedFont>
    <p:embeddedFont>
      <p:font typeface="Lato Black" panose="020F0502020204030203" pitchFamily="34" charset="0"/>
      <p:bold r:id="rId32"/>
      <p:boldItalic r:id="rId33"/>
    </p:embeddedFont>
    <p:embeddedFont>
      <p:font typeface="Open Sans ExtraBold" panose="020B0906030804020204" pitchFamily="34" charset="0"/>
      <p:bold r:id="rId34"/>
      <p:boldItalic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SHUBHAM KUMAR RAUT" initials="SKR" lastIdx="1" clrIdx="6">
    <p:extLst>
      <p:ext uri="{19B8F6BF-5375-455C-9EA6-DF929625EA0E}">
        <p15:presenceInfo xmlns:p15="http://schemas.microsoft.com/office/powerpoint/2012/main" userId="SHUBHAM KUMAR RAUT" providerId="None"/>
      </p:ext>
    </p:extLst>
  </p:cmAuthor>
  <p:cmAuthor id="1" name="YASH ASATI" initials="YA" lastIdx="1" clrIdx="0">
    <p:extLst>
      <p:ext uri="{19B8F6BF-5375-455C-9EA6-DF929625EA0E}">
        <p15:presenceInfo xmlns:p15="http://schemas.microsoft.com/office/powerpoint/2012/main" userId="S::yash_a@ee.iitr.ac.in::9e150f86-50a8-4709-af43-d44f88bd65e7" providerId="AD"/>
      </p:ext>
    </p:extLst>
  </p:cmAuthor>
  <p:cmAuthor id="2" name="ANURAG PATRA" initials="AP" lastIdx="1" clrIdx="1">
    <p:extLst>
      <p:ext uri="{19B8F6BF-5375-455C-9EA6-DF929625EA0E}">
        <p15:presenceInfo xmlns:p15="http://schemas.microsoft.com/office/powerpoint/2012/main" userId="ANURAG PATRA" providerId="None"/>
      </p:ext>
    </p:extLst>
  </p:cmAuthor>
  <p:cmAuthor id="3" name="ANCHIT PROCH" initials="AP" lastIdx="5" clrIdx="2">
    <p:extLst>
      <p:ext uri="{19B8F6BF-5375-455C-9EA6-DF929625EA0E}">
        <p15:presenceInfo xmlns:p15="http://schemas.microsoft.com/office/powerpoint/2012/main" userId="S::anchit_p@ee.iitr.ac.in::14413396-e45a-48a3-889e-07018dbefe0b" providerId="AD"/>
      </p:ext>
    </p:extLst>
  </p:cmAuthor>
  <p:cmAuthor id="4" name="JASWANT SINGH" initials="JS" lastIdx="6" clrIdx="3">
    <p:extLst>
      <p:ext uri="{19B8F6BF-5375-455C-9EA6-DF929625EA0E}">
        <p15:presenceInfo xmlns:p15="http://schemas.microsoft.com/office/powerpoint/2012/main" userId="JASWANT SINGH" providerId="None"/>
      </p:ext>
    </p:extLst>
  </p:cmAuthor>
  <p:cmAuthor id="5" name="YASH ASATI" initials="YA [2]" lastIdx="2" clrIdx="4">
    <p:extLst>
      <p:ext uri="{19B8F6BF-5375-455C-9EA6-DF929625EA0E}">
        <p15:presenceInfo xmlns:p15="http://schemas.microsoft.com/office/powerpoint/2012/main" userId="YASH ASATI" providerId="None"/>
      </p:ext>
    </p:extLst>
  </p:cmAuthor>
  <p:cmAuthor id="6" name="ARJAV JAIN" initials="AJ" lastIdx="2" clrIdx="5">
    <p:extLst>
      <p:ext uri="{19B8F6BF-5375-455C-9EA6-DF929625EA0E}">
        <p15:presenceInfo xmlns:p15="http://schemas.microsoft.com/office/powerpoint/2012/main" userId="ARJAV JA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6A74"/>
    <a:srgbClr val="1B535B"/>
    <a:srgbClr val="133C41"/>
    <a:srgbClr val="48BACA"/>
    <a:srgbClr val="E254B3"/>
    <a:srgbClr val="F0F0F0"/>
    <a:srgbClr val="EFEFEF"/>
    <a:srgbClr val="D9EAD3"/>
    <a:srgbClr val="B3CEFB"/>
    <a:srgbClr val="46B6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D73B9-8A39-4C7E-B7CB-CB97D340718E}" v="27" dt="2022-03-25T18:12:12.393"/>
    <p1510:client id="{593ADE94-8712-D178-E44B-D5CD4481DE01}" v="28" dt="2022-03-25T17:09:19.700"/>
    <p1510:client id="{61E3C7C6-54F5-4E48-9213-C9859D489792}" v="4843" dt="2022-03-26T07:44:35.826"/>
    <p1510:client id="{877CE41C-EE6A-3532-D894-04F0D6526882}" v="97" dt="2022-03-25T15:43:14.959"/>
    <p1510:client id="{93F86744-6F34-46C8-AEDE-C84D1E060E9B}" v="1983" dt="2022-03-25T17:50:34.932"/>
    <p1510:client id="{F9098ED9-8666-4441-A023-2B9C728A2306}" v="2747" dt="2022-03-25T18:12:46.363"/>
    <p1510:client id="{F9A57A5A-92F0-4EF5-92A0-A0DCA74DEB75}" v="4653" dt="2022-03-26T08:05:53.967"/>
  </p1510:revLst>
</p1510:revInfo>
</file>

<file path=ppt/tableStyles.xml><?xml version="1.0" encoding="utf-8"?>
<a:tblStyleLst xmlns:a="http://schemas.openxmlformats.org/drawingml/2006/main" def="{8730A773-DA22-4C10-8AF8-BE8CC2828DF3}">
  <a:tblStyle styleId="{8730A773-DA22-4C10-8AF8-BE8CC2828D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2.fntdata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commentAuthors" Target="commentAuthor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35A5D74-F198-4723-82BB-486368ED2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8338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199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855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808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625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0300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1554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3455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269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7329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798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21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49475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F9582DD1-7759-4FB7-A470-0B56A63E1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506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8930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07036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19324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7473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1815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20783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6973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1677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76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gif"/><Relationship Id="rId11" Type="http://schemas.openxmlformats.org/officeDocument/2006/relationships/image" Target="../media/image18.png"/><Relationship Id="rId5" Type="http://schemas.openxmlformats.org/officeDocument/2006/relationships/image" Target="../media/image13.png"/><Relationship Id="rId10" Type="http://schemas.openxmlformats.org/officeDocument/2006/relationships/image" Target="../media/image2.jpeg"/><Relationship Id="rId4" Type="http://schemas.openxmlformats.org/officeDocument/2006/relationships/image" Target="../media/image12.jpe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12" Type="http://schemas.openxmlformats.org/officeDocument/2006/relationships/image" Target="../media/image24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6" Type="http://schemas.microsoft.com/office/2007/relationships/hdphoto" Target="../media/hdphoto4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5" Type="http://schemas.openxmlformats.org/officeDocument/2006/relationships/image" Target="../media/image26.png"/><Relationship Id="rId10" Type="http://schemas.openxmlformats.org/officeDocument/2006/relationships/image" Target="../media/image22.png"/><Relationship Id="rId4" Type="http://schemas.openxmlformats.org/officeDocument/2006/relationships/image" Target="../media/image2.jpeg"/><Relationship Id="rId9" Type="http://schemas.microsoft.com/office/2007/relationships/hdphoto" Target="../media/hdphoto2.wdp"/><Relationship Id="rId1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94;p16">
            <a:extLst>
              <a:ext uri="{FF2B5EF4-FFF2-40B4-BE49-F238E27FC236}">
                <a16:creationId xmlns:a16="http://schemas.microsoft.com/office/drawing/2014/main" id="{1F5E40D7-B275-4B01-B7F4-0B663E53D21B}"/>
              </a:ext>
            </a:extLst>
          </p:cNvPr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1D548C-31BA-49C9-A5FB-3487C218EB3B}"/>
              </a:ext>
            </a:extLst>
          </p:cNvPr>
          <p:cNvSpPr/>
          <p:nvPr/>
        </p:nvSpPr>
        <p:spPr>
          <a:xfrm>
            <a:off x="1617189" y="3040565"/>
            <a:ext cx="5651292" cy="121094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24944F-4AC7-44E5-A1B6-D7560990264D}"/>
              </a:ext>
            </a:extLst>
          </p:cNvPr>
          <p:cNvSpPr txBox="1"/>
          <p:nvPr/>
        </p:nvSpPr>
        <p:spPr>
          <a:xfrm>
            <a:off x="2338514" y="3255336"/>
            <a:ext cx="4208641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800">
                <a:latin typeface="Lato Black"/>
                <a:ea typeface="Lato Black"/>
                <a:cs typeface="Lato Black"/>
                <a:sym typeface="Lato Black"/>
              </a:rPr>
              <a:t>JLR’s Powered Bonnet </a:t>
            </a:r>
            <a:r>
              <a:rPr lang="en-US" sz="28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for Electric Vehicles</a:t>
            </a:r>
            <a:endParaRPr lang="en-US" sz="28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86BDEA-5270-4694-82D6-CB0456B78C06}"/>
              </a:ext>
            </a:extLst>
          </p:cNvPr>
          <p:cNvSpPr txBox="1"/>
          <p:nvPr/>
        </p:nvSpPr>
        <p:spPr>
          <a:xfrm>
            <a:off x="1261201" y="1079142"/>
            <a:ext cx="6174197" cy="1077218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32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 IIT Tech Meet 10.0</a:t>
            </a:r>
          </a:p>
          <a:p>
            <a:pPr algn="ctr"/>
            <a:endParaRPr lang="en-IN" sz="3200" b="1" spc="300">
              <a:solidFill>
                <a:srgbClr val="00717D"/>
              </a:solidFill>
              <a:latin typeface="Open Sans ExtraBold"/>
              <a:ea typeface="Open Sans ExtraBold"/>
              <a:cs typeface="Calibri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D64C1F-CC8A-469E-BF3F-ACA8589C2A86}"/>
              </a:ext>
            </a:extLst>
          </p:cNvPr>
          <p:cNvCxnSpPr>
            <a:cxnSpLocks/>
          </p:cNvCxnSpPr>
          <p:nvPr/>
        </p:nvCxnSpPr>
        <p:spPr>
          <a:xfrm>
            <a:off x="1614897" y="938349"/>
            <a:ext cx="5657528" cy="1078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8D2FC3A-B7F2-40B1-9ACA-D626A9231150}"/>
              </a:ext>
            </a:extLst>
          </p:cNvPr>
          <p:cNvCxnSpPr>
            <a:cxnSpLocks/>
          </p:cNvCxnSpPr>
          <p:nvPr/>
        </p:nvCxnSpPr>
        <p:spPr>
          <a:xfrm>
            <a:off x="1614897" y="1804751"/>
            <a:ext cx="5657527" cy="3234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F636E75-57CE-47C9-B9BE-30008680BFB7}"/>
              </a:ext>
            </a:extLst>
          </p:cNvPr>
          <p:cNvSpPr/>
          <p:nvPr/>
        </p:nvSpPr>
        <p:spPr>
          <a:xfrm>
            <a:off x="3282683" y="2328688"/>
            <a:ext cx="2320304" cy="891912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3200" b="1">
                <a:solidFill>
                  <a:schemeClr val="bg1"/>
                </a:solidFill>
                <a:latin typeface="Calibri"/>
                <a:cs typeface="Calibri"/>
              </a:rPr>
              <a:t>Team ID - 8</a:t>
            </a:r>
            <a:endParaRPr lang="en-IN" sz="3200" b="1">
              <a:solidFill>
                <a:srgbClr val="48BACA"/>
              </a:solidFill>
              <a:latin typeface="Calibri"/>
              <a:cs typeface="Calibri"/>
            </a:endParaRPr>
          </a:p>
        </p:txBody>
      </p:sp>
      <p:cxnSp>
        <p:nvCxnSpPr>
          <p:cNvPr id="21" name="Google Shape;102;p16">
            <a:extLst>
              <a:ext uri="{FF2B5EF4-FFF2-40B4-BE49-F238E27FC236}">
                <a16:creationId xmlns:a16="http://schemas.microsoft.com/office/drawing/2014/main" id="{5FF46D70-1C97-4BD8-9B2F-CC6D58313E62}"/>
              </a:ext>
            </a:extLst>
          </p:cNvPr>
          <p:cNvCxnSpPr>
            <a:cxnSpLocks/>
          </p:cNvCxnSpPr>
          <p:nvPr/>
        </p:nvCxnSpPr>
        <p:spPr>
          <a:xfrm>
            <a:off x="252760" y="5032275"/>
            <a:ext cx="8668215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4E46518E-9635-44FE-9A31-F8FE073D2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297" y="-301211"/>
            <a:ext cx="1220758" cy="1220758"/>
          </a:xfrm>
          <a:prstGeom prst="rect">
            <a:avLst/>
          </a:prstGeo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BC946E2C-42B0-45EF-8B45-62C115C06A3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07A4BF-D4D9-4D3A-8899-1438166960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54441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Background 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Research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56F016-2EB1-4D1D-B233-3085AE713C70}"/>
              </a:ext>
            </a:extLst>
          </p:cNvPr>
          <p:cNvSpPr txBox="1"/>
          <p:nvPr/>
        </p:nvSpPr>
        <p:spPr>
          <a:xfrm>
            <a:off x="540834" y="1001833"/>
            <a:ext cx="8062331" cy="3698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endParaRPr lang="en-US" sz="1600"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2E54CF-5C69-4CBC-8B76-BBA185BCC521}"/>
              </a:ext>
            </a:extLst>
          </p:cNvPr>
          <p:cNvSpPr txBox="1"/>
          <p:nvPr/>
        </p:nvSpPr>
        <p:spPr>
          <a:xfrm>
            <a:off x="301083" y="831748"/>
            <a:ext cx="8526966" cy="12873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400">
                <a:ea typeface="Lato" panose="020F0502020204030203" pitchFamily="34" charset="0"/>
                <a:cs typeface="Lato" panose="020F0502020204030203" pitchFamily="34" charset="0"/>
              </a:rPr>
              <a:t>Such automated lift mechanisms are already present in the form of powered tailgate systems in modern luxury automobiles.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400">
                <a:ea typeface="Lato" panose="020F0502020204030203" pitchFamily="34" charset="0"/>
                <a:cs typeface="Lato" panose="020F0502020204030203" pitchFamily="34" charset="0"/>
              </a:rPr>
              <a:t>Following existing systems were identified and examined.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400">
                <a:ea typeface="Lato" panose="020F0502020204030203" pitchFamily="34" charset="0"/>
                <a:cs typeface="Lato" panose="020F0502020204030203" pitchFamily="34" charset="0"/>
              </a:rPr>
              <a:t>Linear actuators-based solutions came out to be most optimum and easy to retrofit in existing vehicles.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1473BE-3E1D-477D-9582-29B1CFE560B5}"/>
              </a:ext>
            </a:extLst>
          </p:cNvPr>
          <p:cNvSpPr txBox="1"/>
          <p:nvPr/>
        </p:nvSpPr>
        <p:spPr>
          <a:xfrm>
            <a:off x="1066791" y="4451111"/>
            <a:ext cx="1569323" cy="3582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200">
                <a:cs typeface="Arial"/>
              </a:rPr>
              <a:t>Hyundai Tucson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ED4C4E-8B03-4E63-9DB1-9FE9F5417471}"/>
              </a:ext>
            </a:extLst>
          </p:cNvPr>
          <p:cNvSpPr txBox="1"/>
          <p:nvPr/>
        </p:nvSpPr>
        <p:spPr>
          <a:xfrm>
            <a:off x="3831442" y="4451111"/>
            <a:ext cx="2411517" cy="3582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200">
                <a:cs typeface="Arial"/>
              </a:rPr>
              <a:t>Land Rover Discovery Sports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A61DFB-041A-4493-BD64-101813332619}"/>
              </a:ext>
            </a:extLst>
          </p:cNvPr>
          <p:cNvSpPr txBox="1"/>
          <p:nvPr/>
        </p:nvSpPr>
        <p:spPr>
          <a:xfrm>
            <a:off x="6811229" y="4443885"/>
            <a:ext cx="1569323" cy="3582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200">
                <a:cs typeface="Arial"/>
              </a:rPr>
              <a:t>Linear Actuators</a:t>
            </a:r>
          </a:p>
        </p:txBody>
      </p:sp>
      <p:pic>
        <p:nvPicPr>
          <p:cNvPr id="16" name="Picture 15" descr="Logo, company name&#10;&#10;Description automatically generated">
            <a:extLst>
              <a:ext uri="{FF2B5EF4-FFF2-40B4-BE49-F238E27FC236}">
                <a16:creationId xmlns:a16="http://schemas.microsoft.com/office/drawing/2014/main" id="{377F4786-22DD-4B39-8B1B-E8A5362D68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EDE1F0-4B47-46DD-922A-85F24D95499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690" t="12253" r="20492"/>
          <a:stretch/>
        </p:blipFill>
        <p:spPr>
          <a:xfrm>
            <a:off x="520989" y="2525098"/>
            <a:ext cx="2660928" cy="1984048"/>
          </a:xfrm>
          <a:prstGeom prst="rect">
            <a:avLst/>
          </a:prstGeom>
        </p:spPr>
      </p:pic>
      <p:pic>
        <p:nvPicPr>
          <p:cNvPr id="9" name="Picture 8" descr="A picture containing car, outdoor, sky, transport&#10;&#10;Description automatically generated">
            <a:extLst>
              <a:ext uri="{FF2B5EF4-FFF2-40B4-BE49-F238E27FC236}">
                <a16:creationId xmlns:a16="http://schemas.microsoft.com/office/drawing/2014/main" id="{AE600885-3D6A-4045-ABD9-0F5E2B52339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8396"/>
          <a:stretch/>
        </p:blipFill>
        <p:spPr>
          <a:xfrm>
            <a:off x="3496566" y="2525097"/>
            <a:ext cx="2746393" cy="1984033"/>
          </a:xfrm>
          <a:prstGeom prst="rect">
            <a:avLst/>
          </a:prstGeom>
        </p:spPr>
      </p:pic>
      <p:pic>
        <p:nvPicPr>
          <p:cNvPr id="12" name="Picture 11" descr="A picture containing electronic&#10;&#10;Description automatically generated">
            <a:extLst>
              <a:ext uri="{FF2B5EF4-FFF2-40B4-BE49-F238E27FC236}">
                <a16:creationId xmlns:a16="http://schemas.microsoft.com/office/drawing/2014/main" id="{80B75A38-2C9A-4F04-AFD3-85C0923D56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479" y="2508761"/>
            <a:ext cx="2028825" cy="20288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0B58F-F741-48C0-8B42-1B605A007E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37996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Mechanism</a:t>
            </a:r>
            <a:r>
              <a:rPr lang="en-US" sz="2400">
                <a:solidFill>
                  <a:srgbClr val="1DCA1D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Selection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47142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C3F782-BD34-4B33-B2BB-E192D0F9D234}"/>
              </a:ext>
            </a:extLst>
          </p:cNvPr>
          <p:cNvSpPr txBox="1"/>
          <p:nvPr/>
        </p:nvSpPr>
        <p:spPr>
          <a:xfrm>
            <a:off x="200027" y="656772"/>
            <a:ext cx="6825651" cy="1448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/>
              <a:t>Crank-Slider Coupled Linear Actuator (Rejected)</a:t>
            </a:r>
          </a:p>
          <a:p>
            <a:endParaRPr lang="en-IN" sz="700" b="1"/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simple slider-crank mechanism is used to lift the bonnet.</a:t>
            </a:r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linear actuator is coupled with the slider block to actuate the slider block.</a:t>
            </a:r>
            <a:endParaRPr lang="en-US" sz="14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mount connecting the bonnet and the crank is a sliding block.</a:t>
            </a:r>
            <a:br>
              <a:rPr lang="en-US" sz="14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IN" sz="1400" b="1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20B5AF-F856-42F5-A43B-C0995C7DC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71" y="1987385"/>
            <a:ext cx="3066585" cy="1659238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C65F271-442F-43CA-9200-BAD82AADCF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0" r="9338"/>
          <a:stretch/>
        </p:blipFill>
        <p:spPr bwMode="auto">
          <a:xfrm>
            <a:off x="3412281" y="1987386"/>
            <a:ext cx="2824975" cy="1659238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A417C2-FAED-414E-984E-B93952237160}"/>
              </a:ext>
            </a:extLst>
          </p:cNvPr>
          <p:cNvSpPr txBox="1"/>
          <p:nvPr/>
        </p:nvSpPr>
        <p:spPr>
          <a:xfrm>
            <a:off x="270340" y="3668925"/>
            <a:ext cx="29241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Slider Crank Mechanism with Bonnet in Closed Position</a:t>
            </a:r>
            <a:endParaRPr lang="en-IN" sz="8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8A6898-6166-40F9-9B46-C5C5BD2CA5F8}"/>
              </a:ext>
            </a:extLst>
          </p:cNvPr>
          <p:cNvSpPr txBox="1"/>
          <p:nvPr/>
        </p:nvSpPr>
        <p:spPr>
          <a:xfrm>
            <a:off x="3362669" y="3668925"/>
            <a:ext cx="28440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Slider Crank Mechanism with Bonnet in Open Position</a:t>
            </a:r>
            <a:endParaRPr lang="en-IN" sz="800" b="1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150F33D-B0AE-4239-9C49-CBBC92D4D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3381" y="1972476"/>
            <a:ext cx="2612068" cy="1696446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1400F7-56D2-4287-AE10-2E37865D50FF}"/>
              </a:ext>
            </a:extLst>
          </p:cNvPr>
          <p:cNvSpPr txBox="1"/>
          <p:nvPr/>
        </p:nvSpPr>
        <p:spPr>
          <a:xfrm>
            <a:off x="6257961" y="3668925"/>
            <a:ext cx="2765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/>
              <a:t> Closeup of the Slider Crank Assembly coupled with </a:t>
            </a:r>
          </a:p>
          <a:p>
            <a:pPr algn="ctr"/>
            <a:r>
              <a:rPr lang="en-US" sz="800" b="1"/>
              <a:t>Linear Actuator</a:t>
            </a:r>
            <a:endParaRPr lang="en-IN" sz="8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7B6121-4784-440F-96D3-20590F1CD4CC}"/>
              </a:ext>
            </a:extLst>
          </p:cNvPr>
          <p:cNvSpPr txBox="1"/>
          <p:nvPr/>
        </p:nvSpPr>
        <p:spPr>
          <a:xfrm>
            <a:off x="207171" y="3906671"/>
            <a:ext cx="8574355" cy="1402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/>
              <a:t>Reasons for Rejection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400" b="1"/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  <a:latin typeface="Arial" panose="020B0604020202020204" pitchFamily="34" charset="0"/>
              </a:rPr>
              <a:t>The mechanism consists of significantly greater number of parts, making it costlier to assemble. </a:t>
            </a:r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Multiple </a:t>
            </a:r>
            <a:r>
              <a:rPr lang="en-US" sz="1400">
                <a:solidFill>
                  <a:srgbClr val="000000"/>
                </a:solidFill>
                <a:latin typeface="Arial" panose="020B0604020202020204" pitchFamily="34" charset="0"/>
              </a:rPr>
              <a:t>joints in the slider-crank mechanism would result in greater losses from friction hence greater power consumption.</a:t>
            </a:r>
            <a:endParaRPr lang="en-US" sz="14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endParaRPr lang="en-US" sz="14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 descr="Logo, company name&#10;&#10;Description automatically generated">
            <a:extLst>
              <a:ext uri="{FF2B5EF4-FFF2-40B4-BE49-F238E27FC236}">
                <a16:creationId xmlns:a16="http://schemas.microsoft.com/office/drawing/2014/main" id="{F32D1F9C-F2D8-4020-933A-DD71693A0DE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579AA-7ED4-4C48-8575-2803E6A985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544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Mechanism</a:t>
            </a:r>
            <a:r>
              <a:rPr lang="en-US" sz="2400">
                <a:solidFill>
                  <a:srgbClr val="1DCA1D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Selection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F706E0-3D19-49D8-88C6-2C7EA3E6543F}"/>
              </a:ext>
            </a:extLst>
          </p:cNvPr>
          <p:cNvSpPr txBox="1"/>
          <p:nvPr/>
        </p:nvSpPr>
        <p:spPr>
          <a:xfrm>
            <a:off x="399122" y="869892"/>
            <a:ext cx="8393150" cy="19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/>
              <a:t>Direct Actuation (Selected)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400" b="1"/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  <a:latin typeface="Arial" panose="020B0604020202020204" pitchFamily="34" charset="0"/>
              </a:rPr>
              <a:t>This mechanism consists of a linear actuator directly connected to the bonnet through mounting brackets.</a:t>
            </a:r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actuator is extended from the retracted position at -12° to 48° from the horizontal.</a:t>
            </a:r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US" sz="1400">
                <a:solidFill>
                  <a:srgbClr val="000000"/>
                </a:solidFill>
                <a:latin typeface="Arial" panose="020B0604020202020204" pitchFamily="34" charset="0"/>
              </a:rPr>
              <a:t>bonnet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lifted through the direct application of force by the linear actuator.</a:t>
            </a:r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  <a:latin typeface="Arial" panose="020B0604020202020204" pitchFamily="34" charset="0"/>
              </a:rPr>
              <a:t>A linear actuator with feedback is selected to implement various control methodologies and safety features.</a:t>
            </a:r>
            <a:endParaRPr lang="en-US" sz="1400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B9D676-5504-47C9-AF48-FAD0AF4EAAF7}"/>
              </a:ext>
            </a:extLst>
          </p:cNvPr>
          <p:cNvSpPr txBox="1"/>
          <p:nvPr/>
        </p:nvSpPr>
        <p:spPr>
          <a:xfrm>
            <a:off x="399122" y="3042090"/>
            <a:ext cx="8641212" cy="1659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/>
              <a:t>Reasons for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400" b="1"/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  <a:latin typeface="Arial" panose="020B0604020202020204" pitchFamily="34" charset="0"/>
              </a:rPr>
              <a:t>Multiple design constraints are satisfied by this mechanism.</a:t>
            </a:r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0000"/>
                </a:solidFill>
                <a:latin typeface="Arial" panose="020B0604020202020204" pitchFamily="34" charset="0"/>
              </a:rPr>
              <a:t>Relatively lesser number of components ensures easy assembly.</a:t>
            </a:r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setup consists of </a:t>
            </a:r>
            <a:r>
              <a:rPr lang="en-US" sz="1400">
                <a:solidFill>
                  <a:srgbClr val="000000"/>
                </a:solidFill>
                <a:latin typeface="Arial" panose="020B0604020202020204" pitchFamily="34" charset="0"/>
              </a:rPr>
              <a:t>only 2 compact linear actuators and an Arduino board: making it very compact and lightweight.</a:t>
            </a:r>
          </a:p>
          <a:p>
            <a:pPr marL="742950" lvl="1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required components are readily available in the Indian market.</a:t>
            </a:r>
          </a:p>
        </p:txBody>
      </p:sp>
      <p:pic>
        <p:nvPicPr>
          <p:cNvPr id="8" name="Picture 7" descr="Logo, company name&#10;&#10;Description automatically generated">
            <a:extLst>
              <a:ext uri="{FF2B5EF4-FFF2-40B4-BE49-F238E27FC236}">
                <a16:creationId xmlns:a16="http://schemas.microsoft.com/office/drawing/2014/main" id="{8E0A105C-96AB-4396-90CA-ABD78EC166A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012319-DB98-41FF-A632-5D58EC660E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76073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System</a:t>
            </a:r>
            <a:r>
              <a:rPr lang="en-US" sz="2400">
                <a:solidFill>
                  <a:srgbClr val="1DCA1D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Layout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8C88502-DBCC-4C2D-995A-767418064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71" y="785516"/>
            <a:ext cx="3917646" cy="250796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0C9ADE38-F299-4B5B-8CD5-837D4C793E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5283" y="776408"/>
            <a:ext cx="4739145" cy="151103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23BFECE-3A5D-4F16-B529-7D7A8491DD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283" y="2511114"/>
            <a:ext cx="4739145" cy="102363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4D9286FD-7871-4130-8839-2729845622A0}"/>
              </a:ext>
            </a:extLst>
          </p:cNvPr>
          <p:cNvSpPr txBox="1"/>
          <p:nvPr/>
        </p:nvSpPr>
        <p:spPr>
          <a:xfrm>
            <a:off x="5617282" y="2287440"/>
            <a:ext cx="16946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Side-View of Bonnet Assembly</a:t>
            </a:r>
            <a:endParaRPr lang="en-IN" sz="800" b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FFBEB10-C36F-4134-917D-7D0225CE3E40}"/>
              </a:ext>
            </a:extLst>
          </p:cNvPr>
          <p:cNvSpPr txBox="1"/>
          <p:nvPr/>
        </p:nvSpPr>
        <p:spPr>
          <a:xfrm>
            <a:off x="5617281" y="3542974"/>
            <a:ext cx="17379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Front-View of Bonnet Assembly</a:t>
            </a:r>
            <a:endParaRPr lang="en-IN" sz="800" b="1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B17A9D-F7BD-4425-91CF-E62C58E375B6}"/>
              </a:ext>
            </a:extLst>
          </p:cNvPr>
          <p:cNvSpPr txBox="1"/>
          <p:nvPr/>
        </p:nvSpPr>
        <p:spPr>
          <a:xfrm>
            <a:off x="1301046" y="3299173"/>
            <a:ext cx="19351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Isometric-View of Bonnet Assembly</a:t>
            </a:r>
            <a:endParaRPr lang="en-IN" sz="800" b="1"/>
          </a:p>
        </p:txBody>
      </p:sp>
      <p:pic>
        <p:nvPicPr>
          <p:cNvPr id="12" name="Picture 11" descr="Logo, company name&#10;&#10;Description automatically generated">
            <a:extLst>
              <a:ext uri="{FF2B5EF4-FFF2-40B4-BE49-F238E27FC236}">
                <a16:creationId xmlns:a16="http://schemas.microsoft.com/office/drawing/2014/main" id="{05981468-753F-4D7A-B04B-BA7F3C9A093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0FFD7D6-0643-4715-956E-4EF8E561DCE6}"/>
              </a:ext>
            </a:extLst>
          </p:cNvPr>
          <p:cNvSpPr txBox="1"/>
          <p:nvPr/>
        </p:nvSpPr>
        <p:spPr>
          <a:xfrm>
            <a:off x="263912" y="3881053"/>
            <a:ext cx="861617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rgbClr val="1B535B"/>
                </a:solidFill>
              </a:rPr>
              <a:t>Direct Actuation Mechanism:</a:t>
            </a:r>
          </a:p>
          <a:p>
            <a:endParaRPr lang="en-IN" sz="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2x </a:t>
            </a:r>
            <a:r>
              <a:rPr lang="en-US" sz="1100">
                <a:solidFill>
                  <a:srgbClr val="226A74"/>
                </a:solidFill>
                <a:latin typeface="Arial" panose="020B0604020202020204" pitchFamily="34" charset="0"/>
              </a:rPr>
              <a:t>Ti Motion TA23 Linear Actuators with Feedback </a:t>
            </a: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are used for actuation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226A74"/>
                </a:solidFill>
                <a:effectLst/>
                <a:latin typeface="Arial" panose="020B0604020202020204" pitchFamily="34" charset="0"/>
              </a:rPr>
              <a:t>U-mount</a:t>
            </a: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Attach </a:t>
            </a:r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ctuator to bonnet, manufactured using </a:t>
            </a:r>
            <a:r>
              <a:rPr lang="en-US" sz="1100" b="0" i="0" u="none" strike="noStrike">
                <a:solidFill>
                  <a:srgbClr val="226A74"/>
                </a:solidFill>
                <a:effectLst/>
                <a:latin typeface="Arial" panose="020B0604020202020204" pitchFamily="34" charset="0"/>
              </a:rPr>
              <a:t>Al-3003</a:t>
            </a:r>
            <a:endParaRPr lang="en-US" sz="1100">
              <a:solidFill>
                <a:srgbClr val="226A74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0" i="0" u="none" strike="noStrike">
                <a:solidFill>
                  <a:srgbClr val="226A74"/>
                </a:solidFill>
                <a:effectLst/>
                <a:latin typeface="Arial" panose="020B0604020202020204" pitchFamily="34" charset="0"/>
              </a:rPr>
              <a:t>T-mount</a:t>
            </a:r>
            <a:r>
              <a:rPr lang="en-US" sz="11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Attach actuator to chassis, manufactured using </a:t>
            </a:r>
            <a:r>
              <a:rPr lang="en-US" sz="1100" b="0" i="0" u="none" strike="noStrike">
                <a:solidFill>
                  <a:srgbClr val="226A74"/>
                </a:solidFill>
                <a:effectLst/>
                <a:latin typeface="Arial" panose="020B0604020202020204" pitchFamily="34" charset="0"/>
              </a:rPr>
              <a:t>Al-3003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673B21-908C-4692-803D-4CD7B32B01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1798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System</a:t>
            </a:r>
            <a:r>
              <a:rPr lang="en-US" sz="2400">
                <a:solidFill>
                  <a:srgbClr val="1DCA1D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Layout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pic>
        <p:nvPicPr>
          <p:cNvPr id="15" name="Picture 14" descr="A picture containing diagram&#10;&#10;Description automatically generated">
            <a:extLst>
              <a:ext uri="{FF2B5EF4-FFF2-40B4-BE49-F238E27FC236}">
                <a16:creationId xmlns:a16="http://schemas.microsoft.com/office/drawing/2014/main" id="{DF7B53B4-6794-4BDD-A7FB-BD54FBF48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38" y="732430"/>
            <a:ext cx="2910406" cy="1740344"/>
          </a:xfrm>
          <a:prstGeom prst="rect">
            <a:avLst/>
          </a:prstGeom>
          <a:ln w="3175">
            <a:solidFill>
              <a:schemeClr val="bg2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5D46546-3FF5-4BCC-B368-57FCEE8DD7F3}"/>
              </a:ext>
            </a:extLst>
          </p:cNvPr>
          <p:cNvSpPr txBox="1"/>
          <p:nvPr/>
        </p:nvSpPr>
        <p:spPr>
          <a:xfrm>
            <a:off x="379663" y="2478587"/>
            <a:ext cx="27916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/>
              <a:t>Bonnet Assembly in the closed position with the actuators retracted</a:t>
            </a:r>
            <a:endParaRPr lang="en-IN" sz="8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D86145-8F2B-499B-9D40-FD1534664A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675" y="2829522"/>
            <a:ext cx="2501573" cy="1885209"/>
          </a:xfrm>
          <a:prstGeom prst="rect">
            <a:avLst/>
          </a:prstGeom>
          <a:ln w="3175">
            <a:solidFill>
              <a:schemeClr val="bg2"/>
            </a:solidFill>
          </a:ln>
        </p:spPr>
      </p:pic>
      <p:pic>
        <p:nvPicPr>
          <p:cNvPr id="20" name="Picture 19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C96BEC7D-21D3-4311-AB70-1278AF0252B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4374" t="15255" r="21902" b="9878"/>
          <a:stretch/>
        </p:blipFill>
        <p:spPr>
          <a:xfrm>
            <a:off x="6068465" y="696216"/>
            <a:ext cx="2574103" cy="1907203"/>
          </a:xfrm>
          <a:prstGeom prst="rect">
            <a:avLst/>
          </a:prstGeom>
          <a:ln w="3175">
            <a:solidFill>
              <a:schemeClr val="bg2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76EF192-8E75-40E0-BF91-6021D86A0ED7}"/>
              </a:ext>
            </a:extLst>
          </p:cNvPr>
          <p:cNvSpPr txBox="1"/>
          <p:nvPr/>
        </p:nvSpPr>
        <p:spPr>
          <a:xfrm>
            <a:off x="119185" y="4735204"/>
            <a:ext cx="34483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Bonnet Assembly in the open position with the actuators extended</a:t>
            </a:r>
            <a:endParaRPr lang="en-IN" sz="8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E507E7-A6E1-4AF3-BFFA-E469E6481DA5}"/>
              </a:ext>
            </a:extLst>
          </p:cNvPr>
          <p:cNvSpPr txBox="1"/>
          <p:nvPr/>
        </p:nvSpPr>
        <p:spPr>
          <a:xfrm>
            <a:off x="5695620" y="2636798"/>
            <a:ext cx="34483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Simulation of Bonnet Assembly using Direct Actuation Mechanism</a:t>
            </a:r>
            <a:endParaRPr lang="en-IN" sz="800" b="1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EA9D352-EDA8-44E5-9CA0-2DCEE9BC5448}"/>
              </a:ext>
            </a:extLst>
          </p:cNvPr>
          <p:cNvSpPr/>
          <p:nvPr/>
        </p:nvSpPr>
        <p:spPr>
          <a:xfrm>
            <a:off x="4392135" y="2154057"/>
            <a:ext cx="1145373" cy="1106049"/>
          </a:xfrm>
          <a:prstGeom prst="ellipse">
            <a:avLst/>
          </a:prstGeom>
          <a:ln>
            <a:solidFill>
              <a:srgbClr val="48BAC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8211227-F90D-4D66-8FBD-70A5C8CB6552}"/>
              </a:ext>
            </a:extLst>
          </p:cNvPr>
          <p:cNvSpPr/>
          <p:nvPr/>
        </p:nvSpPr>
        <p:spPr>
          <a:xfrm>
            <a:off x="3825634" y="3531010"/>
            <a:ext cx="1152807" cy="1106049"/>
          </a:xfrm>
          <a:prstGeom prst="ellipse">
            <a:avLst/>
          </a:prstGeom>
          <a:ln>
            <a:solidFill>
              <a:srgbClr val="48BAC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1B57421-7C87-4869-901A-CA607263CCB7}"/>
              </a:ext>
            </a:extLst>
          </p:cNvPr>
          <p:cNvCxnSpPr>
            <a:cxnSpLocks/>
            <a:stCxn id="23" idx="2"/>
          </p:cNvCxnSpPr>
          <p:nvPr/>
        </p:nvCxnSpPr>
        <p:spPr>
          <a:xfrm flipH="1" flipV="1">
            <a:off x="2682394" y="2127961"/>
            <a:ext cx="1709741" cy="5791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C86BB0-4E44-46EA-8CFF-D9213C5DC311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2767015" y="2200828"/>
            <a:ext cx="1227444" cy="1492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5F8413E7-D8DE-4EFB-BFDD-B305EEDD72D5}"/>
              </a:ext>
            </a:extLst>
          </p:cNvPr>
          <p:cNvSpPr/>
          <p:nvPr/>
        </p:nvSpPr>
        <p:spPr>
          <a:xfrm>
            <a:off x="3851203" y="874029"/>
            <a:ext cx="1145373" cy="1130635"/>
          </a:xfrm>
          <a:prstGeom prst="ellipse">
            <a:avLst/>
          </a:prstGeom>
          <a:ln>
            <a:solidFill>
              <a:srgbClr val="48BAC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35D04F1-53AC-435A-B4BA-C5B844FB295A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2970396" y="1439347"/>
            <a:ext cx="880807" cy="5457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A white light bulb&#10;&#10;Description automatically generated with low confidence">
            <a:extLst>
              <a:ext uri="{FF2B5EF4-FFF2-40B4-BE49-F238E27FC236}">
                <a16:creationId xmlns:a16="http://schemas.microsoft.com/office/drawing/2014/main" id="{E226713D-A875-4988-95E9-CE42CE9342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0219" y="964594"/>
            <a:ext cx="1605360" cy="891335"/>
          </a:xfrm>
          <a:prstGeom prst="rect">
            <a:avLst/>
          </a:prstGeom>
        </p:spPr>
      </p:pic>
      <p:pic>
        <p:nvPicPr>
          <p:cNvPr id="33" name="Picture 32" descr="A picture containing electronics, circuit&#10;&#10;Description automatically generated">
            <a:extLst>
              <a:ext uri="{FF2B5EF4-FFF2-40B4-BE49-F238E27FC236}">
                <a16:creationId xmlns:a16="http://schemas.microsoft.com/office/drawing/2014/main" id="{7E69A207-54AD-4CB7-87D7-B902481718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2899" y="2183908"/>
            <a:ext cx="1070988" cy="1070988"/>
          </a:xfrm>
          <a:prstGeom prst="rect">
            <a:avLst/>
          </a:prstGeom>
        </p:spPr>
      </p:pic>
      <p:pic>
        <p:nvPicPr>
          <p:cNvPr id="34" name="Picture 33" descr="A picture containing electronics, circuit&#10;&#10;Description automatically generated">
            <a:extLst>
              <a:ext uri="{FF2B5EF4-FFF2-40B4-BE49-F238E27FC236}">
                <a16:creationId xmlns:a16="http://schemas.microsoft.com/office/drawing/2014/main" id="{0D68F6E1-8FFA-499D-B2AA-CC9095A67C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5680" y="3508327"/>
            <a:ext cx="1092713" cy="1092713"/>
          </a:xfrm>
          <a:prstGeom prst="rect">
            <a:avLst/>
          </a:prstGeom>
        </p:spPr>
      </p:pic>
      <p:pic>
        <p:nvPicPr>
          <p:cNvPr id="24" name="Picture 23" descr="Logo, company name&#10;&#10;Description automatically generated">
            <a:extLst>
              <a:ext uri="{FF2B5EF4-FFF2-40B4-BE49-F238E27FC236}">
                <a16:creationId xmlns:a16="http://schemas.microsoft.com/office/drawing/2014/main" id="{F250A90C-1928-4045-AB48-13781CC7902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2B86E23-1296-486F-80C0-A65435E91F81}"/>
              </a:ext>
            </a:extLst>
          </p:cNvPr>
          <p:cNvSpPr txBox="1"/>
          <p:nvPr/>
        </p:nvSpPr>
        <p:spPr>
          <a:xfrm>
            <a:off x="3650217" y="680500"/>
            <a:ext cx="17091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Ti Motion TA23 Linear Actuator</a:t>
            </a:r>
            <a:endParaRPr lang="en-IN" sz="800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A8620E-6AB0-4E5C-AE9F-3316900B4ADA}"/>
              </a:ext>
            </a:extLst>
          </p:cNvPr>
          <p:cNvSpPr txBox="1"/>
          <p:nvPr/>
        </p:nvSpPr>
        <p:spPr>
          <a:xfrm>
            <a:off x="4544237" y="3251792"/>
            <a:ext cx="8338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Arduino UNO</a:t>
            </a:r>
            <a:endParaRPr lang="en-IN" sz="800" b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BA5E48-6A4B-4066-B10A-B1CDCAE27676}"/>
              </a:ext>
            </a:extLst>
          </p:cNvPr>
          <p:cNvSpPr txBox="1"/>
          <p:nvPr/>
        </p:nvSpPr>
        <p:spPr>
          <a:xfrm>
            <a:off x="3842093" y="4611788"/>
            <a:ext cx="11544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err="1"/>
              <a:t>Cytron</a:t>
            </a:r>
            <a:r>
              <a:rPr lang="en-US" sz="800" b="1"/>
              <a:t> Motor Driver</a:t>
            </a:r>
            <a:endParaRPr lang="en-IN" sz="800" b="1"/>
          </a:p>
        </p:txBody>
      </p:sp>
      <p:pic>
        <p:nvPicPr>
          <p:cNvPr id="36" name="Picture 35" descr="Diagram&#10;&#10;Description automatically generated">
            <a:extLst>
              <a:ext uri="{FF2B5EF4-FFF2-40B4-BE49-F238E27FC236}">
                <a16:creationId xmlns:a16="http://schemas.microsoft.com/office/drawing/2014/main" id="{AEE6AE03-83F6-4509-8966-A6C768D4DE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3945" y="2939462"/>
            <a:ext cx="2871691" cy="164469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060B1CB-D445-4446-BF68-B4D5E963FD9B}"/>
              </a:ext>
            </a:extLst>
          </p:cNvPr>
          <p:cNvSpPr txBox="1"/>
          <p:nvPr/>
        </p:nvSpPr>
        <p:spPr>
          <a:xfrm>
            <a:off x="6441817" y="4504066"/>
            <a:ext cx="19559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Electrical architecture of the system</a:t>
            </a:r>
            <a:endParaRPr lang="en-IN" sz="800" b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139A3C-2C1C-4A95-A624-3B006C438A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3609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Ergonomics and</a:t>
            </a:r>
            <a:r>
              <a:rPr lang="en-US" sz="2400">
                <a:solidFill>
                  <a:srgbClr val="1DCA1D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Safety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4E46FEBB-59C7-4A9C-AC65-C587E20DB6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9757493-CA26-456B-96AA-302950BFE628}"/>
              </a:ext>
            </a:extLst>
          </p:cNvPr>
          <p:cNvGrpSpPr/>
          <p:nvPr/>
        </p:nvGrpSpPr>
        <p:grpSpPr>
          <a:xfrm>
            <a:off x="5526357" y="1840991"/>
            <a:ext cx="2628900" cy="1508562"/>
            <a:chOff x="1320097" y="3151701"/>
            <a:chExt cx="2427403" cy="1231330"/>
          </a:xfrm>
        </p:grpSpPr>
        <p:pic>
          <p:nvPicPr>
            <p:cNvPr id="21" name="Picture 20" descr="Graphical user interface, diagram, engineering drawing&#10;&#10;Description automatically generated">
              <a:extLst>
                <a:ext uri="{FF2B5EF4-FFF2-40B4-BE49-F238E27FC236}">
                  <a16:creationId xmlns:a16="http://schemas.microsoft.com/office/drawing/2014/main" id="{71CB99EB-A6EC-4F0B-9147-07FA170C0E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5859" t="36250" r="23360" b="11728"/>
            <a:stretch/>
          </p:blipFill>
          <p:spPr>
            <a:xfrm>
              <a:off x="1669274" y="3185466"/>
              <a:ext cx="2078226" cy="119756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A85D841-2104-4568-846B-1D77655E5D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6867" b="83133" l="4102" r="36914">
                          <a14:foregroundMark x1="16406" y1="63614" x2="12891" y2="80000"/>
                          <a14:foregroundMark x1="12891" y1="80000" x2="16406" y2="61446"/>
                          <a14:foregroundMark x1="16992" y1="66265" x2="17188" y2="80482"/>
                          <a14:foregroundMark x1="17188" y1="80482" x2="21680" y2="83133"/>
                          <a14:foregroundMark x1="16211" y1="51325" x2="15820" y2="50361"/>
                          <a14:foregroundMark x1="15039" y1="46506" x2="17773" y2="58313"/>
                          <a14:foregroundMark x1="17773" y1="58313" x2="15820" y2="61687"/>
                          <a14:foregroundMark x1="19336" y1="36386" x2="17773" y2="45783"/>
                          <a14:foregroundMark x1="24609" y1="28916" x2="29297" y2="17108"/>
                          <a14:foregroundMark x1="29297" y1="17108" x2="28125" y2="16867"/>
                          <a14:foregroundMark x1="30117" y1="38554" x2="31055" y2="39518"/>
                          <a14:foregroundMark x1="29997" y1="38431" x2="30117" y2="38554"/>
                          <a14:foregroundMark x1="21680" y1="29880" x2="24147" y2="32417"/>
                          <a14:foregroundMark x1="31055" y1="39518" x2="36133" y2="40000"/>
                          <a14:backgroundMark x1="30664" y1="60000" x2="28516" y2="67470"/>
                          <a14:backgroundMark x1="27344" y1="34217" x2="29883" y2="37349"/>
                          <a14:backgroundMark x1="26172" y1="35422" x2="25195" y2="34940"/>
                          <a14:backgroundMark x1="27734" y1="33976" x2="26367" y2="34940"/>
                          <a14:backgroundMark x1="30078" y1="38554" x2="30078" y2="38554"/>
                          <a14:backgroundMark x1="30078" y1="38313" x2="30078" y2="38313"/>
                          <a14:backgroundMark x1="29492" y1="37108" x2="30469" y2="37831"/>
                        </a14:backgroundRemoval>
                      </a14:imgEffect>
                    </a14:imgLayer>
                  </a14:imgProps>
                </a:ext>
              </a:extLst>
            </a:blip>
            <a:srcRect l="-1" t="9954" r="58567" b="10114"/>
            <a:stretch/>
          </p:blipFill>
          <p:spPr>
            <a:xfrm rot="21117649">
              <a:off x="1320097" y="3151701"/>
              <a:ext cx="713872" cy="1116232"/>
            </a:xfrm>
            <a:prstGeom prst="rect">
              <a:avLst/>
            </a:prstGeom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5364D702-7B37-4A50-B35B-7052FDB884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8600" r="90000">
                          <a14:foregroundMark x1="11400" y1="65400" x2="8600" y2="654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14423">
              <a:off x="2046534" y="3425928"/>
              <a:ext cx="151390" cy="151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8A91F6E-A32A-40E5-8190-4F88CBC36623}"/>
              </a:ext>
            </a:extLst>
          </p:cNvPr>
          <p:cNvSpPr txBox="1"/>
          <p:nvPr/>
        </p:nvSpPr>
        <p:spPr>
          <a:xfrm>
            <a:off x="5142050" y="3404831"/>
            <a:ext cx="3775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The powered bonnet incorporates </a:t>
            </a:r>
            <a:r>
              <a:rPr lang="en-US" sz="1200">
                <a:solidFill>
                  <a:srgbClr val="030303"/>
                </a:solidFill>
                <a:latin typeface="Roboto" panose="02000000000000000000" pitchFamily="2" charset="0"/>
              </a:rPr>
              <a:t>a </a:t>
            </a:r>
            <a:r>
              <a:rPr lang="en-US" sz="1200" b="0" i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safety feature which stops the closing of bonnet </a:t>
            </a:r>
            <a:r>
              <a:rPr lang="en-US" sz="1200">
                <a:solidFill>
                  <a:srgbClr val="030303"/>
                </a:solidFill>
                <a:latin typeface="Roboto" panose="02000000000000000000" pitchFamily="2" charset="0"/>
              </a:rPr>
              <a:t>to prevent injury in case of accidental obstruction</a:t>
            </a:r>
            <a:endParaRPr lang="en-US" sz="120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09283777-3BB4-413A-93E8-FBA76F5275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ADECB99-8322-43A3-AB7E-20A34E84CDF1}"/>
              </a:ext>
            </a:extLst>
          </p:cNvPr>
          <p:cNvGrpSpPr/>
          <p:nvPr/>
        </p:nvGrpSpPr>
        <p:grpSpPr>
          <a:xfrm>
            <a:off x="551436" y="1065105"/>
            <a:ext cx="3696665" cy="3802975"/>
            <a:chOff x="475285" y="730918"/>
            <a:chExt cx="3926715" cy="415527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980060F-DD24-4C9D-BD86-FBEFDFD17239}"/>
                </a:ext>
              </a:extLst>
            </p:cNvPr>
            <p:cNvGrpSpPr/>
            <p:nvPr/>
          </p:nvGrpSpPr>
          <p:grpSpPr>
            <a:xfrm>
              <a:off x="475285" y="730918"/>
              <a:ext cx="3277972" cy="3421234"/>
              <a:chOff x="5396502" y="874010"/>
              <a:chExt cx="3118371" cy="3291148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61D5E525-44CA-49ED-94A9-A9C4DC767000}"/>
                  </a:ext>
                </a:extLst>
              </p:cNvPr>
              <p:cNvGrpSpPr/>
              <p:nvPr/>
            </p:nvGrpSpPr>
            <p:grpSpPr>
              <a:xfrm>
                <a:off x="5396502" y="874010"/>
                <a:ext cx="3118371" cy="3291148"/>
                <a:chOff x="4325417" y="845082"/>
                <a:chExt cx="3961333" cy="3946765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A4905337-FDE1-4B40-89C4-287CE3042D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/>
                <a:srcRect l="22391" t="18725" r="22639" b="15462"/>
                <a:stretch/>
              </p:blipFill>
              <p:spPr>
                <a:xfrm>
                  <a:off x="5147738" y="2658084"/>
                  <a:ext cx="3139012" cy="2113939"/>
                </a:xfrm>
                <a:prstGeom prst="rect">
                  <a:avLst/>
                </a:prstGeom>
              </p:spPr>
            </p:pic>
            <p:pic>
              <p:nvPicPr>
                <p:cNvPr id="10" name="Picture 9" descr="Graphical user interface&#10;&#10;Description automatically generated">
                  <a:extLst>
                    <a:ext uri="{FF2B5EF4-FFF2-40B4-BE49-F238E27FC236}">
                      <a16:creationId xmlns:a16="http://schemas.microsoft.com/office/drawing/2014/main" id="{05974783-31B3-4524-A486-2DFD74C250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/>
                <a:srcRect l="26719" t="40451" r="24478" b="16366"/>
                <a:stretch/>
              </p:blipFill>
              <p:spPr>
                <a:xfrm>
                  <a:off x="5147738" y="845082"/>
                  <a:ext cx="3007519" cy="1496923"/>
                </a:xfrm>
                <a:prstGeom prst="rect">
                  <a:avLst/>
                </a:prstGeom>
              </p:spPr>
            </p:pic>
            <p:pic>
              <p:nvPicPr>
                <p:cNvPr id="1026" name="Picture 2">
                  <a:extLst>
                    <a:ext uri="{FF2B5EF4-FFF2-40B4-BE49-F238E27FC236}">
                      <a16:creationId xmlns:a16="http://schemas.microsoft.com/office/drawing/2014/main" id="{A9252080-55E8-4152-BA22-47730D2686D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BEBA8EAE-BF5A-486C-A8C5-ECC9F3942E4B}">
                      <a14:imgProps xmlns:a14="http://schemas.microsoft.com/office/drawing/2010/main">
                        <a14:imgLayer r:embed="rId9">
                          <a14:imgEffect>
                            <a14:backgroundRemoval t="10000" b="90000" l="8400" r="90000">
                              <a14:foregroundMark x1="8400" y1="66200" x2="9400" y2="70800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9583652">
                  <a:off x="5340979" y="1946790"/>
                  <a:ext cx="204932" cy="20493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5" name="Picture 2">
                  <a:extLst>
                    <a:ext uri="{FF2B5EF4-FFF2-40B4-BE49-F238E27FC236}">
                      <a16:creationId xmlns:a16="http://schemas.microsoft.com/office/drawing/2014/main" id="{A1D51112-198A-4907-A27B-AB050201238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BEBA8EAE-BF5A-486C-A8C5-ECC9F3942E4B}">
                      <a14:imgProps xmlns:a14="http://schemas.microsoft.com/office/drawing/2010/main">
                        <a14:imgLayer r:embed="rId9">
                          <a14:imgEffect>
                            <a14:backgroundRemoval t="10000" b="90000" l="8400" r="90000">
                              <a14:foregroundMark x1="8400" y1="66200" x2="9400" y2="70800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9583652">
                  <a:off x="5552733" y="4375243"/>
                  <a:ext cx="204932" cy="20493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41411FF2-E985-40B5-8EC8-ED032B636F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BEBA8EAE-BF5A-486C-A8C5-ECC9F3942E4B}">
                      <a14:imgProps xmlns:a14="http://schemas.microsoft.com/office/drawing/2010/main">
                        <a14:imgLayer r:embed="rId14">
                          <a14:imgEffect>
                            <a14:backgroundRemoval t="6735" b="89898" l="9960" r="89841">
                              <a14:foregroundMark x1="53984" y1="6735" x2="60757" y2="9810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 rot="20830402">
                  <a:off x="4325417" y="992389"/>
                  <a:ext cx="1167965" cy="1589084"/>
                </a:xfrm>
                <a:prstGeom prst="rect">
                  <a:avLst/>
                </a:prstGeom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308D3147-71D8-45C9-B3DB-FDA33B68D4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BEBA8EAE-BF5A-486C-A8C5-ECC9F3942E4B}">
                      <a14:imgProps xmlns:a14="http://schemas.microsoft.com/office/drawing/2010/main">
                        <a14:imgLayer r:embed="rId16">
                          <a14:imgEffect>
                            <a14:backgroundRemoval t="7299" b="89927" l="9884" r="89826">
                              <a14:foregroundMark x1="44477" y1="8905" x2="54651" y2="7445"/>
                              <a14:foregroundMark x1="31977" y1="88467" x2="30233" y2="89051"/>
                              <a14:foregroundMark x1="61628" y1="89927" x2="54651" y2="89343"/>
                              <a14:backgroundMark x1="62791" y1="57664" x2="63081" y2="44964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4507943" y="3141330"/>
                  <a:ext cx="828873" cy="1650517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41B52638-41FA-4D43-82AD-6D4A217B3B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7">
                  <a:extLst>
                    <a:ext uri="{BEBA8EAE-BF5A-486C-A8C5-ECC9F3942E4B}">
                      <a14:imgProps xmlns:a14="http://schemas.microsoft.com/office/drawing/2010/main">
                        <a14:imgLayer r:embed="rId16">
                          <a14:imgEffect>
                            <a14:backgroundRemoval t="7299" b="89927" l="9884" r="89826">
                              <a14:foregroundMark x1="44477" y1="8905" x2="54651" y2="7445"/>
                              <a14:foregroundMark x1="31977" y1="88467" x2="30233" y2="89051"/>
                              <a14:foregroundMark x1="61628" y1="89927" x2="54651" y2="89343"/>
                              <a14:backgroundMark x1="62791" y1="57664" x2="63081" y2="44964"/>
                              <a14:backgroundMark x1="55523" y1="61168" x2="50872" y2="69635"/>
                              <a14:backgroundMark x1="50872" y1="69635" x2="52616" y2="76788"/>
                              <a14:backgroundMark x1="52616" y1="76788" x2="63081" y2="82044"/>
                              <a14:backgroundMark x1="63081" y1="82044" x2="63081" y2="82044"/>
                              <a14:backgroundMark x1="56686" y1="61898" x2="55523" y2="59416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rcRect l="55431" t="59711" r="13422" b="18900"/>
                <a:stretch/>
              </p:blipFill>
              <p:spPr>
                <a:xfrm>
                  <a:off x="5024616" y="4055734"/>
                  <a:ext cx="217668" cy="331830"/>
                </a:xfrm>
                <a:prstGeom prst="rect">
                  <a:avLst/>
                </a:prstGeom>
              </p:spPr>
            </p:pic>
          </p:grpSp>
          <p:pic>
            <p:nvPicPr>
              <p:cNvPr id="28" name="Picture 4">
                <a:extLst>
                  <a:ext uri="{FF2B5EF4-FFF2-40B4-BE49-F238E27FC236}">
                    <a16:creationId xmlns:a16="http://schemas.microsoft.com/office/drawing/2014/main" id="{EFBF45E5-B4C2-4388-A4D9-4C1EA9B5B8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8600" r="90000">
                            <a14:foregroundMark x1="11400" y1="65400" x2="8600" y2="654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0514423">
                <a:off x="6899523" y="2496056"/>
                <a:ext cx="151390" cy="1513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0CFD50A-D8CF-4107-B898-57188AAEF47F}"/>
                </a:ext>
              </a:extLst>
            </p:cNvPr>
            <p:cNvSpPr txBox="1"/>
            <p:nvPr/>
          </p:nvSpPr>
          <p:spPr>
            <a:xfrm>
              <a:off x="626324" y="4239857"/>
              <a:ext cx="37756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0" i="0">
                  <a:solidFill>
                    <a:srgbClr val="030303"/>
                  </a:solidFill>
                  <a:effectLst/>
                  <a:latin typeface="Roboto" panose="02000000000000000000" pitchFamily="2" charset="0"/>
                </a:rPr>
                <a:t>The powered bonnet incorporates gesture-based sensor, which allows automatic opening, or closing of the powered bonnet</a:t>
              </a:r>
              <a:r>
                <a:rPr lang="en-US" sz="1200">
                  <a:solidFill>
                    <a:srgbClr val="030303"/>
                  </a:solidFill>
                  <a:latin typeface="Roboto" panose="02000000000000000000" pitchFamily="2" charset="0"/>
                </a:rPr>
                <a:t> by a kick motion</a:t>
              </a:r>
              <a:endParaRPr lang="en-US" sz="1200"/>
            </a:p>
          </p:txBody>
        </p:sp>
        <p:cxnSp>
          <p:nvCxnSpPr>
            <p:cNvPr id="29" name="Connector: Curved 28">
              <a:extLst>
                <a:ext uri="{FF2B5EF4-FFF2-40B4-BE49-F238E27FC236}">
                  <a16:creationId xmlns:a16="http://schemas.microsoft.com/office/drawing/2014/main" id="{CE7BDBF5-6844-49AA-98A0-78506BB5C62A}"/>
                </a:ext>
              </a:extLst>
            </p:cNvPr>
            <p:cNvCxnSpPr>
              <a:cxnSpLocks/>
            </p:cNvCxnSpPr>
            <p:nvPr/>
          </p:nvCxnSpPr>
          <p:spPr>
            <a:xfrm>
              <a:off x="3806678" y="1455919"/>
              <a:ext cx="108810" cy="1839020"/>
            </a:xfrm>
            <a:prstGeom prst="curvedConnector3">
              <a:avLst>
                <a:gd name="adj1" fmla="val 377862"/>
              </a:avLst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701234DC-BA86-4F9E-900F-461DB204BF3F}"/>
              </a:ext>
            </a:extLst>
          </p:cNvPr>
          <p:cNvSpPr txBox="1"/>
          <p:nvPr/>
        </p:nvSpPr>
        <p:spPr>
          <a:xfrm>
            <a:off x="1698828" y="678115"/>
            <a:ext cx="1000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/>
              <a:t>Ergonomics</a:t>
            </a:r>
            <a:endParaRPr lang="en-IN" sz="1100" b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9FF101-F983-4C44-9A4E-3095073CE712}"/>
              </a:ext>
            </a:extLst>
          </p:cNvPr>
          <p:cNvSpPr txBox="1"/>
          <p:nvPr/>
        </p:nvSpPr>
        <p:spPr>
          <a:xfrm>
            <a:off x="6451845" y="1311958"/>
            <a:ext cx="1156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/>
              <a:t>Safety Feature</a:t>
            </a:r>
            <a:endParaRPr lang="en-IN" sz="1100" b="1"/>
          </a:p>
        </p:txBody>
      </p:sp>
    </p:spTree>
    <p:extLst>
      <p:ext uri="{BB962C8B-B14F-4D97-AF65-F5344CB8AC3E}">
        <p14:creationId xmlns:p14="http://schemas.microsoft.com/office/powerpoint/2010/main" val="3289151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Packaging</a:t>
            </a:r>
            <a:r>
              <a:rPr lang="en-US" sz="2400">
                <a:solidFill>
                  <a:srgbClr val="1DCA1D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Data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C66E6B-E9E7-4990-B681-EA9D5772FC2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27"/>
          <a:stretch/>
        </p:blipFill>
        <p:spPr>
          <a:xfrm>
            <a:off x="784294" y="825602"/>
            <a:ext cx="3789589" cy="207769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5F298A-68F8-4069-B03E-700FFDED9443}"/>
              </a:ext>
            </a:extLst>
          </p:cNvPr>
          <p:cNvSpPr txBox="1"/>
          <p:nvPr/>
        </p:nvSpPr>
        <p:spPr>
          <a:xfrm>
            <a:off x="678380" y="2916026"/>
            <a:ext cx="4001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The Volume covered by the red region denoted the volume used in our design</a:t>
            </a:r>
            <a:endParaRPr lang="en-IN" sz="8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8AA03A-05C1-43A3-97AC-2A3A32DD524E}"/>
              </a:ext>
            </a:extLst>
          </p:cNvPr>
          <p:cNvSpPr txBox="1"/>
          <p:nvPr/>
        </p:nvSpPr>
        <p:spPr>
          <a:xfrm>
            <a:off x="1805678" y="4606103"/>
            <a:ext cx="37781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Note: The above volumes are calculated neglecting the wire harness. </a:t>
            </a:r>
            <a:endParaRPr lang="en-IN" sz="9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3598E6-088E-469D-B233-FA8A6D57AE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9097" y="833451"/>
            <a:ext cx="2834492" cy="207769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7EE4112-242D-4A5E-A56C-CD08DE2BFDD8}"/>
              </a:ext>
            </a:extLst>
          </p:cNvPr>
          <p:cNvSpPr txBox="1"/>
          <p:nvPr/>
        </p:nvSpPr>
        <p:spPr>
          <a:xfrm>
            <a:off x="4752084" y="2918342"/>
            <a:ext cx="39485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Closeup of one of the actuators, its attachments and the volume occupied.</a:t>
            </a:r>
            <a:endParaRPr lang="en-IN" sz="800" b="1"/>
          </a:p>
        </p:txBody>
      </p:sp>
      <p:pic>
        <p:nvPicPr>
          <p:cNvPr id="13" name="Picture 12" descr="Logo, company name&#10;&#10;Description automatically generated">
            <a:extLst>
              <a:ext uri="{FF2B5EF4-FFF2-40B4-BE49-F238E27FC236}">
                <a16:creationId xmlns:a16="http://schemas.microsoft.com/office/drawing/2014/main" id="{AD49A86E-593E-4450-8FAA-45F1E9294E4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15" name="Table 6">
            <a:extLst>
              <a:ext uri="{FF2B5EF4-FFF2-40B4-BE49-F238E27FC236}">
                <a16:creationId xmlns:a16="http://schemas.microsoft.com/office/drawing/2014/main" id="{19C06C75-5BF6-49B4-B65E-FF73466BE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145289"/>
              </p:ext>
            </p:extLst>
          </p:nvPr>
        </p:nvGraphicFramePr>
        <p:xfrm>
          <a:off x="1805678" y="3319717"/>
          <a:ext cx="5532643" cy="12812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8425">
                  <a:extLst>
                    <a:ext uri="{9D8B030D-6E8A-4147-A177-3AD203B41FA5}">
                      <a16:colId xmlns:a16="http://schemas.microsoft.com/office/drawing/2014/main" val="3907989310"/>
                    </a:ext>
                  </a:extLst>
                </a:gridCol>
                <a:gridCol w="2194218">
                  <a:extLst>
                    <a:ext uri="{9D8B030D-6E8A-4147-A177-3AD203B41FA5}">
                      <a16:colId xmlns:a16="http://schemas.microsoft.com/office/drawing/2014/main" val="387102563"/>
                    </a:ext>
                  </a:extLst>
                </a:gridCol>
              </a:tblGrid>
              <a:tr h="366868"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Specifications</a:t>
                      </a:r>
                      <a:endParaRPr lang="en-US" sz="1300">
                        <a:solidFill>
                          <a:schemeClr val="bg1">
                            <a:lumMod val="95000"/>
                          </a:schemeClr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Value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331076"/>
                  </a:ext>
                </a:extLst>
              </a:tr>
              <a:tr h="282007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Volume Available (cm</a:t>
                      </a:r>
                      <a:r>
                        <a:rPr lang="en-US" sz="1200" baseline="30000"/>
                        <a:t>3</a:t>
                      </a:r>
                      <a:r>
                        <a:rPr lang="en-US" sz="1200"/>
                        <a:t>)</a:t>
                      </a:r>
                      <a:endParaRPr lang="en-IN" sz="120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30703.83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36519"/>
                  </a:ext>
                </a:extLst>
              </a:tr>
              <a:tr h="282007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Total Volume Utilized (cm</a:t>
                      </a:r>
                      <a:r>
                        <a:rPr lang="en-US" sz="1200" baseline="30000"/>
                        <a:t>3</a:t>
                      </a:r>
                      <a:r>
                        <a:rPr lang="en-US" sz="1200"/>
                        <a:t>)</a:t>
                      </a:r>
                      <a:endParaRPr lang="en-IN" sz="120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9940.24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69693"/>
                  </a:ext>
                </a:extLst>
              </a:tr>
              <a:tr h="282007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Percentage Available Space Used (%)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32.37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77539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3EC53A-519B-4FAB-9517-DCBB1FA47C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35109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Governing</a:t>
            </a:r>
            <a:r>
              <a:rPr lang="en-US" sz="2400">
                <a:solidFill>
                  <a:srgbClr val="1DCA1D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Equations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 And Model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10685D-3FCE-4A59-B974-D583D2F1D9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74" t="3062" r="1379" b="2925"/>
          <a:stretch/>
        </p:blipFill>
        <p:spPr>
          <a:xfrm>
            <a:off x="530941" y="813536"/>
            <a:ext cx="3487380" cy="174069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59B353-2234-45F0-9747-44A63331E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413" y="709949"/>
            <a:ext cx="4119349" cy="192890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1" name="Picture 10" descr="Logo, company name&#10;&#10;Description automatically generated">
            <a:extLst>
              <a:ext uri="{FF2B5EF4-FFF2-40B4-BE49-F238E27FC236}">
                <a16:creationId xmlns:a16="http://schemas.microsoft.com/office/drawing/2014/main" id="{A0CE647B-56FE-4892-A2CC-3817C6552D1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 descr="Shape&#10;&#10;Description automatically generated with medium confidence">
            <a:extLst>
              <a:ext uri="{FF2B5EF4-FFF2-40B4-BE49-F238E27FC236}">
                <a16:creationId xmlns:a16="http://schemas.microsoft.com/office/drawing/2014/main" id="{6E64253F-E479-4D10-8B5D-250D9E9806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7959" y="3018433"/>
            <a:ext cx="2313344" cy="655872"/>
          </a:xfrm>
          <a:prstGeom prst="rect">
            <a:avLst/>
          </a:prstGeom>
        </p:spPr>
      </p:pic>
      <p:pic>
        <p:nvPicPr>
          <p:cNvPr id="13" name="Picture 12" descr="Shape&#10;&#10;Description automatically generated with medium confidence">
            <a:extLst>
              <a:ext uri="{FF2B5EF4-FFF2-40B4-BE49-F238E27FC236}">
                <a16:creationId xmlns:a16="http://schemas.microsoft.com/office/drawing/2014/main" id="{B0196DEA-6872-4CB4-99FE-210F0F4298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0660" y="2885079"/>
            <a:ext cx="2653353" cy="992444"/>
          </a:xfrm>
          <a:prstGeom prst="rect">
            <a:avLst/>
          </a:prstGeom>
        </p:spPr>
      </p:pic>
      <p:cxnSp>
        <p:nvCxnSpPr>
          <p:cNvPr id="20" name="Google Shape;102;p16">
            <a:extLst>
              <a:ext uri="{FF2B5EF4-FFF2-40B4-BE49-F238E27FC236}">
                <a16:creationId xmlns:a16="http://schemas.microsoft.com/office/drawing/2014/main" id="{E0ADBF63-D1A2-44D2-8E16-774DDD1FEEBF}"/>
              </a:ext>
            </a:extLst>
          </p:cNvPr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1" name="Picture 20" descr="Shape&#10;&#10;Description automatically generated with medium confidence">
            <a:extLst>
              <a:ext uri="{FF2B5EF4-FFF2-40B4-BE49-F238E27FC236}">
                <a16:creationId xmlns:a16="http://schemas.microsoft.com/office/drawing/2014/main" id="{7A176D65-8AA5-4B69-8F6D-491CFCE05A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1071" y="2880213"/>
            <a:ext cx="1356471" cy="93231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3ABE86D-3F49-480C-A209-08AC10FC5C43}"/>
              </a:ext>
            </a:extLst>
          </p:cNvPr>
          <p:cNvSpPr txBox="1"/>
          <p:nvPr/>
        </p:nvSpPr>
        <p:spPr>
          <a:xfrm>
            <a:off x="1415261" y="2564426"/>
            <a:ext cx="17187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Mechanical Subsystem-1 (MS1)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A23F97-0174-44F1-B036-48548D8B8601}"/>
              </a:ext>
            </a:extLst>
          </p:cNvPr>
          <p:cNvSpPr txBox="1"/>
          <p:nvPr/>
        </p:nvSpPr>
        <p:spPr>
          <a:xfrm>
            <a:off x="5885717" y="2640191"/>
            <a:ext cx="17187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Mechanical Subsystem-2 (MS2)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82F094-E959-4CD5-A1F7-31E690160000}"/>
              </a:ext>
            </a:extLst>
          </p:cNvPr>
          <p:cNvSpPr txBox="1"/>
          <p:nvPr/>
        </p:nvSpPr>
        <p:spPr>
          <a:xfrm>
            <a:off x="263912" y="3812524"/>
            <a:ext cx="861617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rgbClr val="1B535B"/>
                </a:solidFill>
              </a:rPr>
              <a:t>Outcomes:</a:t>
            </a:r>
          </a:p>
          <a:p>
            <a:endParaRPr lang="en-IN" sz="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/>
              <a:t>Since the input from the electrical subsystem would be the length of the actuator, the bonnet angle and actuator length is written in a single equation which is further solved using MATLAB solvers. This is demonstrated in MS1.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/>
              <a:t>The differential equation in the rotational plane in terms of actuator force, bonnet angle and other constants was derived. This is shown in MS2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96DB1E-DDB1-45BF-A6CA-24CAB3FC4A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9953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MATLAB</a:t>
            </a:r>
            <a:r>
              <a:rPr lang="en-US" sz="2400">
                <a:solidFill>
                  <a:srgbClr val="1DCA1D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Model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pic>
        <p:nvPicPr>
          <p:cNvPr id="11" name="Picture 10" descr="Logo, company name&#10;&#10;Description automatically generated">
            <a:extLst>
              <a:ext uri="{FF2B5EF4-FFF2-40B4-BE49-F238E27FC236}">
                <a16:creationId xmlns:a16="http://schemas.microsoft.com/office/drawing/2014/main" id="{A0CE647B-56FE-4892-A2CC-3817C6552D1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14" name="Google Shape;102;p16">
            <a:extLst>
              <a:ext uri="{FF2B5EF4-FFF2-40B4-BE49-F238E27FC236}">
                <a16:creationId xmlns:a16="http://schemas.microsoft.com/office/drawing/2014/main" id="{B699C9F1-2BB4-487D-B472-297E9E74D9D8}"/>
              </a:ext>
            </a:extLst>
          </p:cNvPr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ECA311C1-BB18-4CD4-A5C2-352D8A1D9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6716" y="1686782"/>
            <a:ext cx="5198953" cy="212574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02417D-C957-4372-BDEE-8DD77B4396A3}"/>
              </a:ext>
            </a:extLst>
          </p:cNvPr>
          <p:cNvSpPr txBox="1"/>
          <p:nvPr/>
        </p:nvSpPr>
        <p:spPr>
          <a:xfrm>
            <a:off x="1030721" y="2294751"/>
            <a:ext cx="70283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/>
              <a:t>MATLAB Script 2 (MS2)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8722FF-8507-4FCB-8959-0DCCA5ED9D3D}"/>
              </a:ext>
            </a:extLst>
          </p:cNvPr>
          <p:cNvSpPr txBox="1"/>
          <p:nvPr/>
        </p:nvSpPr>
        <p:spPr>
          <a:xfrm>
            <a:off x="973874" y="945948"/>
            <a:ext cx="961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"/>
              <a:t>MATLAB Script 1 (MS1)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8E0A41-A4F5-448C-A957-1DDD41BCBC04}"/>
              </a:ext>
            </a:extLst>
          </p:cNvPr>
          <p:cNvSpPr txBox="1"/>
          <p:nvPr/>
        </p:nvSpPr>
        <p:spPr>
          <a:xfrm>
            <a:off x="263912" y="3812524"/>
            <a:ext cx="861617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rgbClr val="1B535B"/>
                </a:solidFill>
              </a:rPr>
              <a:t>Outcomes:</a:t>
            </a:r>
          </a:p>
          <a:p>
            <a:endParaRPr lang="en-IN" sz="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/>
              <a:t>All the </a:t>
            </a:r>
            <a:r>
              <a:rPr lang="en-IN" sz="1100">
                <a:solidFill>
                  <a:srgbClr val="226A74"/>
                </a:solidFill>
              </a:rPr>
              <a:t>Parameters</a:t>
            </a:r>
            <a:r>
              <a:rPr lang="en-IN" sz="1100"/>
              <a:t> for the bonnet/mechanism mentioned in </a:t>
            </a:r>
            <a:r>
              <a:rPr lang="en-IN" sz="1100">
                <a:solidFill>
                  <a:srgbClr val="226A74"/>
                </a:solidFill>
              </a:rPr>
              <a:t>script MS2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/>
              <a:t>Altering the parameters will help in obtaining the required values for </a:t>
            </a:r>
            <a:r>
              <a:rPr lang="en-IN" sz="1100">
                <a:solidFill>
                  <a:srgbClr val="226A74"/>
                </a:solidFill>
              </a:rPr>
              <a:t>various orientations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/>
              <a:t>The MS1 script contains the </a:t>
            </a:r>
            <a:r>
              <a:rPr lang="en-IN" sz="1100">
                <a:solidFill>
                  <a:srgbClr val="226A74"/>
                </a:solidFill>
              </a:rPr>
              <a:t>conversion equation </a:t>
            </a:r>
            <a:r>
              <a:rPr lang="en-IN" sz="1100"/>
              <a:t>(</a:t>
            </a:r>
            <a:r>
              <a:rPr lang="en-IN" sz="1100" err="1"/>
              <a:t>Lp</a:t>
            </a:r>
            <a:r>
              <a:rPr lang="en-IN" sz="1100"/>
              <a:t> to theta), solved numerically using the </a:t>
            </a:r>
            <a:r>
              <a:rPr lang="en-IN" sz="1100">
                <a:solidFill>
                  <a:srgbClr val="226A74"/>
                </a:solidFill>
              </a:rPr>
              <a:t>“</a:t>
            </a:r>
            <a:r>
              <a:rPr lang="en-IN" sz="1100" err="1">
                <a:solidFill>
                  <a:srgbClr val="226A74"/>
                </a:solidFill>
              </a:rPr>
              <a:t>fzero</a:t>
            </a:r>
            <a:r>
              <a:rPr lang="en-IN" sz="1100">
                <a:solidFill>
                  <a:srgbClr val="226A74"/>
                </a:solidFill>
              </a:rPr>
              <a:t>” </a:t>
            </a:r>
            <a:r>
              <a:rPr lang="en-IN" sz="1100"/>
              <a:t>solver present in MATLAB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/>
              <a:t>Since multiple values are possible, the initial guesstimate of </a:t>
            </a:r>
            <a:r>
              <a:rPr lang="en-IN" sz="1100">
                <a:solidFill>
                  <a:srgbClr val="226A74"/>
                </a:solidFill>
              </a:rPr>
              <a:t>pi/4</a:t>
            </a:r>
            <a:r>
              <a:rPr lang="en-IN" sz="1100"/>
              <a:t> is selected to find the correct ones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085B14-24A2-4B63-B9A7-A86BF643BA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9437" y="900615"/>
            <a:ext cx="4870257" cy="43010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F8FE5E-BB6E-4C79-9C17-2A9583EFA6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0842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Linear Actuator</a:t>
            </a:r>
            <a:r>
              <a:rPr lang="en-US" sz="2400">
                <a:solidFill>
                  <a:srgbClr val="1DCA1D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Selection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pic>
        <p:nvPicPr>
          <p:cNvPr id="8" name="Picture 7" descr="Logo, company name&#10;&#10;Description automatically generated">
            <a:extLst>
              <a:ext uri="{FF2B5EF4-FFF2-40B4-BE49-F238E27FC236}">
                <a16:creationId xmlns:a16="http://schemas.microsoft.com/office/drawing/2014/main" id="{7E8D1A10-A763-4840-9352-516998F986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375BDB-4F56-4F65-9AF1-DB9FAA8C1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82" y="1180307"/>
            <a:ext cx="3393781" cy="228386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8244B85-CF80-42DF-8E10-98F1E4F027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9191" y="1198827"/>
            <a:ext cx="3688565" cy="228386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474775A-A821-4A8E-BFF3-A80AE203C524}"/>
              </a:ext>
            </a:extLst>
          </p:cNvPr>
          <p:cNvSpPr txBox="1"/>
          <p:nvPr/>
        </p:nvSpPr>
        <p:spPr>
          <a:xfrm>
            <a:off x="1769065" y="3480805"/>
            <a:ext cx="10102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Market Research</a:t>
            </a:r>
            <a:endParaRPr lang="en-IN" sz="8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4A11C2-B472-4DCC-BC16-BCD03A60851A}"/>
              </a:ext>
            </a:extLst>
          </p:cNvPr>
          <p:cNvSpPr txBox="1"/>
          <p:nvPr/>
        </p:nvSpPr>
        <p:spPr>
          <a:xfrm>
            <a:off x="6118103" y="3486843"/>
            <a:ext cx="1059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/>
              <a:t>Selected Actuator</a:t>
            </a:r>
            <a:endParaRPr lang="en-IN" sz="80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1359B4-CC33-4CB2-8AD5-9AFFD5A4124D}"/>
              </a:ext>
            </a:extLst>
          </p:cNvPr>
          <p:cNvSpPr txBox="1"/>
          <p:nvPr/>
        </p:nvSpPr>
        <p:spPr>
          <a:xfrm>
            <a:off x="263912" y="3839117"/>
            <a:ext cx="861617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rgbClr val="1B535B"/>
                </a:solidFill>
              </a:rPr>
              <a:t>Outcomes:</a:t>
            </a:r>
          </a:p>
          <a:p>
            <a:endParaRPr lang="en-IN" sz="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>
                <a:solidFill>
                  <a:srgbClr val="226A74"/>
                </a:solidFill>
              </a:rPr>
              <a:t>TA1 Linear Actuator </a:t>
            </a:r>
            <a:r>
              <a:rPr lang="en-IN" sz="1100"/>
              <a:t>selected: Satisfies both our load and speed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/>
              <a:t>Seller Statement: TA1 linear actuator unavailable but </a:t>
            </a:r>
            <a:r>
              <a:rPr lang="en-IN" sz="1100">
                <a:solidFill>
                  <a:srgbClr val="226A74"/>
                </a:solidFill>
              </a:rPr>
              <a:t>TA23 linear actuator </a:t>
            </a:r>
            <a:r>
              <a:rPr lang="en-IN" sz="1100"/>
              <a:t>available with the exact same specifications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/>
              <a:t>Final Selection: </a:t>
            </a:r>
            <a:r>
              <a:rPr lang="en-IN" sz="1100">
                <a:solidFill>
                  <a:srgbClr val="226A74"/>
                </a:solidFill>
              </a:rPr>
              <a:t>TA23 Linear Actuator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A947632-9209-4813-9B73-9528056786CB}"/>
              </a:ext>
            </a:extLst>
          </p:cNvPr>
          <p:cNvSpPr/>
          <p:nvPr/>
        </p:nvSpPr>
        <p:spPr>
          <a:xfrm>
            <a:off x="4394810" y="1170303"/>
            <a:ext cx="354381" cy="2352735"/>
          </a:xfrm>
          <a:prstGeom prst="leftBrace">
            <a:avLst>
              <a:gd name="adj1" fmla="val 62876"/>
              <a:gd name="adj2" fmla="val 50000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39BD9880-B9E5-409B-9236-292DE88CFA8D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971063" y="1932878"/>
            <a:ext cx="423747" cy="413793"/>
          </a:xfrm>
          <a:prstGeom prst="bentConnector3">
            <a:avLst/>
          </a:prstGeom>
          <a:ln w="28575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9D401F7C-1A27-4ADE-B935-A6463D11AC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1054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Position</a:t>
            </a:r>
            <a:r>
              <a:rPr lang="en-US" sz="2400">
                <a:solidFill>
                  <a:srgbClr val="1DCA1D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Calculation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8B9F5E-CE4E-4BD9-8E4A-F28DE213E66F}"/>
              </a:ext>
            </a:extLst>
          </p:cNvPr>
          <p:cNvSpPr txBox="1"/>
          <p:nvPr/>
        </p:nvSpPr>
        <p:spPr>
          <a:xfrm>
            <a:off x="2018145" y="685015"/>
            <a:ext cx="5092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>
                <a:solidFill>
                  <a:srgbClr val="1B535B"/>
                </a:solidFill>
              </a:rPr>
              <a:t>Mount Position Estimation &amp; Optimization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46585A-82B9-464A-85F6-D313108709F5}"/>
              </a:ext>
            </a:extLst>
          </p:cNvPr>
          <p:cNvSpPr txBox="1"/>
          <p:nvPr/>
        </p:nvSpPr>
        <p:spPr>
          <a:xfrm>
            <a:off x="256478" y="3775841"/>
            <a:ext cx="861617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rgbClr val="1B535B"/>
                </a:solidFill>
              </a:rPr>
              <a:t>Outcomes:</a:t>
            </a:r>
          </a:p>
          <a:p>
            <a:endParaRPr lang="en-IN" sz="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>
                <a:solidFill>
                  <a:srgbClr val="226A74"/>
                </a:solidFill>
              </a:rPr>
              <a:t>2D SolidWorks sketch</a:t>
            </a:r>
            <a:r>
              <a:rPr lang="en-IN" sz="1100"/>
              <a:t> created to estimate the upper and lower mounting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/>
              <a:t>Allowable mounting points exist on the </a:t>
            </a:r>
            <a:r>
              <a:rPr lang="en-IN" sz="1100">
                <a:solidFill>
                  <a:srgbClr val="226A74"/>
                </a:solidFill>
              </a:rPr>
              <a:t>intersection of the two semicircles </a:t>
            </a:r>
            <a:r>
              <a:rPr lang="en-IN" sz="1100"/>
              <a:t>shown in the figure, their radii are equal to the actuator length in retracted and extended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/>
              <a:t>Mounting points were adjusted to obtain load profiles with </a:t>
            </a:r>
            <a:r>
              <a:rPr lang="en-IN" sz="1100">
                <a:solidFill>
                  <a:srgbClr val="226A74"/>
                </a:solidFill>
              </a:rPr>
              <a:t>minimum overall load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EE838747-A908-48EC-A92B-64E9B7987F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2859894-CD7D-40BB-BCAF-21146A18B5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913" y="1088735"/>
            <a:ext cx="2828692" cy="244044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90CAF4-ADBF-470F-A206-85FD3C176C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6020" y="1100253"/>
            <a:ext cx="4404732" cy="244358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6D61E16-44E2-46AE-A680-18EA2698A0BF}"/>
              </a:ext>
            </a:extLst>
          </p:cNvPr>
          <p:cNvSpPr txBox="1"/>
          <p:nvPr/>
        </p:nvSpPr>
        <p:spPr>
          <a:xfrm>
            <a:off x="1570780" y="3544786"/>
            <a:ext cx="15424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Mounting Points Estimation</a:t>
            </a:r>
            <a:endParaRPr lang="en-IN" sz="80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D0E688-B759-4F10-8B2D-4FBB8810BB77}"/>
              </a:ext>
            </a:extLst>
          </p:cNvPr>
          <p:cNvSpPr txBox="1"/>
          <p:nvPr/>
        </p:nvSpPr>
        <p:spPr>
          <a:xfrm>
            <a:off x="5219091" y="3555454"/>
            <a:ext cx="16385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/>
              <a:t>Mounting Points Optimization</a:t>
            </a:r>
            <a:endParaRPr lang="en-IN" sz="800" b="1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482900-4FB0-4B09-8CB6-2D45AE281C1A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170385" y="1088636"/>
            <a:ext cx="2665635" cy="1199603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82E474F5-6919-4753-9B87-AF69C7280008}"/>
              </a:ext>
            </a:extLst>
          </p:cNvPr>
          <p:cNvSpPr/>
          <p:nvPr/>
        </p:nvSpPr>
        <p:spPr>
          <a:xfrm>
            <a:off x="713185" y="2288239"/>
            <a:ext cx="914400" cy="914400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3ED643-FB0B-46E5-8BA8-FEA0D74ED6BF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1170385" y="3202639"/>
            <a:ext cx="2665635" cy="335167"/>
          </a:xfrm>
          <a:prstGeom prst="line">
            <a:avLst/>
          </a:prstGeom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204C05F0-A7E9-483E-85BD-0618ABCC9D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05410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 b="1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Complete 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Model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pic>
        <p:nvPicPr>
          <p:cNvPr id="11" name="Picture 10" descr="Logo, company name&#10;&#10;Description automatically generated">
            <a:extLst>
              <a:ext uri="{FF2B5EF4-FFF2-40B4-BE49-F238E27FC236}">
                <a16:creationId xmlns:a16="http://schemas.microsoft.com/office/drawing/2014/main" id="{0B670B9C-B475-46F2-92E9-4402B87495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2" descr="Diagram, schematic&#10;&#10;Description automatically generated">
            <a:extLst>
              <a:ext uri="{FF2B5EF4-FFF2-40B4-BE49-F238E27FC236}">
                <a16:creationId xmlns:a16="http://schemas.microsoft.com/office/drawing/2014/main" id="{0801AD16-BE87-55AD-FAE9-1456D6F9F6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992098"/>
            <a:ext cx="8961120" cy="239635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FA8A98-2D60-48D1-8C33-ED562162C6AB}"/>
              </a:ext>
            </a:extLst>
          </p:cNvPr>
          <p:cNvSpPr txBox="1"/>
          <p:nvPr/>
        </p:nvSpPr>
        <p:spPr>
          <a:xfrm>
            <a:off x="197005" y="3639603"/>
            <a:ext cx="874999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rgbClr val="1B535B"/>
                </a:solidFill>
              </a:rPr>
              <a:t>Outcomes:</a:t>
            </a:r>
          </a:p>
          <a:p>
            <a:endParaRPr lang="en-IN" sz="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Linear actuator modelled using </a:t>
            </a:r>
            <a:r>
              <a:rPr lang="en-US" sz="1100" err="1">
                <a:solidFill>
                  <a:srgbClr val="226A74"/>
                </a:solidFill>
              </a:rPr>
              <a:t>Simscape</a:t>
            </a:r>
            <a:r>
              <a:rPr lang="en-US" sz="1100">
                <a:solidFill>
                  <a:srgbClr val="226A74"/>
                </a:solidFill>
              </a:rPr>
              <a:t> Electrical &amp; Mechanical </a:t>
            </a:r>
            <a:r>
              <a:rPr lang="en-US" sz="1100"/>
              <a:t>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226A74"/>
                </a:solidFill>
              </a:rPr>
              <a:t>Load profile</a:t>
            </a:r>
            <a:r>
              <a:rPr lang="en-US" sz="1100"/>
              <a:t>, inherited as lookup table from previous Simulink model, used to determine force on actuator at different angles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226A74"/>
                </a:solidFill>
              </a:rPr>
              <a:t>PWM control strategy </a:t>
            </a:r>
            <a:r>
              <a:rPr lang="en-US" sz="1100"/>
              <a:t>implemented with </a:t>
            </a:r>
            <a:r>
              <a:rPr lang="en-US" sz="1100">
                <a:solidFill>
                  <a:srgbClr val="226A74"/>
                </a:solidFill>
              </a:rPr>
              <a:t>H-bridge</a:t>
            </a:r>
            <a:r>
              <a:rPr lang="en-US" sz="1100"/>
              <a:t> for controlling the speed of linear actuator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226A74"/>
                </a:solidFill>
              </a:rPr>
              <a:t>PI Controller is</a:t>
            </a:r>
            <a:r>
              <a:rPr lang="en-US" sz="1100"/>
              <a:t> used for jerk free control of linear actuator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ACE45B-32FF-40A4-A168-AE1FBDDBBA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8347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 b="1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Simulation</a:t>
            </a:r>
            <a:r>
              <a:rPr lang="en-US" sz="2400" b="1">
                <a:solidFill>
                  <a:srgbClr val="1DCA1D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Results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pic>
        <p:nvPicPr>
          <p:cNvPr id="11" name="Picture 10" descr="Logo, company name&#10;&#10;Description automatically generated">
            <a:extLst>
              <a:ext uri="{FF2B5EF4-FFF2-40B4-BE49-F238E27FC236}">
                <a16:creationId xmlns:a16="http://schemas.microsoft.com/office/drawing/2014/main" id="{0B670B9C-B475-46F2-92E9-4402B87495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43AB94-9EBF-4992-AA3A-C3E88F66D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821" y="1627554"/>
            <a:ext cx="3731774" cy="188839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67B1C2-AF53-490E-B6D3-32A48ABA695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794"/>
          <a:stretch/>
        </p:blipFill>
        <p:spPr>
          <a:xfrm>
            <a:off x="4338155" y="1073510"/>
            <a:ext cx="4668782" cy="299684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483D6A-82E4-4143-B8CA-29335890CEED}"/>
              </a:ext>
            </a:extLst>
          </p:cNvPr>
          <p:cNvSpPr txBox="1"/>
          <p:nvPr/>
        </p:nvSpPr>
        <p:spPr>
          <a:xfrm>
            <a:off x="671160" y="3535501"/>
            <a:ext cx="3251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/>
              <a:t>Weight – 14 kg</a:t>
            </a:r>
            <a:endParaRPr lang="en-IN" sz="110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1E5D0D-D2A8-470D-8B80-BFF9FC71B04F}"/>
              </a:ext>
            </a:extLst>
          </p:cNvPr>
          <p:cNvSpPr txBox="1"/>
          <p:nvPr/>
        </p:nvSpPr>
        <p:spPr>
          <a:xfrm>
            <a:off x="5046948" y="4098466"/>
            <a:ext cx="3251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/>
              <a:t>Weight – 9 kg - 14 kg</a:t>
            </a:r>
            <a:endParaRPr lang="en-IN" sz="11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FB196B-89E7-4547-9C63-560582754499}"/>
              </a:ext>
            </a:extLst>
          </p:cNvPr>
          <p:cNvSpPr txBox="1"/>
          <p:nvPr/>
        </p:nvSpPr>
        <p:spPr>
          <a:xfrm>
            <a:off x="-212350" y="4341972"/>
            <a:ext cx="874999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>
                <a:solidFill>
                  <a:srgbClr val="1B535B"/>
                </a:solidFill>
              </a:rPr>
              <a:t>Outcome:</a:t>
            </a:r>
          </a:p>
          <a:p>
            <a:pPr algn="ctr"/>
            <a:endParaRPr lang="en-IN" sz="500"/>
          </a:p>
          <a:p>
            <a:pPr algn="ctr"/>
            <a:r>
              <a:rPr lang="en-US" sz="1100"/>
              <a:t>Plots of the Actuator load vs time for a single cycle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1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9C51EA-6684-442F-9410-FB8A7D9EE4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5943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Simulation</a:t>
            </a:r>
            <a:r>
              <a:rPr lang="en-US" sz="2400">
                <a:solidFill>
                  <a:srgbClr val="1DCA1D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Results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4AF45DCC-1C84-4EC1-B3FD-FB32CD7062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493E9FCB-BB6D-0132-BDCF-B6971DE18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569" y="695802"/>
            <a:ext cx="6900862" cy="337327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052091-7A99-439A-BC4B-8C83A5559CBC}"/>
              </a:ext>
            </a:extLst>
          </p:cNvPr>
          <p:cNvSpPr txBox="1"/>
          <p:nvPr/>
        </p:nvSpPr>
        <p:spPr>
          <a:xfrm>
            <a:off x="197004" y="4362953"/>
            <a:ext cx="87499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>
                <a:solidFill>
                  <a:srgbClr val="1B535B"/>
                </a:solidFill>
              </a:rPr>
              <a:t>Outcomes:</a:t>
            </a:r>
          </a:p>
          <a:p>
            <a:pPr algn="ctr"/>
            <a:endParaRPr lang="en-IN" sz="500"/>
          </a:p>
          <a:p>
            <a:pPr algn="ctr"/>
            <a:r>
              <a:rPr lang="en-US" sz="1100"/>
              <a:t>After 4 seconds position of bonnet remains within ±1° of the final angle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8F0865-0CB3-470D-8D53-4E1CA9B48E5A}"/>
              </a:ext>
            </a:extLst>
          </p:cNvPr>
          <p:cNvSpPr txBox="1"/>
          <p:nvPr/>
        </p:nvSpPr>
        <p:spPr>
          <a:xfrm>
            <a:off x="1747022" y="4080852"/>
            <a:ext cx="56499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/>
              <a:t>Plots of the angle of opening of the Bonnet vs time for a single cycle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4B5D8F-47A5-45E6-BF0B-F75C334449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2690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Simulation</a:t>
            </a:r>
            <a:r>
              <a:rPr lang="en-US" sz="2400">
                <a:solidFill>
                  <a:srgbClr val="1DCA1D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Results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pic>
        <p:nvPicPr>
          <p:cNvPr id="8" name="Picture 7" descr="Logo, company name&#10;&#10;Description automatically generated">
            <a:extLst>
              <a:ext uri="{FF2B5EF4-FFF2-40B4-BE49-F238E27FC236}">
                <a16:creationId xmlns:a16="http://schemas.microsoft.com/office/drawing/2014/main" id="{901682AC-B46D-45B4-BFD3-A7CE07722D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5B5A48-56EF-4E9F-9DBD-BB1BEF57FA7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285" t="4653" r="7752" b="1726"/>
          <a:stretch/>
        </p:blipFill>
        <p:spPr>
          <a:xfrm>
            <a:off x="1603750" y="770686"/>
            <a:ext cx="5672740" cy="304734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127590-D2F3-43B0-B0AF-59DA477D1A09}"/>
              </a:ext>
            </a:extLst>
          </p:cNvPr>
          <p:cNvSpPr txBox="1"/>
          <p:nvPr/>
        </p:nvSpPr>
        <p:spPr>
          <a:xfrm>
            <a:off x="2256416" y="3828471"/>
            <a:ext cx="4367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/>
              <a:t>Power Consumption for different Bonnet Weights</a:t>
            </a:r>
            <a:endParaRPr lang="en-IN" sz="11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D3B937-4834-4483-AF4B-F6DC3317A18B}"/>
              </a:ext>
            </a:extLst>
          </p:cNvPr>
          <p:cNvSpPr txBox="1"/>
          <p:nvPr/>
        </p:nvSpPr>
        <p:spPr>
          <a:xfrm>
            <a:off x="197005" y="4149553"/>
            <a:ext cx="874999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rgbClr val="1B535B"/>
                </a:solidFill>
              </a:rPr>
              <a:t>Outcomes:</a:t>
            </a:r>
          </a:p>
          <a:p>
            <a:endParaRPr lang="en-IN" sz="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Power consumption comes out be </a:t>
            </a:r>
            <a:r>
              <a:rPr lang="en-US" sz="1100">
                <a:solidFill>
                  <a:srgbClr val="226A74"/>
                </a:solidFill>
              </a:rPr>
              <a:t>300.3 J</a:t>
            </a:r>
            <a:r>
              <a:rPr lang="en-US" sz="1100"/>
              <a:t> for 14 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Power Consumption comes out to be </a:t>
            </a:r>
            <a:r>
              <a:rPr lang="en-US" sz="1100">
                <a:solidFill>
                  <a:srgbClr val="226A74"/>
                </a:solidFill>
              </a:rPr>
              <a:t>almost linear </a:t>
            </a:r>
            <a:r>
              <a:rPr lang="en-US" sz="1100"/>
              <a:t>from mass = 9 kg to 14 kg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2DF7ED-2B26-4578-BFB2-6EF7BA81BA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3308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Simulation</a:t>
            </a:r>
            <a:r>
              <a:rPr lang="en-US" sz="2400">
                <a:solidFill>
                  <a:srgbClr val="1DCA1D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Results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B31CE5-9428-412F-AE6A-1ECC27D1858B}"/>
              </a:ext>
            </a:extLst>
          </p:cNvPr>
          <p:cNvSpPr txBox="1"/>
          <p:nvPr/>
        </p:nvSpPr>
        <p:spPr>
          <a:xfrm>
            <a:off x="-1" y="703967"/>
            <a:ext cx="552357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1B535B"/>
                </a:solidFill>
              </a:rPr>
              <a:t>M</a:t>
            </a:r>
            <a:r>
              <a:rPr lang="en-IN" sz="1400" b="1">
                <a:solidFill>
                  <a:srgbClr val="1B535B"/>
                </a:solidFill>
              </a:rPr>
              <a:t>ount Simulations</a:t>
            </a:r>
          </a:p>
          <a:p>
            <a:endParaRPr lang="en-IN" sz="500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/>
              <a:t>The Mounts are made of </a:t>
            </a:r>
            <a:r>
              <a:rPr lang="en-IN" sz="1100">
                <a:solidFill>
                  <a:srgbClr val="226A74"/>
                </a:solidFill>
              </a:rPr>
              <a:t>Al-3003 </a:t>
            </a:r>
            <a:r>
              <a:rPr lang="en-IN" sz="1100"/>
              <a:t>(S</a:t>
            </a:r>
            <a:r>
              <a:rPr lang="en-IN" sz="1100" baseline="-25000"/>
              <a:t>y </a:t>
            </a:r>
            <a:r>
              <a:rPr lang="en-IN" sz="1100"/>
              <a:t>= 140 MPa).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/>
              <a:t>Manufactured using </a:t>
            </a:r>
            <a:r>
              <a:rPr lang="en-IN" sz="1100">
                <a:solidFill>
                  <a:srgbClr val="226A74"/>
                </a:solidFill>
              </a:rPr>
              <a:t>CNC machining.</a:t>
            </a:r>
            <a:endParaRPr lang="en-IN" sz="11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100"/>
              <a:t>The maximum force transmitted to the linear actuator is around </a:t>
            </a:r>
            <a:r>
              <a:rPr lang="en-IN" sz="1100">
                <a:solidFill>
                  <a:srgbClr val="226A74"/>
                </a:solidFill>
              </a:rPr>
              <a:t>650N.</a:t>
            </a:r>
            <a:endParaRPr lang="en-IN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B3437-6886-455D-A536-3333DAAC180F}"/>
              </a:ext>
            </a:extLst>
          </p:cNvPr>
          <p:cNvSpPr txBox="1"/>
          <p:nvPr/>
        </p:nvSpPr>
        <p:spPr>
          <a:xfrm>
            <a:off x="397352" y="3630146"/>
            <a:ext cx="1680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/>
              <a:t>Stress Distribution Longitudinal Loading</a:t>
            </a:r>
            <a:endParaRPr lang="en-IN" sz="8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F2E46E-B983-435A-8CB7-9A567F9B55F3}"/>
              </a:ext>
            </a:extLst>
          </p:cNvPr>
          <p:cNvSpPr txBox="1"/>
          <p:nvPr/>
        </p:nvSpPr>
        <p:spPr>
          <a:xfrm>
            <a:off x="2458503" y="3630904"/>
            <a:ext cx="1680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/>
              <a:t>Stress Distribution</a:t>
            </a:r>
          </a:p>
          <a:p>
            <a:pPr algn="ctr"/>
            <a:r>
              <a:rPr lang="en-US" sz="800" b="1"/>
              <a:t>Vertical Loading</a:t>
            </a:r>
            <a:endParaRPr lang="en-IN" sz="800" b="1"/>
          </a:p>
        </p:txBody>
      </p:sp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2E6625D1-9BC7-4CB2-A00F-F87820A1B1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17" name="Table 6">
            <a:extLst>
              <a:ext uri="{FF2B5EF4-FFF2-40B4-BE49-F238E27FC236}">
                <a16:creationId xmlns:a16="http://schemas.microsoft.com/office/drawing/2014/main" id="{65958A23-9D42-4753-A4FE-E5297F14E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726016"/>
              </p:ext>
            </p:extLst>
          </p:nvPr>
        </p:nvGraphicFramePr>
        <p:xfrm>
          <a:off x="2417874" y="4041500"/>
          <a:ext cx="3806508" cy="914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1988">
                  <a:extLst>
                    <a:ext uri="{9D8B030D-6E8A-4147-A177-3AD203B41FA5}">
                      <a16:colId xmlns:a16="http://schemas.microsoft.com/office/drawing/2014/main" val="3907989310"/>
                    </a:ext>
                  </a:extLst>
                </a:gridCol>
                <a:gridCol w="863918">
                  <a:extLst>
                    <a:ext uri="{9D8B030D-6E8A-4147-A177-3AD203B41FA5}">
                      <a16:colId xmlns:a16="http://schemas.microsoft.com/office/drawing/2014/main" val="387102563"/>
                    </a:ext>
                  </a:extLst>
                </a:gridCol>
                <a:gridCol w="708342">
                  <a:extLst>
                    <a:ext uri="{9D8B030D-6E8A-4147-A177-3AD203B41FA5}">
                      <a16:colId xmlns:a16="http://schemas.microsoft.com/office/drawing/2014/main" val="3400980673"/>
                    </a:ext>
                  </a:extLst>
                </a:gridCol>
                <a:gridCol w="863918">
                  <a:extLst>
                    <a:ext uri="{9D8B030D-6E8A-4147-A177-3AD203B41FA5}">
                      <a16:colId xmlns:a16="http://schemas.microsoft.com/office/drawing/2014/main" val="3307807619"/>
                    </a:ext>
                  </a:extLst>
                </a:gridCol>
                <a:gridCol w="708342">
                  <a:extLst>
                    <a:ext uri="{9D8B030D-6E8A-4147-A177-3AD203B41FA5}">
                      <a16:colId xmlns:a16="http://schemas.microsoft.com/office/drawing/2014/main" val="2392527361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lt"/>
                          <a:ea typeface="Lato"/>
                          <a:cs typeface="Lato"/>
                        </a:rPr>
                        <a:t>Mount</a:t>
                      </a:r>
                      <a:endParaRPr lang="en-US" sz="1050">
                        <a:solidFill>
                          <a:schemeClr val="bg1">
                            <a:lumMod val="95000"/>
                          </a:schemeClr>
                        </a:solidFill>
                        <a:latin typeface="+mj-lt"/>
                        <a:ea typeface="Lato"/>
                        <a:cs typeface="Lato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lt"/>
                          <a:ea typeface="Lato"/>
                          <a:cs typeface="Lato"/>
                        </a:rPr>
                        <a:t>Longitudinal Loading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>
                        <a:solidFill>
                          <a:schemeClr val="bg1">
                            <a:lumMod val="95000"/>
                          </a:schemeClr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lt"/>
                          <a:ea typeface="Lato"/>
                          <a:cs typeface="Lato"/>
                        </a:rPr>
                        <a:t>Vertical Loading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>
                        <a:solidFill>
                          <a:schemeClr val="bg1">
                            <a:lumMod val="95000"/>
                          </a:schemeClr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3310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sz="1300">
                        <a:solidFill>
                          <a:schemeClr val="bg1">
                            <a:lumMod val="95000"/>
                          </a:schemeClr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lt"/>
                          <a:ea typeface="Lato"/>
                          <a:cs typeface="Lato"/>
                        </a:rPr>
                        <a:t>Max Stress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lt"/>
                          <a:ea typeface="Lato"/>
                          <a:cs typeface="Lato"/>
                        </a:rPr>
                        <a:t>Min FoS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lt"/>
                          <a:ea typeface="Lato"/>
                          <a:cs typeface="Lato"/>
                        </a:rPr>
                        <a:t>Max Stress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>
                          <a:solidFill>
                            <a:schemeClr val="bg1">
                              <a:lumMod val="95000"/>
                            </a:schemeClr>
                          </a:solidFill>
                          <a:latin typeface="+mj-lt"/>
                          <a:ea typeface="Lato"/>
                          <a:cs typeface="Lato"/>
                        </a:rPr>
                        <a:t>Min FoS</a:t>
                      </a:r>
                    </a:p>
                  </a:txBody>
                  <a:tcPr anchor="ctr"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644488"/>
                  </a:ext>
                </a:extLst>
              </a:tr>
              <a:tr h="2056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j-lt"/>
                          <a:ea typeface="Lato"/>
                          <a:cs typeface="Lato"/>
                        </a:rPr>
                        <a:t>U-Mount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>
                          <a:latin typeface="+mj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90.89 MPa</a:t>
                      </a:r>
                      <a:endParaRPr lang="en-US">
                        <a:latin typeface="+mj-lt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100" b="0">
                          <a:latin typeface="+mj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1.54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>
                          <a:latin typeface="+mj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57.69 Mpa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>
                          <a:latin typeface="+mj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</a:t>
                      </a:r>
                      <a:r>
                        <a:rPr lang="en-IN" sz="1100" b="0">
                          <a:latin typeface="+mj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.43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4536519"/>
                  </a:ext>
                </a:extLst>
              </a:tr>
              <a:tr h="2056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j-lt"/>
                          <a:ea typeface="Lato"/>
                          <a:cs typeface="Lato"/>
                        </a:rPr>
                        <a:t>T-Mount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>
                          <a:latin typeface="+mj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104.09 MPa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>
                          <a:latin typeface="+mj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  <a:r>
                        <a:rPr lang="en-IN" sz="1100" b="0">
                          <a:latin typeface="+mj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.34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0">
                          <a:latin typeface="+mj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21.71 MPa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0">
                          <a:latin typeface="+mj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6</a:t>
                      </a:r>
                      <a:r>
                        <a:rPr lang="en-IN" sz="1100" b="0">
                          <a:latin typeface="+mj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.45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696969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DFEDACC-E6FE-4818-8095-4304B51261F6}"/>
              </a:ext>
            </a:extLst>
          </p:cNvPr>
          <p:cNvSpPr txBox="1"/>
          <p:nvPr/>
        </p:nvSpPr>
        <p:spPr>
          <a:xfrm>
            <a:off x="4896837" y="3630146"/>
            <a:ext cx="1680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/>
              <a:t>Stress Distribution Longitudinal Loading</a:t>
            </a:r>
            <a:endParaRPr lang="en-IN" sz="8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13FB8B-C484-403D-AD5A-8D93FA442AC8}"/>
              </a:ext>
            </a:extLst>
          </p:cNvPr>
          <p:cNvSpPr txBox="1"/>
          <p:nvPr/>
        </p:nvSpPr>
        <p:spPr>
          <a:xfrm>
            <a:off x="6957988" y="3630904"/>
            <a:ext cx="1680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/>
              <a:t>Stress Distribution</a:t>
            </a:r>
          </a:p>
          <a:p>
            <a:pPr algn="ctr"/>
            <a:r>
              <a:rPr lang="en-US" sz="800" b="1"/>
              <a:t>Vertical Loading</a:t>
            </a:r>
            <a:endParaRPr lang="en-IN" sz="8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4294D5-5F5E-44BA-9996-D3276B00E60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930"/>
          <a:stretch/>
        </p:blipFill>
        <p:spPr>
          <a:xfrm>
            <a:off x="4947722" y="1717388"/>
            <a:ext cx="1578346" cy="192268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F91620-D6A0-4235-831A-8A1B9DF6A5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512" y="1684976"/>
            <a:ext cx="1578346" cy="194329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141258-C480-43F4-8748-04B065D15C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145" y="1717388"/>
            <a:ext cx="1544529" cy="190608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B5A02C6-75D6-4E6D-B358-4E3516BBD3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9693" y="1706995"/>
            <a:ext cx="1544529" cy="190144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0AB9E560-B4FD-4E21-965F-C4893701B7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7220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Bill of</a:t>
            </a:r>
            <a:r>
              <a:rPr lang="en-US" sz="2400">
                <a:solidFill>
                  <a:srgbClr val="1DCA1D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Materials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pic>
        <p:nvPicPr>
          <p:cNvPr id="8" name="Picture 7" descr="Logo, company name&#10;&#10;Description automatically generated">
            <a:extLst>
              <a:ext uri="{FF2B5EF4-FFF2-40B4-BE49-F238E27FC236}">
                <a16:creationId xmlns:a16="http://schemas.microsoft.com/office/drawing/2014/main" id="{1D27FB92-8519-442E-BB08-BD97F1D159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8EACFC-4051-4541-AEA6-DB399A197B08}"/>
              </a:ext>
            </a:extLst>
          </p:cNvPr>
          <p:cNvSpPr txBox="1"/>
          <p:nvPr/>
        </p:nvSpPr>
        <p:spPr>
          <a:xfrm>
            <a:off x="189571" y="3857749"/>
            <a:ext cx="874999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solidFill>
                  <a:srgbClr val="1B535B"/>
                </a:solidFill>
              </a:rPr>
              <a:t>Outcomes:</a:t>
            </a:r>
          </a:p>
          <a:p>
            <a:endParaRPr lang="en-IN" sz="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All the parts are available readily in the </a:t>
            </a:r>
            <a:r>
              <a:rPr lang="en-US" sz="1100">
                <a:solidFill>
                  <a:srgbClr val="226A74"/>
                </a:solidFill>
              </a:rPr>
              <a:t>Indian Market.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The Linear Actuator is available through a </a:t>
            </a:r>
            <a:r>
              <a:rPr lang="en-US" sz="1100">
                <a:solidFill>
                  <a:srgbClr val="226A74"/>
                </a:solidFill>
              </a:rPr>
              <a:t>specific importer</a:t>
            </a:r>
            <a:r>
              <a:rPr lang="en-US" sz="1100"/>
              <a:t>, whom we were able to connect with and confirm the price and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Minimum number of moving parts.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Total cost </a:t>
            </a:r>
            <a:r>
              <a:rPr lang="en-US" sz="1100">
                <a:solidFill>
                  <a:srgbClr val="226A74"/>
                </a:solidFill>
              </a:rPr>
              <a:t>&lt; INR 20,000</a:t>
            </a:r>
            <a:endParaRPr lang="en-IN" sz="1100">
              <a:solidFill>
                <a:srgbClr val="226A74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250501-1FA7-4051-9347-6C3FFDACB09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475895" y="722024"/>
            <a:ext cx="8192210" cy="304064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1490D-73F1-4AC3-BDCE-44FB8BEC5D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0587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Claimed</a:t>
            </a:r>
            <a:r>
              <a:rPr lang="en-US" sz="2400">
                <a:solidFill>
                  <a:srgbClr val="1DCA1D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2400" b="1">
                <a:solidFill>
                  <a:srgbClr val="48BACA"/>
                </a:solidFill>
                <a:latin typeface="Lato Black"/>
                <a:ea typeface="Lato Black"/>
                <a:cs typeface="Lato Black"/>
                <a:sym typeface="Lato Black"/>
              </a:rPr>
              <a:t>Points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3ADB0C79-01A6-4C10-8DBC-81A10B7321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B796B3E5-CE9B-4274-A217-84D9D3669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796711"/>
              </p:ext>
            </p:extLst>
          </p:nvPr>
        </p:nvGraphicFramePr>
        <p:xfrm>
          <a:off x="1627585" y="1329719"/>
          <a:ext cx="5532643" cy="29576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8425">
                  <a:extLst>
                    <a:ext uri="{9D8B030D-6E8A-4147-A177-3AD203B41FA5}">
                      <a16:colId xmlns:a16="http://schemas.microsoft.com/office/drawing/2014/main" val="3907989310"/>
                    </a:ext>
                  </a:extLst>
                </a:gridCol>
                <a:gridCol w="2194218">
                  <a:extLst>
                    <a:ext uri="{9D8B030D-6E8A-4147-A177-3AD203B41FA5}">
                      <a16:colId xmlns:a16="http://schemas.microsoft.com/office/drawing/2014/main" val="387102563"/>
                    </a:ext>
                  </a:extLst>
                </a:gridCol>
              </a:tblGrid>
              <a:tr h="366868"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Field</a:t>
                      </a:r>
                      <a:endParaRPr lang="en-US" sz="1300">
                        <a:solidFill>
                          <a:schemeClr val="bg1">
                            <a:lumMod val="95000"/>
                          </a:schemeClr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Lato"/>
                          <a:ea typeface="Lato"/>
                          <a:cs typeface="Lato"/>
                        </a:rPr>
                        <a:t>Claimed Points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331076"/>
                  </a:ext>
                </a:extLst>
              </a:tr>
              <a:tr h="282007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Valid plots: Bonnet’s Opening Angle vs Time </a:t>
                      </a:r>
                    </a:p>
                    <a:p>
                      <a:pPr algn="ctr"/>
                      <a:r>
                        <a:rPr lang="en-US" sz="1200"/>
                        <a:t>from MATLAB Model</a:t>
                      </a:r>
                      <a:endParaRPr lang="en-IN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20/20</a:t>
                      </a: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536519"/>
                  </a:ext>
                </a:extLst>
              </a:tr>
              <a:tr h="282007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Simplicity &amp; Versatility</a:t>
                      </a:r>
                      <a:endParaRPr lang="en-IN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25/25</a:t>
                      </a: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969693"/>
                  </a:ext>
                </a:extLst>
              </a:tr>
              <a:tr h="296851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Ergonomics</a:t>
                      </a:r>
                      <a:endParaRPr lang="en-IN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13/15</a:t>
                      </a: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6674828"/>
                  </a:ext>
                </a:extLst>
              </a:tr>
              <a:tr h="296851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Power Consumption</a:t>
                      </a:r>
                      <a:endParaRPr lang="en-IN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13/15</a:t>
                      </a: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6417561"/>
                  </a:ext>
                </a:extLst>
              </a:tr>
              <a:tr h="296851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Packaging</a:t>
                      </a:r>
                      <a:endParaRPr lang="en-IN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24/25</a:t>
                      </a: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9497043"/>
                  </a:ext>
                </a:extLst>
              </a:tr>
              <a:tr h="282007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Generalized Model Equations</a:t>
                      </a:r>
                      <a:endParaRPr lang="en-IN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10/10</a:t>
                      </a:r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9231587"/>
                  </a:ext>
                </a:extLst>
              </a:tr>
              <a:tr h="282007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Final Presentation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37/40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513902"/>
                  </a:ext>
                </a:extLst>
              </a:tr>
              <a:tr h="282007">
                <a:tc>
                  <a:txBody>
                    <a:bodyPr/>
                    <a:lstStyle/>
                    <a:p>
                      <a:pPr algn="ctr"/>
                      <a:r>
                        <a:rPr lang="en-IN" sz="1200" b="1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/>
                        <a:t>142/150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177539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EDD61E-D8EE-4BB3-93AA-D91CD2BD5A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4542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r>
              <a:rPr lang="en-US" sz="2400">
                <a:solidFill>
                  <a:schemeClr val="bg1"/>
                </a:solidFill>
                <a:latin typeface="Lato Black"/>
                <a:ea typeface="Lato Black"/>
                <a:cs typeface="Lato Black"/>
                <a:sym typeface="Lato Black"/>
              </a:rPr>
              <a:t>References</a:t>
            </a: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6164B9-0861-4D2C-85C6-9CA2C7F5A917}"/>
              </a:ext>
            </a:extLst>
          </p:cNvPr>
          <p:cNvSpPr txBox="1"/>
          <p:nvPr/>
        </p:nvSpPr>
        <p:spPr>
          <a:xfrm>
            <a:off x="468723" y="862475"/>
            <a:ext cx="807515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600" i="1"/>
          </a:p>
          <a:p>
            <a:pPr marL="342900" indent="-342900">
              <a:buFont typeface="+mj-lt"/>
              <a:buAutoNum type="arabicPeriod"/>
            </a:pPr>
            <a:r>
              <a:rPr lang="en-US" sz="1600" b="0" i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Choi, K.-B.; Lee, J.; Kim, G.; Lim, H.; Kwon, S. Kinematic Analysis of a Parallel Manipulator Driven by Perpendicular Linear Actuators. Actuators </a:t>
            </a:r>
            <a:r>
              <a:rPr lang="en-US" sz="1600" b="1" i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2021</a:t>
            </a:r>
            <a:r>
              <a:rPr lang="en-US" sz="1600" b="0" i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10, 262. https://doi.org/10.3390/act10100262</a:t>
            </a:r>
            <a:endParaRPr lang="en-US" sz="1600" i="1"/>
          </a:p>
          <a:p>
            <a:pPr marL="342900" indent="-342900">
              <a:buFont typeface="+mj-lt"/>
              <a:buAutoNum type="arabicPeriod"/>
            </a:pPr>
            <a:r>
              <a:rPr lang="en-US" sz="1600" i="1"/>
              <a:t>Automotive Electric Actuator Modelling And Design Methodologies, John Welford, School Of Electrical And Electronic Engineering, 2014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0" i="1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Modelling and Design of a Mechatronic Actuator Chain Application to a Motorized Tailgate,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0" i="1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E. D. Ruiz-Rojas, J. L. Vazquez-Gonzalez, R. </a:t>
            </a:r>
            <a:r>
              <a:rPr lang="en-US" sz="1600" b="0" i="1" err="1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Alejos-Palomares</a:t>
            </a:r>
            <a:r>
              <a:rPr lang="en-US" sz="1600" b="0" i="1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, A. Z. Escudero-Uribe and J. R. Mendoza-Vázquez, "Mathematical Model of a Linear Electric Actuator with Prosthesis Applications," 18th International Conference on Electronics, Communications and Computers (</a:t>
            </a:r>
            <a:r>
              <a:rPr lang="en-US" sz="1600" b="0" i="1" err="1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conielecomp</a:t>
            </a:r>
            <a:r>
              <a:rPr lang="en-US" sz="1600" b="0" i="1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 2008), 2008, pp. 182-186, </a:t>
            </a:r>
            <a:r>
              <a:rPr lang="en-US" sz="1600" b="0" i="1" err="1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doi</a:t>
            </a:r>
            <a:r>
              <a:rPr lang="en-US" sz="1600" b="0" i="1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: 10.1109/CONIELECOMP.2008.29.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i="1"/>
              <a:t>Selected aspects of design and modelling of linear actuator based on PM BLDC motor.</a:t>
            </a:r>
          </a:p>
          <a:p>
            <a:pPr marL="342900" indent="-342900">
              <a:buFont typeface="+mj-lt"/>
              <a:buAutoNum type="arabicPeriod"/>
            </a:pPr>
            <a:endParaRPr lang="en-US" sz="1600" b="0" i="1">
              <a:solidFill>
                <a:srgbClr val="111111"/>
              </a:solidFill>
              <a:effectLst/>
              <a:latin typeface="Roboto" panose="020000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i="1"/>
          </a:p>
          <a:p>
            <a:r>
              <a:rPr lang="en-US" sz="1600" i="1"/>
              <a:t> </a:t>
            </a:r>
            <a:endParaRPr lang="en-IN" sz="1600" i="1"/>
          </a:p>
        </p:txBody>
      </p:sp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61BF2D2F-F85D-4A3C-A937-B57762FBAD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FC33FE-E8B4-41C1-AB4D-A5BD670989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84264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sp>
        <p:nvSpPr>
          <p:cNvPr id="5" name="Google Shape;1675;p36">
            <a:extLst>
              <a:ext uri="{FF2B5EF4-FFF2-40B4-BE49-F238E27FC236}">
                <a16:creationId xmlns:a16="http://schemas.microsoft.com/office/drawing/2014/main" id="{F76648AB-7459-4400-B4A2-3AF57B7FD97C}"/>
              </a:ext>
            </a:extLst>
          </p:cNvPr>
          <p:cNvSpPr txBox="1"/>
          <p:nvPr/>
        </p:nvSpPr>
        <p:spPr>
          <a:xfrm>
            <a:off x="3364416" y="2266350"/>
            <a:ext cx="2400300" cy="6108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chemeClr val="bg1">
                    <a:lumMod val="95000"/>
                  </a:schemeClr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  <a:sym typeface="Lato"/>
              </a:rPr>
              <a:t>Thank</a:t>
            </a:r>
            <a:r>
              <a:rPr lang="en-US" sz="2800" b="0" i="0" u="none" strike="noStrike" cap="none">
                <a:solidFill>
                  <a:schemeClr val="bg1">
                    <a:lumMod val="95000"/>
                  </a:schemeClr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  <a:sym typeface="Lato Black"/>
              </a:rPr>
              <a:t> </a:t>
            </a:r>
            <a:r>
              <a:rPr lang="en-US" sz="2800" b="0" i="0" u="none" strike="noStrike" cap="none">
                <a:solidFill>
                  <a:srgbClr val="48BACA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  <a:sym typeface="Lato Black"/>
              </a:rPr>
              <a:t>Y</a:t>
            </a:r>
            <a:r>
              <a:rPr lang="en-US" sz="2800">
                <a:solidFill>
                  <a:srgbClr val="48BACA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  <a:sym typeface="Lato Black"/>
              </a:rPr>
              <a:t>ou!</a:t>
            </a:r>
            <a:endParaRPr lang="en-US" sz="2800" b="0" i="0" u="none" strike="noStrike" cap="none">
              <a:solidFill>
                <a:srgbClr val="48BACA"/>
              </a:solidFill>
              <a:latin typeface="Lato Black" panose="020B0604020202020204" charset="0"/>
              <a:ea typeface="Lato Black" panose="020B0604020202020204" charset="0"/>
              <a:cs typeface="Lato Black" panose="020B0604020202020204" charset="0"/>
              <a:sym typeface="Lato Black"/>
            </a:endParaRPr>
          </a:p>
        </p:txBody>
      </p:sp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6A441511-5F9C-42A1-96D8-AD7F046C82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C858B4-B260-4182-832D-B72144FF21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8025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0" y="-11100"/>
            <a:ext cx="9144000" cy="610800"/>
          </a:xfrm>
          <a:prstGeom prst="trapezoid">
            <a:avLst>
              <a:gd name="adj" fmla="val 0"/>
            </a:avLst>
          </a:prstGeom>
          <a:solidFill>
            <a:srgbClr val="0D0D0D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7260000" algn="bl" rotWithShape="0">
              <a:srgbClr val="000000">
                <a:alpha val="2275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2200"/>
            </a:pPr>
            <a:endParaRPr lang="en-US" sz="2400" b="1" i="0" u="none" strike="noStrike" cap="none">
              <a:solidFill>
                <a:srgbClr val="48BACA"/>
              </a:solidFill>
              <a:latin typeface="Lato Black"/>
              <a:ea typeface="Lato Black"/>
              <a:cs typeface="Lato Black"/>
            </a:endParaRPr>
          </a:p>
        </p:txBody>
      </p:sp>
      <p:cxnSp>
        <p:nvCxnSpPr>
          <p:cNvPr id="102" name="Google Shape;102;p16"/>
          <p:cNvCxnSpPr>
            <a:cxnSpLocks/>
          </p:cNvCxnSpPr>
          <p:nvPr/>
        </p:nvCxnSpPr>
        <p:spPr>
          <a:xfrm>
            <a:off x="189571" y="5017406"/>
            <a:ext cx="8749990" cy="0"/>
          </a:xfrm>
          <a:prstGeom prst="straightConnector1">
            <a:avLst/>
          </a:prstGeom>
          <a:noFill/>
          <a:ln w="9525" cap="flat" cmpd="sng">
            <a:solidFill>
              <a:srgbClr val="0D0D0D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174256A-85B9-4361-BB4E-9B849EEC5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257" y="-304979"/>
            <a:ext cx="1220758" cy="1220758"/>
          </a:xfrm>
          <a:prstGeom prst="rect">
            <a:avLst/>
          </a:prstGeom>
        </p:spPr>
      </p:pic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6A441511-5F9C-42A1-96D8-AD7F046C82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" t="19465" r="7476" b="16795"/>
          <a:stretch/>
        </p:blipFill>
        <p:spPr>
          <a:xfrm>
            <a:off x="141726" y="111224"/>
            <a:ext cx="1285137" cy="3707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C858B4-B260-4182-832D-B72144FF21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38950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5735525C3E7C4F8D44FE348B868475" ma:contentTypeVersion="12" ma:contentTypeDescription="Create a new document." ma:contentTypeScope="" ma:versionID="46b5c9649f40c98dde2675707b3c8d08">
  <xsd:schema xmlns:xsd="http://www.w3.org/2001/XMLSchema" xmlns:xs="http://www.w3.org/2001/XMLSchema" xmlns:p="http://schemas.microsoft.com/office/2006/metadata/properties" xmlns:ns3="11f93f5a-d08d-42f0-9d8e-b0aa3d01a5fe" xmlns:ns4="87138a84-c9ec-4ab7-b784-a348c27780b6" targetNamespace="http://schemas.microsoft.com/office/2006/metadata/properties" ma:root="true" ma:fieldsID="ea1bf31b9f29795468e1aacd39ef2050" ns3:_="" ns4:_="">
    <xsd:import namespace="11f93f5a-d08d-42f0-9d8e-b0aa3d01a5fe"/>
    <xsd:import namespace="87138a84-c9ec-4ab7-b784-a348c27780b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f93f5a-d08d-42f0-9d8e-b0aa3d01a5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38a84-c9ec-4ab7-b784-a348c27780b6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27B339-245C-473C-BB26-82A3B3610EFA}">
  <ds:schemaRefs>
    <ds:schemaRef ds:uri="11f93f5a-d08d-42f0-9d8e-b0aa3d01a5fe"/>
    <ds:schemaRef ds:uri="87138a84-c9ec-4ab7-b784-a348c27780b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42406EF-0EFD-48D3-B091-D20B9E8AF7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AE2089-FF34-4D7C-8E09-BB9775883E99}">
  <ds:schemaRefs>
    <ds:schemaRef ds:uri="11f93f5a-d08d-42f0-9d8e-b0aa3d01a5fe"/>
    <ds:schemaRef ds:uri="87138a84-c9ec-4ab7-b784-a348c27780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revision>2</cp:revision>
  <dcterms:modified xsi:type="dcterms:W3CDTF">2026-09-26T00:54:15Z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0x010100FB5735525C3E7C4F8D44FE348B868475</vt:lpwstr>
  </property>
</Properties>
</file>