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5" r:id="rId1"/>
  </p:sldMasterIdLst>
  <p:notesMasterIdLst>
    <p:notesMasterId r:id="rId10"/>
  </p:notesMasterIdLst>
  <p:sldIdLst>
    <p:sldId id="260" r:id="rId2"/>
    <p:sldId id="264" r:id="rId3"/>
    <p:sldId id="262" r:id="rId4"/>
    <p:sldId id="267" r:id="rId5"/>
    <p:sldId id="270" r:id="rId6"/>
    <p:sldId id="271" r:id="rId7"/>
    <p:sldId id="272" r:id="rId8"/>
    <p:sldId id="273" r:id="rId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F5B745-BCF9-CE95-0613-C3BDDC1E4747}" v="7" dt="2022-04-12T17:22:48.120"/>
    <p1510:client id="{87418DB2-0FD9-0A68-9EB3-93DAF3009149}" v="7" dt="2022-04-12T11:47:16.674"/>
    <p1510:client id="{905885BC-4D78-4C83-8DD6-D066A8105968}" v="268" dt="2022-04-13T03:31:01.359"/>
    <p1510:client id="{95C81CCA-0E2B-B592-3718-1AE4593A45BE}" v="104" dt="2022-04-13T03:19:48.432"/>
    <p1510:client id="{95EBFFA3-3AE4-D54C-84D8-70F533A5C782}" v="419" dt="2022-04-12T13:48:38.223"/>
    <p1510:client id="{FAE0ED37-7565-4275-9F12-3E93F17AF355}" v="28" dt="2022-04-12T23:08:21.8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US" sz="1800" b="0" i="0" u="none" strike="noStrike">
                <a:solidFill>
                  <a:srgbClr val="000000"/>
                </a:solidFill>
                <a:effectLst/>
                <a:latin typeface="Arial" panose="020B0604020202020204" pitchFamily="34" charset="0"/>
              </a:rPr>
              <a:t>A warm good morning to the panel present here. Today I, Gautam Shetty, along with my team members of group number 14 will present on the topic “Design and development of a 14 DOF full vehicle model”. But before going into the details of the project I will give an introduction of it.</a:t>
            </a:r>
            <a:endParaRPr lang="en-IN"/>
          </a:p>
        </p:txBody>
      </p:sp>
    </p:spTree>
    <p:extLst>
      <p:ext uri="{BB962C8B-B14F-4D97-AF65-F5344CB8AC3E}">
        <p14:creationId xmlns:p14="http://schemas.microsoft.com/office/powerpoint/2010/main" val="1627723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US" sz="1800" b="0" i="0" u="none" strike="noStrike">
                <a:solidFill>
                  <a:srgbClr val="000000"/>
                </a:solidFill>
                <a:effectLst/>
                <a:latin typeface="Arial" panose="020B0604020202020204" pitchFamily="34" charset="0"/>
              </a:rPr>
              <a:t>Let me provide a brief overview of our motivation for working on this particular project. Most of our team has been part of an automotive technical group within this institute for the past two years. This means that we have a lot of experience and interest in the field of vehicle engineering and performance tuning. We are also quite adept at creating models for analyzing a system's </a:t>
            </a:r>
            <a:r>
              <a:rPr lang="en-US" sz="1800" b="0" i="0" u="none" strike="noStrike" err="1">
                <a:solidFill>
                  <a:srgbClr val="000000"/>
                </a:solidFill>
                <a:effectLst/>
                <a:latin typeface="Arial" panose="020B0604020202020204" pitchFamily="34" charset="0"/>
              </a:rPr>
              <a:t>behaviour</a:t>
            </a:r>
            <a:r>
              <a:rPr lang="en-US" sz="1800" b="0" i="0" u="none" strike="noStrike">
                <a:solidFill>
                  <a:srgbClr val="000000"/>
                </a:solidFill>
                <a:effectLst/>
                <a:latin typeface="Arial" panose="020B0604020202020204" pitchFamily="34" charset="0"/>
              </a:rPr>
              <a:t>, especially in software like MATLAB and Simulink. The large number of physical equations used in this project directly translate into real life. Various automobile manufacturers and performance sports teams depend on full vehicle models to test their cars' performance and handling. The image on the right presents the GUI of a vehicle </a:t>
            </a:r>
            <a:r>
              <a:rPr lang="en-US" sz="1800" b="0" i="0" u="none" strike="noStrike" err="1">
                <a:solidFill>
                  <a:srgbClr val="000000"/>
                </a:solidFill>
                <a:effectLst/>
                <a:latin typeface="Arial" panose="020B0604020202020204" pitchFamily="34" charset="0"/>
              </a:rPr>
              <a:t>dyanmics</a:t>
            </a:r>
            <a:r>
              <a:rPr lang="en-US" sz="1800" b="0" i="0" u="none" strike="noStrike">
                <a:solidFill>
                  <a:srgbClr val="000000"/>
                </a:solidFill>
                <a:effectLst/>
                <a:latin typeface="Arial" panose="020B0604020202020204" pitchFamily="34" charset="0"/>
              </a:rPr>
              <a:t> software like </a:t>
            </a:r>
            <a:r>
              <a:rPr lang="en-US" sz="1800" b="0" i="0" u="none" strike="noStrike" err="1">
                <a:solidFill>
                  <a:srgbClr val="000000"/>
                </a:solidFill>
                <a:effectLst/>
                <a:latin typeface="Arial" panose="020B0604020202020204" pitchFamily="34" charset="0"/>
              </a:rPr>
              <a:t>carSim</a:t>
            </a:r>
            <a:r>
              <a:rPr lang="en-US" sz="1800" b="0" i="0" u="none" strike="noStrike">
                <a:solidFill>
                  <a:srgbClr val="000000"/>
                </a:solidFill>
                <a:effectLst/>
                <a:latin typeface="Arial" panose="020B0604020202020204" pitchFamily="34" charset="0"/>
              </a:rPr>
              <a:t>. Even though several other commercial software like these are available for similar purposes, we aim to develop a student-friendly alternative where the underlying physical and mathematical models are clearly visible.</a:t>
            </a:r>
          </a:p>
          <a:p>
            <a:pPr marL="158750" indent="0">
              <a:buNone/>
            </a:pPr>
            <a:endParaRPr lang="en-US" sz="1800" b="0" i="0" u="none" strike="noStrike">
              <a:solidFill>
                <a:srgbClr val="000000"/>
              </a:solidFill>
              <a:effectLst/>
              <a:latin typeface="Arial" panose="020B0604020202020204" pitchFamily="34" charset="0"/>
            </a:endParaRPr>
          </a:p>
          <a:p>
            <a:pPr marL="158750" indent="0">
              <a:buNone/>
            </a:pPr>
            <a:r>
              <a:rPr lang="en-US" sz="1800" b="0" i="0" u="none" strike="noStrike">
                <a:solidFill>
                  <a:srgbClr val="000000"/>
                </a:solidFill>
                <a:effectLst/>
                <a:latin typeface="Arial" panose="020B0604020202020204" pitchFamily="34" charset="0"/>
              </a:rPr>
              <a:t>The project aims to build from the ground up a full vehicle model for </a:t>
            </a:r>
            <a:r>
              <a:rPr lang="en-US" sz="1800" b="0" i="0" u="none" strike="noStrike" err="1">
                <a:solidFill>
                  <a:srgbClr val="000000"/>
                </a:solidFill>
                <a:effectLst/>
                <a:latin typeface="Arial" panose="020B0604020202020204" pitchFamily="34" charset="0"/>
              </a:rPr>
              <a:t>analysing</a:t>
            </a:r>
            <a:r>
              <a:rPr lang="en-US" sz="1800" b="0" i="0" u="none" strike="noStrike">
                <a:solidFill>
                  <a:srgbClr val="000000"/>
                </a:solidFill>
                <a:effectLst/>
                <a:latin typeface="Arial" panose="020B0604020202020204" pitchFamily="34" charset="0"/>
              </a:rPr>
              <a:t> the handling performance of a vehicle. Torque and Efficiency maps will be used to create models for the motor, battery, and transmission to imitate an electric powertrain. The motion of the chassis will be simulated through a 6 DOF ride and handling model. Vertical movement of the </a:t>
            </a:r>
            <a:r>
              <a:rPr lang="en-US" sz="1800" b="0" i="0" u="none" strike="noStrike" err="1">
                <a:solidFill>
                  <a:srgbClr val="000000"/>
                </a:solidFill>
                <a:effectLst/>
                <a:latin typeface="Arial" panose="020B0604020202020204" pitchFamily="34" charset="0"/>
              </a:rPr>
              <a:t>unsprung</a:t>
            </a:r>
            <a:r>
              <a:rPr lang="en-US" sz="1800" b="0" i="0" u="none" strike="noStrike">
                <a:solidFill>
                  <a:srgbClr val="000000"/>
                </a:solidFill>
                <a:effectLst/>
                <a:latin typeface="Arial" panose="020B0604020202020204" pitchFamily="34" charset="0"/>
              </a:rPr>
              <a:t> masses, and force transfer through linkages will be effectively simulated using the suspension model. The tire model calculates each tire's friction forces, moments, and rotational speed. Extensive testing and validation would be our focus after creating the models. Finally, additional research topics will be identified to accentuate our project further.</a:t>
            </a:r>
            <a:endParaRPr lang="en-IN"/>
          </a:p>
        </p:txBody>
      </p:sp>
    </p:spTree>
    <p:extLst>
      <p:ext uri="{BB962C8B-B14F-4D97-AF65-F5344CB8AC3E}">
        <p14:creationId xmlns:p14="http://schemas.microsoft.com/office/powerpoint/2010/main" val="164888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306038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416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49896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08272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02461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alpha val="34899"/>
            </a:srgbClr>
          </a:solidFill>
        </p:spPr>
        <p:txBody>
          <a:bodyPr wrap="square" lIns="0" tIns="0" rIns="0" bIns="0" rtlCol="0"/>
          <a:lstStyle/>
          <a:p>
            <a:endParaRPr/>
          </a:p>
        </p:txBody>
      </p:sp>
      <p:sp>
        <p:nvSpPr>
          <p:cNvPr id="17" name="bg object 17"/>
          <p:cNvSpPr/>
          <p:nvPr/>
        </p:nvSpPr>
        <p:spPr>
          <a:xfrm>
            <a:off x="59962" y="52463"/>
            <a:ext cx="9031605" cy="6753225"/>
          </a:xfrm>
          <a:custGeom>
            <a:avLst/>
            <a:gdLst/>
            <a:ahLst/>
            <a:cxnLst/>
            <a:rect l="l" t="t" r="r" b="b"/>
            <a:pathLst>
              <a:path w="9031605" h="6753225">
                <a:moveTo>
                  <a:pt x="0" y="0"/>
                </a:moveTo>
                <a:lnTo>
                  <a:pt x="9031575" y="0"/>
                </a:lnTo>
                <a:lnTo>
                  <a:pt x="9031575" y="6753073"/>
                </a:lnTo>
                <a:lnTo>
                  <a:pt x="0" y="6753073"/>
                </a:lnTo>
                <a:lnTo>
                  <a:pt x="0" y="0"/>
                </a:lnTo>
                <a:close/>
              </a:path>
            </a:pathLst>
          </a:custGeom>
          <a:ln w="25400">
            <a:solidFill>
              <a:srgbClr val="000000"/>
            </a:solidFill>
          </a:ln>
        </p:spPr>
        <p:txBody>
          <a:bodyPr wrap="square" lIns="0" tIns="0" rIns="0" bIns="0" rtlCol="0"/>
          <a:lstStyle/>
          <a:p>
            <a:endParaRPr/>
          </a:p>
        </p:txBody>
      </p:sp>
      <p:sp>
        <p:nvSpPr>
          <p:cNvPr id="18" name="bg object 18"/>
          <p:cNvSpPr/>
          <p:nvPr/>
        </p:nvSpPr>
        <p:spPr>
          <a:xfrm>
            <a:off x="105025" y="469900"/>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endParaRPr/>
          </a:p>
        </p:txBody>
      </p:sp>
      <p:sp>
        <p:nvSpPr>
          <p:cNvPr id="19" name="bg object 19"/>
          <p:cNvSpPr/>
          <p:nvPr/>
        </p:nvSpPr>
        <p:spPr>
          <a:xfrm>
            <a:off x="206905" y="4823459"/>
            <a:ext cx="8800465" cy="6985"/>
          </a:xfrm>
          <a:custGeom>
            <a:avLst/>
            <a:gdLst/>
            <a:ahLst/>
            <a:cxnLst/>
            <a:rect l="l" t="t" r="r" b="b"/>
            <a:pathLst>
              <a:path w="8800465" h="6985">
                <a:moveTo>
                  <a:pt x="0" y="6732"/>
                </a:moveTo>
                <a:lnTo>
                  <a:pt x="8799935" y="0"/>
                </a:lnTo>
              </a:path>
            </a:pathLst>
          </a:custGeom>
          <a:ln w="19050">
            <a:solidFill>
              <a:srgbClr val="00000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457067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FFF2CC">
              <a:alpha val="34899"/>
            </a:srgbClr>
          </a:solidFill>
        </p:spPr>
        <p:txBody>
          <a:bodyPr wrap="square" lIns="0" tIns="0" rIns="0" bIns="0" rtlCol="0"/>
          <a:lstStyle/>
          <a:p>
            <a:endParaRPr/>
          </a:p>
        </p:txBody>
      </p:sp>
      <p:sp>
        <p:nvSpPr>
          <p:cNvPr id="17" name="bg object 17"/>
          <p:cNvSpPr/>
          <p:nvPr/>
        </p:nvSpPr>
        <p:spPr>
          <a:xfrm>
            <a:off x="59962" y="52463"/>
            <a:ext cx="9031605" cy="6753225"/>
          </a:xfrm>
          <a:custGeom>
            <a:avLst/>
            <a:gdLst/>
            <a:ahLst/>
            <a:cxnLst/>
            <a:rect l="l" t="t" r="r" b="b"/>
            <a:pathLst>
              <a:path w="9031605" h="6753225">
                <a:moveTo>
                  <a:pt x="0" y="0"/>
                </a:moveTo>
                <a:lnTo>
                  <a:pt x="9031575" y="0"/>
                </a:lnTo>
                <a:lnTo>
                  <a:pt x="9031575" y="6753073"/>
                </a:lnTo>
                <a:lnTo>
                  <a:pt x="0" y="6753073"/>
                </a:lnTo>
                <a:lnTo>
                  <a:pt x="0" y="0"/>
                </a:lnTo>
                <a:close/>
              </a:path>
            </a:pathLst>
          </a:custGeom>
          <a:ln w="25400">
            <a:solidFill>
              <a:srgbClr val="000000"/>
            </a:solidFill>
          </a:ln>
        </p:spPr>
        <p:txBody>
          <a:bodyPr wrap="square" lIns="0" tIns="0" rIns="0" bIns="0" rtlCol="0"/>
          <a:lstStyle/>
          <a:p>
            <a:endParaRPr/>
          </a:p>
        </p:txBody>
      </p:sp>
      <p:sp>
        <p:nvSpPr>
          <p:cNvPr id="2" name="Holder 2"/>
          <p:cNvSpPr>
            <a:spLocks noGrp="1"/>
          </p:cNvSpPr>
          <p:nvPr>
            <p:ph type="title"/>
          </p:nvPr>
        </p:nvSpPr>
        <p:spPr>
          <a:xfrm>
            <a:off x="336750" y="75692"/>
            <a:ext cx="8470498" cy="299720"/>
          </a:xfrm>
          <a:prstGeom prst="rect">
            <a:avLst/>
          </a:prstGeom>
        </p:spPr>
        <p:txBody>
          <a:bodyPr wrap="square" lIns="0" tIns="0" rIns="0" bIns="0">
            <a:spAutoFit/>
          </a:bodyPr>
          <a:lstStyle>
            <a:lvl1pPr>
              <a:defRPr sz="1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8519916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2215F46E-99B7-40D1-8701-254D43199A48}"/>
              </a:ext>
            </a:extLst>
          </p:cNvPr>
          <p:cNvSpPr txBox="1">
            <a:spLocks/>
          </p:cNvSpPr>
          <p:nvPr/>
        </p:nvSpPr>
        <p:spPr>
          <a:xfrm>
            <a:off x="2538730" y="811277"/>
            <a:ext cx="4066540" cy="513080"/>
          </a:xfrm>
          <a:prstGeom prst="rect">
            <a:avLst/>
          </a:prstGeom>
        </p:spPr>
        <p:txBody>
          <a:bodyPr vert="horz" wrap="square" lIns="0" tIns="12700" rIns="0" bIns="0" rtlCol="0">
            <a:spAutoFit/>
          </a:bodyPr>
          <a:lstStyle>
            <a:lvl1pPr>
              <a:defRPr sz="1800" b="1" i="0">
                <a:solidFill>
                  <a:schemeClr val="tx1"/>
                </a:solidFill>
                <a:latin typeface="Times New Roman"/>
                <a:ea typeface="+mj-ea"/>
                <a:cs typeface="Times New Roman"/>
              </a:defRPr>
            </a:lvl1pPr>
          </a:lstStyle>
          <a:p>
            <a:pPr marL="12700">
              <a:spcBef>
                <a:spcPts val="100"/>
              </a:spcBef>
              <a:buClrTx/>
              <a:buFontTx/>
            </a:pPr>
            <a:r>
              <a:rPr lang="en-US" sz="3200" spc="-5"/>
              <a:t>MIN-300 (Spring</a:t>
            </a:r>
            <a:r>
              <a:rPr lang="en-US" sz="3200" spc="-55"/>
              <a:t> </a:t>
            </a:r>
            <a:r>
              <a:rPr lang="en-US" sz="3200"/>
              <a:t>2022)</a:t>
            </a:r>
          </a:p>
        </p:txBody>
      </p:sp>
      <p:sp>
        <p:nvSpPr>
          <p:cNvPr id="13" name="object 3">
            <a:extLst>
              <a:ext uri="{FF2B5EF4-FFF2-40B4-BE49-F238E27FC236}">
                <a16:creationId xmlns:a16="http://schemas.microsoft.com/office/drawing/2014/main" id="{9341810B-136F-4910-BAC8-A43A053F36AE}"/>
              </a:ext>
            </a:extLst>
          </p:cNvPr>
          <p:cNvSpPr txBox="1"/>
          <p:nvPr/>
        </p:nvSpPr>
        <p:spPr>
          <a:xfrm>
            <a:off x="1824990" y="2062480"/>
            <a:ext cx="5494020" cy="997709"/>
          </a:xfrm>
          <a:prstGeom prst="rect">
            <a:avLst/>
          </a:prstGeom>
        </p:spPr>
        <p:txBody>
          <a:bodyPr vert="horz" wrap="square" lIns="0" tIns="12700" rIns="0" bIns="0" rtlCol="0">
            <a:spAutoFit/>
          </a:bodyPr>
          <a:lstStyle/>
          <a:p>
            <a:pPr marL="12700" algn="ctr">
              <a:lnSpc>
                <a:spcPct val="100000"/>
              </a:lnSpc>
              <a:spcBef>
                <a:spcPts val="100"/>
              </a:spcBef>
            </a:pPr>
            <a:r>
              <a:rPr lang="en-US" sz="3200" b="1" spc="-15">
                <a:latin typeface="Times New Roman"/>
                <a:cs typeface="Times New Roman"/>
              </a:rPr>
              <a:t>‘Design and Development of a 14 DOF Full Vehicle Model’</a:t>
            </a:r>
            <a:endParaRPr sz="3200">
              <a:latin typeface="Times New Roman"/>
              <a:cs typeface="Times New Roman"/>
            </a:endParaRPr>
          </a:p>
        </p:txBody>
      </p:sp>
      <p:sp>
        <p:nvSpPr>
          <p:cNvPr id="14" name="object 4">
            <a:extLst>
              <a:ext uri="{FF2B5EF4-FFF2-40B4-BE49-F238E27FC236}">
                <a16:creationId xmlns:a16="http://schemas.microsoft.com/office/drawing/2014/main" id="{B39055DA-495F-41E0-B0B2-E1FB64112AF5}"/>
              </a:ext>
            </a:extLst>
          </p:cNvPr>
          <p:cNvSpPr txBox="1"/>
          <p:nvPr/>
        </p:nvSpPr>
        <p:spPr>
          <a:xfrm>
            <a:off x="284479" y="4960620"/>
            <a:ext cx="2254251" cy="320601"/>
          </a:xfrm>
          <a:prstGeom prst="rect">
            <a:avLst/>
          </a:prstGeom>
        </p:spPr>
        <p:txBody>
          <a:bodyPr vert="horz" wrap="square" lIns="0" tIns="12700" rIns="0" bIns="0" rtlCol="0">
            <a:spAutoFit/>
          </a:bodyPr>
          <a:lstStyle/>
          <a:p>
            <a:pPr marL="12700">
              <a:lnSpc>
                <a:spcPct val="100000"/>
              </a:lnSpc>
              <a:spcBef>
                <a:spcPts val="100"/>
              </a:spcBef>
            </a:pPr>
            <a:r>
              <a:rPr sz="2000" b="1" spc="-10">
                <a:latin typeface="Times New Roman"/>
                <a:cs typeface="Times New Roman"/>
              </a:rPr>
              <a:t>Group</a:t>
            </a:r>
            <a:r>
              <a:rPr sz="2000" b="1" spc="-65">
                <a:latin typeface="Times New Roman"/>
                <a:cs typeface="Times New Roman"/>
              </a:rPr>
              <a:t> </a:t>
            </a:r>
            <a:r>
              <a:rPr sz="2000" b="1" spc="-5">
                <a:latin typeface="Times New Roman"/>
                <a:cs typeface="Times New Roman"/>
              </a:rPr>
              <a:t>Number:</a:t>
            </a:r>
            <a:r>
              <a:rPr lang="en-US" sz="2000" b="1" spc="-5">
                <a:latin typeface="Times New Roman"/>
                <a:cs typeface="Times New Roman"/>
              </a:rPr>
              <a:t> 14</a:t>
            </a:r>
            <a:endParaRPr sz="2000">
              <a:latin typeface="Times New Roman"/>
              <a:cs typeface="Times New Roman"/>
            </a:endParaRPr>
          </a:p>
        </p:txBody>
      </p:sp>
      <p:sp>
        <p:nvSpPr>
          <p:cNvPr id="15" name="object 5">
            <a:extLst>
              <a:ext uri="{FF2B5EF4-FFF2-40B4-BE49-F238E27FC236}">
                <a16:creationId xmlns:a16="http://schemas.microsoft.com/office/drawing/2014/main" id="{4B4150FF-60C9-42CB-A870-7D886DAAD84C}"/>
              </a:ext>
            </a:extLst>
          </p:cNvPr>
          <p:cNvSpPr txBox="1"/>
          <p:nvPr/>
        </p:nvSpPr>
        <p:spPr>
          <a:xfrm>
            <a:off x="3989387" y="4313426"/>
            <a:ext cx="1054735" cy="330200"/>
          </a:xfrm>
          <a:prstGeom prst="rect">
            <a:avLst/>
          </a:prstGeom>
        </p:spPr>
        <p:txBody>
          <a:bodyPr vert="horz" wrap="square" lIns="0" tIns="12700" rIns="0" bIns="0" rtlCol="0">
            <a:spAutoFit/>
          </a:bodyPr>
          <a:lstStyle/>
          <a:p>
            <a:pPr marL="12700">
              <a:lnSpc>
                <a:spcPct val="100000"/>
              </a:lnSpc>
              <a:spcBef>
                <a:spcPts val="100"/>
              </a:spcBef>
            </a:pPr>
            <a:r>
              <a:rPr sz="2000" b="1" spc="-5">
                <a:latin typeface="Times New Roman"/>
                <a:cs typeface="Times New Roman"/>
              </a:rPr>
              <a:t>Mem</a:t>
            </a:r>
            <a:r>
              <a:rPr sz="2000" b="1">
                <a:latin typeface="Times New Roman"/>
                <a:cs typeface="Times New Roman"/>
              </a:rPr>
              <a:t>b</a:t>
            </a:r>
            <a:r>
              <a:rPr sz="2000" b="1" spc="-5">
                <a:latin typeface="Times New Roman"/>
                <a:cs typeface="Times New Roman"/>
              </a:rPr>
              <a:t>ers</a:t>
            </a:r>
            <a:endParaRPr sz="2000">
              <a:latin typeface="Times New Roman"/>
              <a:cs typeface="Times New Roman"/>
            </a:endParaRPr>
          </a:p>
        </p:txBody>
      </p:sp>
      <p:sp>
        <p:nvSpPr>
          <p:cNvPr id="16" name="object 6">
            <a:extLst>
              <a:ext uri="{FF2B5EF4-FFF2-40B4-BE49-F238E27FC236}">
                <a16:creationId xmlns:a16="http://schemas.microsoft.com/office/drawing/2014/main" id="{27086E1D-4D2B-4414-901C-978CA58D1205}"/>
              </a:ext>
            </a:extLst>
          </p:cNvPr>
          <p:cNvSpPr txBox="1"/>
          <p:nvPr/>
        </p:nvSpPr>
        <p:spPr>
          <a:xfrm>
            <a:off x="2844482" y="4853555"/>
            <a:ext cx="3344546" cy="1603003"/>
          </a:xfrm>
          <a:prstGeom prst="rect">
            <a:avLst/>
          </a:prstGeom>
        </p:spPr>
        <p:txBody>
          <a:bodyPr vert="horz" wrap="square" lIns="0" tIns="12700" rIns="0" bIns="0" rtlCol="0">
            <a:spAutoFit/>
          </a:bodyPr>
          <a:lstStyle/>
          <a:p>
            <a:pPr marL="12700" marR="5080" algn="ctr">
              <a:lnSpc>
                <a:spcPct val="100000"/>
              </a:lnSpc>
              <a:spcBef>
                <a:spcPts val="100"/>
              </a:spcBef>
            </a:pPr>
            <a:r>
              <a:rPr lang="en-US" sz="2000" b="1">
                <a:latin typeface="Times New Roman"/>
                <a:cs typeface="Times New Roman"/>
              </a:rPr>
              <a:t>Gautam Shetty (19117047)</a:t>
            </a:r>
          </a:p>
          <a:p>
            <a:pPr marL="12700" marR="5080" algn="ctr">
              <a:lnSpc>
                <a:spcPct val="100000"/>
              </a:lnSpc>
              <a:spcBef>
                <a:spcPts val="100"/>
              </a:spcBef>
            </a:pPr>
            <a:r>
              <a:rPr lang="en-US" sz="2000" b="1" err="1">
                <a:latin typeface="Times New Roman"/>
                <a:cs typeface="Times New Roman"/>
              </a:rPr>
              <a:t>Arjav</a:t>
            </a:r>
            <a:r>
              <a:rPr lang="en-US" sz="2000" b="1">
                <a:latin typeface="Times New Roman"/>
                <a:cs typeface="Times New Roman"/>
              </a:rPr>
              <a:t> Jain (19117017)</a:t>
            </a:r>
          </a:p>
          <a:p>
            <a:pPr marL="12700" marR="5080" algn="ctr">
              <a:lnSpc>
                <a:spcPct val="100000"/>
              </a:lnSpc>
              <a:spcBef>
                <a:spcPts val="100"/>
              </a:spcBef>
            </a:pPr>
            <a:r>
              <a:rPr lang="en-US" sz="2000" b="1" err="1">
                <a:latin typeface="Times New Roman"/>
                <a:cs typeface="Times New Roman"/>
              </a:rPr>
              <a:t>Ipsit</a:t>
            </a:r>
            <a:r>
              <a:rPr lang="en-US" sz="2000" b="1">
                <a:latin typeface="Times New Roman"/>
                <a:cs typeface="Times New Roman"/>
              </a:rPr>
              <a:t> Anand (19117053)</a:t>
            </a:r>
          </a:p>
          <a:p>
            <a:pPr marL="12700" marR="5080" algn="ctr">
              <a:lnSpc>
                <a:spcPct val="100000"/>
              </a:lnSpc>
              <a:spcBef>
                <a:spcPts val="100"/>
              </a:spcBef>
            </a:pPr>
            <a:r>
              <a:rPr lang="en-US" sz="2000" b="1" err="1">
                <a:latin typeface="Times New Roman"/>
                <a:cs typeface="Times New Roman"/>
              </a:rPr>
              <a:t>Parth</a:t>
            </a:r>
            <a:r>
              <a:rPr lang="en-US" sz="2000" b="1">
                <a:latin typeface="Times New Roman"/>
                <a:cs typeface="Times New Roman"/>
              </a:rPr>
              <a:t> Chhabra (19117082)</a:t>
            </a:r>
          </a:p>
          <a:p>
            <a:pPr marL="12700" marR="5080" algn="ctr">
              <a:lnSpc>
                <a:spcPct val="100000"/>
              </a:lnSpc>
              <a:spcBef>
                <a:spcPts val="100"/>
              </a:spcBef>
            </a:pPr>
            <a:r>
              <a:rPr lang="en-US" sz="2000" b="1" err="1">
                <a:latin typeface="Times New Roman"/>
                <a:cs typeface="Times New Roman"/>
              </a:rPr>
              <a:t>Harsiddh</a:t>
            </a:r>
            <a:r>
              <a:rPr lang="en-US" sz="2000" b="1">
                <a:latin typeface="Times New Roman"/>
                <a:cs typeface="Times New Roman"/>
              </a:rPr>
              <a:t> Desai (19117052)</a:t>
            </a:r>
          </a:p>
        </p:txBody>
      </p:sp>
      <p:sp>
        <p:nvSpPr>
          <p:cNvPr id="17" name="object 7">
            <a:extLst>
              <a:ext uri="{FF2B5EF4-FFF2-40B4-BE49-F238E27FC236}">
                <a16:creationId xmlns:a16="http://schemas.microsoft.com/office/drawing/2014/main" id="{6DBA0F20-3ED8-4BFE-879C-FCF812B6B75A}"/>
              </a:ext>
            </a:extLst>
          </p:cNvPr>
          <p:cNvSpPr txBox="1"/>
          <p:nvPr/>
        </p:nvSpPr>
        <p:spPr>
          <a:xfrm>
            <a:off x="7257096" y="4630420"/>
            <a:ext cx="885825" cy="330200"/>
          </a:xfrm>
          <a:prstGeom prst="rect">
            <a:avLst/>
          </a:prstGeom>
        </p:spPr>
        <p:txBody>
          <a:bodyPr vert="horz" wrap="square" lIns="0" tIns="12700" rIns="0" bIns="0" rtlCol="0">
            <a:spAutoFit/>
          </a:bodyPr>
          <a:lstStyle/>
          <a:p>
            <a:pPr marL="12700">
              <a:lnSpc>
                <a:spcPct val="100000"/>
              </a:lnSpc>
              <a:spcBef>
                <a:spcPts val="100"/>
              </a:spcBef>
            </a:pPr>
            <a:r>
              <a:rPr sz="2000" b="1" spc="5">
                <a:latin typeface="Times New Roman"/>
                <a:cs typeface="Times New Roman"/>
              </a:rPr>
              <a:t>A</a:t>
            </a:r>
            <a:r>
              <a:rPr sz="2000" b="1">
                <a:latin typeface="Times New Roman"/>
                <a:cs typeface="Times New Roman"/>
              </a:rPr>
              <a:t>dv</a:t>
            </a:r>
            <a:r>
              <a:rPr sz="2000" b="1" spc="-10">
                <a:latin typeface="Times New Roman"/>
                <a:cs typeface="Times New Roman"/>
              </a:rPr>
              <a:t>i</a:t>
            </a:r>
            <a:r>
              <a:rPr sz="2000" b="1" spc="-5">
                <a:latin typeface="Times New Roman"/>
                <a:cs typeface="Times New Roman"/>
              </a:rPr>
              <a:t>s</a:t>
            </a:r>
            <a:r>
              <a:rPr sz="2000" b="1">
                <a:latin typeface="Times New Roman"/>
                <a:cs typeface="Times New Roman"/>
              </a:rPr>
              <a:t>or</a:t>
            </a:r>
            <a:endParaRPr sz="2000">
              <a:latin typeface="Times New Roman"/>
              <a:cs typeface="Times New Roman"/>
            </a:endParaRPr>
          </a:p>
        </p:txBody>
      </p:sp>
      <p:sp>
        <p:nvSpPr>
          <p:cNvPr id="18" name="object 8">
            <a:extLst>
              <a:ext uri="{FF2B5EF4-FFF2-40B4-BE49-F238E27FC236}">
                <a16:creationId xmlns:a16="http://schemas.microsoft.com/office/drawing/2014/main" id="{2B75297F-FE0F-42A0-AE21-C01B81C99057}"/>
              </a:ext>
            </a:extLst>
          </p:cNvPr>
          <p:cNvSpPr txBox="1"/>
          <p:nvPr/>
        </p:nvSpPr>
        <p:spPr>
          <a:xfrm>
            <a:off x="6540499" y="5058155"/>
            <a:ext cx="2319021" cy="320601"/>
          </a:xfrm>
          <a:prstGeom prst="rect">
            <a:avLst/>
          </a:prstGeom>
        </p:spPr>
        <p:txBody>
          <a:bodyPr vert="horz" wrap="square" lIns="0" tIns="12700" rIns="0" bIns="0" rtlCol="0">
            <a:spAutoFit/>
          </a:bodyPr>
          <a:lstStyle/>
          <a:p>
            <a:pPr marL="12700">
              <a:lnSpc>
                <a:spcPct val="100000"/>
              </a:lnSpc>
              <a:spcBef>
                <a:spcPts val="100"/>
              </a:spcBef>
            </a:pPr>
            <a:r>
              <a:rPr lang="en-US" sz="2000" b="1" spc="-10">
                <a:latin typeface="Times New Roman"/>
                <a:cs typeface="Times New Roman"/>
              </a:rPr>
              <a:t>Prof.</a:t>
            </a:r>
            <a:r>
              <a:rPr lang="en-US" sz="2000" b="1" spc="-80">
                <a:latin typeface="Times New Roman"/>
                <a:cs typeface="Times New Roman"/>
              </a:rPr>
              <a:t> </a:t>
            </a:r>
            <a:r>
              <a:rPr lang="en-US" sz="2000" b="1" spc="-5">
                <a:latin typeface="Times New Roman"/>
                <a:cs typeface="Times New Roman"/>
              </a:rPr>
              <a:t>S.H. Upadhyay</a:t>
            </a:r>
          </a:p>
        </p:txBody>
      </p:sp>
      <p:sp>
        <p:nvSpPr>
          <p:cNvPr id="19" name="object 9">
            <a:extLst>
              <a:ext uri="{FF2B5EF4-FFF2-40B4-BE49-F238E27FC236}">
                <a16:creationId xmlns:a16="http://schemas.microsoft.com/office/drawing/2014/main" id="{07B14C29-09E3-43C7-B277-2CEB44468CA0}"/>
              </a:ext>
            </a:extLst>
          </p:cNvPr>
          <p:cNvSpPr txBox="1"/>
          <p:nvPr/>
        </p:nvSpPr>
        <p:spPr>
          <a:xfrm>
            <a:off x="360679" y="179323"/>
            <a:ext cx="1492885" cy="299720"/>
          </a:xfrm>
          <a:prstGeom prst="rect">
            <a:avLst/>
          </a:prstGeom>
        </p:spPr>
        <p:txBody>
          <a:bodyPr vert="horz" wrap="square" lIns="0" tIns="12700" rIns="0" bIns="0" rtlCol="0">
            <a:spAutoFit/>
          </a:bodyPr>
          <a:lstStyle/>
          <a:p>
            <a:pPr marL="12700">
              <a:lnSpc>
                <a:spcPct val="100000"/>
              </a:lnSpc>
              <a:spcBef>
                <a:spcPts val="100"/>
              </a:spcBef>
            </a:pPr>
            <a:r>
              <a:rPr lang="en-US" sz="1800" b="1" spc="-5">
                <a:latin typeface="Carlito"/>
                <a:cs typeface="Carlito"/>
              </a:rPr>
              <a:t>ETE</a:t>
            </a:r>
            <a:r>
              <a:rPr sz="1800" b="1" spc="-55">
                <a:latin typeface="Carlito"/>
                <a:cs typeface="Carlito"/>
              </a:rPr>
              <a:t> </a:t>
            </a:r>
            <a:r>
              <a:rPr sz="1800" b="1" spc="-15">
                <a:latin typeface="Carlito"/>
                <a:cs typeface="Carlito"/>
              </a:rPr>
              <a:t>Evaluation</a:t>
            </a:r>
            <a:endParaRPr sz="1800">
              <a:latin typeface="Carlito"/>
              <a:cs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0679" y="179323"/>
            <a:ext cx="3479801" cy="289823"/>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5" normalizeH="0" baseline="0" noProof="0">
                <a:ln>
                  <a:noFill/>
                </a:ln>
                <a:solidFill>
                  <a:prstClr val="black"/>
                </a:solidFill>
                <a:effectLst/>
                <a:uLnTx/>
                <a:uFillTx/>
                <a:latin typeface="Times New Roman"/>
                <a:ea typeface="+mn-ea"/>
                <a:cs typeface="Times New Roman"/>
              </a:rPr>
              <a:t>Motivation and </a:t>
            </a:r>
            <a:r>
              <a:rPr kumimoji="0" sz="1800" b="1" i="0" u="none" strike="noStrike" kern="1200" cap="none" spc="-10" normalizeH="0" baseline="0" noProof="0">
                <a:ln>
                  <a:noFill/>
                </a:ln>
                <a:solidFill>
                  <a:prstClr val="black"/>
                </a:solidFill>
                <a:effectLst/>
                <a:uLnTx/>
                <a:uFillTx/>
                <a:latin typeface="Times New Roman"/>
                <a:ea typeface="+mn-ea"/>
                <a:cs typeface="Times New Roman"/>
              </a:rPr>
              <a:t>Problem</a:t>
            </a:r>
            <a:r>
              <a:rPr kumimoji="0" sz="1800" b="1" i="0" u="none" strike="noStrike" kern="1200" cap="none" spc="0" normalizeH="0" baseline="0" noProof="0">
                <a:ln>
                  <a:noFill/>
                </a:ln>
                <a:solidFill>
                  <a:prstClr val="black"/>
                </a:solidFill>
                <a:effectLst/>
                <a:uLnTx/>
                <a:uFillTx/>
                <a:latin typeface="Times New Roman"/>
                <a:ea typeface="+mn-ea"/>
                <a:cs typeface="Times New Roman"/>
              </a:rPr>
              <a:t> </a:t>
            </a:r>
            <a:r>
              <a:rPr kumimoji="0" sz="1800" b="1" i="0" u="none" strike="noStrike" kern="1200" cap="none" spc="-5" normalizeH="0" baseline="0" noProof="0">
                <a:ln>
                  <a:noFill/>
                </a:ln>
                <a:solidFill>
                  <a:prstClr val="black"/>
                </a:solidFill>
                <a:effectLst/>
                <a:uLnTx/>
                <a:uFillTx/>
                <a:latin typeface="Times New Roman"/>
                <a:ea typeface="+mn-ea"/>
                <a:cs typeface="Times New Roman"/>
              </a:rPr>
              <a:t>Definition</a:t>
            </a: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pic>
        <p:nvPicPr>
          <p:cNvPr id="8" name="Picture 7">
            <a:extLst>
              <a:ext uri="{FF2B5EF4-FFF2-40B4-BE49-F238E27FC236}">
                <a16:creationId xmlns:a16="http://schemas.microsoft.com/office/drawing/2014/main" id="{4CDFE290-932E-4756-AD5E-9D4C64C87C20}"/>
              </a:ext>
            </a:extLst>
          </p:cNvPr>
          <p:cNvPicPr>
            <a:picLocks noChangeAspect="1"/>
          </p:cNvPicPr>
          <p:nvPr/>
        </p:nvPicPr>
        <p:blipFill>
          <a:blip r:embed="rId3"/>
          <a:stretch>
            <a:fillRect/>
          </a:stretch>
        </p:blipFill>
        <p:spPr>
          <a:xfrm>
            <a:off x="995979" y="2968084"/>
            <a:ext cx="2971320" cy="1420500"/>
          </a:xfrm>
          <a:prstGeom prst="rect">
            <a:avLst/>
          </a:prstGeom>
          <a:ln w="3175">
            <a:solidFill>
              <a:schemeClr val="tx1"/>
            </a:solidFill>
          </a:ln>
        </p:spPr>
      </p:pic>
      <p:pic>
        <p:nvPicPr>
          <p:cNvPr id="9" name="Picture 8">
            <a:extLst>
              <a:ext uri="{FF2B5EF4-FFF2-40B4-BE49-F238E27FC236}">
                <a16:creationId xmlns:a16="http://schemas.microsoft.com/office/drawing/2014/main" id="{59C6CD80-B0A4-48C7-AE5D-B0B5E41F154E}"/>
              </a:ext>
            </a:extLst>
          </p:cNvPr>
          <p:cNvPicPr>
            <a:picLocks noChangeAspect="1"/>
          </p:cNvPicPr>
          <p:nvPr/>
        </p:nvPicPr>
        <p:blipFill>
          <a:blip r:embed="rId4"/>
          <a:stretch>
            <a:fillRect/>
          </a:stretch>
        </p:blipFill>
        <p:spPr>
          <a:xfrm>
            <a:off x="5034511" y="952215"/>
            <a:ext cx="3722190" cy="3063978"/>
          </a:xfrm>
          <a:prstGeom prst="rect">
            <a:avLst/>
          </a:prstGeom>
          <a:ln w="3175">
            <a:solidFill>
              <a:schemeClr val="tx1"/>
            </a:solidFill>
          </a:ln>
        </p:spPr>
      </p:pic>
      <p:sp>
        <p:nvSpPr>
          <p:cNvPr id="10" name="object 4">
            <a:extLst>
              <a:ext uri="{FF2B5EF4-FFF2-40B4-BE49-F238E27FC236}">
                <a16:creationId xmlns:a16="http://schemas.microsoft.com/office/drawing/2014/main" id="{591074E2-A179-4C95-9D9B-459FF8FFCBAD}"/>
              </a:ext>
            </a:extLst>
          </p:cNvPr>
          <p:cNvSpPr txBox="1"/>
          <p:nvPr/>
        </p:nvSpPr>
        <p:spPr>
          <a:xfrm>
            <a:off x="387299" y="718830"/>
            <a:ext cx="4186828" cy="1966757"/>
          </a:xfrm>
          <a:prstGeom prst="rect">
            <a:avLst/>
          </a:prstGeom>
        </p:spPr>
        <p:txBody>
          <a:bodyPr vert="horz" wrap="square" lIns="0" tIns="12700" rIns="0" bIns="0" rtlCol="0">
            <a:spAutoFit/>
          </a:bodyPr>
          <a:lstStyle/>
          <a:p>
            <a:pPr marL="127000" marR="5080" indent="-114300">
              <a:lnSpc>
                <a:spcPct val="131200"/>
              </a:lnSpc>
              <a:spcBef>
                <a:spcPts val="100"/>
              </a:spcBef>
              <a:buFont typeface="Arial"/>
              <a:buChar char="•"/>
              <a:tabLst>
                <a:tab pos="127000" algn="l"/>
              </a:tabLst>
            </a:pPr>
            <a:r>
              <a:rPr lang="en-US" sz="1600">
                <a:latin typeface="Times New Roman"/>
                <a:cs typeface="Times New Roman"/>
              </a:rPr>
              <a:t>Interest in automotive engineering</a:t>
            </a:r>
          </a:p>
          <a:p>
            <a:pPr marL="127000" marR="5080" indent="-114300">
              <a:lnSpc>
                <a:spcPct val="131200"/>
              </a:lnSpc>
              <a:spcBef>
                <a:spcPts val="100"/>
              </a:spcBef>
              <a:buFont typeface="Arial"/>
              <a:buChar char="•"/>
              <a:tabLst>
                <a:tab pos="127000" algn="l"/>
              </a:tabLst>
            </a:pPr>
            <a:r>
              <a:rPr lang="en-US" sz="1600">
                <a:latin typeface="Times New Roman"/>
                <a:cs typeface="Times New Roman"/>
              </a:rPr>
              <a:t>Extensive modelling and simulation</a:t>
            </a:r>
          </a:p>
          <a:p>
            <a:pPr marL="127000" marR="5080" indent="-114300">
              <a:lnSpc>
                <a:spcPct val="131200"/>
              </a:lnSpc>
              <a:spcBef>
                <a:spcPts val="100"/>
              </a:spcBef>
              <a:buFont typeface="Arial"/>
              <a:buChar char="•"/>
              <a:tabLst>
                <a:tab pos="127000" algn="l"/>
              </a:tabLst>
            </a:pPr>
            <a:r>
              <a:rPr lang="en-US" sz="1600">
                <a:latin typeface="Times New Roman"/>
                <a:cs typeface="Times New Roman"/>
              </a:rPr>
              <a:t>Real-world implementation of physical equations</a:t>
            </a:r>
          </a:p>
          <a:p>
            <a:pPr marL="127000" marR="5080" indent="-114300">
              <a:lnSpc>
                <a:spcPct val="131200"/>
              </a:lnSpc>
              <a:spcBef>
                <a:spcPts val="100"/>
              </a:spcBef>
              <a:buFont typeface="Arial"/>
              <a:buChar char="•"/>
              <a:tabLst>
                <a:tab pos="127000" algn="l"/>
              </a:tabLst>
            </a:pPr>
            <a:r>
              <a:rPr lang="en-US" sz="1600">
                <a:latin typeface="Times New Roman"/>
                <a:cs typeface="Times New Roman"/>
              </a:rPr>
              <a:t>Myriad applications of our model</a:t>
            </a:r>
          </a:p>
          <a:p>
            <a:pPr marL="127000" marR="5080" indent="-114300">
              <a:lnSpc>
                <a:spcPct val="131200"/>
              </a:lnSpc>
              <a:spcBef>
                <a:spcPts val="100"/>
              </a:spcBef>
              <a:buFont typeface="Arial"/>
              <a:buChar char="•"/>
              <a:tabLst>
                <a:tab pos="127000" algn="l"/>
              </a:tabLst>
            </a:pPr>
            <a:r>
              <a:rPr lang="en-US" sz="1600">
                <a:latin typeface="Times New Roman"/>
                <a:cs typeface="Times New Roman"/>
              </a:rPr>
              <a:t>Desire to create a student friendly vehicle modeling software</a:t>
            </a:r>
          </a:p>
        </p:txBody>
      </p:sp>
      <p:sp>
        <p:nvSpPr>
          <p:cNvPr id="11" name="TextBox 10">
            <a:extLst>
              <a:ext uri="{FF2B5EF4-FFF2-40B4-BE49-F238E27FC236}">
                <a16:creationId xmlns:a16="http://schemas.microsoft.com/office/drawing/2014/main" id="{D99C2377-3158-4533-A72C-A12A1AC0A4F9}"/>
              </a:ext>
            </a:extLst>
          </p:cNvPr>
          <p:cNvSpPr txBox="1"/>
          <p:nvPr/>
        </p:nvSpPr>
        <p:spPr>
          <a:xfrm>
            <a:off x="1138169" y="4388001"/>
            <a:ext cx="2971321" cy="230832"/>
          </a:xfrm>
          <a:prstGeom prst="rect">
            <a:avLst/>
          </a:prstGeom>
          <a:noFill/>
        </p:spPr>
        <p:txBody>
          <a:bodyPr wrap="square">
            <a:spAutoFit/>
          </a:bodyPr>
          <a:lstStyle/>
          <a:p>
            <a:pPr algn="ctr"/>
            <a:r>
              <a:rPr lang="en-US" sz="900" i="1" spc="-5">
                <a:latin typeface="Times New Roman"/>
                <a:cs typeface="Times New Roman"/>
              </a:rPr>
              <a:t>https://www.modelon.com/library/vehicle-dynamics-library/</a:t>
            </a:r>
            <a:endParaRPr lang="en-US" sz="900" i="1"/>
          </a:p>
        </p:txBody>
      </p:sp>
      <p:sp>
        <p:nvSpPr>
          <p:cNvPr id="15" name="TextBox 14">
            <a:extLst>
              <a:ext uri="{FF2B5EF4-FFF2-40B4-BE49-F238E27FC236}">
                <a16:creationId xmlns:a16="http://schemas.microsoft.com/office/drawing/2014/main" id="{07EB6CE6-879A-4A69-8113-EF1F954D88B5}"/>
              </a:ext>
            </a:extLst>
          </p:cNvPr>
          <p:cNvSpPr txBox="1"/>
          <p:nvPr/>
        </p:nvSpPr>
        <p:spPr>
          <a:xfrm>
            <a:off x="5510481" y="4098307"/>
            <a:ext cx="2706831" cy="230832"/>
          </a:xfrm>
          <a:prstGeom prst="rect">
            <a:avLst/>
          </a:prstGeom>
          <a:noFill/>
        </p:spPr>
        <p:txBody>
          <a:bodyPr wrap="square">
            <a:spAutoFit/>
          </a:bodyPr>
          <a:lstStyle/>
          <a:p>
            <a:pPr algn="ctr"/>
            <a:r>
              <a:rPr lang="en-US" sz="900" i="1" spc="-5">
                <a:latin typeface="Times New Roman"/>
                <a:cs typeface="Times New Roman"/>
              </a:rPr>
              <a:t>https://www.carsim.com/</a:t>
            </a:r>
            <a:endParaRPr lang="en-US" sz="900" i="1"/>
          </a:p>
        </p:txBody>
      </p:sp>
      <p:sp>
        <p:nvSpPr>
          <p:cNvPr id="16" name="object 12">
            <a:extLst>
              <a:ext uri="{FF2B5EF4-FFF2-40B4-BE49-F238E27FC236}">
                <a16:creationId xmlns:a16="http://schemas.microsoft.com/office/drawing/2014/main" id="{A9266F98-FB3D-4131-BC2B-926E00FF7177}"/>
              </a:ext>
            </a:extLst>
          </p:cNvPr>
          <p:cNvSpPr/>
          <p:nvPr/>
        </p:nvSpPr>
        <p:spPr>
          <a:xfrm>
            <a:off x="350520" y="5351652"/>
            <a:ext cx="8442960" cy="1245793"/>
          </a:xfrm>
          <a:custGeom>
            <a:avLst/>
            <a:gdLst/>
            <a:ahLst/>
            <a:cxnLst/>
            <a:rect l="l" t="t" r="r" b="b"/>
            <a:pathLst>
              <a:path w="8442960" h="1200784">
                <a:moveTo>
                  <a:pt x="8442960" y="0"/>
                </a:moveTo>
                <a:lnTo>
                  <a:pt x="0" y="0"/>
                </a:lnTo>
                <a:lnTo>
                  <a:pt x="0" y="1200331"/>
                </a:lnTo>
                <a:lnTo>
                  <a:pt x="8442960" y="1200331"/>
                </a:lnTo>
                <a:lnTo>
                  <a:pt x="8442960" y="0"/>
                </a:lnTo>
                <a:close/>
              </a:path>
            </a:pathLst>
          </a:custGeom>
          <a:solidFill>
            <a:srgbClr val="595959"/>
          </a:solidFill>
        </p:spPr>
        <p:txBody>
          <a:bodyPr wrap="square" lIns="0" tIns="0" rIns="0" bIns="0" rtlCol="0"/>
          <a:lstStyle/>
          <a:p>
            <a:endParaRPr/>
          </a:p>
        </p:txBody>
      </p:sp>
      <p:sp>
        <p:nvSpPr>
          <p:cNvPr id="17" name="object 59">
            <a:extLst>
              <a:ext uri="{FF2B5EF4-FFF2-40B4-BE49-F238E27FC236}">
                <a16:creationId xmlns:a16="http://schemas.microsoft.com/office/drawing/2014/main" id="{1D2E9660-7658-40F4-9B76-65223958E410}"/>
              </a:ext>
            </a:extLst>
          </p:cNvPr>
          <p:cNvSpPr txBox="1"/>
          <p:nvPr/>
        </p:nvSpPr>
        <p:spPr>
          <a:xfrm>
            <a:off x="360679" y="5466170"/>
            <a:ext cx="8442960" cy="920060"/>
          </a:xfrm>
          <a:prstGeom prst="rect">
            <a:avLst/>
          </a:prstGeom>
        </p:spPr>
        <p:txBody>
          <a:bodyPr vert="horz" wrap="square" lIns="0" tIns="12700" rIns="0" bIns="0" rtlCol="0">
            <a:spAutoFit/>
          </a:bodyPr>
          <a:lstStyle/>
          <a:p>
            <a:pPr marL="81280" marR="5080">
              <a:lnSpc>
                <a:spcPct val="146200"/>
              </a:lnSpc>
              <a:spcBef>
                <a:spcPts val="735"/>
              </a:spcBef>
            </a:pPr>
            <a:r>
              <a:rPr lang="en-US" b="1" spc="-5">
                <a:solidFill>
                  <a:srgbClr val="FFFFFF"/>
                </a:solidFill>
                <a:latin typeface="Times New Roman"/>
                <a:cs typeface="Times New Roman"/>
              </a:rPr>
              <a:t>     To build from the ground up a full vehicle model for analyzing the handling performance of a vehicle. The model will effectively and accurately simulate an electric powertrain, a moving chassis, a dynamic suspension and a full set of </a:t>
            </a:r>
            <a:r>
              <a:rPr lang="en-US" b="1" spc="-5" err="1">
                <a:solidFill>
                  <a:srgbClr val="FFFFFF"/>
                </a:solidFill>
                <a:latin typeface="Times New Roman"/>
                <a:cs typeface="Times New Roman"/>
              </a:rPr>
              <a:t>tyres</a:t>
            </a:r>
            <a:r>
              <a:rPr lang="en-US" b="1" spc="-5">
                <a:solidFill>
                  <a:srgbClr val="FFFFFF"/>
                </a:solidFill>
                <a:latin typeface="Times New Roman"/>
                <a:cs typeface="Times New Roman"/>
              </a:rPr>
              <a:t>. Additional prospects might involve development of various automotive control systems.</a:t>
            </a:r>
          </a:p>
        </p:txBody>
      </p:sp>
      <p:sp>
        <p:nvSpPr>
          <p:cNvPr id="19" name="object 59">
            <a:extLst>
              <a:ext uri="{FF2B5EF4-FFF2-40B4-BE49-F238E27FC236}">
                <a16:creationId xmlns:a16="http://schemas.microsoft.com/office/drawing/2014/main" id="{F9EA328F-71A2-41AC-A2D7-037DA0627BF0}"/>
              </a:ext>
            </a:extLst>
          </p:cNvPr>
          <p:cNvSpPr txBox="1"/>
          <p:nvPr/>
        </p:nvSpPr>
        <p:spPr>
          <a:xfrm>
            <a:off x="350521" y="4939284"/>
            <a:ext cx="8442960" cy="320601"/>
          </a:xfrm>
          <a:prstGeom prst="rect">
            <a:avLst/>
          </a:prstGeom>
        </p:spPr>
        <p:txBody>
          <a:bodyPr vert="horz" wrap="square" lIns="0" tIns="12700" rIns="0" bIns="0" rtlCol="0">
            <a:spAutoFit/>
          </a:bodyPr>
          <a:lstStyle/>
          <a:p>
            <a:pPr marL="12700">
              <a:lnSpc>
                <a:spcPct val="100000"/>
              </a:lnSpc>
              <a:spcBef>
                <a:spcPts val="100"/>
              </a:spcBef>
            </a:pPr>
            <a:r>
              <a:rPr sz="2000" b="1" spc="-10">
                <a:latin typeface="Times New Roman"/>
                <a:cs typeface="Times New Roman"/>
              </a:rPr>
              <a:t>Prob</a:t>
            </a:r>
            <a:r>
              <a:rPr lang="en-US" sz="2000" b="1" spc="-10">
                <a:latin typeface="Times New Roman"/>
                <a:cs typeface="Times New Roman"/>
              </a:rPr>
              <a:t>lem </a:t>
            </a:r>
            <a:r>
              <a:rPr lang="en-US" sz="2000" b="1" spc="-5">
                <a:latin typeface="Times New Roman"/>
                <a:cs typeface="Times New Roman"/>
              </a:rPr>
              <a:t>Definition</a:t>
            </a:r>
            <a:endParaRPr lang="en-US" sz="2000">
              <a:latin typeface="Times New Roman"/>
              <a:cs typeface="Times New Roman"/>
            </a:endParaRPr>
          </a:p>
        </p:txBody>
      </p:sp>
    </p:spTree>
    <p:extLst>
      <p:ext uri="{BB962C8B-B14F-4D97-AF65-F5344CB8AC3E}">
        <p14:creationId xmlns:p14="http://schemas.microsoft.com/office/powerpoint/2010/main" val="1880119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25" y="469900"/>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360679" y="149827"/>
            <a:ext cx="2997835" cy="299720"/>
          </a:xfrm>
          <a:prstGeom prst="rect">
            <a:avLst/>
          </a:prstGeom>
        </p:spPr>
        <p:txBody>
          <a:bodyPr vert="horz" wrap="square" lIns="0" tIns="12700" rIns="0" bIns="0" rtlCol="0">
            <a:spAutoFit/>
          </a:bodyPr>
          <a:lstStyle/>
          <a:p>
            <a:pPr marL="12700">
              <a:lnSpc>
                <a:spcPct val="100000"/>
              </a:lnSpc>
              <a:spcBef>
                <a:spcPts val="100"/>
              </a:spcBef>
            </a:pPr>
            <a:r>
              <a:rPr spc="-5"/>
              <a:t>Methodology and</a:t>
            </a:r>
            <a:r>
              <a:rPr spc="-10"/>
              <a:t> </a:t>
            </a:r>
            <a:r>
              <a:rPr spc="-5"/>
              <a:t>Deliverables</a:t>
            </a:r>
          </a:p>
        </p:txBody>
      </p:sp>
      <p:sp>
        <p:nvSpPr>
          <p:cNvPr id="4" name="object 4"/>
          <p:cNvSpPr/>
          <p:nvPr/>
        </p:nvSpPr>
        <p:spPr>
          <a:xfrm>
            <a:off x="167535" y="4102098"/>
            <a:ext cx="8800465" cy="6985"/>
          </a:xfrm>
          <a:custGeom>
            <a:avLst/>
            <a:gdLst/>
            <a:ahLst/>
            <a:cxnLst/>
            <a:rect l="l" t="t" r="r" b="b"/>
            <a:pathLst>
              <a:path w="8800465" h="6985">
                <a:moveTo>
                  <a:pt x="0" y="6732"/>
                </a:moveTo>
                <a:lnTo>
                  <a:pt x="8799935"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txBox="1"/>
          <p:nvPr/>
        </p:nvSpPr>
        <p:spPr>
          <a:xfrm>
            <a:off x="269769" y="4199623"/>
            <a:ext cx="8595995" cy="32060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2000" b="1" i="0" u="none" strike="noStrike" kern="1200" cap="none" spc="-5" normalizeH="0" baseline="0" noProof="0">
                <a:ln>
                  <a:noFill/>
                </a:ln>
                <a:solidFill>
                  <a:prstClr val="black"/>
                </a:solidFill>
                <a:effectLst/>
                <a:uLnTx/>
                <a:uFillTx/>
                <a:latin typeface="Times New Roman"/>
                <a:ea typeface="+mn-ea"/>
                <a:cs typeface="Times New Roman"/>
              </a:rPr>
              <a:t>Deliverables</a:t>
            </a:r>
            <a:endParaRPr kumimoji="0" lang="en-US" sz="20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53" name="Group 52">
            <a:extLst>
              <a:ext uri="{FF2B5EF4-FFF2-40B4-BE49-F238E27FC236}">
                <a16:creationId xmlns:a16="http://schemas.microsoft.com/office/drawing/2014/main" id="{546E102D-9344-4AE6-A30A-3F75FC8DD5A5}"/>
              </a:ext>
            </a:extLst>
          </p:cNvPr>
          <p:cNvGrpSpPr/>
          <p:nvPr/>
        </p:nvGrpSpPr>
        <p:grpSpPr>
          <a:xfrm>
            <a:off x="105025" y="733036"/>
            <a:ext cx="4722540" cy="2646005"/>
            <a:chOff x="295421" y="1119352"/>
            <a:chExt cx="8660304" cy="3072508"/>
          </a:xfrm>
        </p:grpSpPr>
        <p:grpSp>
          <p:nvGrpSpPr>
            <p:cNvPr id="54" name="Group 53">
              <a:extLst>
                <a:ext uri="{FF2B5EF4-FFF2-40B4-BE49-F238E27FC236}">
                  <a16:creationId xmlns:a16="http://schemas.microsoft.com/office/drawing/2014/main" id="{D6F8358B-581C-4F36-A6DF-A0565FD8FEE2}"/>
                </a:ext>
              </a:extLst>
            </p:cNvPr>
            <p:cNvGrpSpPr/>
            <p:nvPr/>
          </p:nvGrpSpPr>
          <p:grpSpPr>
            <a:xfrm>
              <a:off x="2109847" y="2048047"/>
              <a:ext cx="356284" cy="383861"/>
              <a:chOff x="4808811" y="827551"/>
              <a:chExt cx="409203" cy="478691"/>
            </a:xfrm>
            <a:scene3d>
              <a:camera prst="orthographicFront">
                <a:rot lat="0" lon="0" rev="0"/>
              </a:camera>
              <a:lightRig rig="contrasting" dir="t">
                <a:rot lat="0" lon="0" rev="7800000"/>
              </a:lightRig>
            </a:scene3d>
          </p:grpSpPr>
          <p:sp>
            <p:nvSpPr>
              <p:cNvPr id="85" name="Arrow: Right 84">
                <a:extLst>
                  <a:ext uri="{FF2B5EF4-FFF2-40B4-BE49-F238E27FC236}">
                    <a16:creationId xmlns:a16="http://schemas.microsoft.com/office/drawing/2014/main" id="{63A0C057-DEE4-4EC5-B0D2-082D8D305148}"/>
                  </a:ext>
                </a:extLst>
              </p:cNvPr>
              <p:cNvSpPr/>
              <p:nvPr/>
            </p:nvSpPr>
            <p:spPr>
              <a:xfrm>
                <a:off x="4808811" y="827551"/>
                <a:ext cx="409203" cy="478691"/>
              </a:xfrm>
              <a:prstGeom prst="rightArrow">
                <a:avLst>
                  <a:gd name="adj1" fmla="val 60000"/>
                  <a:gd name="adj2" fmla="val 50000"/>
                </a:avLst>
              </a:prstGeom>
              <a:ln>
                <a:noFill/>
              </a:ln>
              <a:effectLst/>
              <a:sp3d>
                <a:bevelT w="139700" h="139700"/>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86" name="Arrow: Right 4">
                <a:extLst>
                  <a:ext uri="{FF2B5EF4-FFF2-40B4-BE49-F238E27FC236}">
                    <a16:creationId xmlns:a16="http://schemas.microsoft.com/office/drawing/2014/main" id="{BADA64E6-DDCA-4638-B428-C8225CB8686E}"/>
                  </a:ext>
                </a:extLst>
              </p:cNvPr>
              <p:cNvSpPr txBox="1"/>
              <p:nvPr/>
            </p:nvSpPr>
            <p:spPr>
              <a:xfrm>
                <a:off x="4808811" y="923289"/>
                <a:ext cx="286442" cy="287215"/>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050" kern="1200">
                  <a:latin typeface="Times New Roman" panose="02020603050405020304" pitchFamily="18" charset="0"/>
                  <a:cs typeface="Times New Roman" panose="02020603050405020304" pitchFamily="18" charset="0"/>
                </a:endParaRPr>
              </a:p>
            </p:txBody>
          </p:sp>
        </p:grpSp>
        <p:grpSp>
          <p:nvGrpSpPr>
            <p:cNvPr id="55" name="Group 54">
              <a:extLst>
                <a:ext uri="{FF2B5EF4-FFF2-40B4-BE49-F238E27FC236}">
                  <a16:creationId xmlns:a16="http://schemas.microsoft.com/office/drawing/2014/main" id="{FCA9940D-F945-410F-A45A-EC0F22266459}"/>
                </a:ext>
              </a:extLst>
            </p:cNvPr>
            <p:cNvGrpSpPr/>
            <p:nvPr/>
          </p:nvGrpSpPr>
          <p:grpSpPr>
            <a:xfrm>
              <a:off x="2599968" y="1772139"/>
              <a:ext cx="1680589" cy="928695"/>
              <a:chOff x="5411035" y="487834"/>
              <a:chExt cx="1930206" cy="1158123"/>
            </a:xfrm>
            <a:scene3d>
              <a:camera prst="orthographicFront">
                <a:rot lat="0" lon="0" rev="0"/>
              </a:camera>
              <a:lightRig rig="contrasting" dir="t">
                <a:rot lat="0" lon="0" rev="7800000"/>
              </a:lightRig>
            </a:scene3d>
          </p:grpSpPr>
          <p:sp>
            <p:nvSpPr>
              <p:cNvPr id="83" name="Rectangle: Rounded Corners 82">
                <a:extLst>
                  <a:ext uri="{FF2B5EF4-FFF2-40B4-BE49-F238E27FC236}">
                    <a16:creationId xmlns:a16="http://schemas.microsoft.com/office/drawing/2014/main" id="{C910E68F-BC35-4456-86A2-C9563053B1B6}"/>
                  </a:ext>
                </a:extLst>
              </p:cNvPr>
              <p:cNvSpPr/>
              <p:nvPr/>
            </p:nvSpPr>
            <p:spPr>
              <a:xfrm>
                <a:off x="5411035" y="487834"/>
                <a:ext cx="1930206" cy="1158123"/>
              </a:xfrm>
              <a:prstGeom prst="roundRect">
                <a:avLst>
                  <a:gd name="adj" fmla="val 10000"/>
                </a:avLst>
              </a:prstGeom>
              <a:ln>
                <a:noFill/>
              </a:ln>
              <a:effectLst/>
              <a:sp3d>
                <a:bevelT w="139700" h="1397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4" name="Rectangle: Rounded Corners 6">
                <a:extLst>
                  <a:ext uri="{FF2B5EF4-FFF2-40B4-BE49-F238E27FC236}">
                    <a16:creationId xmlns:a16="http://schemas.microsoft.com/office/drawing/2014/main" id="{8F1C03E2-6226-4072-ADDC-062CDC701011}"/>
                  </a:ext>
                </a:extLst>
              </p:cNvPr>
              <p:cNvSpPr txBox="1"/>
              <p:nvPr/>
            </p:nvSpPr>
            <p:spPr>
              <a:xfrm>
                <a:off x="5444955" y="521754"/>
                <a:ext cx="1862366" cy="1090283"/>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Derived relevant equations</a:t>
                </a:r>
              </a:p>
            </p:txBody>
          </p:sp>
        </p:grpSp>
        <p:grpSp>
          <p:nvGrpSpPr>
            <p:cNvPr id="56" name="Group 55">
              <a:extLst>
                <a:ext uri="{FF2B5EF4-FFF2-40B4-BE49-F238E27FC236}">
                  <a16:creationId xmlns:a16="http://schemas.microsoft.com/office/drawing/2014/main" id="{F633AF65-8D39-4AB1-A906-5F7A0F0992F3}"/>
                </a:ext>
              </a:extLst>
            </p:cNvPr>
            <p:cNvGrpSpPr/>
            <p:nvPr/>
          </p:nvGrpSpPr>
          <p:grpSpPr>
            <a:xfrm>
              <a:off x="295421" y="1775630"/>
              <a:ext cx="1680589" cy="928695"/>
              <a:chOff x="5411035" y="487834"/>
              <a:chExt cx="1930206" cy="1158123"/>
            </a:xfrm>
            <a:scene3d>
              <a:camera prst="orthographicFront">
                <a:rot lat="0" lon="0" rev="0"/>
              </a:camera>
              <a:lightRig rig="contrasting" dir="t">
                <a:rot lat="0" lon="0" rev="7800000"/>
              </a:lightRig>
            </a:scene3d>
          </p:grpSpPr>
          <p:sp>
            <p:nvSpPr>
              <p:cNvPr id="81" name="Rectangle: Rounded Corners 80">
                <a:extLst>
                  <a:ext uri="{FF2B5EF4-FFF2-40B4-BE49-F238E27FC236}">
                    <a16:creationId xmlns:a16="http://schemas.microsoft.com/office/drawing/2014/main" id="{CE2141B8-FC5B-4985-ACD8-615A46FDCF14}"/>
                  </a:ext>
                </a:extLst>
              </p:cNvPr>
              <p:cNvSpPr/>
              <p:nvPr/>
            </p:nvSpPr>
            <p:spPr>
              <a:xfrm>
                <a:off x="5411035" y="487834"/>
                <a:ext cx="1930206" cy="1158123"/>
              </a:xfrm>
              <a:prstGeom prst="roundRect">
                <a:avLst>
                  <a:gd name="adj" fmla="val 10000"/>
                </a:avLst>
              </a:prstGeom>
              <a:ln>
                <a:noFill/>
              </a:ln>
              <a:effectLst/>
              <a:sp3d>
                <a:bevelT w="139700" h="1397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2" name="Rectangle: Rounded Corners 6">
                <a:extLst>
                  <a:ext uri="{FF2B5EF4-FFF2-40B4-BE49-F238E27FC236}">
                    <a16:creationId xmlns:a16="http://schemas.microsoft.com/office/drawing/2014/main" id="{A950E9A6-C841-4890-95CC-69ADB7E4EE0D}"/>
                  </a:ext>
                </a:extLst>
              </p:cNvPr>
              <p:cNvSpPr txBox="1"/>
              <p:nvPr/>
            </p:nvSpPr>
            <p:spPr>
              <a:xfrm>
                <a:off x="5444955" y="521754"/>
                <a:ext cx="1862366" cy="1090283"/>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Research papers and books</a:t>
                </a:r>
              </a:p>
            </p:txBody>
          </p:sp>
        </p:grpSp>
        <p:grpSp>
          <p:nvGrpSpPr>
            <p:cNvPr id="57" name="Group 56">
              <a:extLst>
                <a:ext uri="{FF2B5EF4-FFF2-40B4-BE49-F238E27FC236}">
                  <a16:creationId xmlns:a16="http://schemas.microsoft.com/office/drawing/2014/main" id="{5FAEB00D-22B1-490E-BA69-3341EE030C02}"/>
                </a:ext>
              </a:extLst>
            </p:cNvPr>
            <p:cNvGrpSpPr/>
            <p:nvPr/>
          </p:nvGrpSpPr>
          <p:grpSpPr>
            <a:xfrm>
              <a:off x="4913949" y="1119352"/>
              <a:ext cx="1680589" cy="928695"/>
              <a:chOff x="5411035" y="487834"/>
              <a:chExt cx="1930206" cy="1158123"/>
            </a:xfrm>
            <a:scene3d>
              <a:camera prst="orthographicFront">
                <a:rot lat="0" lon="0" rev="0"/>
              </a:camera>
              <a:lightRig rig="contrasting" dir="t">
                <a:rot lat="0" lon="0" rev="7800000"/>
              </a:lightRig>
            </a:scene3d>
          </p:grpSpPr>
          <p:sp>
            <p:nvSpPr>
              <p:cNvPr id="79" name="Rectangle: Rounded Corners 78">
                <a:extLst>
                  <a:ext uri="{FF2B5EF4-FFF2-40B4-BE49-F238E27FC236}">
                    <a16:creationId xmlns:a16="http://schemas.microsoft.com/office/drawing/2014/main" id="{9570CF50-1CDE-482D-9A9A-C5C4D1A5EFE4}"/>
                  </a:ext>
                </a:extLst>
              </p:cNvPr>
              <p:cNvSpPr/>
              <p:nvPr/>
            </p:nvSpPr>
            <p:spPr>
              <a:xfrm>
                <a:off x="5411035" y="487834"/>
                <a:ext cx="1930206" cy="1158123"/>
              </a:xfrm>
              <a:prstGeom prst="roundRect">
                <a:avLst>
                  <a:gd name="adj" fmla="val 10000"/>
                </a:avLst>
              </a:prstGeom>
              <a:ln>
                <a:noFill/>
              </a:ln>
              <a:effectLst/>
              <a:sp3d>
                <a:bevelT w="139700" h="1397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0" name="Rectangle: Rounded Corners 6">
                <a:extLst>
                  <a:ext uri="{FF2B5EF4-FFF2-40B4-BE49-F238E27FC236}">
                    <a16:creationId xmlns:a16="http://schemas.microsoft.com/office/drawing/2014/main" id="{C7C3CEBE-B961-4706-B7A6-2B7D6FC5A0A9}"/>
                  </a:ext>
                </a:extLst>
              </p:cNvPr>
              <p:cNvSpPr txBox="1"/>
              <p:nvPr/>
            </p:nvSpPr>
            <p:spPr>
              <a:xfrm>
                <a:off x="5444955" y="521754"/>
                <a:ext cx="1862366" cy="1090283"/>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Equations in MATLAB code</a:t>
                </a:r>
              </a:p>
            </p:txBody>
          </p:sp>
        </p:grpSp>
        <p:grpSp>
          <p:nvGrpSpPr>
            <p:cNvPr id="58" name="Group 57">
              <a:extLst>
                <a:ext uri="{FF2B5EF4-FFF2-40B4-BE49-F238E27FC236}">
                  <a16:creationId xmlns:a16="http://schemas.microsoft.com/office/drawing/2014/main" id="{E4F375FD-21F3-4A06-9289-04005AFA88E3}"/>
                </a:ext>
              </a:extLst>
            </p:cNvPr>
            <p:cNvGrpSpPr/>
            <p:nvPr/>
          </p:nvGrpSpPr>
          <p:grpSpPr>
            <a:xfrm>
              <a:off x="4961154" y="2279624"/>
              <a:ext cx="1680589" cy="928695"/>
              <a:chOff x="5411035" y="487834"/>
              <a:chExt cx="1930206" cy="1158123"/>
            </a:xfrm>
            <a:scene3d>
              <a:camera prst="orthographicFront">
                <a:rot lat="0" lon="0" rev="0"/>
              </a:camera>
              <a:lightRig rig="contrasting" dir="t">
                <a:rot lat="0" lon="0" rev="7800000"/>
              </a:lightRig>
            </a:scene3d>
          </p:grpSpPr>
          <p:sp>
            <p:nvSpPr>
              <p:cNvPr id="77" name="Rectangle: Rounded Corners 76">
                <a:extLst>
                  <a:ext uri="{FF2B5EF4-FFF2-40B4-BE49-F238E27FC236}">
                    <a16:creationId xmlns:a16="http://schemas.microsoft.com/office/drawing/2014/main" id="{1C89CC34-99E8-47AD-AFB1-B9055254EA8D}"/>
                  </a:ext>
                </a:extLst>
              </p:cNvPr>
              <p:cNvSpPr/>
              <p:nvPr/>
            </p:nvSpPr>
            <p:spPr>
              <a:xfrm>
                <a:off x="5411035" y="487834"/>
                <a:ext cx="1930206" cy="1158123"/>
              </a:xfrm>
              <a:prstGeom prst="roundRect">
                <a:avLst>
                  <a:gd name="adj" fmla="val 10000"/>
                </a:avLst>
              </a:prstGeom>
              <a:ln>
                <a:noFill/>
              </a:ln>
              <a:effectLst/>
              <a:sp3d>
                <a:bevelT w="139700" h="1397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8" name="Rectangle: Rounded Corners 6">
                <a:extLst>
                  <a:ext uri="{FF2B5EF4-FFF2-40B4-BE49-F238E27FC236}">
                    <a16:creationId xmlns:a16="http://schemas.microsoft.com/office/drawing/2014/main" id="{A3A08BA4-BDC8-4C47-92B9-58A6170C158F}"/>
                  </a:ext>
                </a:extLst>
              </p:cNvPr>
              <p:cNvSpPr txBox="1"/>
              <p:nvPr/>
            </p:nvSpPr>
            <p:spPr>
              <a:xfrm>
                <a:off x="5444955" y="521754"/>
                <a:ext cx="1862366" cy="1090283"/>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ODE’s </a:t>
                </a:r>
                <a:br>
                  <a:rPr lang="en-IN" sz="1200" kern="1200">
                    <a:latin typeface="Times New Roman" panose="02020603050405020304" pitchFamily="18" charset="0"/>
                    <a:cs typeface="Times New Roman" panose="02020603050405020304" pitchFamily="18" charset="0"/>
                  </a:rPr>
                </a:br>
                <a:r>
                  <a:rPr lang="en-IN" sz="1200" kern="1200">
                    <a:latin typeface="Times New Roman" panose="02020603050405020304" pitchFamily="18" charset="0"/>
                    <a:cs typeface="Times New Roman" panose="02020603050405020304" pitchFamily="18" charset="0"/>
                  </a:rPr>
                  <a:t>modelled in Simulink blocks</a:t>
                </a:r>
              </a:p>
            </p:txBody>
          </p:sp>
        </p:grpSp>
        <p:grpSp>
          <p:nvGrpSpPr>
            <p:cNvPr id="59" name="Group 58">
              <a:extLst>
                <a:ext uri="{FF2B5EF4-FFF2-40B4-BE49-F238E27FC236}">
                  <a16:creationId xmlns:a16="http://schemas.microsoft.com/office/drawing/2014/main" id="{A6DC1675-64F4-423D-90F7-2246052C0530}"/>
                </a:ext>
              </a:extLst>
            </p:cNvPr>
            <p:cNvGrpSpPr/>
            <p:nvPr/>
          </p:nvGrpSpPr>
          <p:grpSpPr>
            <a:xfrm>
              <a:off x="7275136" y="1772139"/>
              <a:ext cx="1680589" cy="928695"/>
              <a:chOff x="5411035" y="487834"/>
              <a:chExt cx="1930206" cy="1158123"/>
            </a:xfrm>
            <a:scene3d>
              <a:camera prst="orthographicFront">
                <a:rot lat="0" lon="0" rev="0"/>
              </a:camera>
              <a:lightRig rig="contrasting" dir="t">
                <a:rot lat="0" lon="0" rev="7800000"/>
              </a:lightRig>
            </a:scene3d>
          </p:grpSpPr>
          <p:sp>
            <p:nvSpPr>
              <p:cNvPr id="75" name="Rectangle: Rounded Corners 74">
                <a:extLst>
                  <a:ext uri="{FF2B5EF4-FFF2-40B4-BE49-F238E27FC236}">
                    <a16:creationId xmlns:a16="http://schemas.microsoft.com/office/drawing/2014/main" id="{EA9539A0-56C2-41A0-A0AA-A6E9E096F8FA}"/>
                  </a:ext>
                </a:extLst>
              </p:cNvPr>
              <p:cNvSpPr/>
              <p:nvPr/>
            </p:nvSpPr>
            <p:spPr>
              <a:xfrm>
                <a:off x="5411035" y="487834"/>
                <a:ext cx="1930206" cy="1158123"/>
              </a:xfrm>
              <a:prstGeom prst="roundRect">
                <a:avLst>
                  <a:gd name="adj" fmla="val 10000"/>
                </a:avLst>
              </a:prstGeom>
              <a:ln>
                <a:noFill/>
              </a:ln>
              <a:effectLst/>
              <a:sp3d>
                <a:bevelT w="139700" h="1397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6" name="Rectangle: Rounded Corners 6">
                <a:extLst>
                  <a:ext uri="{FF2B5EF4-FFF2-40B4-BE49-F238E27FC236}">
                    <a16:creationId xmlns:a16="http://schemas.microsoft.com/office/drawing/2014/main" id="{4986767A-ADD6-4A89-B639-24A5DECFA4A4}"/>
                  </a:ext>
                </a:extLst>
              </p:cNvPr>
              <p:cNvSpPr txBox="1"/>
              <p:nvPr/>
            </p:nvSpPr>
            <p:spPr>
              <a:xfrm>
                <a:off x="5444955" y="521754"/>
                <a:ext cx="1862366" cy="1090283"/>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Testing and validation</a:t>
                </a:r>
              </a:p>
            </p:txBody>
          </p:sp>
        </p:grpSp>
        <p:grpSp>
          <p:nvGrpSpPr>
            <p:cNvPr id="60" name="Group 59">
              <a:extLst>
                <a:ext uri="{FF2B5EF4-FFF2-40B4-BE49-F238E27FC236}">
                  <a16:creationId xmlns:a16="http://schemas.microsoft.com/office/drawing/2014/main" id="{8B840C04-80B4-45E5-9AB9-7C37C3B84653}"/>
                </a:ext>
              </a:extLst>
            </p:cNvPr>
            <p:cNvGrpSpPr/>
            <p:nvPr/>
          </p:nvGrpSpPr>
          <p:grpSpPr>
            <a:xfrm>
              <a:off x="7275135" y="3263165"/>
              <a:ext cx="1680589" cy="928695"/>
              <a:chOff x="5411035" y="487834"/>
              <a:chExt cx="1930206" cy="1158123"/>
            </a:xfrm>
            <a:scene3d>
              <a:camera prst="orthographicFront">
                <a:rot lat="0" lon="0" rev="0"/>
              </a:camera>
              <a:lightRig rig="contrasting" dir="t">
                <a:rot lat="0" lon="0" rev="7800000"/>
              </a:lightRig>
            </a:scene3d>
          </p:grpSpPr>
          <p:sp>
            <p:nvSpPr>
              <p:cNvPr id="73" name="Rectangle: Rounded Corners 72">
                <a:extLst>
                  <a:ext uri="{FF2B5EF4-FFF2-40B4-BE49-F238E27FC236}">
                    <a16:creationId xmlns:a16="http://schemas.microsoft.com/office/drawing/2014/main" id="{EC3EC80E-1808-4485-975C-BB47EE69D60D}"/>
                  </a:ext>
                </a:extLst>
              </p:cNvPr>
              <p:cNvSpPr/>
              <p:nvPr/>
            </p:nvSpPr>
            <p:spPr>
              <a:xfrm>
                <a:off x="5411035" y="487834"/>
                <a:ext cx="1930206" cy="1158123"/>
              </a:xfrm>
              <a:prstGeom prst="roundRect">
                <a:avLst>
                  <a:gd name="adj" fmla="val 10000"/>
                </a:avLst>
              </a:prstGeom>
              <a:ln>
                <a:noFill/>
              </a:ln>
              <a:effectLst/>
              <a:sp3d>
                <a:bevelT w="139700" h="1397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4" name="Rectangle: Rounded Corners 6">
                <a:extLst>
                  <a:ext uri="{FF2B5EF4-FFF2-40B4-BE49-F238E27FC236}">
                    <a16:creationId xmlns:a16="http://schemas.microsoft.com/office/drawing/2014/main" id="{3EDB2E8D-E0D7-4FED-AA5F-FEA1E058C558}"/>
                  </a:ext>
                </a:extLst>
              </p:cNvPr>
              <p:cNvSpPr txBox="1"/>
              <p:nvPr/>
            </p:nvSpPr>
            <p:spPr>
              <a:xfrm>
                <a:off x="5444955" y="521754"/>
                <a:ext cx="1862366" cy="1090283"/>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Final Model</a:t>
                </a:r>
              </a:p>
            </p:txBody>
          </p:sp>
        </p:grpSp>
        <p:grpSp>
          <p:nvGrpSpPr>
            <p:cNvPr id="61" name="Group 60">
              <a:extLst>
                <a:ext uri="{FF2B5EF4-FFF2-40B4-BE49-F238E27FC236}">
                  <a16:creationId xmlns:a16="http://schemas.microsoft.com/office/drawing/2014/main" id="{A9A4E920-5CA2-4766-ABEA-69CA60818FD3}"/>
                </a:ext>
              </a:extLst>
            </p:cNvPr>
            <p:cNvGrpSpPr/>
            <p:nvPr/>
          </p:nvGrpSpPr>
          <p:grpSpPr>
            <a:xfrm rot="20461447">
              <a:off x="4472475" y="1719868"/>
              <a:ext cx="356284" cy="383861"/>
              <a:chOff x="4808811" y="827551"/>
              <a:chExt cx="409203" cy="478691"/>
            </a:xfrm>
            <a:scene3d>
              <a:camera prst="orthographicFront">
                <a:rot lat="0" lon="0" rev="0"/>
              </a:camera>
              <a:lightRig rig="contrasting" dir="t">
                <a:rot lat="0" lon="0" rev="7800000"/>
              </a:lightRig>
            </a:scene3d>
          </p:grpSpPr>
          <p:sp>
            <p:nvSpPr>
              <p:cNvPr id="71" name="Arrow: Right 70">
                <a:extLst>
                  <a:ext uri="{FF2B5EF4-FFF2-40B4-BE49-F238E27FC236}">
                    <a16:creationId xmlns:a16="http://schemas.microsoft.com/office/drawing/2014/main" id="{B82D4104-6909-4B7C-8534-B5F485CC462D}"/>
                  </a:ext>
                </a:extLst>
              </p:cNvPr>
              <p:cNvSpPr/>
              <p:nvPr/>
            </p:nvSpPr>
            <p:spPr>
              <a:xfrm>
                <a:off x="4808811" y="827551"/>
                <a:ext cx="409203" cy="478691"/>
              </a:xfrm>
              <a:prstGeom prst="rightArrow">
                <a:avLst>
                  <a:gd name="adj1" fmla="val 60000"/>
                  <a:gd name="adj2" fmla="val 50000"/>
                </a:avLst>
              </a:prstGeom>
              <a:ln>
                <a:noFill/>
              </a:ln>
              <a:effectLst/>
              <a:sp3d>
                <a:bevelT w="139700" h="139700"/>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72" name="Arrow: Right 4">
                <a:extLst>
                  <a:ext uri="{FF2B5EF4-FFF2-40B4-BE49-F238E27FC236}">
                    <a16:creationId xmlns:a16="http://schemas.microsoft.com/office/drawing/2014/main" id="{A20647B4-6FF7-419B-8423-28908ED644E5}"/>
                  </a:ext>
                </a:extLst>
              </p:cNvPr>
              <p:cNvSpPr txBox="1"/>
              <p:nvPr/>
            </p:nvSpPr>
            <p:spPr>
              <a:xfrm>
                <a:off x="4808811" y="923289"/>
                <a:ext cx="286442" cy="287215"/>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050" kern="1200">
                  <a:latin typeface="Times New Roman" panose="02020603050405020304" pitchFamily="18" charset="0"/>
                  <a:cs typeface="Times New Roman" panose="02020603050405020304" pitchFamily="18" charset="0"/>
                </a:endParaRPr>
              </a:p>
            </p:txBody>
          </p:sp>
        </p:grpSp>
        <p:grpSp>
          <p:nvGrpSpPr>
            <p:cNvPr id="62" name="Group 61">
              <a:extLst>
                <a:ext uri="{FF2B5EF4-FFF2-40B4-BE49-F238E27FC236}">
                  <a16:creationId xmlns:a16="http://schemas.microsoft.com/office/drawing/2014/main" id="{42851B86-780A-440C-818C-BB4BE5A1293B}"/>
                </a:ext>
              </a:extLst>
            </p:cNvPr>
            <p:cNvGrpSpPr/>
            <p:nvPr/>
          </p:nvGrpSpPr>
          <p:grpSpPr>
            <a:xfrm rot="803895">
              <a:off x="4473097" y="2358634"/>
              <a:ext cx="356284" cy="383861"/>
              <a:chOff x="4808811" y="827551"/>
              <a:chExt cx="409203" cy="478691"/>
            </a:xfrm>
            <a:scene3d>
              <a:camera prst="orthographicFront">
                <a:rot lat="0" lon="0" rev="0"/>
              </a:camera>
              <a:lightRig rig="contrasting" dir="t">
                <a:rot lat="0" lon="0" rev="7800000"/>
              </a:lightRig>
            </a:scene3d>
          </p:grpSpPr>
          <p:sp>
            <p:nvSpPr>
              <p:cNvPr id="69" name="Arrow: Right 68">
                <a:extLst>
                  <a:ext uri="{FF2B5EF4-FFF2-40B4-BE49-F238E27FC236}">
                    <a16:creationId xmlns:a16="http://schemas.microsoft.com/office/drawing/2014/main" id="{8EB25B6E-01B0-41D8-B127-F4DF3F1D7474}"/>
                  </a:ext>
                </a:extLst>
              </p:cNvPr>
              <p:cNvSpPr/>
              <p:nvPr/>
            </p:nvSpPr>
            <p:spPr>
              <a:xfrm>
                <a:off x="4808811" y="827551"/>
                <a:ext cx="409203" cy="478691"/>
              </a:xfrm>
              <a:prstGeom prst="rightArrow">
                <a:avLst>
                  <a:gd name="adj1" fmla="val 60000"/>
                  <a:gd name="adj2" fmla="val 50000"/>
                </a:avLst>
              </a:prstGeom>
              <a:ln>
                <a:noFill/>
              </a:ln>
              <a:effectLst/>
              <a:sp3d>
                <a:bevelT w="139700" h="139700"/>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70" name="Arrow: Right 4">
                <a:extLst>
                  <a:ext uri="{FF2B5EF4-FFF2-40B4-BE49-F238E27FC236}">
                    <a16:creationId xmlns:a16="http://schemas.microsoft.com/office/drawing/2014/main" id="{657BC7E6-0A4C-4BDE-A509-4B65D3A72849}"/>
                  </a:ext>
                </a:extLst>
              </p:cNvPr>
              <p:cNvSpPr txBox="1"/>
              <p:nvPr/>
            </p:nvSpPr>
            <p:spPr>
              <a:xfrm>
                <a:off x="4808811" y="923289"/>
                <a:ext cx="286442" cy="287215"/>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050" kern="1200">
                  <a:latin typeface="Times New Roman" panose="02020603050405020304" pitchFamily="18" charset="0"/>
                  <a:cs typeface="Times New Roman" panose="02020603050405020304" pitchFamily="18" charset="0"/>
                </a:endParaRPr>
              </a:p>
            </p:txBody>
          </p:sp>
        </p:grpSp>
        <p:grpSp>
          <p:nvGrpSpPr>
            <p:cNvPr id="63" name="Group 62">
              <a:extLst>
                <a:ext uri="{FF2B5EF4-FFF2-40B4-BE49-F238E27FC236}">
                  <a16:creationId xmlns:a16="http://schemas.microsoft.com/office/drawing/2014/main" id="{4FCD203A-7217-4B12-A690-34E7B551E467}"/>
                </a:ext>
              </a:extLst>
            </p:cNvPr>
            <p:cNvGrpSpPr/>
            <p:nvPr/>
          </p:nvGrpSpPr>
          <p:grpSpPr>
            <a:xfrm>
              <a:off x="6813119" y="2044555"/>
              <a:ext cx="356284" cy="383861"/>
              <a:chOff x="4808811" y="827551"/>
              <a:chExt cx="409203" cy="478691"/>
            </a:xfrm>
            <a:scene3d>
              <a:camera prst="orthographicFront">
                <a:rot lat="0" lon="0" rev="0"/>
              </a:camera>
              <a:lightRig rig="contrasting" dir="t">
                <a:rot lat="0" lon="0" rev="7800000"/>
              </a:lightRig>
            </a:scene3d>
          </p:grpSpPr>
          <p:sp>
            <p:nvSpPr>
              <p:cNvPr id="67" name="Arrow: Right 66">
                <a:extLst>
                  <a:ext uri="{FF2B5EF4-FFF2-40B4-BE49-F238E27FC236}">
                    <a16:creationId xmlns:a16="http://schemas.microsoft.com/office/drawing/2014/main" id="{63E39FC5-D18C-4B3C-B626-833E685A2DD2}"/>
                  </a:ext>
                </a:extLst>
              </p:cNvPr>
              <p:cNvSpPr/>
              <p:nvPr/>
            </p:nvSpPr>
            <p:spPr>
              <a:xfrm>
                <a:off x="4808811" y="827551"/>
                <a:ext cx="409203" cy="478691"/>
              </a:xfrm>
              <a:prstGeom prst="rightArrow">
                <a:avLst>
                  <a:gd name="adj1" fmla="val 60000"/>
                  <a:gd name="adj2" fmla="val 50000"/>
                </a:avLst>
              </a:prstGeom>
              <a:ln>
                <a:noFill/>
              </a:ln>
              <a:effectLst/>
              <a:sp3d>
                <a:bevelT w="139700" h="139700"/>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68" name="Arrow: Right 4">
                <a:extLst>
                  <a:ext uri="{FF2B5EF4-FFF2-40B4-BE49-F238E27FC236}">
                    <a16:creationId xmlns:a16="http://schemas.microsoft.com/office/drawing/2014/main" id="{031A88C3-A811-4562-BEF7-2AB02D59D3F5}"/>
                  </a:ext>
                </a:extLst>
              </p:cNvPr>
              <p:cNvSpPr txBox="1"/>
              <p:nvPr/>
            </p:nvSpPr>
            <p:spPr>
              <a:xfrm>
                <a:off x="4808811" y="923289"/>
                <a:ext cx="286442" cy="287215"/>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050" kern="1200">
                  <a:latin typeface="Times New Roman" panose="02020603050405020304" pitchFamily="18" charset="0"/>
                  <a:cs typeface="Times New Roman" panose="02020603050405020304" pitchFamily="18" charset="0"/>
                </a:endParaRPr>
              </a:p>
            </p:txBody>
          </p:sp>
        </p:grpSp>
        <p:grpSp>
          <p:nvGrpSpPr>
            <p:cNvPr id="64" name="Group 63">
              <a:extLst>
                <a:ext uri="{FF2B5EF4-FFF2-40B4-BE49-F238E27FC236}">
                  <a16:creationId xmlns:a16="http://schemas.microsoft.com/office/drawing/2014/main" id="{232F0B18-D426-4095-9913-0F2FD236652C}"/>
                </a:ext>
              </a:extLst>
            </p:cNvPr>
            <p:cNvGrpSpPr/>
            <p:nvPr/>
          </p:nvGrpSpPr>
          <p:grpSpPr>
            <a:xfrm rot="5400000">
              <a:off x="7951359" y="2773606"/>
              <a:ext cx="328140" cy="416786"/>
              <a:chOff x="4808809" y="827551"/>
              <a:chExt cx="409205" cy="478691"/>
            </a:xfrm>
            <a:scene3d>
              <a:camera prst="orthographicFront">
                <a:rot lat="0" lon="0" rev="0"/>
              </a:camera>
              <a:lightRig rig="contrasting" dir="t">
                <a:rot lat="0" lon="0" rev="7800000"/>
              </a:lightRig>
            </a:scene3d>
          </p:grpSpPr>
          <p:sp>
            <p:nvSpPr>
              <p:cNvPr id="65" name="Arrow: Right 64">
                <a:extLst>
                  <a:ext uri="{FF2B5EF4-FFF2-40B4-BE49-F238E27FC236}">
                    <a16:creationId xmlns:a16="http://schemas.microsoft.com/office/drawing/2014/main" id="{ABD68AC3-5DE9-4D51-B9F9-D29F08089E63}"/>
                  </a:ext>
                </a:extLst>
              </p:cNvPr>
              <p:cNvSpPr/>
              <p:nvPr/>
            </p:nvSpPr>
            <p:spPr>
              <a:xfrm>
                <a:off x="4808811" y="827551"/>
                <a:ext cx="409203" cy="478691"/>
              </a:xfrm>
              <a:prstGeom prst="rightArrow">
                <a:avLst>
                  <a:gd name="adj1" fmla="val 60000"/>
                  <a:gd name="adj2" fmla="val 50000"/>
                </a:avLst>
              </a:prstGeom>
              <a:ln>
                <a:noFill/>
              </a:ln>
              <a:effectLst/>
              <a:sp3d>
                <a:bevelT w="139700" h="139700"/>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66" name="Arrow: Right 4">
                <a:extLst>
                  <a:ext uri="{FF2B5EF4-FFF2-40B4-BE49-F238E27FC236}">
                    <a16:creationId xmlns:a16="http://schemas.microsoft.com/office/drawing/2014/main" id="{D0AC8185-5BAD-4262-ACD8-BF532A078E0A}"/>
                  </a:ext>
                </a:extLst>
              </p:cNvPr>
              <p:cNvSpPr txBox="1"/>
              <p:nvPr/>
            </p:nvSpPr>
            <p:spPr>
              <a:xfrm>
                <a:off x="4808809" y="923288"/>
                <a:ext cx="286442" cy="287215"/>
              </a:xfrm>
              <a:prstGeom prst="rect">
                <a:avLst/>
              </a:prstGeom>
              <a:ln>
                <a:noFill/>
              </a:ln>
              <a:effectLst/>
              <a:sp3d>
                <a:bevelT w="139700" h="139700"/>
              </a:sp3d>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050" kern="1200">
                  <a:latin typeface="Times New Roman" panose="02020603050405020304" pitchFamily="18" charset="0"/>
                  <a:cs typeface="Times New Roman" panose="02020603050405020304" pitchFamily="18" charset="0"/>
                </a:endParaRPr>
              </a:p>
            </p:txBody>
          </p:sp>
        </p:grpSp>
      </p:grpSp>
      <p:sp>
        <p:nvSpPr>
          <p:cNvPr id="87" name="TextBox 86">
            <a:extLst>
              <a:ext uri="{FF2B5EF4-FFF2-40B4-BE49-F238E27FC236}">
                <a16:creationId xmlns:a16="http://schemas.microsoft.com/office/drawing/2014/main" id="{D0182AD0-282A-45EF-B51E-267C13EFB85B}"/>
              </a:ext>
            </a:extLst>
          </p:cNvPr>
          <p:cNvSpPr txBox="1"/>
          <p:nvPr/>
        </p:nvSpPr>
        <p:spPr>
          <a:xfrm>
            <a:off x="167535" y="3469581"/>
            <a:ext cx="6371271" cy="507831"/>
          </a:xfrm>
          <a:prstGeom prst="rect">
            <a:avLst/>
          </a:prstGeom>
          <a:noFill/>
        </p:spPr>
        <p:txBody>
          <a:bodyPr wrap="square" lIns="91440" tIns="45720" rIns="91440" bIns="45720" rtlCol="0" anchor="t">
            <a:spAutoFit/>
          </a:bodyPr>
          <a:lstStyle/>
          <a:p>
            <a:r>
              <a:rPr lang="en-US" sz="900" i="1">
                <a:latin typeface="Times New Roman"/>
                <a:cs typeface="Times New Roman"/>
              </a:rPr>
              <a:t>Reference: (1) Setiawan, Joga &amp; </a:t>
            </a:r>
            <a:r>
              <a:rPr lang="en-US" sz="900" i="1" err="1">
                <a:latin typeface="Times New Roman"/>
                <a:cs typeface="Times New Roman"/>
              </a:rPr>
              <a:t>Safarudin</a:t>
            </a:r>
            <a:r>
              <a:rPr lang="en-US" sz="900" i="1">
                <a:latin typeface="Times New Roman"/>
                <a:cs typeface="Times New Roman"/>
              </a:rPr>
              <a:t>, </a:t>
            </a:r>
            <a:r>
              <a:rPr lang="en-US" sz="900" i="1" err="1">
                <a:latin typeface="Times New Roman"/>
                <a:cs typeface="Times New Roman"/>
              </a:rPr>
              <a:t>Mochamad</a:t>
            </a:r>
            <a:r>
              <a:rPr lang="en-US" sz="900" i="1">
                <a:latin typeface="Times New Roman"/>
                <a:cs typeface="Times New Roman"/>
              </a:rPr>
              <a:t> &amp; Singh, Amrik. (2009). Modeling, simulation and validation of 14 DOF full vehicle model. 1 - 6. 10.1109/ICICI-BME.2009.5417285.</a:t>
            </a:r>
          </a:p>
          <a:p>
            <a:endParaRPr lang="en-IN" sz="900" b="0" i="1">
              <a:solidFill>
                <a:srgbClr val="2E414F"/>
              </a:solidFill>
              <a:effectLst/>
              <a:latin typeface="Times New Roman" panose="02020603050405020304" pitchFamily="18" charset="0"/>
              <a:cs typeface="Times New Roman" panose="02020603050405020304" pitchFamily="18" charset="0"/>
            </a:endParaRPr>
          </a:p>
        </p:txBody>
      </p:sp>
      <p:sp>
        <p:nvSpPr>
          <p:cNvPr id="90" name="Google Shape;82;p10">
            <a:extLst>
              <a:ext uri="{FF2B5EF4-FFF2-40B4-BE49-F238E27FC236}">
                <a16:creationId xmlns:a16="http://schemas.microsoft.com/office/drawing/2014/main" id="{4A684A7B-5518-4C06-9D02-9745AF3DB0E1}"/>
              </a:ext>
            </a:extLst>
          </p:cNvPr>
          <p:cNvSpPr txBox="1"/>
          <p:nvPr/>
        </p:nvSpPr>
        <p:spPr>
          <a:xfrm>
            <a:off x="188275" y="4545103"/>
            <a:ext cx="4960400" cy="2154406"/>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Times New Roman"/>
              <a:buChar char="●"/>
            </a:pPr>
            <a:r>
              <a:rPr lang="en" sz="1600" b="1">
                <a:latin typeface="Times New Roman"/>
                <a:ea typeface="Times New Roman"/>
                <a:cs typeface="Times New Roman"/>
                <a:sym typeface="Times New Roman"/>
              </a:rPr>
              <a:t>Tangible products</a:t>
            </a:r>
            <a:endParaRPr lang="en-US" sz="1600" b="1">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Char char="○"/>
            </a:pPr>
            <a:r>
              <a:rPr lang="en-US" sz="1600">
                <a:latin typeface="Times New Roman"/>
                <a:ea typeface="Times New Roman"/>
                <a:cs typeface="Times New Roman"/>
                <a:sym typeface="Times New Roman"/>
              </a:rPr>
              <a:t>14 DOF full vehicle model</a:t>
            </a:r>
          </a:p>
          <a:p>
            <a:pPr marL="457200" lvl="0" indent="-330200" algn="l" rtl="0">
              <a:spcBef>
                <a:spcPts val="0"/>
              </a:spcBef>
              <a:spcAft>
                <a:spcPts val="0"/>
              </a:spcAft>
              <a:buSzPts val="1600"/>
              <a:buFont typeface="Times New Roman"/>
              <a:buChar char="●"/>
            </a:pPr>
            <a:r>
              <a:rPr lang="en" sz="1600" b="1">
                <a:latin typeface="Times New Roman"/>
                <a:ea typeface="Times New Roman"/>
                <a:cs typeface="Times New Roman"/>
                <a:sym typeface="Times New Roman"/>
              </a:rPr>
              <a:t>Benefits</a:t>
            </a:r>
            <a:endParaRPr lang="en-IN" sz="1600" b="1">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Char char="○"/>
            </a:pPr>
            <a:r>
              <a:rPr lang="en" sz="1600">
                <a:latin typeface="Times New Roman"/>
                <a:ea typeface="Times New Roman"/>
                <a:cs typeface="Times New Roman"/>
                <a:sym typeface="Times New Roman"/>
              </a:rPr>
              <a:t>Accurate monitoring for a large number of vehicle conditions</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Char char="○"/>
            </a:pPr>
            <a:r>
              <a:rPr lang="en" sz="1600">
                <a:latin typeface="Times New Roman"/>
                <a:ea typeface="Times New Roman"/>
                <a:cs typeface="Times New Roman"/>
                <a:sym typeface="Times New Roman"/>
              </a:rPr>
              <a:t>Helpful in driver training in motorsport scenes</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Char char="○"/>
            </a:pPr>
            <a:r>
              <a:rPr lang="en" sz="1600">
                <a:latin typeface="Times New Roman"/>
                <a:ea typeface="Times New Roman"/>
                <a:cs typeface="Times New Roman"/>
                <a:sym typeface="Times New Roman"/>
              </a:rPr>
              <a:t>Parameter tuning for optimal performance</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Char char="○"/>
            </a:pPr>
            <a:r>
              <a:rPr lang="en" sz="1600">
                <a:latin typeface="Times New Roman"/>
                <a:ea typeface="Times New Roman"/>
                <a:cs typeface="Times New Roman"/>
                <a:sym typeface="Times New Roman"/>
              </a:rPr>
              <a:t>Can be used for vehicle safety design</a:t>
            </a:r>
            <a:endParaRPr sz="1600">
              <a:latin typeface="Times New Roman"/>
              <a:ea typeface="Times New Roman"/>
              <a:cs typeface="Times New Roman"/>
              <a:sym typeface="Times New Roman"/>
            </a:endParaRPr>
          </a:p>
        </p:txBody>
      </p:sp>
      <p:pic>
        <p:nvPicPr>
          <p:cNvPr id="91" name="Picture 90">
            <a:extLst>
              <a:ext uri="{FF2B5EF4-FFF2-40B4-BE49-F238E27FC236}">
                <a16:creationId xmlns:a16="http://schemas.microsoft.com/office/drawing/2014/main" id="{B4310AB2-E721-446E-9BCA-A920F44639AB}"/>
              </a:ext>
            </a:extLst>
          </p:cNvPr>
          <p:cNvPicPr>
            <a:picLocks noChangeAspect="1"/>
          </p:cNvPicPr>
          <p:nvPr/>
        </p:nvPicPr>
        <p:blipFill>
          <a:blip r:embed="rId3"/>
          <a:stretch>
            <a:fillRect/>
          </a:stretch>
        </p:blipFill>
        <p:spPr>
          <a:xfrm>
            <a:off x="5167071" y="4491608"/>
            <a:ext cx="3571159" cy="1905355"/>
          </a:xfrm>
          <a:prstGeom prst="rect">
            <a:avLst/>
          </a:prstGeom>
          <a:ln w="3175">
            <a:solidFill>
              <a:schemeClr val="tx1"/>
            </a:solidFill>
          </a:ln>
          <a:effectLst/>
        </p:spPr>
      </p:pic>
      <p:sp>
        <p:nvSpPr>
          <p:cNvPr id="93" name="TextBox 92">
            <a:extLst>
              <a:ext uri="{FF2B5EF4-FFF2-40B4-BE49-F238E27FC236}">
                <a16:creationId xmlns:a16="http://schemas.microsoft.com/office/drawing/2014/main" id="{123AC7A7-A914-4E26-955F-174CF836EEFB}"/>
              </a:ext>
            </a:extLst>
          </p:cNvPr>
          <p:cNvSpPr txBox="1"/>
          <p:nvPr/>
        </p:nvSpPr>
        <p:spPr>
          <a:xfrm>
            <a:off x="5152103" y="6449961"/>
            <a:ext cx="3586128" cy="230832"/>
          </a:xfrm>
          <a:prstGeom prst="rect">
            <a:avLst/>
          </a:prstGeom>
          <a:noFill/>
        </p:spPr>
        <p:txBody>
          <a:bodyPr wrap="square">
            <a:spAutoFit/>
          </a:bodyPr>
          <a:lstStyle/>
          <a:p>
            <a:pPr algn="ctr"/>
            <a:r>
              <a:rPr lang="en-US" sz="900" i="1" spc="-5">
                <a:latin typeface="Times New Roman"/>
                <a:cs typeface="Times New Roman"/>
              </a:rPr>
              <a:t>https://www.carsim.com/publications/newsletter/2020_08_12.php</a:t>
            </a:r>
            <a:endParaRPr lang="en-US" sz="900" i="1"/>
          </a:p>
        </p:txBody>
      </p:sp>
      <p:pic>
        <p:nvPicPr>
          <p:cNvPr id="8" name="Picture 7">
            <a:extLst>
              <a:ext uri="{FF2B5EF4-FFF2-40B4-BE49-F238E27FC236}">
                <a16:creationId xmlns:a16="http://schemas.microsoft.com/office/drawing/2014/main" id="{F6757B80-8E67-4CB2-92F9-A291BE1E62D3}"/>
              </a:ext>
            </a:extLst>
          </p:cNvPr>
          <p:cNvPicPr>
            <a:picLocks noChangeAspect="1"/>
          </p:cNvPicPr>
          <p:nvPr/>
        </p:nvPicPr>
        <p:blipFill>
          <a:blip r:embed="rId4"/>
          <a:stretch>
            <a:fillRect/>
          </a:stretch>
        </p:blipFill>
        <p:spPr>
          <a:xfrm>
            <a:off x="5148675" y="1306690"/>
            <a:ext cx="3864328" cy="1684376"/>
          </a:xfrm>
          <a:prstGeom prst="rect">
            <a:avLst/>
          </a:prstGeom>
        </p:spPr>
      </p:pic>
      <p:sp>
        <p:nvSpPr>
          <p:cNvPr id="48" name="TextBox 47">
            <a:extLst>
              <a:ext uri="{FF2B5EF4-FFF2-40B4-BE49-F238E27FC236}">
                <a16:creationId xmlns:a16="http://schemas.microsoft.com/office/drawing/2014/main" id="{29123879-2F77-4631-B1EA-B83E89E8BE19}"/>
              </a:ext>
            </a:extLst>
          </p:cNvPr>
          <p:cNvSpPr txBox="1"/>
          <p:nvPr/>
        </p:nvSpPr>
        <p:spPr>
          <a:xfrm>
            <a:off x="6493010" y="2947466"/>
            <a:ext cx="1175657" cy="261610"/>
          </a:xfrm>
          <a:prstGeom prst="rect">
            <a:avLst/>
          </a:prstGeom>
          <a:noFill/>
        </p:spPr>
        <p:txBody>
          <a:bodyPr wrap="square">
            <a:spAutoFit/>
          </a:bodyPr>
          <a:lstStyle/>
          <a:p>
            <a:r>
              <a:rPr lang="en-US" sz="1100" b="1" i="1" spc="-5">
                <a:latin typeface="Times New Roman"/>
                <a:cs typeface="Times New Roman"/>
              </a:rPr>
              <a:t>The Final Model</a:t>
            </a:r>
            <a:endParaRPr lang="en-US" sz="1100" b="1"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25" y="403644"/>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336750" y="668020"/>
            <a:ext cx="8430260" cy="328680"/>
          </a:xfrm>
          <a:prstGeom prst="rect">
            <a:avLst/>
          </a:prstGeom>
        </p:spPr>
        <p:txBody>
          <a:bodyPr vert="horz" wrap="square" lIns="0" tIns="12700" rIns="0" bIns="0" rtlCol="0" anchor="t">
            <a:spAutoFit/>
          </a:bodyPr>
          <a:lstStyle/>
          <a:p>
            <a:pPr marL="298450" marR="5715" lvl="0" indent="-285750" algn="l" defTabSz="914400" rtl="0" eaLnBrk="1" fontAlgn="auto" latinLnBrk="0" hangingPunct="1">
              <a:lnSpc>
                <a:spcPct val="145000"/>
              </a:lnSpc>
              <a:spcBef>
                <a:spcPts val="100"/>
              </a:spcBef>
              <a:spcAft>
                <a:spcPts val="0"/>
              </a:spcAft>
              <a:buClrTx/>
              <a:buSzTx/>
              <a:buFont typeface="Arial" panose="020B0604020202020204" pitchFamily="34" charset="0"/>
              <a:buChar char="•"/>
              <a:tabLst>
                <a:tab pos="127000" algn="l"/>
              </a:tabLst>
              <a:defRPr/>
            </a:pPr>
            <a:endParaRPr kumimoji="0" lang="en-US"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C0497A37-555F-4957-8275-FC0A3EC9D4B6}"/>
              </a:ext>
            </a:extLst>
          </p:cNvPr>
          <p:cNvSpPr txBox="1"/>
          <p:nvPr/>
        </p:nvSpPr>
        <p:spPr>
          <a:xfrm>
            <a:off x="244487" y="859930"/>
            <a:ext cx="453398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u="none" strike="noStrike" kern="1200" cap="none" spc="0" normalizeH="0" baseline="0" noProof="0">
              <a:ln>
                <a:noFill/>
              </a:ln>
              <a:effectLst/>
              <a:uLnTx/>
              <a:uFillTx/>
              <a:latin typeface="Times New Roman"/>
              <a:ea typeface="+mn-ea"/>
              <a:cs typeface="Times New Roman"/>
            </a:endParaRPr>
          </a:p>
        </p:txBody>
      </p:sp>
      <p:sp>
        <p:nvSpPr>
          <p:cNvPr id="7" name="Title 6">
            <a:extLst>
              <a:ext uri="{FF2B5EF4-FFF2-40B4-BE49-F238E27FC236}">
                <a16:creationId xmlns:a16="http://schemas.microsoft.com/office/drawing/2014/main" id="{FD37F235-CD56-04A9-4C7B-0F750DD09CAD}"/>
              </a:ext>
            </a:extLst>
          </p:cNvPr>
          <p:cNvSpPr>
            <a:spLocks noGrp="1"/>
          </p:cNvSpPr>
          <p:nvPr>
            <p:ph type="title"/>
          </p:nvPr>
        </p:nvSpPr>
        <p:spPr>
          <a:xfrm>
            <a:off x="316631" y="120552"/>
            <a:ext cx="8470498" cy="276999"/>
          </a:xfrm>
        </p:spPr>
        <p:txBody>
          <a:bodyPr/>
          <a:lstStyle/>
          <a:p>
            <a:r>
              <a:rPr lang="en-US"/>
              <a:t>POWERTRAIN &amp; BRAKING SUBSYSTEMS (Arjav Jain)</a:t>
            </a:r>
          </a:p>
        </p:txBody>
      </p:sp>
      <p:sp>
        <p:nvSpPr>
          <p:cNvPr id="8" name="TextBox 7">
            <a:extLst>
              <a:ext uri="{FF2B5EF4-FFF2-40B4-BE49-F238E27FC236}">
                <a16:creationId xmlns:a16="http://schemas.microsoft.com/office/drawing/2014/main" id="{D7529B17-4DA9-4DCA-8A86-EEE77875C064}"/>
              </a:ext>
            </a:extLst>
          </p:cNvPr>
          <p:cNvSpPr txBox="1"/>
          <p:nvPr/>
        </p:nvSpPr>
        <p:spPr>
          <a:xfrm>
            <a:off x="200800" y="649854"/>
            <a:ext cx="453398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lrTx/>
              <a:buFont typeface="Arial" panose="020B0604020202020204" pitchFamily="34" charset="0"/>
              <a:buChar char="•"/>
              <a:defRPr/>
            </a:pPr>
            <a:r>
              <a:rPr lang="en-US" sz="1600" kern="1200">
                <a:latin typeface="Times New Roman"/>
                <a:ea typeface="+mn-ea"/>
                <a:cs typeface="Times New Roman"/>
              </a:rPr>
              <a:t>Developed subsystems to model the entire electric powertrain and hydraulic braking of the vehicle</a:t>
            </a:r>
          </a:p>
          <a:p>
            <a:pPr marL="285750" indent="-285750">
              <a:buClrTx/>
              <a:buFont typeface="Arial" panose="020B0604020202020204" pitchFamily="34" charset="0"/>
              <a:buChar char="•"/>
              <a:defRPr/>
            </a:pPr>
            <a:r>
              <a:rPr lang="en-US" sz="1600" kern="1200">
                <a:latin typeface="Times New Roman"/>
                <a:ea typeface="+mn-ea"/>
                <a:cs typeface="Times New Roman"/>
              </a:rPr>
              <a:t>Used blocks like 2D lookup table to plot the motor efficiency curve as a function of motor torque and RPM</a:t>
            </a:r>
          </a:p>
          <a:p>
            <a:pPr marL="285750" indent="-285750">
              <a:buClrTx/>
              <a:buFont typeface="Arial" panose="020B0604020202020204" pitchFamily="34" charset="0"/>
              <a:buChar char="•"/>
              <a:defRPr/>
            </a:pPr>
            <a:r>
              <a:rPr lang="en-US" sz="1600" kern="1200">
                <a:latin typeface="Times New Roman"/>
                <a:ea typeface="+mn-ea"/>
                <a:cs typeface="Times New Roman"/>
              </a:rPr>
              <a:t>Testing model with dummy inputs:</a:t>
            </a:r>
            <a:br>
              <a:rPr lang="en-US" sz="1600" kern="1200">
                <a:latin typeface="Times New Roman"/>
                <a:ea typeface="+mn-ea"/>
                <a:cs typeface="Times New Roman"/>
              </a:rPr>
            </a:br>
            <a:r>
              <a:rPr lang="en-US" sz="1600" kern="1200">
                <a:latin typeface="Times New Roman"/>
                <a:ea typeface="+mn-ea"/>
                <a:cs typeface="Times New Roman"/>
              </a:rPr>
              <a:t>Constant velocity/Constant acceleration tests</a:t>
            </a:r>
          </a:p>
          <a:p>
            <a:pPr marL="285750" indent="-285750">
              <a:buClrTx/>
              <a:buFont typeface="Arial" panose="020B0604020202020204" pitchFamily="34" charset="0"/>
              <a:buChar char="•"/>
              <a:defRPr/>
            </a:pPr>
            <a:r>
              <a:rPr lang="en-US" sz="1600" kern="1200">
                <a:latin typeface="Times New Roman"/>
                <a:ea typeface="+mn-ea"/>
                <a:cs typeface="Times New Roman"/>
              </a:rPr>
              <a:t>Generates results like SOC of the battery, Output power of the motor, Total braking torque etc.</a:t>
            </a:r>
          </a:p>
        </p:txBody>
      </p:sp>
      <p:sp>
        <p:nvSpPr>
          <p:cNvPr id="9" name="object 3">
            <a:extLst>
              <a:ext uri="{FF2B5EF4-FFF2-40B4-BE49-F238E27FC236}">
                <a16:creationId xmlns:a16="http://schemas.microsoft.com/office/drawing/2014/main" id="{411C4413-66C9-49C5-A3B4-4BDEDE742633}"/>
              </a:ext>
            </a:extLst>
          </p:cNvPr>
          <p:cNvSpPr txBox="1">
            <a:spLocks/>
          </p:cNvSpPr>
          <p:nvPr/>
        </p:nvSpPr>
        <p:spPr>
          <a:xfrm>
            <a:off x="887356" y="4816265"/>
            <a:ext cx="914842" cy="289823"/>
          </a:xfrm>
          <a:prstGeom prst="rect">
            <a:avLst/>
          </a:prstGeom>
        </p:spPr>
        <p:txBody>
          <a:bodyPr vert="horz" wrap="square" lIns="0" tIns="12700" rIns="0" bIns="0" rtlCol="0" anchor="t">
            <a:spAutoFit/>
          </a:bodyPr>
          <a:lstStyle>
            <a:lvl1pPr>
              <a:defRPr sz="1800" b="1" i="0">
                <a:solidFill>
                  <a:schemeClr val="tx1"/>
                </a:solidFill>
                <a:latin typeface="Times New Roman"/>
                <a:ea typeface="+mj-ea"/>
                <a:cs typeface="Times New Roman"/>
              </a:defRPr>
            </a:lvl1pPr>
          </a:lstStyle>
          <a:p>
            <a:pPr marL="12700">
              <a:spcBef>
                <a:spcPts val="100"/>
              </a:spcBef>
              <a:buClrTx/>
              <a:buFontTx/>
            </a:pPr>
            <a:r>
              <a:rPr lang="en-US" spc="-10"/>
              <a:t>Results:</a:t>
            </a:r>
            <a:endParaRPr lang="en-US" spc="-5"/>
          </a:p>
        </p:txBody>
      </p:sp>
      <p:pic>
        <p:nvPicPr>
          <p:cNvPr id="13" name="Picture 12">
            <a:extLst>
              <a:ext uri="{FF2B5EF4-FFF2-40B4-BE49-F238E27FC236}">
                <a16:creationId xmlns:a16="http://schemas.microsoft.com/office/drawing/2014/main" id="{F61C62E0-C02B-4ACD-A5C8-20C92A3CFF46}"/>
              </a:ext>
            </a:extLst>
          </p:cNvPr>
          <p:cNvPicPr>
            <a:picLocks noChangeAspect="1"/>
          </p:cNvPicPr>
          <p:nvPr/>
        </p:nvPicPr>
        <p:blipFill>
          <a:blip r:embed="rId2"/>
          <a:stretch>
            <a:fillRect/>
          </a:stretch>
        </p:blipFill>
        <p:spPr>
          <a:xfrm>
            <a:off x="5209662" y="530644"/>
            <a:ext cx="3381989" cy="880649"/>
          </a:xfrm>
          <a:prstGeom prst="rect">
            <a:avLst/>
          </a:prstGeom>
          <a:ln w="6350">
            <a:solidFill>
              <a:schemeClr val="tx1"/>
            </a:solidFill>
          </a:ln>
        </p:spPr>
      </p:pic>
      <p:pic>
        <p:nvPicPr>
          <p:cNvPr id="15" name="Picture 14">
            <a:extLst>
              <a:ext uri="{FF2B5EF4-FFF2-40B4-BE49-F238E27FC236}">
                <a16:creationId xmlns:a16="http://schemas.microsoft.com/office/drawing/2014/main" id="{ED31877E-E24A-458F-B96A-79576139D64C}"/>
              </a:ext>
            </a:extLst>
          </p:cNvPr>
          <p:cNvPicPr>
            <a:picLocks noChangeAspect="1"/>
          </p:cNvPicPr>
          <p:nvPr/>
        </p:nvPicPr>
        <p:blipFill>
          <a:blip r:embed="rId3"/>
          <a:stretch>
            <a:fillRect/>
          </a:stretch>
        </p:blipFill>
        <p:spPr>
          <a:xfrm>
            <a:off x="2344709" y="3980543"/>
            <a:ext cx="4867534" cy="2487061"/>
          </a:xfrm>
          <a:prstGeom prst="rect">
            <a:avLst/>
          </a:prstGeom>
          <a:ln w="6350">
            <a:solidFill>
              <a:schemeClr val="tx1"/>
            </a:solidFill>
          </a:ln>
        </p:spPr>
      </p:pic>
      <p:sp>
        <p:nvSpPr>
          <p:cNvPr id="16" name="TextBox 15">
            <a:extLst>
              <a:ext uri="{FF2B5EF4-FFF2-40B4-BE49-F238E27FC236}">
                <a16:creationId xmlns:a16="http://schemas.microsoft.com/office/drawing/2014/main" id="{B9288B47-1EAE-42F5-A815-94656F886F2F}"/>
              </a:ext>
            </a:extLst>
          </p:cNvPr>
          <p:cNvSpPr txBox="1"/>
          <p:nvPr/>
        </p:nvSpPr>
        <p:spPr>
          <a:xfrm>
            <a:off x="3642019" y="6482248"/>
            <a:ext cx="2272914" cy="261610"/>
          </a:xfrm>
          <a:prstGeom prst="rect">
            <a:avLst/>
          </a:prstGeom>
          <a:noFill/>
        </p:spPr>
        <p:txBody>
          <a:bodyPr wrap="square">
            <a:spAutoFit/>
          </a:bodyPr>
          <a:lstStyle/>
          <a:p>
            <a:pPr algn="ctr"/>
            <a:r>
              <a:rPr lang="en-US" sz="1100" b="1" spc="-5">
                <a:latin typeface="Times New Roman"/>
                <a:cs typeface="Times New Roman"/>
              </a:rPr>
              <a:t>Torque on each wheel (Nm)</a:t>
            </a:r>
            <a:endParaRPr lang="en-US" sz="1100" b="1"/>
          </a:p>
        </p:txBody>
      </p:sp>
      <p:pic>
        <p:nvPicPr>
          <p:cNvPr id="20" name="Picture 19">
            <a:extLst>
              <a:ext uri="{FF2B5EF4-FFF2-40B4-BE49-F238E27FC236}">
                <a16:creationId xmlns:a16="http://schemas.microsoft.com/office/drawing/2014/main" id="{26021D3B-8F79-47C7-8F6A-4852783535D9}"/>
              </a:ext>
            </a:extLst>
          </p:cNvPr>
          <p:cNvPicPr>
            <a:picLocks noChangeAspect="1"/>
          </p:cNvPicPr>
          <p:nvPr/>
        </p:nvPicPr>
        <p:blipFill>
          <a:blip r:embed="rId4"/>
          <a:stretch>
            <a:fillRect/>
          </a:stretch>
        </p:blipFill>
        <p:spPr>
          <a:xfrm>
            <a:off x="4852019" y="1680932"/>
            <a:ext cx="4099491" cy="1970224"/>
          </a:xfrm>
          <a:prstGeom prst="rect">
            <a:avLst/>
          </a:prstGeom>
          <a:ln w="6350">
            <a:solidFill>
              <a:schemeClr val="tx1"/>
            </a:solidFill>
          </a:ln>
        </p:spPr>
      </p:pic>
      <p:sp>
        <p:nvSpPr>
          <p:cNvPr id="14" name="TextBox 13">
            <a:extLst>
              <a:ext uri="{FF2B5EF4-FFF2-40B4-BE49-F238E27FC236}">
                <a16:creationId xmlns:a16="http://schemas.microsoft.com/office/drawing/2014/main" id="{DF563C62-D9C8-4880-A706-0D4C721E9F80}"/>
              </a:ext>
            </a:extLst>
          </p:cNvPr>
          <p:cNvSpPr txBox="1"/>
          <p:nvPr/>
        </p:nvSpPr>
        <p:spPr>
          <a:xfrm>
            <a:off x="105025" y="3337492"/>
            <a:ext cx="486753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lrTx/>
              <a:defRPr/>
            </a:pPr>
            <a:r>
              <a:rPr lang="en-US" sz="1600" b="1" kern="1200">
                <a:latin typeface="Times New Roman"/>
                <a:ea typeface="+mn-ea"/>
                <a:cs typeface="Times New Roman"/>
              </a:rPr>
              <a:t>INPUT</a:t>
            </a:r>
            <a:r>
              <a:rPr lang="en-US" sz="1600" kern="1200">
                <a:latin typeface="Times New Roman"/>
                <a:ea typeface="+mn-ea"/>
                <a:cs typeface="Times New Roman"/>
              </a:rPr>
              <a:t>: Driver Input (Throttle &amp; Brake)/Wheel Speeds</a:t>
            </a:r>
          </a:p>
          <a:p>
            <a:pPr>
              <a:buClrTx/>
              <a:defRPr/>
            </a:pPr>
            <a:r>
              <a:rPr lang="en-US" sz="1600" b="1" kern="1200">
                <a:latin typeface="Times New Roman"/>
                <a:ea typeface="+mn-ea"/>
                <a:cs typeface="Times New Roman"/>
              </a:rPr>
              <a:t>OUTPUT</a:t>
            </a:r>
            <a:r>
              <a:rPr lang="en-US" sz="1600" kern="1200">
                <a:latin typeface="Times New Roman"/>
                <a:ea typeface="+mn-ea"/>
                <a:cs typeface="Times New Roman"/>
              </a:rPr>
              <a:t>: Wheel Torques</a:t>
            </a:r>
          </a:p>
        </p:txBody>
      </p:sp>
      <p:sp>
        <p:nvSpPr>
          <p:cNvPr id="17" name="TextBox 16">
            <a:extLst>
              <a:ext uri="{FF2B5EF4-FFF2-40B4-BE49-F238E27FC236}">
                <a16:creationId xmlns:a16="http://schemas.microsoft.com/office/drawing/2014/main" id="{BC01B4C8-9FD8-4DB1-80C8-195EC4DE9A3F}"/>
              </a:ext>
            </a:extLst>
          </p:cNvPr>
          <p:cNvSpPr txBox="1"/>
          <p:nvPr/>
        </p:nvSpPr>
        <p:spPr>
          <a:xfrm>
            <a:off x="5398089" y="1381380"/>
            <a:ext cx="3005134" cy="261610"/>
          </a:xfrm>
          <a:prstGeom prst="rect">
            <a:avLst/>
          </a:prstGeom>
          <a:noFill/>
        </p:spPr>
        <p:txBody>
          <a:bodyPr wrap="square">
            <a:spAutoFit/>
          </a:bodyPr>
          <a:lstStyle/>
          <a:p>
            <a:r>
              <a:rPr lang="en-US" sz="1100" b="1" spc="-5">
                <a:latin typeface="Times New Roman"/>
                <a:cs typeface="Times New Roman"/>
              </a:rPr>
              <a:t>Equations to model longitudinal load transfer</a:t>
            </a:r>
            <a:endParaRPr lang="en-US" sz="1100" b="1"/>
          </a:p>
        </p:txBody>
      </p:sp>
      <p:sp>
        <p:nvSpPr>
          <p:cNvPr id="18" name="TextBox 17">
            <a:extLst>
              <a:ext uri="{FF2B5EF4-FFF2-40B4-BE49-F238E27FC236}">
                <a16:creationId xmlns:a16="http://schemas.microsoft.com/office/drawing/2014/main" id="{9AFEA3A4-B618-4081-9ED5-04171E1A6366}"/>
              </a:ext>
            </a:extLst>
          </p:cNvPr>
          <p:cNvSpPr txBox="1"/>
          <p:nvPr/>
        </p:nvSpPr>
        <p:spPr>
          <a:xfrm>
            <a:off x="5398089" y="3629880"/>
            <a:ext cx="3005134" cy="261610"/>
          </a:xfrm>
          <a:prstGeom prst="rect">
            <a:avLst/>
          </a:prstGeom>
          <a:noFill/>
        </p:spPr>
        <p:txBody>
          <a:bodyPr wrap="square">
            <a:spAutoFit/>
          </a:bodyPr>
          <a:lstStyle/>
          <a:p>
            <a:pPr algn="ctr"/>
            <a:r>
              <a:rPr lang="en-US" sz="1100" b="1" spc="-5">
                <a:latin typeface="Times New Roman"/>
                <a:cs typeface="Times New Roman"/>
              </a:rPr>
              <a:t>Powertrain &amp; Braking Subsystems</a:t>
            </a:r>
            <a:endParaRPr lang="en-US" sz="1100" b="1"/>
          </a:p>
        </p:txBody>
      </p:sp>
    </p:spTree>
    <p:extLst>
      <p:ext uri="{BB962C8B-B14F-4D97-AF65-F5344CB8AC3E}">
        <p14:creationId xmlns:p14="http://schemas.microsoft.com/office/powerpoint/2010/main" val="3393320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4" descr="Text, letter&#10;&#10;Description automatically generated">
            <a:extLst>
              <a:ext uri="{FF2B5EF4-FFF2-40B4-BE49-F238E27FC236}">
                <a16:creationId xmlns:a16="http://schemas.microsoft.com/office/drawing/2014/main" id="{8B8C766F-2C8D-4C8A-96AC-2083670958F7}"/>
              </a:ext>
            </a:extLst>
          </p:cNvPr>
          <p:cNvPicPr>
            <a:picLocks noChangeAspect="1"/>
          </p:cNvPicPr>
          <p:nvPr/>
        </p:nvPicPr>
        <p:blipFill>
          <a:blip r:embed="rId2"/>
          <a:stretch>
            <a:fillRect/>
          </a:stretch>
        </p:blipFill>
        <p:spPr>
          <a:xfrm>
            <a:off x="4281197" y="574953"/>
            <a:ext cx="4755738" cy="792623"/>
          </a:xfrm>
          <a:prstGeom prst="rect">
            <a:avLst/>
          </a:prstGeom>
          <a:ln w="6350">
            <a:solidFill>
              <a:schemeClr val="tx1"/>
            </a:solidFill>
          </a:ln>
        </p:spPr>
      </p:pic>
      <p:sp>
        <p:nvSpPr>
          <p:cNvPr id="2" name="object 2"/>
          <p:cNvSpPr/>
          <p:nvPr/>
        </p:nvSpPr>
        <p:spPr>
          <a:xfrm>
            <a:off x="105025" y="403644"/>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336750" y="668020"/>
            <a:ext cx="8430260" cy="328680"/>
          </a:xfrm>
          <a:prstGeom prst="rect">
            <a:avLst/>
          </a:prstGeom>
        </p:spPr>
        <p:txBody>
          <a:bodyPr vert="horz" wrap="square" lIns="0" tIns="12700" rIns="0" bIns="0" rtlCol="0" anchor="t">
            <a:spAutoFit/>
          </a:bodyPr>
          <a:lstStyle/>
          <a:p>
            <a:pPr marL="298450" marR="5715" lvl="0" indent="-285750" algn="l" defTabSz="914400" rtl="0" eaLnBrk="1" fontAlgn="auto" latinLnBrk="0" hangingPunct="1">
              <a:lnSpc>
                <a:spcPct val="145000"/>
              </a:lnSpc>
              <a:spcBef>
                <a:spcPts val="100"/>
              </a:spcBef>
              <a:spcAft>
                <a:spcPts val="0"/>
              </a:spcAft>
              <a:buClrTx/>
              <a:buSzTx/>
              <a:buFont typeface="Arial" panose="020B0604020202020204" pitchFamily="34" charset="0"/>
              <a:buChar char="•"/>
              <a:tabLst>
                <a:tab pos="127000" algn="l"/>
              </a:tabLst>
              <a:defRPr/>
            </a:pPr>
            <a:endParaRPr kumimoji="0" lang="en-US"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C0497A37-555F-4957-8275-FC0A3EC9D4B6}"/>
              </a:ext>
            </a:extLst>
          </p:cNvPr>
          <p:cNvSpPr txBox="1"/>
          <p:nvPr/>
        </p:nvSpPr>
        <p:spPr>
          <a:xfrm>
            <a:off x="244487" y="859930"/>
            <a:ext cx="453398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u="none" strike="noStrike" kern="1200" cap="none" spc="0" normalizeH="0" baseline="0" noProof="0">
              <a:ln>
                <a:noFill/>
              </a:ln>
              <a:effectLst/>
              <a:uLnTx/>
              <a:uFillTx/>
              <a:latin typeface="Times New Roman"/>
              <a:ea typeface="+mn-ea"/>
              <a:cs typeface="Times New Roman"/>
            </a:endParaRPr>
          </a:p>
        </p:txBody>
      </p:sp>
      <p:sp>
        <p:nvSpPr>
          <p:cNvPr id="9" name="object 3">
            <a:extLst>
              <a:ext uri="{FF2B5EF4-FFF2-40B4-BE49-F238E27FC236}">
                <a16:creationId xmlns:a16="http://schemas.microsoft.com/office/drawing/2014/main" id="{411C4413-66C9-49C5-A3B4-4BDEDE742633}"/>
              </a:ext>
            </a:extLst>
          </p:cNvPr>
          <p:cNvSpPr txBox="1">
            <a:spLocks/>
          </p:cNvSpPr>
          <p:nvPr/>
        </p:nvSpPr>
        <p:spPr>
          <a:xfrm>
            <a:off x="572724" y="5395344"/>
            <a:ext cx="914842" cy="289823"/>
          </a:xfrm>
          <a:prstGeom prst="rect">
            <a:avLst/>
          </a:prstGeom>
        </p:spPr>
        <p:txBody>
          <a:bodyPr vert="horz" wrap="square" lIns="0" tIns="12700" rIns="0" bIns="0" rtlCol="0" anchor="t">
            <a:spAutoFit/>
          </a:bodyPr>
          <a:lstStyle>
            <a:lvl1pPr>
              <a:defRPr sz="1800" b="1" i="0">
                <a:solidFill>
                  <a:schemeClr val="tx1"/>
                </a:solidFill>
                <a:latin typeface="Times New Roman"/>
                <a:ea typeface="+mj-ea"/>
                <a:cs typeface="Times New Roman"/>
              </a:defRPr>
            </a:lvl1pPr>
          </a:lstStyle>
          <a:p>
            <a:pPr marL="12700">
              <a:spcBef>
                <a:spcPts val="100"/>
              </a:spcBef>
              <a:buClrTx/>
              <a:buFontTx/>
            </a:pPr>
            <a:r>
              <a:rPr lang="en-US" spc="-10"/>
              <a:t>Results:</a:t>
            </a:r>
            <a:endParaRPr lang="en-US" spc="-5"/>
          </a:p>
        </p:txBody>
      </p:sp>
      <p:sp>
        <p:nvSpPr>
          <p:cNvPr id="14" name="TextBox 13">
            <a:extLst>
              <a:ext uri="{FF2B5EF4-FFF2-40B4-BE49-F238E27FC236}">
                <a16:creationId xmlns:a16="http://schemas.microsoft.com/office/drawing/2014/main" id="{DF563C62-D9C8-4880-A706-0D4C721E9F80}"/>
              </a:ext>
            </a:extLst>
          </p:cNvPr>
          <p:cNvSpPr txBox="1"/>
          <p:nvPr/>
        </p:nvSpPr>
        <p:spPr>
          <a:xfrm>
            <a:off x="244487" y="3538561"/>
            <a:ext cx="469933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lrTx/>
              <a:defRPr/>
            </a:pPr>
            <a:r>
              <a:rPr lang="en-US" sz="1600" b="1" kern="1200">
                <a:latin typeface="Times New Roman"/>
                <a:ea typeface="+mn-ea"/>
                <a:cs typeface="Times New Roman"/>
              </a:rPr>
              <a:t>INPUT</a:t>
            </a:r>
            <a:r>
              <a:rPr lang="en-US" sz="1600" kern="1200">
                <a:latin typeface="Times New Roman"/>
                <a:ea typeface="+mn-ea"/>
                <a:cs typeface="Times New Roman"/>
              </a:rPr>
              <a:t>: </a:t>
            </a:r>
            <a:r>
              <a:rPr lang="en-US" sz="1600" kern="1200" err="1">
                <a:latin typeface="Times New Roman"/>
                <a:ea typeface="+mn-ea"/>
                <a:cs typeface="Times New Roman"/>
              </a:rPr>
              <a:t>Unsprung</a:t>
            </a:r>
            <a:r>
              <a:rPr lang="en-US" sz="1600" kern="1200">
                <a:latin typeface="Times New Roman"/>
                <a:ea typeface="+mn-ea"/>
                <a:cs typeface="Times New Roman"/>
              </a:rPr>
              <a:t> Mass Outputs </a:t>
            </a:r>
          </a:p>
          <a:p>
            <a:pPr>
              <a:buClrTx/>
              <a:defRPr/>
            </a:pPr>
            <a:r>
              <a:rPr lang="en-US" sz="1600" b="1" kern="1200">
                <a:latin typeface="Times New Roman"/>
                <a:ea typeface="+mn-ea"/>
                <a:cs typeface="Times New Roman"/>
              </a:rPr>
              <a:t>OUTPUT</a:t>
            </a:r>
            <a:r>
              <a:rPr lang="en-US" sz="1600" kern="1200">
                <a:latin typeface="Times New Roman"/>
                <a:ea typeface="+mn-ea"/>
                <a:cs typeface="Times New Roman"/>
              </a:rPr>
              <a:t>: Vertical Velocity CG/Roll &amp; Pitch Angles/ Velocities/Accelerations</a:t>
            </a:r>
          </a:p>
        </p:txBody>
      </p:sp>
      <p:sp>
        <p:nvSpPr>
          <p:cNvPr id="17" name="TextBox 16">
            <a:extLst>
              <a:ext uri="{FF2B5EF4-FFF2-40B4-BE49-F238E27FC236}">
                <a16:creationId xmlns:a16="http://schemas.microsoft.com/office/drawing/2014/main" id="{BC01B4C8-9FD8-4DB1-80C8-195EC4DE9A3F}"/>
              </a:ext>
            </a:extLst>
          </p:cNvPr>
          <p:cNvSpPr txBox="1"/>
          <p:nvPr/>
        </p:nvSpPr>
        <p:spPr>
          <a:xfrm>
            <a:off x="5178877" y="1332103"/>
            <a:ext cx="3005134" cy="261610"/>
          </a:xfrm>
          <a:prstGeom prst="rect">
            <a:avLst/>
          </a:prstGeom>
          <a:noFill/>
        </p:spPr>
        <p:txBody>
          <a:bodyPr wrap="square">
            <a:spAutoFit/>
          </a:bodyPr>
          <a:lstStyle/>
          <a:p>
            <a:pPr algn="ctr"/>
            <a:r>
              <a:rPr lang="en-US" sz="1100" b="1" spc="-5">
                <a:latin typeface="Times New Roman"/>
                <a:cs typeface="Times New Roman"/>
              </a:rPr>
              <a:t>Equations to model vertical dynamics</a:t>
            </a:r>
            <a:endParaRPr lang="en-US" sz="1100" b="1"/>
          </a:p>
        </p:txBody>
      </p:sp>
      <p:sp>
        <p:nvSpPr>
          <p:cNvPr id="18" name="TextBox 17">
            <a:extLst>
              <a:ext uri="{FF2B5EF4-FFF2-40B4-BE49-F238E27FC236}">
                <a16:creationId xmlns:a16="http://schemas.microsoft.com/office/drawing/2014/main" id="{9AFEA3A4-B618-4081-9ED5-04171E1A6366}"/>
              </a:ext>
            </a:extLst>
          </p:cNvPr>
          <p:cNvSpPr txBox="1"/>
          <p:nvPr/>
        </p:nvSpPr>
        <p:spPr>
          <a:xfrm>
            <a:off x="5398089" y="3629880"/>
            <a:ext cx="3005134" cy="261610"/>
          </a:xfrm>
          <a:prstGeom prst="rect">
            <a:avLst/>
          </a:prstGeom>
          <a:noFill/>
        </p:spPr>
        <p:txBody>
          <a:bodyPr wrap="square">
            <a:spAutoFit/>
          </a:bodyPr>
          <a:lstStyle/>
          <a:p>
            <a:pPr algn="ctr"/>
            <a:r>
              <a:rPr lang="en-US" sz="1100" b="1" spc="-5">
                <a:latin typeface="Times New Roman"/>
                <a:cs typeface="Times New Roman"/>
              </a:rPr>
              <a:t>Powertrain &amp; Braking Subsystems</a:t>
            </a:r>
            <a:endParaRPr lang="en-US" sz="1100" b="1"/>
          </a:p>
        </p:txBody>
      </p:sp>
      <p:pic>
        <p:nvPicPr>
          <p:cNvPr id="19" name="Picture 18">
            <a:extLst>
              <a:ext uri="{FF2B5EF4-FFF2-40B4-BE49-F238E27FC236}">
                <a16:creationId xmlns:a16="http://schemas.microsoft.com/office/drawing/2014/main" id="{2AD517AB-0335-4F22-9F7F-9C182D3A6DB0}"/>
              </a:ext>
            </a:extLst>
          </p:cNvPr>
          <p:cNvPicPr>
            <a:picLocks noChangeAspect="1"/>
          </p:cNvPicPr>
          <p:nvPr/>
        </p:nvPicPr>
        <p:blipFill>
          <a:blip r:embed="rId3"/>
          <a:stretch>
            <a:fillRect/>
          </a:stretch>
        </p:blipFill>
        <p:spPr>
          <a:xfrm>
            <a:off x="2256752" y="5807526"/>
            <a:ext cx="4790646" cy="951041"/>
          </a:xfrm>
          <a:prstGeom prst="rect">
            <a:avLst/>
          </a:prstGeom>
          <a:ln w="6350">
            <a:solidFill>
              <a:schemeClr val="tx1"/>
            </a:solidFill>
          </a:ln>
        </p:spPr>
      </p:pic>
      <p:pic>
        <p:nvPicPr>
          <p:cNvPr id="21" name="Picture 20">
            <a:extLst>
              <a:ext uri="{FF2B5EF4-FFF2-40B4-BE49-F238E27FC236}">
                <a16:creationId xmlns:a16="http://schemas.microsoft.com/office/drawing/2014/main" id="{C9675CA8-E513-41F1-AFAE-E795CF5220E8}"/>
              </a:ext>
            </a:extLst>
          </p:cNvPr>
          <p:cNvPicPr>
            <a:picLocks noChangeAspect="1"/>
          </p:cNvPicPr>
          <p:nvPr/>
        </p:nvPicPr>
        <p:blipFill>
          <a:blip r:embed="rId4"/>
          <a:stretch>
            <a:fillRect/>
          </a:stretch>
        </p:blipFill>
        <p:spPr>
          <a:xfrm>
            <a:off x="1936279" y="4721221"/>
            <a:ext cx="5431593" cy="1062268"/>
          </a:xfrm>
          <a:prstGeom prst="rect">
            <a:avLst/>
          </a:prstGeom>
          <a:ln w="6350">
            <a:solidFill>
              <a:schemeClr val="tx1"/>
            </a:solidFill>
          </a:ln>
        </p:spPr>
      </p:pic>
      <p:sp>
        <p:nvSpPr>
          <p:cNvPr id="22" name="TextBox 21">
            <a:extLst>
              <a:ext uri="{FF2B5EF4-FFF2-40B4-BE49-F238E27FC236}">
                <a16:creationId xmlns:a16="http://schemas.microsoft.com/office/drawing/2014/main" id="{A7A3AA8F-8960-4948-956E-8B76BD11B705}"/>
              </a:ext>
            </a:extLst>
          </p:cNvPr>
          <p:cNvSpPr txBox="1"/>
          <p:nvPr/>
        </p:nvSpPr>
        <p:spPr>
          <a:xfrm>
            <a:off x="7579927" y="5118092"/>
            <a:ext cx="1149752" cy="261610"/>
          </a:xfrm>
          <a:prstGeom prst="rect">
            <a:avLst/>
          </a:prstGeom>
          <a:noFill/>
        </p:spPr>
        <p:txBody>
          <a:bodyPr wrap="square">
            <a:spAutoFit/>
          </a:bodyPr>
          <a:lstStyle/>
          <a:p>
            <a:r>
              <a:rPr lang="en-US" sz="1100" b="1" spc="-5">
                <a:latin typeface="Times New Roman"/>
                <a:cs typeface="Times New Roman"/>
              </a:rPr>
              <a:t>Roll angle (rad)</a:t>
            </a:r>
            <a:endParaRPr lang="en-US" sz="1100" b="1"/>
          </a:p>
        </p:txBody>
      </p:sp>
      <p:sp>
        <p:nvSpPr>
          <p:cNvPr id="23" name="TextBox 22">
            <a:extLst>
              <a:ext uri="{FF2B5EF4-FFF2-40B4-BE49-F238E27FC236}">
                <a16:creationId xmlns:a16="http://schemas.microsoft.com/office/drawing/2014/main" id="{440D802E-E62E-4474-8D4D-8F7B6070C8B5}"/>
              </a:ext>
            </a:extLst>
          </p:cNvPr>
          <p:cNvSpPr txBox="1"/>
          <p:nvPr/>
        </p:nvSpPr>
        <p:spPr>
          <a:xfrm>
            <a:off x="7326044" y="6121311"/>
            <a:ext cx="1657518" cy="261610"/>
          </a:xfrm>
          <a:prstGeom prst="rect">
            <a:avLst/>
          </a:prstGeom>
          <a:noFill/>
        </p:spPr>
        <p:txBody>
          <a:bodyPr wrap="square">
            <a:spAutoFit/>
          </a:bodyPr>
          <a:lstStyle/>
          <a:p>
            <a:r>
              <a:rPr lang="en-US" sz="1100" b="1" spc="-5">
                <a:latin typeface="Times New Roman"/>
                <a:cs typeface="Times New Roman"/>
              </a:rPr>
              <a:t>Roll velocity (rad/s)</a:t>
            </a:r>
            <a:endParaRPr lang="en-US" sz="1100" b="1"/>
          </a:p>
        </p:txBody>
      </p:sp>
      <p:pic>
        <p:nvPicPr>
          <p:cNvPr id="25" name="Picture 24">
            <a:extLst>
              <a:ext uri="{FF2B5EF4-FFF2-40B4-BE49-F238E27FC236}">
                <a16:creationId xmlns:a16="http://schemas.microsoft.com/office/drawing/2014/main" id="{B2EDCF08-0D3A-4B8B-8284-BCB039324C03}"/>
              </a:ext>
            </a:extLst>
          </p:cNvPr>
          <p:cNvPicPr>
            <a:picLocks noChangeAspect="1"/>
          </p:cNvPicPr>
          <p:nvPr/>
        </p:nvPicPr>
        <p:blipFill>
          <a:blip r:embed="rId5"/>
          <a:stretch>
            <a:fillRect/>
          </a:stretch>
        </p:blipFill>
        <p:spPr>
          <a:xfrm>
            <a:off x="4937287" y="1593713"/>
            <a:ext cx="3443558" cy="2946059"/>
          </a:xfrm>
          <a:prstGeom prst="rect">
            <a:avLst/>
          </a:prstGeom>
          <a:ln w="6350">
            <a:solidFill>
              <a:schemeClr val="tx1"/>
            </a:solidFill>
          </a:ln>
        </p:spPr>
      </p:pic>
      <p:sp>
        <p:nvSpPr>
          <p:cNvPr id="26" name="TextBox 25">
            <a:extLst>
              <a:ext uri="{FF2B5EF4-FFF2-40B4-BE49-F238E27FC236}">
                <a16:creationId xmlns:a16="http://schemas.microsoft.com/office/drawing/2014/main" id="{30DFCFB6-3031-4386-8D35-C8594F61FC65}"/>
              </a:ext>
            </a:extLst>
          </p:cNvPr>
          <p:cNvSpPr txBox="1"/>
          <p:nvPr/>
        </p:nvSpPr>
        <p:spPr>
          <a:xfrm>
            <a:off x="222109" y="802567"/>
            <a:ext cx="419981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lrTx/>
              <a:buFont typeface="Arial" panose="020B0604020202020204" pitchFamily="34" charset="0"/>
              <a:buChar char="•"/>
              <a:defRPr/>
            </a:pPr>
            <a:r>
              <a:rPr lang="en-US" sz="1600" kern="1200">
                <a:latin typeface="Times New Roman"/>
                <a:ea typeface="+mn-ea"/>
                <a:cs typeface="Times New Roman"/>
              </a:rPr>
              <a:t>Modeled vertical, roll and pitch dynamics equations referring research papers using MATLAB functions</a:t>
            </a:r>
          </a:p>
          <a:p>
            <a:pPr marL="285750" indent="-285750">
              <a:buClrTx/>
              <a:buFont typeface="Arial" panose="020B0604020202020204" pitchFamily="34" charset="0"/>
              <a:buChar char="•"/>
              <a:defRPr/>
            </a:pPr>
            <a:r>
              <a:rPr lang="en-US" sz="1600" kern="1200">
                <a:latin typeface="Times New Roman"/>
                <a:ea typeface="+mn-ea"/>
                <a:cs typeface="Times New Roman"/>
              </a:rPr>
              <a:t>Obtained acceleration, velocity, displacement in vertical direction along with roll and pitch angles and their derivatives</a:t>
            </a:r>
            <a:endParaRPr lang="en-IN" sz="1600" kern="1200">
              <a:latin typeface="Times New Roman"/>
              <a:ea typeface="+mn-ea"/>
              <a:cs typeface="Times New Roman"/>
            </a:endParaRPr>
          </a:p>
          <a:p>
            <a:pPr marL="285750" indent="-285750">
              <a:buClrTx/>
              <a:buFont typeface="Arial" panose="020B0604020202020204" pitchFamily="34" charset="0"/>
              <a:buChar char="•"/>
              <a:defRPr/>
            </a:pPr>
            <a:r>
              <a:rPr lang="en-IN" sz="1600" kern="1200">
                <a:latin typeface="Times New Roman"/>
                <a:ea typeface="+mn-ea"/>
                <a:cs typeface="Times New Roman"/>
              </a:rPr>
              <a:t>Optimization of suspension geometry including roll centre, pitch centre height, vertical lifts and weight distribution can be decided based on equations that are modelled</a:t>
            </a:r>
            <a:endParaRPr lang="en-US" sz="1600" kern="1200">
              <a:latin typeface="Times New Roman"/>
              <a:ea typeface="+mn-ea"/>
              <a:cs typeface="Times New Roman"/>
            </a:endParaRPr>
          </a:p>
        </p:txBody>
      </p:sp>
      <p:sp>
        <p:nvSpPr>
          <p:cNvPr id="28" name="Title 6">
            <a:extLst>
              <a:ext uri="{FF2B5EF4-FFF2-40B4-BE49-F238E27FC236}">
                <a16:creationId xmlns:a16="http://schemas.microsoft.com/office/drawing/2014/main" id="{CF8EA4AD-B75F-426C-BBC0-1397442C6F69}"/>
              </a:ext>
            </a:extLst>
          </p:cNvPr>
          <p:cNvSpPr>
            <a:spLocks noGrp="1"/>
          </p:cNvSpPr>
          <p:nvPr>
            <p:ph type="title"/>
          </p:nvPr>
        </p:nvSpPr>
        <p:spPr>
          <a:xfrm>
            <a:off x="336750" y="131721"/>
            <a:ext cx="8470498" cy="276999"/>
          </a:xfrm>
        </p:spPr>
        <p:txBody>
          <a:bodyPr wrap="square" lIns="0" tIns="0" rIns="0" bIns="0" anchor="t">
            <a:spAutoFit/>
          </a:bodyPr>
          <a:lstStyle/>
          <a:p>
            <a:r>
              <a:rPr lang="en-US"/>
              <a:t>RIDE SUBSYSTEM (</a:t>
            </a:r>
            <a:r>
              <a:rPr lang="en-US" err="1"/>
              <a:t>Parth</a:t>
            </a:r>
            <a:r>
              <a:rPr lang="en-US"/>
              <a:t> Chhabra)</a:t>
            </a:r>
          </a:p>
        </p:txBody>
      </p:sp>
      <p:sp>
        <p:nvSpPr>
          <p:cNvPr id="29" name="TextBox 28">
            <a:extLst>
              <a:ext uri="{FF2B5EF4-FFF2-40B4-BE49-F238E27FC236}">
                <a16:creationId xmlns:a16="http://schemas.microsoft.com/office/drawing/2014/main" id="{265A2139-8D7B-4425-8BDF-529E7A99AF57}"/>
              </a:ext>
            </a:extLst>
          </p:cNvPr>
          <p:cNvSpPr txBox="1"/>
          <p:nvPr/>
        </p:nvSpPr>
        <p:spPr>
          <a:xfrm>
            <a:off x="4982043" y="4519437"/>
            <a:ext cx="3398802" cy="261610"/>
          </a:xfrm>
          <a:prstGeom prst="rect">
            <a:avLst/>
          </a:prstGeom>
          <a:noFill/>
        </p:spPr>
        <p:txBody>
          <a:bodyPr wrap="square">
            <a:spAutoFit/>
          </a:bodyPr>
          <a:lstStyle/>
          <a:p>
            <a:pPr algn="ctr"/>
            <a:r>
              <a:rPr lang="en-US" sz="1100" b="1" spc="-5">
                <a:latin typeface="Times New Roman"/>
                <a:cs typeface="Times New Roman"/>
              </a:rPr>
              <a:t>Ride Subsystem: Vertical/Roll/Pitch Dynamics</a:t>
            </a:r>
            <a:endParaRPr lang="en-US" sz="1100" b="1"/>
          </a:p>
        </p:txBody>
      </p:sp>
    </p:spTree>
    <p:extLst>
      <p:ext uri="{BB962C8B-B14F-4D97-AF65-F5344CB8AC3E}">
        <p14:creationId xmlns:p14="http://schemas.microsoft.com/office/powerpoint/2010/main" val="762585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25" y="403644"/>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336750" y="668020"/>
            <a:ext cx="8430260" cy="328680"/>
          </a:xfrm>
          <a:prstGeom prst="rect">
            <a:avLst/>
          </a:prstGeom>
        </p:spPr>
        <p:txBody>
          <a:bodyPr vert="horz" wrap="square" lIns="0" tIns="12700" rIns="0" bIns="0" rtlCol="0" anchor="t">
            <a:spAutoFit/>
          </a:bodyPr>
          <a:lstStyle/>
          <a:p>
            <a:pPr marL="298450" marR="5715" lvl="0" indent="-285750" algn="l" defTabSz="914400" rtl="0" eaLnBrk="1" fontAlgn="auto" latinLnBrk="0" hangingPunct="1">
              <a:lnSpc>
                <a:spcPct val="145000"/>
              </a:lnSpc>
              <a:spcBef>
                <a:spcPts val="100"/>
              </a:spcBef>
              <a:spcAft>
                <a:spcPts val="0"/>
              </a:spcAft>
              <a:buClrTx/>
              <a:buSzTx/>
              <a:buFont typeface="Arial" panose="020B0604020202020204" pitchFamily="34" charset="0"/>
              <a:buChar char="•"/>
              <a:tabLst>
                <a:tab pos="127000" algn="l"/>
              </a:tabLst>
              <a:defRPr/>
            </a:pPr>
            <a:endParaRPr kumimoji="0" lang="en-US"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C0497A37-555F-4957-8275-FC0A3EC9D4B6}"/>
              </a:ext>
            </a:extLst>
          </p:cNvPr>
          <p:cNvSpPr txBox="1"/>
          <p:nvPr/>
        </p:nvSpPr>
        <p:spPr>
          <a:xfrm>
            <a:off x="244487" y="859930"/>
            <a:ext cx="453398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u="none" strike="noStrike" kern="1200" cap="none" spc="0" normalizeH="0" baseline="0" noProof="0">
              <a:ln>
                <a:noFill/>
              </a:ln>
              <a:effectLst/>
              <a:uLnTx/>
              <a:uFillTx/>
              <a:latin typeface="Times New Roman"/>
              <a:ea typeface="+mn-ea"/>
              <a:cs typeface="Times New Roman"/>
            </a:endParaRPr>
          </a:p>
        </p:txBody>
      </p:sp>
      <p:sp>
        <p:nvSpPr>
          <p:cNvPr id="9" name="object 3">
            <a:extLst>
              <a:ext uri="{FF2B5EF4-FFF2-40B4-BE49-F238E27FC236}">
                <a16:creationId xmlns:a16="http://schemas.microsoft.com/office/drawing/2014/main" id="{411C4413-66C9-49C5-A3B4-4BDEDE742633}"/>
              </a:ext>
            </a:extLst>
          </p:cNvPr>
          <p:cNvSpPr txBox="1">
            <a:spLocks/>
          </p:cNvSpPr>
          <p:nvPr/>
        </p:nvSpPr>
        <p:spPr>
          <a:xfrm>
            <a:off x="171609" y="5384883"/>
            <a:ext cx="914842" cy="289823"/>
          </a:xfrm>
          <a:prstGeom prst="rect">
            <a:avLst/>
          </a:prstGeom>
        </p:spPr>
        <p:txBody>
          <a:bodyPr vert="horz" wrap="square" lIns="0" tIns="12700" rIns="0" bIns="0" rtlCol="0" anchor="t">
            <a:spAutoFit/>
          </a:bodyPr>
          <a:lstStyle>
            <a:lvl1pPr>
              <a:defRPr sz="1800" b="1" i="0">
                <a:solidFill>
                  <a:schemeClr val="tx1"/>
                </a:solidFill>
                <a:latin typeface="Times New Roman"/>
                <a:ea typeface="+mj-ea"/>
                <a:cs typeface="Times New Roman"/>
              </a:defRPr>
            </a:lvl1pPr>
          </a:lstStyle>
          <a:p>
            <a:pPr marL="12700">
              <a:spcBef>
                <a:spcPts val="100"/>
              </a:spcBef>
              <a:buClrTx/>
              <a:buFontTx/>
            </a:pPr>
            <a:r>
              <a:rPr lang="en-US" spc="-10"/>
              <a:t>Results:</a:t>
            </a:r>
            <a:endParaRPr lang="en-US" spc="-5"/>
          </a:p>
        </p:txBody>
      </p:sp>
      <p:sp>
        <p:nvSpPr>
          <p:cNvPr id="14" name="TextBox 13">
            <a:extLst>
              <a:ext uri="{FF2B5EF4-FFF2-40B4-BE49-F238E27FC236}">
                <a16:creationId xmlns:a16="http://schemas.microsoft.com/office/drawing/2014/main" id="{DF563C62-D9C8-4880-A706-0D4C721E9F80}"/>
              </a:ext>
            </a:extLst>
          </p:cNvPr>
          <p:cNvSpPr txBox="1"/>
          <p:nvPr/>
        </p:nvSpPr>
        <p:spPr>
          <a:xfrm>
            <a:off x="244487" y="3464849"/>
            <a:ext cx="50949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lrTx/>
              <a:defRPr/>
            </a:pPr>
            <a:r>
              <a:rPr lang="en-US" sz="1600" b="1" kern="1200">
                <a:latin typeface="Times New Roman"/>
                <a:ea typeface="+mn-ea"/>
                <a:cs typeface="Times New Roman"/>
              </a:rPr>
              <a:t>INPUT</a:t>
            </a:r>
            <a:r>
              <a:rPr lang="en-US" sz="1600" kern="1200">
                <a:latin typeface="Times New Roman"/>
                <a:ea typeface="+mn-ea"/>
                <a:cs typeface="Times New Roman"/>
              </a:rPr>
              <a:t>: Driver Input (Steer)/Tyre Forces and Moments</a:t>
            </a:r>
          </a:p>
          <a:p>
            <a:pPr>
              <a:buClrTx/>
              <a:defRPr/>
            </a:pPr>
            <a:r>
              <a:rPr lang="en-US" sz="1600" b="1" kern="1200">
                <a:latin typeface="Times New Roman"/>
                <a:ea typeface="+mn-ea"/>
                <a:cs typeface="Times New Roman"/>
              </a:rPr>
              <a:t>OUTPUT</a:t>
            </a:r>
            <a:r>
              <a:rPr lang="en-US" sz="1600" kern="1200">
                <a:latin typeface="Times New Roman"/>
                <a:ea typeface="+mn-ea"/>
                <a:cs typeface="Times New Roman"/>
              </a:rPr>
              <a:t>: Longitudinal &amp; Lateral Velocity CG/Yaw Angle</a:t>
            </a:r>
          </a:p>
        </p:txBody>
      </p:sp>
      <p:sp>
        <p:nvSpPr>
          <p:cNvPr id="17" name="TextBox 16">
            <a:extLst>
              <a:ext uri="{FF2B5EF4-FFF2-40B4-BE49-F238E27FC236}">
                <a16:creationId xmlns:a16="http://schemas.microsoft.com/office/drawing/2014/main" id="{BC01B4C8-9FD8-4DB1-80C8-195EC4DE9A3F}"/>
              </a:ext>
            </a:extLst>
          </p:cNvPr>
          <p:cNvSpPr txBox="1"/>
          <p:nvPr/>
        </p:nvSpPr>
        <p:spPr>
          <a:xfrm>
            <a:off x="5513919" y="1363028"/>
            <a:ext cx="3005134" cy="261610"/>
          </a:xfrm>
          <a:prstGeom prst="rect">
            <a:avLst/>
          </a:prstGeom>
          <a:noFill/>
        </p:spPr>
        <p:txBody>
          <a:bodyPr wrap="square">
            <a:spAutoFit/>
          </a:bodyPr>
          <a:lstStyle/>
          <a:p>
            <a:pPr algn="ctr"/>
            <a:r>
              <a:rPr lang="en-US" sz="1100" b="1" spc="-5">
                <a:latin typeface="Times New Roman"/>
                <a:cs typeface="Times New Roman"/>
              </a:rPr>
              <a:t>Equations to model longitudinal dynamics</a:t>
            </a:r>
            <a:endParaRPr lang="en-US" sz="1100" b="1"/>
          </a:p>
        </p:txBody>
      </p:sp>
      <p:sp>
        <p:nvSpPr>
          <p:cNvPr id="18" name="TextBox 17">
            <a:extLst>
              <a:ext uri="{FF2B5EF4-FFF2-40B4-BE49-F238E27FC236}">
                <a16:creationId xmlns:a16="http://schemas.microsoft.com/office/drawing/2014/main" id="{9AFEA3A4-B618-4081-9ED5-04171E1A6366}"/>
              </a:ext>
            </a:extLst>
          </p:cNvPr>
          <p:cNvSpPr txBox="1"/>
          <p:nvPr/>
        </p:nvSpPr>
        <p:spPr>
          <a:xfrm>
            <a:off x="5398089" y="3629880"/>
            <a:ext cx="3005134" cy="261610"/>
          </a:xfrm>
          <a:prstGeom prst="rect">
            <a:avLst/>
          </a:prstGeom>
          <a:noFill/>
        </p:spPr>
        <p:txBody>
          <a:bodyPr wrap="square">
            <a:spAutoFit/>
          </a:bodyPr>
          <a:lstStyle/>
          <a:p>
            <a:pPr algn="ctr"/>
            <a:r>
              <a:rPr lang="en-US" sz="1100" b="1" spc="-5">
                <a:latin typeface="Times New Roman"/>
                <a:cs typeface="Times New Roman"/>
              </a:rPr>
              <a:t>Powertrain &amp; Braking Subsystems</a:t>
            </a:r>
            <a:endParaRPr lang="en-US" sz="1100" b="1"/>
          </a:p>
        </p:txBody>
      </p:sp>
      <p:sp>
        <p:nvSpPr>
          <p:cNvPr id="28" name="Title 6">
            <a:extLst>
              <a:ext uri="{FF2B5EF4-FFF2-40B4-BE49-F238E27FC236}">
                <a16:creationId xmlns:a16="http://schemas.microsoft.com/office/drawing/2014/main" id="{CF8EA4AD-B75F-426C-BBC0-1397442C6F69}"/>
              </a:ext>
            </a:extLst>
          </p:cNvPr>
          <p:cNvSpPr>
            <a:spLocks noGrp="1"/>
          </p:cNvSpPr>
          <p:nvPr>
            <p:ph type="title"/>
          </p:nvPr>
        </p:nvSpPr>
        <p:spPr>
          <a:xfrm>
            <a:off x="336750" y="131721"/>
            <a:ext cx="8470498" cy="276999"/>
          </a:xfrm>
        </p:spPr>
        <p:txBody>
          <a:bodyPr wrap="square" lIns="0" tIns="0" rIns="0" bIns="0" anchor="t">
            <a:spAutoFit/>
          </a:bodyPr>
          <a:lstStyle/>
          <a:p>
            <a:r>
              <a:rPr lang="en-US" spc="-10"/>
              <a:t>HANDLING SUBSYSTEM (</a:t>
            </a:r>
            <a:r>
              <a:rPr lang="en-US" spc="-10" err="1"/>
              <a:t>Harsiddh</a:t>
            </a:r>
            <a:r>
              <a:rPr lang="en-US" spc="-10"/>
              <a:t> Desai)</a:t>
            </a:r>
            <a:endParaRPr lang="en-US"/>
          </a:p>
        </p:txBody>
      </p:sp>
      <p:sp>
        <p:nvSpPr>
          <p:cNvPr id="29" name="TextBox 28">
            <a:extLst>
              <a:ext uri="{FF2B5EF4-FFF2-40B4-BE49-F238E27FC236}">
                <a16:creationId xmlns:a16="http://schemas.microsoft.com/office/drawing/2014/main" id="{265A2139-8D7B-4425-8BDF-529E7A99AF57}"/>
              </a:ext>
            </a:extLst>
          </p:cNvPr>
          <p:cNvSpPr txBox="1"/>
          <p:nvPr/>
        </p:nvSpPr>
        <p:spPr>
          <a:xfrm>
            <a:off x="4948546" y="4323180"/>
            <a:ext cx="4135878" cy="261610"/>
          </a:xfrm>
          <a:prstGeom prst="rect">
            <a:avLst/>
          </a:prstGeom>
          <a:noFill/>
        </p:spPr>
        <p:txBody>
          <a:bodyPr wrap="square">
            <a:spAutoFit/>
          </a:bodyPr>
          <a:lstStyle/>
          <a:p>
            <a:pPr algn="ctr"/>
            <a:r>
              <a:rPr lang="en-US" sz="1100" b="1" spc="-5">
                <a:latin typeface="Times New Roman"/>
                <a:cs typeface="Times New Roman"/>
              </a:rPr>
              <a:t>Handling Subsystem: Longitudinal/Lateral/Yaw Dynamics</a:t>
            </a:r>
            <a:endParaRPr lang="en-US" sz="1100" b="1"/>
          </a:p>
        </p:txBody>
      </p:sp>
      <p:pic>
        <p:nvPicPr>
          <p:cNvPr id="20" name="Picture 19">
            <a:extLst>
              <a:ext uri="{FF2B5EF4-FFF2-40B4-BE49-F238E27FC236}">
                <a16:creationId xmlns:a16="http://schemas.microsoft.com/office/drawing/2014/main" id="{58FE237A-8538-479E-A9EC-D54AE8B091B5}"/>
              </a:ext>
            </a:extLst>
          </p:cNvPr>
          <p:cNvPicPr>
            <a:picLocks noChangeAspect="1"/>
          </p:cNvPicPr>
          <p:nvPr/>
        </p:nvPicPr>
        <p:blipFill>
          <a:blip r:embed="rId2"/>
          <a:stretch>
            <a:fillRect/>
          </a:stretch>
        </p:blipFill>
        <p:spPr>
          <a:xfrm>
            <a:off x="1061075" y="5622135"/>
            <a:ext cx="6553907" cy="1143842"/>
          </a:xfrm>
          <a:prstGeom prst="rect">
            <a:avLst/>
          </a:prstGeom>
          <a:ln w="6350">
            <a:solidFill>
              <a:schemeClr val="tx1"/>
            </a:solidFill>
          </a:ln>
        </p:spPr>
      </p:pic>
      <p:sp>
        <p:nvSpPr>
          <p:cNvPr id="27" name="TextBox 26">
            <a:extLst>
              <a:ext uri="{FF2B5EF4-FFF2-40B4-BE49-F238E27FC236}">
                <a16:creationId xmlns:a16="http://schemas.microsoft.com/office/drawing/2014/main" id="{7C5792E7-AC89-4758-8164-E014F787CC53}"/>
              </a:ext>
            </a:extLst>
          </p:cNvPr>
          <p:cNvSpPr txBox="1"/>
          <p:nvPr/>
        </p:nvSpPr>
        <p:spPr>
          <a:xfrm>
            <a:off x="7475659" y="4903571"/>
            <a:ext cx="1608765" cy="430887"/>
          </a:xfrm>
          <a:prstGeom prst="rect">
            <a:avLst/>
          </a:prstGeom>
          <a:noFill/>
        </p:spPr>
        <p:txBody>
          <a:bodyPr wrap="square">
            <a:spAutoFit/>
          </a:bodyPr>
          <a:lstStyle/>
          <a:p>
            <a:r>
              <a:rPr lang="en-US" sz="1100" b="1" spc="-5">
                <a:latin typeface="Times New Roman"/>
                <a:cs typeface="Times New Roman"/>
              </a:rPr>
              <a:t>Longitudinal acceleration (m/s^2)</a:t>
            </a:r>
            <a:endParaRPr lang="en-US" sz="1100" b="1"/>
          </a:p>
        </p:txBody>
      </p:sp>
      <p:sp>
        <p:nvSpPr>
          <p:cNvPr id="30" name="TextBox 29">
            <a:extLst>
              <a:ext uri="{FF2B5EF4-FFF2-40B4-BE49-F238E27FC236}">
                <a16:creationId xmlns:a16="http://schemas.microsoft.com/office/drawing/2014/main" id="{E625C9DF-3809-42CA-84F3-5E5E3A55E0CA}"/>
              </a:ext>
            </a:extLst>
          </p:cNvPr>
          <p:cNvSpPr txBox="1"/>
          <p:nvPr/>
        </p:nvSpPr>
        <p:spPr>
          <a:xfrm>
            <a:off x="7669563" y="5997565"/>
            <a:ext cx="1220956" cy="430887"/>
          </a:xfrm>
          <a:prstGeom prst="rect">
            <a:avLst/>
          </a:prstGeom>
          <a:noFill/>
        </p:spPr>
        <p:txBody>
          <a:bodyPr wrap="square">
            <a:spAutoFit/>
          </a:bodyPr>
          <a:lstStyle/>
          <a:p>
            <a:r>
              <a:rPr lang="en-US" sz="1100" b="1" spc="-5">
                <a:latin typeface="Times New Roman"/>
                <a:cs typeface="Times New Roman"/>
              </a:rPr>
              <a:t>Longitudinal velocity (m/s)</a:t>
            </a:r>
            <a:endParaRPr lang="en-US" sz="1100" b="1"/>
          </a:p>
        </p:txBody>
      </p:sp>
      <p:pic>
        <p:nvPicPr>
          <p:cNvPr id="31" name="Picture 30">
            <a:extLst>
              <a:ext uri="{FF2B5EF4-FFF2-40B4-BE49-F238E27FC236}">
                <a16:creationId xmlns:a16="http://schemas.microsoft.com/office/drawing/2014/main" id="{C40F8E83-616B-499C-8CC6-98EEA8E0F99C}"/>
              </a:ext>
            </a:extLst>
          </p:cNvPr>
          <p:cNvPicPr>
            <a:picLocks noChangeAspect="1"/>
          </p:cNvPicPr>
          <p:nvPr/>
        </p:nvPicPr>
        <p:blipFill>
          <a:blip r:embed="rId3"/>
          <a:stretch>
            <a:fillRect/>
          </a:stretch>
        </p:blipFill>
        <p:spPr>
          <a:xfrm>
            <a:off x="1254473" y="4541978"/>
            <a:ext cx="6221186" cy="1038508"/>
          </a:xfrm>
          <a:prstGeom prst="rect">
            <a:avLst/>
          </a:prstGeom>
          <a:ln w="6350">
            <a:solidFill>
              <a:schemeClr val="tx1"/>
            </a:solidFill>
          </a:ln>
        </p:spPr>
      </p:pic>
      <p:pic>
        <p:nvPicPr>
          <p:cNvPr id="32" name="Picture 31">
            <a:extLst>
              <a:ext uri="{FF2B5EF4-FFF2-40B4-BE49-F238E27FC236}">
                <a16:creationId xmlns:a16="http://schemas.microsoft.com/office/drawing/2014/main" id="{0084C71A-AF9A-489B-8DBF-E8BF292529CA}"/>
              </a:ext>
            </a:extLst>
          </p:cNvPr>
          <p:cNvPicPr>
            <a:picLocks noChangeAspect="1"/>
          </p:cNvPicPr>
          <p:nvPr/>
        </p:nvPicPr>
        <p:blipFill>
          <a:blip r:embed="rId4"/>
          <a:stretch>
            <a:fillRect/>
          </a:stretch>
        </p:blipFill>
        <p:spPr>
          <a:xfrm>
            <a:off x="5339441" y="1590002"/>
            <a:ext cx="3354089" cy="2735523"/>
          </a:xfrm>
          <a:prstGeom prst="rect">
            <a:avLst/>
          </a:prstGeom>
          <a:ln w="6350">
            <a:solidFill>
              <a:schemeClr val="tx1"/>
            </a:solidFill>
          </a:ln>
        </p:spPr>
      </p:pic>
      <p:pic>
        <p:nvPicPr>
          <p:cNvPr id="33" name="Picture 32">
            <a:extLst>
              <a:ext uri="{FF2B5EF4-FFF2-40B4-BE49-F238E27FC236}">
                <a16:creationId xmlns:a16="http://schemas.microsoft.com/office/drawing/2014/main" id="{CF465A7A-8E46-4CF6-9470-62564140A8BE}"/>
              </a:ext>
            </a:extLst>
          </p:cNvPr>
          <p:cNvPicPr>
            <a:picLocks noChangeAspect="1"/>
          </p:cNvPicPr>
          <p:nvPr/>
        </p:nvPicPr>
        <p:blipFill>
          <a:blip r:embed="rId5"/>
          <a:stretch>
            <a:fillRect/>
          </a:stretch>
        </p:blipFill>
        <p:spPr>
          <a:xfrm>
            <a:off x="5040659" y="515145"/>
            <a:ext cx="3951654" cy="865445"/>
          </a:xfrm>
          <a:prstGeom prst="rect">
            <a:avLst/>
          </a:prstGeom>
          <a:ln w="6350">
            <a:solidFill>
              <a:schemeClr val="tx1"/>
            </a:solidFill>
          </a:ln>
        </p:spPr>
      </p:pic>
      <p:sp>
        <p:nvSpPr>
          <p:cNvPr id="34" name="TextBox 33">
            <a:extLst>
              <a:ext uri="{FF2B5EF4-FFF2-40B4-BE49-F238E27FC236}">
                <a16:creationId xmlns:a16="http://schemas.microsoft.com/office/drawing/2014/main" id="{9E2609C8-8C38-424A-AF27-0FE02BC53A8D}"/>
              </a:ext>
            </a:extLst>
          </p:cNvPr>
          <p:cNvSpPr txBox="1"/>
          <p:nvPr/>
        </p:nvSpPr>
        <p:spPr>
          <a:xfrm>
            <a:off x="99699" y="551745"/>
            <a:ext cx="4899927"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Sans-Serif" panose="020B0604020202020204" pitchFamily="34" charset="0"/>
              <a:buChar char="•"/>
              <a:defRPr/>
            </a:pPr>
            <a:r>
              <a:rPr lang="en-US" sz="1600" kern="1200">
                <a:latin typeface="Times New Roman"/>
                <a:ea typeface="+mn-ea"/>
                <a:cs typeface="Times New Roman"/>
              </a:rPr>
              <a:t>Designed chassis handling model of 14 DOF full vehicle model in Simulink</a:t>
            </a:r>
            <a:endParaRPr lang="en-US" sz="1600" kern="1200">
              <a:ea typeface="+mn-ea"/>
            </a:endParaRPr>
          </a:p>
          <a:p>
            <a:pPr marL="285750" indent="-285750" algn="just">
              <a:buFont typeface="Arial,Sans-Serif" panose="020B0604020202020204" pitchFamily="34" charset="0"/>
              <a:buChar char="•"/>
              <a:defRPr/>
            </a:pPr>
            <a:r>
              <a:rPr lang="en-US" sz="1600" kern="1200">
                <a:latin typeface="Times New Roman"/>
                <a:ea typeface="+mn-ea"/>
                <a:cs typeface="Times New Roman"/>
              </a:rPr>
              <a:t>The equations shown here computes the longitudinal, lateral and yaw acceleration, velocities and displacement of the several dynamics which are shown in the results down below</a:t>
            </a:r>
            <a:endParaRPr lang="en-US">
              <a:ea typeface="+mn-ea"/>
            </a:endParaRPr>
          </a:p>
          <a:p>
            <a:pPr marL="285750" indent="-285750" algn="just">
              <a:buFont typeface="Arial,Sans-Serif" panose="020B0604020202020204" pitchFamily="34" charset="0"/>
              <a:buChar char="•"/>
              <a:defRPr/>
            </a:pPr>
            <a:r>
              <a:rPr lang="en-US" sz="1600" kern="1200">
                <a:latin typeface="Times New Roman"/>
                <a:ea typeface="+mn-ea"/>
                <a:cs typeface="Times New Roman"/>
              </a:rPr>
              <a:t>This model allows us to simulate the sprung mass inputs and the Tyre forces and their moments</a:t>
            </a:r>
          </a:p>
          <a:p>
            <a:pPr marL="285750" indent="-285750" algn="just">
              <a:buFont typeface="Arial,Sans-Serif" panose="020B0604020202020204" pitchFamily="34" charset="0"/>
              <a:buChar char="•"/>
              <a:defRPr/>
            </a:pPr>
            <a:r>
              <a:rPr lang="en-US" sz="1600" kern="1200">
                <a:latin typeface="Times New Roman"/>
                <a:ea typeface="+mn-ea"/>
                <a:cs typeface="Times New Roman"/>
              </a:rPr>
              <a:t>The outputs of this model can also be provided as inputs to other sub-systems like powertrain to analyze the overall performance</a:t>
            </a:r>
          </a:p>
        </p:txBody>
      </p:sp>
    </p:spTree>
    <p:extLst>
      <p:ext uri="{BB962C8B-B14F-4D97-AF65-F5344CB8AC3E}">
        <p14:creationId xmlns:p14="http://schemas.microsoft.com/office/powerpoint/2010/main" val="1301648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25" y="403644"/>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336750" y="668020"/>
            <a:ext cx="8430260" cy="328680"/>
          </a:xfrm>
          <a:prstGeom prst="rect">
            <a:avLst/>
          </a:prstGeom>
        </p:spPr>
        <p:txBody>
          <a:bodyPr vert="horz" wrap="square" lIns="0" tIns="12700" rIns="0" bIns="0" rtlCol="0" anchor="t">
            <a:spAutoFit/>
          </a:bodyPr>
          <a:lstStyle/>
          <a:p>
            <a:pPr marL="298450" marR="5715" lvl="0" indent="-285750" algn="l" defTabSz="914400" rtl="0" eaLnBrk="1" fontAlgn="auto" latinLnBrk="0" hangingPunct="1">
              <a:lnSpc>
                <a:spcPct val="145000"/>
              </a:lnSpc>
              <a:spcBef>
                <a:spcPts val="100"/>
              </a:spcBef>
              <a:spcAft>
                <a:spcPts val="0"/>
              </a:spcAft>
              <a:buClrTx/>
              <a:buSzTx/>
              <a:buFont typeface="Arial" panose="020B0604020202020204" pitchFamily="34" charset="0"/>
              <a:buChar char="•"/>
              <a:tabLst>
                <a:tab pos="127000" algn="l"/>
              </a:tabLst>
              <a:defRPr/>
            </a:pPr>
            <a:endParaRPr kumimoji="0" lang="en-US"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C0497A37-555F-4957-8275-FC0A3EC9D4B6}"/>
              </a:ext>
            </a:extLst>
          </p:cNvPr>
          <p:cNvSpPr txBox="1"/>
          <p:nvPr/>
        </p:nvSpPr>
        <p:spPr>
          <a:xfrm>
            <a:off x="244487" y="859930"/>
            <a:ext cx="453398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u="none" strike="noStrike" kern="1200" cap="none" spc="0" normalizeH="0" baseline="0" noProof="0">
              <a:ln>
                <a:noFill/>
              </a:ln>
              <a:effectLst/>
              <a:uLnTx/>
              <a:uFillTx/>
              <a:latin typeface="Times New Roman"/>
              <a:ea typeface="+mn-ea"/>
              <a:cs typeface="Times New Roman"/>
            </a:endParaRPr>
          </a:p>
        </p:txBody>
      </p:sp>
      <p:sp>
        <p:nvSpPr>
          <p:cNvPr id="9" name="object 3">
            <a:extLst>
              <a:ext uri="{FF2B5EF4-FFF2-40B4-BE49-F238E27FC236}">
                <a16:creationId xmlns:a16="http://schemas.microsoft.com/office/drawing/2014/main" id="{411C4413-66C9-49C5-A3B4-4BDEDE742633}"/>
              </a:ext>
            </a:extLst>
          </p:cNvPr>
          <p:cNvSpPr txBox="1">
            <a:spLocks/>
          </p:cNvSpPr>
          <p:nvPr/>
        </p:nvSpPr>
        <p:spPr>
          <a:xfrm>
            <a:off x="171609" y="5463062"/>
            <a:ext cx="914842" cy="289823"/>
          </a:xfrm>
          <a:prstGeom prst="rect">
            <a:avLst/>
          </a:prstGeom>
        </p:spPr>
        <p:txBody>
          <a:bodyPr vert="horz" wrap="square" lIns="0" tIns="12700" rIns="0" bIns="0" rtlCol="0" anchor="t">
            <a:spAutoFit/>
          </a:bodyPr>
          <a:lstStyle>
            <a:lvl1pPr>
              <a:defRPr sz="1800" b="1" i="0">
                <a:solidFill>
                  <a:schemeClr val="tx1"/>
                </a:solidFill>
                <a:latin typeface="Times New Roman"/>
                <a:ea typeface="+mj-ea"/>
                <a:cs typeface="Times New Roman"/>
              </a:defRPr>
            </a:lvl1pPr>
          </a:lstStyle>
          <a:p>
            <a:pPr marL="12700">
              <a:spcBef>
                <a:spcPts val="100"/>
              </a:spcBef>
              <a:buClrTx/>
              <a:buFontTx/>
            </a:pPr>
            <a:r>
              <a:rPr lang="en-US" spc="-10"/>
              <a:t>Results:</a:t>
            </a:r>
            <a:endParaRPr lang="en-US" spc="-5"/>
          </a:p>
        </p:txBody>
      </p:sp>
      <p:sp>
        <p:nvSpPr>
          <p:cNvPr id="14" name="TextBox 13">
            <a:extLst>
              <a:ext uri="{FF2B5EF4-FFF2-40B4-BE49-F238E27FC236}">
                <a16:creationId xmlns:a16="http://schemas.microsoft.com/office/drawing/2014/main" id="{DF563C62-D9C8-4880-A706-0D4C721E9F80}"/>
              </a:ext>
            </a:extLst>
          </p:cNvPr>
          <p:cNvSpPr txBox="1"/>
          <p:nvPr/>
        </p:nvSpPr>
        <p:spPr>
          <a:xfrm>
            <a:off x="184607" y="3868998"/>
            <a:ext cx="504916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lrTx/>
              <a:defRPr/>
            </a:pPr>
            <a:r>
              <a:rPr lang="en-US" sz="1600" b="1" kern="1200">
                <a:latin typeface="Times New Roman"/>
                <a:ea typeface="+mn-ea"/>
                <a:cs typeface="Times New Roman"/>
              </a:rPr>
              <a:t>INPUT</a:t>
            </a:r>
            <a:r>
              <a:rPr lang="en-US" sz="1600" kern="1200">
                <a:latin typeface="Times New Roman"/>
                <a:ea typeface="+mn-ea"/>
                <a:cs typeface="Times New Roman"/>
              </a:rPr>
              <a:t>: Sprung Mass Outputs/Road Profile</a:t>
            </a:r>
          </a:p>
          <a:p>
            <a:pPr>
              <a:buClrTx/>
              <a:defRPr/>
            </a:pPr>
            <a:r>
              <a:rPr lang="en-US" sz="1600" b="1" kern="1200">
                <a:latin typeface="Times New Roman"/>
                <a:ea typeface="+mn-ea"/>
                <a:cs typeface="Times New Roman"/>
              </a:rPr>
              <a:t>OUTPUT</a:t>
            </a:r>
            <a:r>
              <a:rPr lang="en-US" sz="1600" kern="1200">
                <a:latin typeface="Times New Roman"/>
                <a:ea typeface="+mn-ea"/>
                <a:cs typeface="Times New Roman"/>
              </a:rPr>
              <a:t>: Suspension Vertical Forces &amp; Displacements</a:t>
            </a:r>
          </a:p>
        </p:txBody>
      </p:sp>
      <p:sp>
        <p:nvSpPr>
          <p:cNvPr id="17" name="TextBox 16">
            <a:extLst>
              <a:ext uri="{FF2B5EF4-FFF2-40B4-BE49-F238E27FC236}">
                <a16:creationId xmlns:a16="http://schemas.microsoft.com/office/drawing/2014/main" id="{BC01B4C8-9FD8-4DB1-80C8-195EC4DE9A3F}"/>
              </a:ext>
            </a:extLst>
          </p:cNvPr>
          <p:cNvSpPr txBox="1"/>
          <p:nvPr/>
        </p:nvSpPr>
        <p:spPr>
          <a:xfrm>
            <a:off x="5582745" y="1509436"/>
            <a:ext cx="3005134" cy="261610"/>
          </a:xfrm>
          <a:prstGeom prst="rect">
            <a:avLst/>
          </a:prstGeom>
          <a:noFill/>
        </p:spPr>
        <p:txBody>
          <a:bodyPr wrap="square">
            <a:spAutoFit/>
          </a:bodyPr>
          <a:lstStyle/>
          <a:p>
            <a:pPr algn="ctr"/>
            <a:r>
              <a:rPr lang="en-US" sz="1100" b="1" spc="-5">
                <a:latin typeface="Times New Roman"/>
                <a:cs typeface="Times New Roman"/>
              </a:rPr>
              <a:t>Equations to model suspension vertical forces</a:t>
            </a:r>
            <a:endParaRPr lang="en-US" sz="1100" b="1"/>
          </a:p>
        </p:txBody>
      </p:sp>
      <p:sp>
        <p:nvSpPr>
          <p:cNvPr id="28" name="Title 6">
            <a:extLst>
              <a:ext uri="{FF2B5EF4-FFF2-40B4-BE49-F238E27FC236}">
                <a16:creationId xmlns:a16="http://schemas.microsoft.com/office/drawing/2014/main" id="{CF8EA4AD-B75F-426C-BBC0-1397442C6F69}"/>
              </a:ext>
            </a:extLst>
          </p:cNvPr>
          <p:cNvSpPr>
            <a:spLocks noGrp="1"/>
          </p:cNvSpPr>
          <p:nvPr>
            <p:ph type="title"/>
          </p:nvPr>
        </p:nvSpPr>
        <p:spPr>
          <a:xfrm>
            <a:off x="336750" y="131721"/>
            <a:ext cx="8470498" cy="276999"/>
          </a:xfrm>
        </p:spPr>
        <p:txBody>
          <a:bodyPr wrap="square" lIns="0" tIns="0" rIns="0" bIns="0" anchor="t">
            <a:spAutoFit/>
          </a:bodyPr>
          <a:lstStyle/>
          <a:p>
            <a:r>
              <a:rPr lang="en-US"/>
              <a:t>SUSPENSION SUBSYSTEM (</a:t>
            </a:r>
            <a:r>
              <a:rPr lang="en-US" err="1"/>
              <a:t>Ipsit</a:t>
            </a:r>
            <a:r>
              <a:rPr lang="en-US"/>
              <a:t> Anand)</a:t>
            </a:r>
          </a:p>
        </p:txBody>
      </p:sp>
      <p:sp>
        <p:nvSpPr>
          <p:cNvPr id="29" name="TextBox 28">
            <a:extLst>
              <a:ext uri="{FF2B5EF4-FFF2-40B4-BE49-F238E27FC236}">
                <a16:creationId xmlns:a16="http://schemas.microsoft.com/office/drawing/2014/main" id="{265A2139-8D7B-4425-8BDF-529E7A99AF57}"/>
              </a:ext>
            </a:extLst>
          </p:cNvPr>
          <p:cNvSpPr txBox="1"/>
          <p:nvPr/>
        </p:nvSpPr>
        <p:spPr>
          <a:xfrm>
            <a:off x="4882631" y="4009696"/>
            <a:ext cx="4135878" cy="261610"/>
          </a:xfrm>
          <a:prstGeom prst="rect">
            <a:avLst/>
          </a:prstGeom>
          <a:noFill/>
        </p:spPr>
        <p:txBody>
          <a:bodyPr wrap="square">
            <a:spAutoFit/>
          </a:bodyPr>
          <a:lstStyle/>
          <a:p>
            <a:pPr algn="ctr"/>
            <a:r>
              <a:rPr lang="en-US" sz="1100" b="1" spc="-5">
                <a:latin typeface="Times New Roman"/>
                <a:cs typeface="Times New Roman"/>
              </a:rPr>
              <a:t>Suspension Subsystem</a:t>
            </a:r>
            <a:endParaRPr lang="en-US" sz="1100" b="1"/>
          </a:p>
        </p:txBody>
      </p:sp>
      <p:sp>
        <p:nvSpPr>
          <p:cNvPr id="19" name="TextBox 18">
            <a:extLst>
              <a:ext uri="{FF2B5EF4-FFF2-40B4-BE49-F238E27FC236}">
                <a16:creationId xmlns:a16="http://schemas.microsoft.com/office/drawing/2014/main" id="{E88E50F5-C8A7-45ED-9E66-43540E789CC8}"/>
              </a:ext>
            </a:extLst>
          </p:cNvPr>
          <p:cNvSpPr txBox="1"/>
          <p:nvPr/>
        </p:nvSpPr>
        <p:spPr>
          <a:xfrm>
            <a:off x="160995" y="603741"/>
            <a:ext cx="4935634"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lrTx/>
              <a:buFont typeface="Arial" panose="020B0604020202020204" pitchFamily="34" charset="0"/>
              <a:buChar char="•"/>
              <a:defRPr/>
            </a:pPr>
            <a:r>
              <a:rPr lang="en-US" sz="1600" kern="1200">
                <a:latin typeface="Times New Roman"/>
                <a:ea typeface="+mn-ea"/>
                <a:cs typeface="Times New Roman"/>
              </a:rPr>
              <a:t>Went through relevant research papers suggested by team leader</a:t>
            </a:r>
          </a:p>
          <a:p>
            <a:pPr marL="285750" indent="-285750">
              <a:buClrTx/>
              <a:buFont typeface="Arial" panose="020B0604020202020204" pitchFamily="34" charset="0"/>
              <a:buChar char="•"/>
              <a:defRPr/>
            </a:pPr>
            <a:r>
              <a:rPr lang="en-US" sz="1600" kern="1200">
                <a:latin typeface="Times New Roman"/>
                <a:ea typeface="+mn-ea"/>
                <a:cs typeface="Times New Roman"/>
              </a:rPr>
              <a:t>Designed suspension model of  14 </a:t>
            </a:r>
            <a:r>
              <a:rPr lang="en-US" sz="1600" kern="1200" err="1">
                <a:latin typeface="Times New Roman"/>
                <a:ea typeface="+mn-ea"/>
                <a:cs typeface="Times New Roman"/>
              </a:rPr>
              <a:t>DoF</a:t>
            </a:r>
            <a:r>
              <a:rPr lang="en-US" sz="1600" kern="1200">
                <a:latin typeface="Times New Roman"/>
                <a:ea typeface="+mn-ea"/>
                <a:cs typeface="Times New Roman"/>
              </a:rPr>
              <a:t> full vehicle model in Simulink</a:t>
            </a:r>
          </a:p>
          <a:p>
            <a:pPr marL="285750" indent="-285750">
              <a:buClrTx/>
              <a:buFont typeface="Arial" panose="020B0604020202020204" pitchFamily="34" charset="0"/>
              <a:buChar char="•"/>
              <a:defRPr/>
            </a:pPr>
            <a:r>
              <a:rPr lang="en-US" sz="1600" kern="1200">
                <a:latin typeface="Times New Roman"/>
                <a:ea typeface="+mn-ea"/>
                <a:cs typeface="Times New Roman"/>
              </a:rPr>
              <a:t>The equation shown computes the vertical sprung mass velocity with these four tyre equations</a:t>
            </a:r>
          </a:p>
          <a:p>
            <a:pPr marL="285750" indent="-285750">
              <a:buClrTx/>
              <a:buFont typeface="Arial" panose="020B0604020202020204" pitchFamily="34" charset="0"/>
              <a:buChar char="•"/>
              <a:defRPr/>
            </a:pPr>
            <a:r>
              <a:rPr lang="en-US" sz="1600" kern="1200">
                <a:latin typeface="Times New Roman"/>
                <a:ea typeface="+mn-ea"/>
                <a:cs typeface="Times New Roman"/>
              </a:rPr>
              <a:t>This model allows us to simulate the response of vehicle using different road profile inputs thus investigating the overall performance of vehicle by changing the damping and stiffness coefficient</a:t>
            </a:r>
          </a:p>
        </p:txBody>
      </p:sp>
      <p:pic>
        <p:nvPicPr>
          <p:cNvPr id="23" name="Picture 5" descr="Text, letter&#10;&#10;Description automatically generated">
            <a:extLst>
              <a:ext uri="{FF2B5EF4-FFF2-40B4-BE49-F238E27FC236}">
                <a16:creationId xmlns:a16="http://schemas.microsoft.com/office/drawing/2014/main" id="{CC4F884D-40DE-49A9-AB2B-EE7649825B7D}"/>
              </a:ext>
            </a:extLst>
          </p:cNvPr>
          <p:cNvPicPr>
            <a:picLocks noChangeAspect="1"/>
          </p:cNvPicPr>
          <p:nvPr/>
        </p:nvPicPr>
        <p:blipFill>
          <a:blip r:embed="rId2"/>
          <a:stretch>
            <a:fillRect/>
          </a:stretch>
        </p:blipFill>
        <p:spPr>
          <a:xfrm>
            <a:off x="5093893" y="530644"/>
            <a:ext cx="3713355" cy="1027085"/>
          </a:xfrm>
          <a:prstGeom prst="rect">
            <a:avLst/>
          </a:prstGeom>
          <a:ln w="6350">
            <a:solidFill>
              <a:schemeClr val="tx1"/>
            </a:solidFill>
          </a:ln>
        </p:spPr>
      </p:pic>
      <p:pic>
        <p:nvPicPr>
          <p:cNvPr id="24" name="Picture 23">
            <a:extLst>
              <a:ext uri="{FF2B5EF4-FFF2-40B4-BE49-F238E27FC236}">
                <a16:creationId xmlns:a16="http://schemas.microsoft.com/office/drawing/2014/main" id="{8C5E60A2-7F20-49E5-9B9F-FA867D28B62E}"/>
              </a:ext>
            </a:extLst>
          </p:cNvPr>
          <p:cNvPicPr>
            <a:picLocks noChangeAspect="1"/>
          </p:cNvPicPr>
          <p:nvPr/>
        </p:nvPicPr>
        <p:blipFill>
          <a:blip r:embed="rId3"/>
          <a:stretch>
            <a:fillRect/>
          </a:stretch>
        </p:blipFill>
        <p:spPr>
          <a:xfrm>
            <a:off x="4948546" y="2131129"/>
            <a:ext cx="4010847" cy="1902270"/>
          </a:xfrm>
          <a:prstGeom prst="rect">
            <a:avLst/>
          </a:prstGeom>
          <a:ln w="6350">
            <a:solidFill>
              <a:schemeClr val="tx1"/>
            </a:solidFill>
          </a:ln>
        </p:spPr>
      </p:pic>
      <p:sp>
        <p:nvSpPr>
          <p:cNvPr id="25" name="TextBox 24">
            <a:extLst>
              <a:ext uri="{FF2B5EF4-FFF2-40B4-BE49-F238E27FC236}">
                <a16:creationId xmlns:a16="http://schemas.microsoft.com/office/drawing/2014/main" id="{BCF14D7A-493D-452D-A18E-F8C534561A3D}"/>
              </a:ext>
            </a:extLst>
          </p:cNvPr>
          <p:cNvSpPr txBox="1"/>
          <p:nvPr/>
        </p:nvSpPr>
        <p:spPr>
          <a:xfrm>
            <a:off x="7687901" y="5537440"/>
            <a:ext cx="1349034" cy="430887"/>
          </a:xfrm>
          <a:prstGeom prst="rect">
            <a:avLst/>
          </a:prstGeom>
          <a:noFill/>
        </p:spPr>
        <p:txBody>
          <a:bodyPr wrap="square">
            <a:spAutoFit/>
          </a:bodyPr>
          <a:lstStyle/>
          <a:p>
            <a:r>
              <a:rPr lang="en-US" sz="1100" b="1" spc="-5">
                <a:latin typeface="Times New Roman"/>
                <a:cs typeface="Times New Roman"/>
              </a:rPr>
              <a:t>Vertical Velocity of Front </a:t>
            </a:r>
            <a:r>
              <a:rPr lang="en-US" sz="1100" b="1" spc="-5" err="1">
                <a:latin typeface="Times New Roman"/>
                <a:cs typeface="Times New Roman"/>
              </a:rPr>
              <a:t>Tyres</a:t>
            </a:r>
            <a:r>
              <a:rPr lang="en-US" sz="1100" b="1" spc="-5">
                <a:latin typeface="Times New Roman"/>
                <a:cs typeface="Times New Roman"/>
              </a:rPr>
              <a:t> (m/s)</a:t>
            </a:r>
            <a:endParaRPr lang="en-US" sz="1100" b="1"/>
          </a:p>
        </p:txBody>
      </p:sp>
      <p:pic>
        <p:nvPicPr>
          <p:cNvPr id="26" name="Picture 25">
            <a:extLst>
              <a:ext uri="{FF2B5EF4-FFF2-40B4-BE49-F238E27FC236}">
                <a16:creationId xmlns:a16="http://schemas.microsoft.com/office/drawing/2014/main" id="{4C944B16-3D55-4E0A-96EA-AC4B274D3308}"/>
              </a:ext>
            </a:extLst>
          </p:cNvPr>
          <p:cNvPicPr>
            <a:picLocks noChangeAspect="1"/>
          </p:cNvPicPr>
          <p:nvPr/>
        </p:nvPicPr>
        <p:blipFill>
          <a:blip r:embed="rId4"/>
          <a:stretch>
            <a:fillRect/>
          </a:stretch>
        </p:blipFill>
        <p:spPr>
          <a:xfrm>
            <a:off x="1086451" y="4912134"/>
            <a:ext cx="6601450" cy="1681501"/>
          </a:xfrm>
          <a:prstGeom prst="rect">
            <a:avLst/>
          </a:prstGeom>
          <a:ln w="6350">
            <a:solidFill>
              <a:schemeClr val="tx1"/>
            </a:solidFill>
          </a:ln>
        </p:spPr>
      </p:pic>
    </p:spTree>
    <p:extLst>
      <p:ext uri="{BB962C8B-B14F-4D97-AF65-F5344CB8AC3E}">
        <p14:creationId xmlns:p14="http://schemas.microsoft.com/office/powerpoint/2010/main" val="4018035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25" y="403644"/>
            <a:ext cx="8931910" cy="127000"/>
          </a:xfrm>
          <a:custGeom>
            <a:avLst/>
            <a:gdLst/>
            <a:ahLst/>
            <a:cxnLst/>
            <a:rect l="l" t="t" r="r" b="b"/>
            <a:pathLst>
              <a:path w="8931910" h="127000">
                <a:moveTo>
                  <a:pt x="63500" y="0"/>
                </a:moveTo>
                <a:lnTo>
                  <a:pt x="0" y="63500"/>
                </a:lnTo>
                <a:lnTo>
                  <a:pt x="63500" y="127000"/>
                </a:lnTo>
                <a:lnTo>
                  <a:pt x="119062" y="71437"/>
                </a:lnTo>
                <a:lnTo>
                  <a:pt x="63500" y="71437"/>
                </a:lnTo>
                <a:lnTo>
                  <a:pt x="63500" y="55562"/>
                </a:lnTo>
                <a:lnTo>
                  <a:pt x="119062" y="55562"/>
                </a:lnTo>
                <a:lnTo>
                  <a:pt x="63500" y="0"/>
                </a:lnTo>
                <a:close/>
              </a:path>
              <a:path w="8931910" h="127000">
                <a:moveTo>
                  <a:pt x="8868058" y="0"/>
                </a:moveTo>
                <a:lnTo>
                  <a:pt x="8804558" y="63500"/>
                </a:lnTo>
                <a:lnTo>
                  <a:pt x="8868058" y="127000"/>
                </a:lnTo>
                <a:lnTo>
                  <a:pt x="8923620" y="71437"/>
                </a:lnTo>
                <a:lnTo>
                  <a:pt x="8868058" y="71437"/>
                </a:lnTo>
                <a:lnTo>
                  <a:pt x="8868058" y="55562"/>
                </a:lnTo>
                <a:lnTo>
                  <a:pt x="8923620" y="55562"/>
                </a:lnTo>
                <a:lnTo>
                  <a:pt x="8868058" y="0"/>
                </a:lnTo>
                <a:close/>
              </a:path>
              <a:path w="8931910" h="127000">
                <a:moveTo>
                  <a:pt x="119062" y="55562"/>
                </a:moveTo>
                <a:lnTo>
                  <a:pt x="63500" y="55562"/>
                </a:lnTo>
                <a:lnTo>
                  <a:pt x="63500" y="71437"/>
                </a:lnTo>
                <a:lnTo>
                  <a:pt x="119062" y="71437"/>
                </a:lnTo>
                <a:lnTo>
                  <a:pt x="127000" y="63500"/>
                </a:lnTo>
                <a:lnTo>
                  <a:pt x="119062" y="55562"/>
                </a:lnTo>
                <a:close/>
              </a:path>
              <a:path w="8931910" h="127000">
                <a:moveTo>
                  <a:pt x="8812495" y="55562"/>
                </a:moveTo>
                <a:lnTo>
                  <a:pt x="119062" y="55562"/>
                </a:lnTo>
                <a:lnTo>
                  <a:pt x="127000" y="63500"/>
                </a:lnTo>
                <a:lnTo>
                  <a:pt x="119062" y="71437"/>
                </a:lnTo>
                <a:lnTo>
                  <a:pt x="8812495" y="71437"/>
                </a:lnTo>
                <a:lnTo>
                  <a:pt x="8804558" y="63500"/>
                </a:lnTo>
                <a:lnTo>
                  <a:pt x="8812495" y="55562"/>
                </a:lnTo>
                <a:close/>
              </a:path>
              <a:path w="8931910" h="127000">
                <a:moveTo>
                  <a:pt x="8923620" y="55562"/>
                </a:moveTo>
                <a:lnTo>
                  <a:pt x="8868058" y="55562"/>
                </a:lnTo>
                <a:lnTo>
                  <a:pt x="8868058" y="71437"/>
                </a:lnTo>
                <a:lnTo>
                  <a:pt x="8923620" y="71437"/>
                </a:lnTo>
                <a:lnTo>
                  <a:pt x="8931558" y="63500"/>
                </a:lnTo>
                <a:lnTo>
                  <a:pt x="8923620" y="5556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336750" y="668020"/>
            <a:ext cx="8430260" cy="328680"/>
          </a:xfrm>
          <a:prstGeom prst="rect">
            <a:avLst/>
          </a:prstGeom>
        </p:spPr>
        <p:txBody>
          <a:bodyPr vert="horz" wrap="square" lIns="0" tIns="12700" rIns="0" bIns="0" rtlCol="0" anchor="t">
            <a:spAutoFit/>
          </a:bodyPr>
          <a:lstStyle/>
          <a:p>
            <a:pPr marL="298450" marR="5715" lvl="0" indent="-285750" algn="l" defTabSz="914400" rtl="0" eaLnBrk="1" fontAlgn="auto" latinLnBrk="0" hangingPunct="1">
              <a:lnSpc>
                <a:spcPct val="145000"/>
              </a:lnSpc>
              <a:spcBef>
                <a:spcPts val="100"/>
              </a:spcBef>
              <a:spcAft>
                <a:spcPts val="0"/>
              </a:spcAft>
              <a:buClrTx/>
              <a:buSzTx/>
              <a:buFont typeface="Arial" panose="020B0604020202020204" pitchFamily="34" charset="0"/>
              <a:buChar char="•"/>
              <a:tabLst>
                <a:tab pos="127000" algn="l"/>
              </a:tabLst>
              <a:defRPr/>
            </a:pPr>
            <a:endParaRPr kumimoji="0" lang="en-US"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C0497A37-555F-4957-8275-FC0A3EC9D4B6}"/>
              </a:ext>
            </a:extLst>
          </p:cNvPr>
          <p:cNvSpPr txBox="1"/>
          <p:nvPr/>
        </p:nvSpPr>
        <p:spPr>
          <a:xfrm>
            <a:off x="244487" y="859930"/>
            <a:ext cx="453398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u="none" strike="noStrike" kern="1200" cap="none" spc="0" normalizeH="0" baseline="0" noProof="0">
              <a:ln>
                <a:noFill/>
              </a:ln>
              <a:effectLst/>
              <a:uLnTx/>
              <a:uFillTx/>
              <a:latin typeface="Times New Roman"/>
              <a:ea typeface="+mn-ea"/>
              <a:cs typeface="Times New Roman"/>
            </a:endParaRPr>
          </a:p>
        </p:txBody>
      </p:sp>
      <p:sp>
        <p:nvSpPr>
          <p:cNvPr id="28" name="Title 6">
            <a:extLst>
              <a:ext uri="{FF2B5EF4-FFF2-40B4-BE49-F238E27FC236}">
                <a16:creationId xmlns:a16="http://schemas.microsoft.com/office/drawing/2014/main" id="{CF8EA4AD-B75F-426C-BBC0-1397442C6F69}"/>
              </a:ext>
            </a:extLst>
          </p:cNvPr>
          <p:cNvSpPr>
            <a:spLocks noGrp="1"/>
          </p:cNvSpPr>
          <p:nvPr>
            <p:ph type="title"/>
          </p:nvPr>
        </p:nvSpPr>
        <p:spPr>
          <a:xfrm>
            <a:off x="336750" y="131721"/>
            <a:ext cx="8470498" cy="276999"/>
          </a:xfrm>
        </p:spPr>
        <p:txBody>
          <a:bodyPr wrap="square" lIns="0" tIns="0" rIns="0" bIns="0" anchor="t">
            <a:spAutoFit/>
          </a:bodyPr>
          <a:lstStyle/>
          <a:p>
            <a:r>
              <a:rPr lang="en-US"/>
              <a:t>RESEARCH, WHEEL, INPUTS &amp; TESTING (Gautam Shetty (Team leader))</a:t>
            </a:r>
          </a:p>
        </p:txBody>
      </p:sp>
      <p:pic>
        <p:nvPicPr>
          <p:cNvPr id="15" name="Picture 14">
            <a:extLst>
              <a:ext uri="{FF2B5EF4-FFF2-40B4-BE49-F238E27FC236}">
                <a16:creationId xmlns:a16="http://schemas.microsoft.com/office/drawing/2014/main" id="{8938CD03-6EA5-4700-83EC-158005B974BE}"/>
              </a:ext>
            </a:extLst>
          </p:cNvPr>
          <p:cNvPicPr>
            <a:picLocks noChangeAspect="1"/>
          </p:cNvPicPr>
          <p:nvPr/>
        </p:nvPicPr>
        <p:blipFill>
          <a:blip r:embed="rId2"/>
          <a:stretch>
            <a:fillRect/>
          </a:stretch>
        </p:blipFill>
        <p:spPr>
          <a:xfrm>
            <a:off x="4870739" y="663507"/>
            <a:ext cx="3997135" cy="1215007"/>
          </a:xfrm>
          <a:prstGeom prst="rect">
            <a:avLst/>
          </a:prstGeom>
          <a:ln w="6350">
            <a:solidFill>
              <a:schemeClr val="tx1"/>
            </a:solidFill>
          </a:ln>
        </p:spPr>
      </p:pic>
      <p:sp>
        <p:nvSpPr>
          <p:cNvPr id="16" name="TextBox 15">
            <a:extLst>
              <a:ext uri="{FF2B5EF4-FFF2-40B4-BE49-F238E27FC236}">
                <a16:creationId xmlns:a16="http://schemas.microsoft.com/office/drawing/2014/main" id="{0E1C321F-B751-4529-AA22-7A058A1BEE3B}"/>
              </a:ext>
            </a:extLst>
          </p:cNvPr>
          <p:cNvSpPr txBox="1"/>
          <p:nvPr/>
        </p:nvSpPr>
        <p:spPr>
          <a:xfrm>
            <a:off x="105025" y="481923"/>
            <a:ext cx="4594251" cy="41505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lrTx/>
              <a:buFont typeface="Arial" panose="020B0604020202020204" pitchFamily="34" charset="0"/>
              <a:buChar char="•"/>
              <a:defRPr/>
            </a:pPr>
            <a:r>
              <a:rPr lang="en-US" sz="1600" kern="1200">
                <a:latin typeface="Times New Roman"/>
                <a:ea typeface="+mn-ea"/>
                <a:cs typeface="Times New Roman"/>
              </a:rPr>
              <a:t>Did preliminary research on the modelling and simulation of various automotive subsystems</a:t>
            </a:r>
          </a:p>
          <a:p>
            <a:pPr marL="285750" indent="-285750">
              <a:buClrTx/>
              <a:buFont typeface="Arial" panose="020B0604020202020204" pitchFamily="34" charset="0"/>
              <a:buChar char="•"/>
              <a:defRPr/>
            </a:pPr>
            <a:r>
              <a:rPr lang="en-US" sz="1600" kern="1200">
                <a:latin typeface="Times New Roman"/>
                <a:ea typeface="+mn-ea"/>
                <a:cs typeface="Times New Roman"/>
              </a:rPr>
              <a:t>Derived the necessary mathematical and physical equations for each working part of our vehicle</a:t>
            </a:r>
          </a:p>
          <a:p>
            <a:pPr marL="285750" indent="-285750">
              <a:buClrTx/>
              <a:buFont typeface="Arial" panose="020B0604020202020204" pitchFamily="34" charset="0"/>
              <a:buChar char="•"/>
              <a:defRPr/>
            </a:pPr>
            <a:r>
              <a:rPr lang="en-US" sz="1600" kern="1200">
                <a:latin typeface="Times New Roman"/>
                <a:ea typeface="+mn-ea"/>
                <a:cs typeface="Times New Roman"/>
              </a:rPr>
              <a:t>Tasked each member of our team to model these individual parts in MATLAB and Simulink</a:t>
            </a:r>
          </a:p>
          <a:p>
            <a:pPr marL="285750" indent="-285750">
              <a:buClrTx/>
              <a:buFont typeface="Arial" panose="020B0604020202020204" pitchFamily="34" charset="0"/>
              <a:buChar char="•"/>
              <a:defRPr/>
            </a:pPr>
            <a:r>
              <a:rPr lang="en-US" sz="1600" kern="1200">
                <a:latin typeface="Times New Roman"/>
                <a:ea typeface="+mn-ea"/>
                <a:cs typeface="Times New Roman"/>
              </a:rPr>
              <a:t>Developed the crucial wheel sub-block which outputs the tire forces, moments and wheel speeds</a:t>
            </a:r>
          </a:p>
          <a:p>
            <a:pPr marL="285750" indent="-285750">
              <a:buClrTx/>
              <a:buFont typeface="Arial" panose="020B0604020202020204" pitchFamily="34" charset="0"/>
              <a:buChar char="•"/>
              <a:defRPr/>
            </a:pPr>
            <a:r>
              <a:rPr lang="en-US" sz="1600" kern="1200">
                <a:latin typeface="Times New Roman"/>
                <a:ea typeface="+mn-ea"/>
                <a:cs typeface="Times New Roman"/>
              </a:rPr>
              <a:t>These values are integral to the functioning of our entire model</a:t>
            </a:r>
          </a:p>
          <a:p>
            <a:pPr marL="285750" indent="-285750">
              <a:buClrTx/>
              <a:buFont typeface="Arial" panose="020B0604020202020204" pitchFamily="34" charset="0"/>
              <a:buChar char="•"/>
              <a:defRPr/>
            </a:pPr>
            <a:r>
              <a:rPr lang="en-US" sz="1600" kern="1200">
                <a:latin typeface="Times New Roman"/>
                <a:ea typeface="+mn-ea"/>
                <a:cs typeface="Times New Roman"/>
              </a:rPr>
              <a:t>Subsidiary models for the input road profile, driver control and results were also developed</a:t>
            </a:r>
          </a:p>
          <a:p>
            <a:pPr marL="285750" indent="-285750">
              <a:buClrTx/>
              <a:buFont typeface="Arial" panose="020B0604020202020204" pitchFamily="34" charset="0"/>
              <a:buChar char="•"/>
              <a:defRPr/>
            </a:pPr>
            <a:r>
              <a:rPr lang="en-US" sz="1600" kern="1200">
                <a:latin typeface="Times New Roman"/>
                <a:ea typeface="+mn-ea"/>
                <a:cs typeface="Times New Roman"/>
              </a:rPr>
              <a:t>Connected all the individual components together to obtain the final system</a:t>
            </a:r>
          </a:p>
          <a:p>
            <a:pPr marL="285750" indent="-285750">
              <a:buClrTx/>
              <a:buFont typeface="Arial" panose="020B0604020202020204" pitchFamily="34" charset="0"/>
              <a:buChar char="•"/>
              <a:defRPr/>
            </a:pPr>
            <a:r>
              <a:rPr lang="en-US" sz="1600" kern="1200">
                <a:latin typeface="Times New Roman"/>
                <a:ea typeface="+mn-ea"/>
                <a:cs typeface="Times New Roman"/>
              </a:rPr>
              <a:t>Created several test cases for the final testing and thereby validated the entire working model</a:t>
            </a:r>
          </a:p>
        </p:txBody>
      </p:sp>
      <p:sp>
        <p:nvSpPr>
          <p:cNvPr id="18" name="object 3">
            <a:extLst>
              <a:ext uri="{FF2B5EF4-FFF2-40B4-BE49-F238E27FC236}">
                <a16:creationId xmlns:a16="http://schemas.microsoft.com/office/drawing/2014/main" id="{4DF77D53-7937-47CA-9151-BEE94F7FB7CF}"/>
              </a:ext>
            </a:extLst>
          </p:cNvPr>
          <p:cNvSpPr txBox="1">
            <a:spLocks/>
          </p:cNvSpPr>
          <p:nvPr/>
        </p:nvSpPr>
        <p:spPr>
          <a:xfrm>
            <a:off x="336750" y="5413799"/>
            <a:ext cx="871564" cy="289823"/>
          </a:xfrm>
          <a:prstGeom prst="rect">
            <a:avLst/>
          </a:prstGeom>
        </p:spPr>
        <p:txBody>
          <a:bodyPr vert="horz" wrap="square" lIns="0" tIns="12700" rIns="0" bIns="0" rtlCol="0" anchor="t">
            <a:spAutoFit/>
          </a:bodyPr>
          <a:lstStyle>
            <a:lvl1pPr>
              <a:defRPr sz="1800" b="1" i="0">
                <a:solidFill>
                  <a:schemeClr val="tx1"/>
                </a:solidFill>
                <a:latin typeface="Times New Roman"/>
                <a:ea typeface="+mj-ea"/>
                <a:cs typeface="Times New Roman"/>
              </a:defRPr>
            </a:lvl1pPr>
          </a:lstStyle>
          <a:p>
            <a:pPr marL="12700">
              <a:spcBef>
                <a:spcPts val="100"/>
              </a:spcBef>
              <a:buClrTx/>
              <a:buFontTx/>
            </a:pPr>
            <a:r>
              <a:rPr lang="en-US" spc="-10"/>
              <a:t>Results:</a:t>
            </a:r>
            <a:endParaRPr lang="en-US" spc="-5"/>
          </a:p>
        </p:txBody>
      </p:sp>
      <p:pic>
        <p:nvPicPr>
          <p:cNvPr id="20" name="Picture 19">
            <a:extLst>
              <a:ext uri="{FF2B5EF4-FFF2-40B4-BE49-F238E27FC236}">
                <a16:creationId xmlns:a16="http://schemas.microsoft.com/office/drawing/2014/main" id="{679C0C60-665F-4E78-975F-3FD594E7BEA0}"/>
              </a:ext>
            </a:extLst>
          </p:cNvPr>
          <p:cNvPicPr>
            <a:picLocks noChangeAspect="1"/>
          </p:cNvPicPr>
          <p:nvPr/>
        </p:nvPicPr>
        <p:blipFill>
          <a:blip r:embed="rId3"/>
          <a:stretch>
            <a:fillRect/>
          </a:stretch>
        </p:blipFill>
        <p:spPr>
          <a:xfrm>
            <a:off x="4699276" y="2248247"/>
            <a:ext cx="4337658" cy="1441522"/>
          </a:xfrm>
          <a:prstGeom prst="rect">
            <a:avLst/>
          </a:prstGeom>
          <a:ln w="6350">
            <a:solidFill>
              <a:schemeClr val="tx1"/>
            </a:solidFill>
          </a:ln>
        </p:spPr>
      </p:pic>
      <p:pic>
        <p:nvPicPr>
          <p:cNvPr id="21" name="Picture 20">
            <a:extLst>
              <a:ext uri="{FF2B5EF4-FFF2-40B4-BE49-F238E27FC236}">
                <a16:creationId xmlns:a16="http://schemas.microsoft.com/office/drawing/2014/main" id="{C4AAC7B8-7700-4EB1-8BA3-FE5123F4458B}"/>
              </a:ext>
            </a:extLst>
          </p:cNvPr>
          <p:cNvPicPr>
            <a:picLocks noChangeAspect="1"/>
          </p:cNvPicPr>
          <p:nvPr/>
        </p:nvPicPr>
        <p:blipFill>
          <a:blip r:embed="rId4"/>
          <a:stretch>
            <a:fillRect/>
          </a:stretch>
        </p:blipFill>
        <p:spPr>
          <a:xfrm>
            <a:off x="4792787" y="4016449"/>
            <a:ext cx="4153038" cy="2473988"/>
          </a:xfrm>
          <a:prstGeom prst="rect">
            <a:avLst/>
          </a:prstGeom>
          <a:ln w="6350">
            <a:solidFill>
              <a:schemeClr val="tx1"/>
            </a:solidFill>
          </a:ln>
        </p:spPr>
      </p:pic>
      <p:pic>
        <p:nvPicPr>
          <p:cNvPr id="22" name="Picture 21">
            <a:extLst>
              <a:ext uri="{FF2B5EF4-FFF2-40B4-BE49-F238E27FC236}">
                <a16:creationId xmlns:a16="http://schemas.microsoft.com/office/drawing/2014/main" id="{C5AF34E1-E39C-4AB1-8238-AC8A8121A1D0}"/>
              </a:ext>
            </a:extLst>
          </p:cNvPr>
          <p:cNvPicPr>
            <a:picLocks noChangeAspect="1"/>
          </p:cNvPicPr>
          <p:nvPr/>
        </p:nvPicPr>
        <p:blipFill>
          <a:blip r:embed="rId5"/>
          <a:stretch>
            <a:fillRect/>
          </a:stretch>
        </p:blipFill>
        <p:spPr>
          <a:xfrm>
            <a:off x="1343450" y="4741346"/>
            <a:ext cx="3220690" cy="1634731"/>
          </a:xfrm>
          <a:prstGeom prst="rect">
            <a:avLst/>
          </a:prstGeom>
          <a:ln w="6350">
            <a:solidFill>
              <a:schemeClr val="tx1"/>
            </a:solidFill>
          </a:ln>
        </p:spPr>
      </p:pic>
      <p:sp>
        <p:nvSpPr>
          <p:cNvPr id="27" name="TextBox 26">
            <a:extLst>
              <a:ext uri="{FF2B5EF4-FFF2-40B4-BE49-F238E27FC236}">
                <a16:creationId xmlns:a16="http://schemas.microsoft.com/office/drawing/2014/main" id="{A207540C-687E-438F-A8FF-E524E16A2305}"/>
              </a:ext>
            </a:extLst>
          </p:cNvPr>
          <p:cNvSpPr txBox="1"/>
          <p:nvPr/>
        </p:nvSpPr>
        <p:spPr>
          <a:xfrm>
            <a:off x="5803980" y="6501284"/>
            <a:ext cx="2130652" cy="261610"/>
          </a:xfrm>
          <a:prstGeom prst="rect">
            <a:avLst/>
          </a:prstGeom>
          <a:noFill/>
        </p:spPr>
        <p:txBody>
          <a:bodyPr wrap="square">
            <a:spAutoFit/>
          </a:bodyPr>
          <a:lstStyle/>
          <a:p>
            <a:r>
              <a:rPr lang="en-US" sz="1100" b="1" spc="-5">
                <a:latin typeface="Times New Roman"/>
                <a:cs typeface="Times New Roman"/>
              </a:rPr>
              <a:t>Normal force on Each Tyre (N)</a:t>
            </a:r>
            <a:endParaRPr lang="en-US" sz="1100" b="1"/>
          </a:p>
        </p:txBody>
      </p:sp>
      <p:sp>
        <p:nvSpPr>
          <p:cNvPr id="30" name="TextBox 29">
            <a:extLst>
              <a:ext uri="{FF2B5EF4-FFF2-40B4-BE49-F238E27FC236}">
                <a16:creationId xmlns:a16="http://schemas.microsoft.com/office/drawing/2014/main" id="{3A753475-09F8-4B1D-8C7D-5ABEF21DF0C8}"/>
              </a:ext>
            </a:extLst>
          </p:cNvPr>
          <p:cNvSpPr txBox="1"/>
          <p:nvPr/>
        </p:nvSpPr>
        <p:spPr>
          <a:xfrm>
            <a:off x="1912708" y="6376077"/>
            <a:ext cx="2082173" cy="261610"/>
          </a:xfrm>
          <a:prstGeom prst="rect">
            <a:avLst/>
          </a:prstGeom>
          <a:noFill/>
        </p:spPr>
        <p:txBody>
          <a:bodyPr wrap="square">
            <a:spAutoFit/>
          </a:bodyPr>
          <a:lstStyle/>
          <a:p>
            <a:pPr algn="ctr"/>
            <a:r>
              <a:rPr lang="en-US" sz="1100" b="1" spc="-5">
                <a:latin typeface="Times New Roman"/>
                <a:cs typeface="Times New Roman"/>
              </a:rPr>
              <a:t>Weight Validation (Kg)</a:t>
            </a:r>
            <a:endParaRPr lang="en-US" sz="1100" b="1"/>
          </a:p>
        </p:txBody>
      </p:sp>
      <p:sp>
        <p:nvSpPr>
          <p:cNvPr id="31" name="TextBox 30">
            <a:extLst>
              <a:ext uri="{FF2B5EF4-FFF2-40B4-BE49-F238E27FC236}">
                <a16:creationId xmlns:a16="http://schemas.microsoft.com/office/drawing/2014/main" id="{2CD1E5F2-B0BC-46AF-B4E2-5CB9BA8D1EBF}"/>
              </a:ext>
            </a:extLst>
          </p:cNvPr>
          <p:cNvSpPr txBox="1"/>
          <p:nvPr/>
        </p:nvSpPr>
        <p:spPr>
          <a:xfrm>
            <a:off x="4778476" y="3689769"/>
            <a:ext cx="4135878" cy="261610"/>
          </a:xfrm>
          <a:prstGeom prst="rect">
            <a:avLst/>
          </a:prstGeom>
          <a:noFill/>
        </p:spPr>
        <p:txBody>
          <a:bodyPr wrap="square">
            <a:spAutoFit/>
          </a:bodyPr>
          <a:lstStyle/>
          <a:p>
            <a:pPr algn="ctr"/>
            <a:r>
              <a:rPr lang="en-US" sz="1100" b="1" spc="-5">
                <a:latin typeface="Times New Roman"/>
                <a:cs typeface="Times New Roman"/>
              </a:rPr>
              <a:t>Tyre Subsystem</a:t>
            </a:r>
            <a:endParaRPr lang="en-US" sz="1100" b="1"/>
          </a:p>
        </p:txBody>
      </p:sp>
      <p:sp>
        <p:nvSpPr>
          <p:cNvPr id="32" name="TextBox 31">
            <a:extLst>
              <a:ext uri="{FF2B5EF4-FFF2-40B4-BE49-F238E27FC236}">
                <a16:creationId xmlns:a16="http://schemas.microsoft.com/office/drawing/2014/main" id="{83E05FC5-AB34-4E83-90ED-21EB862D18F5}"/>
              </a:ext>
            </a:extLst>
          </p:cNvPr>
          <p:cNvSpPr txBox="1"/>
          <p:nvPr/>
        </p:nvSpPr>
        <p:spPr>
          <a:xfrm>
            <a:off x="4800166" y="1848601"/>
            <a:ext cx="4135878" cy="261610"/>
          </a:xfrm>
          <a:prstGeom prst="rect">
            <a:avLst/>
          </a:prstGeom>
          <a:noFill/>
        </p:spPr>
        <p:txBody>
          <a:bodyPr wrap="square">
            <a:spAutoFit/>
          </a:bodyPr>
          <a:lstStyle/>
          <a:p>
            <a:pPr algn="ctr"/>
            <a:r>
              <a:rPr lang="en-US" sz="1100" b="1" spc="-5">
                <a:latin typeface="Times New Roman"/>
                <a:cs typeface="Times New Roman"/>
              </a:rPr>
              <a:t>Final Integrated Model</a:t>
            </a:r>
            <a:endParaRPr lang="en-US" sz="1100" b="1"/>
          </a:p>
        </p:txBody>
      </p:sp>
    </p:spTree>
    <p:extLst>
      <p:ext uri="{BB962C8B-B14F-4D97-AF65-F5344CB8AC3E}">
        <p14:creationId xmlns:p14="http://schemas.microsoft.com/office/powerpoint/2010/main" val="192924738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8</Slides>
  <Notes>3</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1_Office Theme</vt:lpstr>
      <vt:lpstr>PowerPoint Presentation</vt:lpstr>
      <vt:lpstr>PowerPoint Presentation</vt:lpstr>
      <vt:lpstr>Methodology and Deliverables</vt:lpstr>
      <vt:lpstr>POWERTRAIN &amp; BRAKING SUBSYSTEMS (Arjav Jain)</vt:lpstr>
      <vt:lpstr>RIDE SUBSYSTEM (Parth Chhabra)</vt:lpstr>
      <vt:lpstr>HANDLING SUBSYSTEM (Harsiddh Desai)</vt:lpstr>
      <vt:lpstr>SUSPENSION SUBSYSTEM (Ipsit Anand)</vt:lpstr>
      <vt:lpstr>RESEARCH, WHEEL, INPUTS &amp; TESTING (Gautam Shetty (Team leader))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Development of a  14 DOF full vehicle model</dc:title>
  <cp:revision>2</cp:revision>
  <dcterms:modified xsi:type="dcterms:W3CDTF">2024-09-23T10:03:25Z</dcterms:modified>
</cp:coreProperties>
</file>