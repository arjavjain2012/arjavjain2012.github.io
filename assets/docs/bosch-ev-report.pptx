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Lst>
  <p:sldSz cy="5143500" cx="9144000"/>
  <p:notesSz cx="6858000" cy="9144000"/>
  <p:embeddedFontLst>
    <p:embeddedFont>
      <p:font typeface="Roboto Black"/>
      <p:bold r:id="rId55"/>
      <p:boldItalic r:id="rId56"/>
    </p:embeddedFont>
    <p:embeddedFont>
      <p:font typeface="Roboto"/>
      <p:regular r:id="rId57"/>
      <p:bold r:id="rId58"/>
      <p:italic r:id="rId59"/>
      <p:boldItalic r:id="rId60"/>
    </p:embeddedFont>
    <p:embeddedFont>
      <p:font typeface="Lato"/>
      <p:regular r:id="rId61"/>
      <p:bold r:id="rId62"/>
      <p:italic r:id="rId63"/>
      <p:boldItalic r:id="rId64"/>
    </p:embeddedFont>
    <p:embeddedFont>
      <p:font typeface="Open Sans SemiBold"/>
      <p:regular r:id="rId65"/>
      <p:bold r:id="rId66"/>
      <p:italic r:id="rId67"/>
      <p:boldItalic r:id="rId68"/>
    </p:embeddedFont>
    <p:embeddedFont>
      <p:font typeface="Lato Black"/>
      <p:bold r:id="rId69"/>
      <p:boldItalic r:id="rId70"/>
    </p:embeddedFont>
    <p:embeddedFont>
      <p:font typeface="Open Sans ExtraBold"/>
      <p:bold r:id="rId71"/>
      <p:boldItalic r:id="rId72"/>
    </p:embeddedFont>
    <p:embeddedFont>
      <p:font typeface="Open Sans Light"/>
      <p:regular r:id="rId73"/>
      <p:bold r:id="rId74"/>
      <p:italic r:id="rId75"/>
      <p:boldItalic r:id="rId76"/>
    </p:embeddedFont>
    <p:embeddedFont>
      <p:font typeface="Open Sans"/>
      <p:regular r:id="rId77"/>
      <p:bold r:id="rId78"/>
      <p:italic r:id="rId79"/>
      <p:boldItalic r:id="rId8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3AF8DD5-E6FA-4577-8082-F1EEE736C7BF}">
  <a:tblStyle styleId="{43AF8DD5-E6FA-4577-8082-F1EEE736C7B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OpenSan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OpenSansLight-regular.fntdata"/><Relationship Id="rId72" Type="http://schemas.openxmlformats.org/officeDocument/2006/relationships/font" Target="fonts/OpenSansExtraBold-boldItalic.fntdata"/><Relationship Id="rId31" Type="http://schemas.openxmlformats.org/officeDocument/2006/relationships/slide" Target="slides/slide25.xml"/><Relationship Id="rId75" Type="http://schemas.openxmlformats.org/officeDocument/2006/relationships/font" Target="fonts/OpenSansLight-italic.fntdata"/><Relationship Id="rId30" Type="http://schemas.openxmlformats.org/officeDocument/2006/relationships/slide" Target="slides/slide24.xml"/><Relationship Id="rId74" Type="http://schemas.openxmlformats.org/officeDocument/2006/relationships/font" Target="fonts/OpenSansLight-bold.fntdata"/><Relationship Id="rId33" Type="http://schemas.openxmlformats.org/officeDocument/2006/relationships/slide" Target="slides/slide27.xml"/><Relationship Id="rId77" Type="http://schemas.openxmlformats.org/officeDocument/2006/relationships/font" Target="fonts/OpenSans-regular.fntdata"/><Relationship Id="rId32" Type="http://schemas.openxmlformats.org/officeDocument/2006/relationships/slide" Target="slides/slide26.xml"/><Relationship Id="rId76" Type="http://schemas.openxmlformats.org/officeDocument/2006/relationships/font" Target="fonts/OpenSansLight-boldItalic.fntdata"/><Relationship Id="rId35" Type="http://schemas.openxmlformats.org/officeDocument/2006/relationships/slide" Target="slides/slide29.xml"/><Relationship Id="rId79" Type="http://schemas.openxmlformats.org/officeDocument/2006/relationships/font" Target="fonts/OpenSans-italic.fntdata"/><Relationship Id="rId34" Type="http://schemas.openxmlformats.org/officeDocument/2006/relationships/slide" Target="slides/slide28.xml"/><Relationship Id="rId78" Type="http://schemas.openxmlformats.org/officeDocument/2006/relationships/font" Target="fonts/OpenSans-bold.fntdata"/><Relationship Id="rId71" Type="http://schemas.openxmlformats.org/officeDocument/2006/relationships/font" Target="fonts/OpenSansExtraBold-bold.fntdata"/><Relationship Id="rId70" Type="http://schemas.openxmlformats.org/officeDocument/2006/relationships/font" Target="fonts/LatoBlack-bold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Lato-bold.fntdata"/><Relationship Id="rId61" Type="http://schemas.openxmlformats.org/officeDocument/2006/relationships/font" Target="fonts/Lato-regular.fntdata"/><Relationship Id="rId20" Type="http://schemas.openxmlformats.org/officeDocument/2006/relationships/slide" Target="slides/slide14.xml"/><Relationship Id="rId64" Type="http://schemas.openxmlformats.org/officeDocument/2006/relationships/font" Target="fonts/Lato-boldItalic.fntdata"/><Relationship Id="rId63" Type="http://schemas.openxmlformats.org/officeDocument/2006/relationships/font" Target="fonts/Lato-italic.fntdata"/><Relationship Id="rId22" Type="http://schemas.openxmlformats.org/officeDocument/2006/relationships/slide" Target="slides/slide16.xml"/><Relationship Id="rId66" Type="http://schemas.openxmlformats.org/officeDocument/2006/relationships/font" Target="fonts/OpenSansSemiBold-bold.fntdata"/><Relationship Id="rId21" Type="http://schemas.openxmlformats.org/officeDocument/2006/relationships/slide" Target="slides/slide15.xml"/><Relationship Id="rId65" Type="http://schemas.openxmlformats.org/officeDocument/2006/relationships/font" Target="fonts/OpenSansSemiBold-regular.fntdata"/><Relationship Id="rId24" Type="http://schemas.openxmlformats.org/officeDocument/2006/relationships/slide" Target="slides/slide18.xml"/><Relationship Id="rId68" Type="http://schemas.openxmlformats.org/officeDocument/2006/relationships/font" Target="fonts/OpenSansSemiBold-boldItalic.fntdata"/><Relationship Id="rId23" Type="http://schemas.openxmlformats.org/officeDocument/2006/relationships/slide" Target="slides/slide17.xml"/><Relationship Id="rId67" Type="http://schemas.openxmlformats.org/officeDocument/2006/relationships/font" Target="fonts/OpenSansSemiBold-italic.fntdata"/><Relationship Id="rId60" Type="http://schemas.openxmlformats.org/officeDocument/2006/relationships/font" Target="fonts/Roboto-boldItalic.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LatoBlack-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RobotoBlack-bold.fntdata"/><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Roboto-regular.fntdata"/><Relationship Id="rId12" Type="http://schemas.openxmlformats.org/officeDocument/2006/relationships/slide" Target="slides/slide6.xml"/><Relationship Id="rId56" Type="http://schemas.openxmlformats.org/officeDocument/2006/relationships/font" Target="fonts/RobotoBlack-boldItalic.fntdata"/><Relationship Id="rId15" Type="http://schemas.openxmlformats.org/officeDocument/2006/relationships/slide" Target="slides/slide9.xml"/><Relationship Id="rId59" Type="http://schemas.openxmlformats.org/officeDocument/2006/relationships/font" Target="fonts/Roboto-italic.fntdata"/><Relationship Id="rId14" Type="http://schemas.openxmlformats.org/officeDocument/2006/relationships/slide" Target="slides/slide8.xml"/><Relationship Id="rId58" Type="http://schemas.openxmlformats.org/officeDocument/2006/relationships/font" Target="fonts/Roboto-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ww.consumerreports.org/car-safety/best-and-worst-braking-distances/"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ca64f25ba6_1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ca64f25ba6_1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ca0598ca8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ca0598ca8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will be covering all the problem statements</a:t>
            </a:r>
            <a:endParaRPr/>
          </a:p>
          <a:p>
            <a:pPr indent="0" lvl="0" marL="0" rtl="0" algn="l">
              <a:spcBef>
                <a:spcPts val="0"/>
              </a:spcBef>
              <a:spcAft>
                <a:spcPts val="0"/>
              </a:spcAft>
              <a:buNone/>
            </a:pPr>
            <a:r>
              <a:rPr lang="en"/>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ca0598ca85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ca0598ca8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b698e73de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b698e73de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daa0f6940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daa0f6940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daa0f69407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daa0f69407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b698e73de8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b698e73de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caba56cf35_8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caba56cf35_8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45 sec</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ca64f25ba6_1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ca64f25ba6_1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ca0598ca85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ca0598ca85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5275" lvl="0" marL="457200" rtl="0" algn="l">
              <a:spcBef>
                <a:spcPts val="0"/>
              </a:spcBef>
              <a:spcAft>
                <a:spcPts val="0"/>
              </a:spcAft>
              <a:buClr>
                <a:schemeClr val="dk1"/>
              </a:buClr>
              <a:buSzPts val="1050"/>
              <a:buAutoNum type="arabicPeriod"/>
            </a:pPr>
            <a:r>
              <a:rPr lang="en" sz="1050">
                <a:solidFill>
                  <a:schemeClr val="dk1"/>
                </a:solidFill>
              </a:rPr>
              <a:t> We focussed on B2Bs - Cost justification B2B focussed - </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EV is better suited for cities(urban and semi-urban) rather than highways.</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Low maintanance.</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Demand growth due to e-commerce.(Like Tata Ace ,Tata Magic have shown cosiderable growth).</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B2B will usually involve fixed routes so charging can be scheduled and managed.</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Environment.</a:t>
            </a:r>
            <a:endParaRPr sz="1050">
              <a:solidFill>
                <a:schemeClr val="dk1"/>
              </a:solidFill>
            </a:endParaRPr>
          </a:p>
          <a:p>
            <a:pPr indent="0" lvl="0" marL="457200" rtl="0" algn="l">
              <a:spcBef>
                <a:spcPts val="0"/>
              </a:spcBef>
              <a:spcAft>
                <a:spcPts val="0"/>
              </a:spcAft>
              <a:buNone/>
            </a:pPr>
            <a:r>
              <a:t/>
            </a:r>
            <a:endParaRPr sz="1050">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Best target for early adoption - fuel consumption and distance travelled per day  - biggest impact with minimum need for drastic measures/ market disruption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Untapped market potential  - passenger, vehicles - big players involved, significant development, trucks, buses - still we see electric ones, but ulcvs - NO</a:t>
            </a:r>
            <a:endParaRPr>
              <a:solidFill>
                <a:schemeClr val="dk1"/>
              </a:solidFill>
            </a:endParaRPr>
          </a:p>
          <a:p>
            <a:pPr indent="-298450" lvl="0" marL="457200" rtl="0" algn="l">
              <a:spcBef>
                <a:spcPts val="0"/>
              </a:spcBef>
              <a:spcAft>
                <a:spcPts val="0"/>
              </a:spcAft>
              <a:buClr>
                <a:schemeClr val="dk1"/>
              </a:buClr>
              <a:buSzPts val="1100"/>
              <a:buChar char="●"/>
            </a:pPr>
            <a:r>
              <a:t/>
            </a:r>
            <a:endParaRPr/>
          </a:p>
          <a:p>
            <a:pPr indent="0" lvl="0" marL="0" rtl="0" algn="l">
              <a:spcBef>
                <a:spcPts val="0"/>
              </a:spcBef>
              <a:spcAft>
                <a:spcPts val="0"/>
              </a:spcAft>
              <a:buNone/>
            </a:pPr>
            <a:r>
              <a:rPr lang="en">
                <a:solidFill>
                  <a:srgbClr val="FF0000"/>
                </a:solidFill>
              </a:rPr>
              <a:t>Story ki atrah single para ki tarah bata</a:t>
            </a:r>
            <a:endParaRPr>
              <a:solidFill>
                <a:srgbClr val="FF0000"/>
              </a:solidFill>
            </a:endParaRPr>
          </a:p>
          <a:p>
            <a:pPr indent="0" lvl="0" marL="0" rtl="0" algn="l">
              <a:spcBef>
                <a:spcPts val="0"/>
              </a:spcBef>
              <a:spcAft>
                <a:spcPts val="0"/>
              </a:spcAft>
              <a:buNone/>
            </a:pPr>
            <a:r>
              <a:rPr lang="en"/>
              <a:t>Market share B2b vehicles ka, ULCVs ka, percentage growth rojections for both</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AutoNum type="arabicPeriod"/>
            </a:pPr>
            <a:r>
              <a:rPr lang="en"/>
              <a:t>Cost analysis, ex of popularity of autorickshaws, okinawa</a:t>
            </a:r>
            <a:endParaRPr/>
          </a:p>
          <a:p>
            <a:pPr indent="-298450" lvl="0" marL="457200" rtl="0" algn="l">
              <a:spcBef>
                <a:spcPts val="0"/>
              </a:spcBef>
              <a:spcAft>
                <a:spcPts val="0"/>
              </a:spcAft>
              <a:buSzPts val="1100"/>
              <a:buAutoNum type="arabicPeriod"/>
            </a:pPr>
            <a:r>
              <a:rPr lang="en"/>
              <a:t>Justification via image</a:t>
            </a:r>
            <a:endParaRPr/>
          </a:p>
          <a:p>
            <a:pPr indent="-298450" lvl="0" marL="457200" rtl="0" algn="l">
              <a:spcBef>
                <a:spcPts val="0"/>
              </a:spcBef>
              <a:spcAft>
                <a:spcPts val="0"/>
              </a:spcAft>
              <a:buSzPts val="1100"/>
              <a:buAutoNum type="arabicPeriod"/>
            </a:pPr>
            <a:r>
              <a:rPr lang="en"/>
              <a:t>Market growth till now, future projections</a:t>
            </a:r>
            <a:endParaRPr/>
          </a:p>
          <a:p>
            <a:pPr indent="-298450" lvl="0" marL="457200" rtl="0" algn="l">
              <a:spcBef>
                <a:spcPts val="0"/>
              </a:spcBef>
              <a:spcAft>
                <a:spcPts val="0"/>
              </a:spcAft>
              <a:buSzPts val="1100"/>
              <a:buAutoNum type="arabicPeriod"/>
            </a:pPr>
            <a:r>
              <a:rPr lang="en"/>
              <a:t>Normal photo / consumer vehicle ki charging infra per dependence dikha do</a:t>
            </a:r>
            <a:endParaRPr/>
          </a:p>
          <a:p>
            <a:pPr indent="-298450" lvl="0" marL="457200" rtl="0" algn="l">
              <a:spcBef>
                <a:spcPts val="0"/>
              </a:spcBef>
              <a:spcAft>
                <a:spcPts val="0"/>
              </a:spcAft>
              <a:buSzPts val="1100"/>
              <a:buAutoNum type="arabicPeriod"/>
            </a:pPr>
            <a:r>
              <a:rPr lang="en"/>
              <a:t>Avg life cycle improvement, maintenance cost reduction</a:t>
            </a:r>
            <a:endParaRPr/>
          </a:p>
          <a:p>
            <a:pPr indent="-298450" lvl="0" marL="457200" rtl="0" algn="l">
              <a:spcBef>
                <a:spcPts val="0"/>
              </a:spcBef>
              <a:spcAft>
                <a:spcPts val="0"/>
              </a:spcAft>
              <a:buSzPts val="1100"/>
              <a:buAutoNum type="arabicPeriod"/>
            </a:pPr>
            <a:r>
              <a:rPr lang="en"/>
              <a:t>Fuel, dist covered stats</a:t>
            </a:r>
            <a:endParaRPr/>
          </a:p>
          <a:p>
            <a:pPr indent="-298450" lvl="0" marL="457200" rtl="0" algn="l">
              <a:spcBef>
                <a:spcPts val="0"/>
              </a:spcBef>
              <a:spcAft>
                <a:spcPts val="0"/>
              </a:spcAft>
              <a:buSzPts val="1100"/>
              <a:buAutoNum type="arabicPeriod"/>
            </a:pPr>
            <a:r>
              <a:rPr lang="en"/>
              <a:t>Show no. of 2W/cars/buses/trucks, then show ulcvs launched in india</a:t>
            </a:r>
            <a:endParaRPr/>
          </a:p>
          <a:p>
            <a:pPr indent="-298450" lvl="0" marL="457200" rtl="0" algn="l">
              <a:spcBef>
                <a:spcPts val="0"/>
              </a:spcBef>
              <a:spcAft>
                <a:spcPts val="0"/>
              </a:spcAft>
              <a:buSzPts val="1100"/>
              <a:buAutoNum type="arabicPeriod"/>
            </a:pPr>
            <a:r>
              <a:rPr lang="en"/>
              <a:t>Torque graph comparison</a:t>
            </a:r>
            <a:endParaRPr/>
          </a:p>
          <a:p>
            <a:pPr indent="-298450" lvl="0" marL="457200" rtl="0" algn="l">
              <a:spcBef>
                <a:spcPts val="0"/>
              </a:spcBef>
              <a:spcAft>
                <a:spcPts val="0"/>
              </a:spcAft>
              <a:buSzPts val="1100"/>
              <a:buAutoNum type="arabicPeriod"/>
            </a:pPr>
            <a:r>
              <a:rPr lang="en"/>
              <a:t>Show map of registered ulcvs to show concentration in cities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ca94265ded_8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ca94265ded_8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5275" lvl="0" marL="457200" rtl="0" algn="l">
              <a:spcBef>
                <a:spcPts val="0"/>
              </a:spcBef>
              <a:spcAft>
                <a:spcPts val="0"/>
              </a:spcAft>
              <a:buClr>
                <a:schemeClr val="dk1"/>
              </a:buClr>
              <a:buSzPts val="1050"/>
              <a:buAutoNum type="arabicPeriod"/>
            </a:pPr>
            <a:r>
              <a:rPr lang="en" sz="1050">
                <a:solidFill>
                  <a:schemeClr val="dk1"/>
                </a:solidFill>
              </a:rPr>
              <a:t> We focussed on B2Bs - Cost justification B2B focussed - </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EV is better suited for cities(urban and semi-urban) rather than highways.</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Low maintanance.</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Demand growth due to e-commerce.(Like Tata Ace ,Tata Magic have shown cosiderable growth).</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B2B will usually involve fixed routes so charging can be scheduled and managed.</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Environment.</a:t>
            </a:r>
            <a:endParaRPr sz="1050">
              <a:solidFill>
                <a:schemeClr val="dk1"/>
              </a:solidFill>
            </a:endParaRPr>
          </a:p>
          <a:p>
            <a:pPr indent="0" lvl="0" marL="457200" rtl="0" algn="l">
              <a:spcBef>
                <a:spcPts val="0"/>
              </a:spcBef>
              <a:spcAft>
                <a:spcPts val="0"/>
              </a:spcAft>
              <a:buNone/>
            </a:pPr>
            <a:r>
              <a:t/>
            </a:r>
            <a:endParaRPr sz="1050">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Best target for early adoption - fuel consumption and distance travelled per day  - biggest impact with minimum need for drastic measures/ market disruption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Untapped market potential  - passenger, vehicles - big players involved, significant development, trucks, buses - still we see electric ones, but ulcvs - NO</a:t>
            </a:r>
            <a:endParaRPr>
              <a:solidFill>
                <a:schemeClr val="dk1"/>
              </a:solidFill>
            </a:endParaRPr>
          </a:p>
          <a:p>
            <a:pPr indent="-298450" lvl="0" marL="457200" rtl="0" algn="l">
              <a:spcBef>
                <a:spcPts val="0"/>
              </a:spcBef>
              <a:spcAft>
                <a:spcPts val="0"/>
              </a:spcAft>
              <a:buClr>
                <a:schemeClr val="dk1"/>
              </a:buClr>
              <a:buSzPts val="1100"/>
              <a:buChar char="●"/>
            </a:pPr>
            <a:r>
              <a:t/>
            </a:r>
            <a:endParaRPr/>
          </a:p>
          <a:p>
            <a:pPr indent="0" lvl="0" marL="0" rtl="0" algn="l">
              <a:spcBef>
                <a:spcPts val="0"/>
              </a:spcBef>
              <a:spcAft>
                <a:spcPts val="0"/>
              </a:spcAft>
              <a:buNone/>
            </a:pPr>
            <a:r>
              <a:rPr lang="en">
                <a:solidFill>
                  <a:srgbClr val="FF0000"/>
                </a:solidFill>
              </a:rPr>
              <a:t>Story ki atrah single para ki tarah bata</a:t>
            </a:r>
            <a:endParaRPr>
              <a:solidFill>
                <a:srgbClr val="FF0000"/>
              </a:solidFill>
            </a:endParaRPr>
          </a:p>
          <a:p>
            <a:pPr indent="0" lvl="0" marL="0" rtl="0" algn="l">
              <a:spcBef>
                <a:spcPts val="0"/>
              </a:spcBef>
              <a:spcAft>
                <a:spcPts val="0"/>
              </a:spcAft>
              <a:buNone/>
            </a:pPr>
            <a:r>
              <a:rPr lang="en"/>
              <a:t>Market share B2b vehicles ka, ULCVs ka, percentage growth rojections for both</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AutoNum type="arabicPeriod"/>
            </a:pPr>
            <a:r>
              <a:rPr lang="en"/>
              <a:t>ex of popularity of autorickshaws, okinawa</a:t>
            </a:r>
            <a:endParaRPr/>
          </a:p>
          <a:p>
            <a:pPr indent="-298450" lvl="0" marL="457200" rtl="0" algn="l">
              <a:spcBef>
                <a:spcPts val="0"/>
              </a:spcBef>
              <a:spcAft>
                <a:spcPts val="0"/>
              </a:spcAft>
              <a:buSzPts val="1100"/>
              <a:buAutoNum type="arabicPeriod"/>
            </a:pPr>
            <a:r>
              <a:rPr lang="en"/>
              <a:t>Justification via image</a:t>
            </a:r>
            <a:endParaRPr/>
          </a:p>
          <a:p>
            <a:pPr indent="-298450" lvl="0" marL="457200" rtl="0" algn="l">
              <a:spcBef>
                <a:spcPts val="0"/>
              </a:spcBef>
              <a:spcAft>
                <a:spcPts val="0"/>
              </a:spcAft>
              <a:buSzPts val="1100"/>
              <a:buAutoNum type="arabicPeriod"/>
            </a:pPr>
            <a:r>
              <a:rPr lang="en"/>
              <a:t>Market growth till now, future projections</a:t>
            </a:r>
            <a:endParaRPr/>
          </a:p>
          <a:p>
            <a:pPr indent="-298450" lvl="0" marL="457200" rtl="0" algn="l">
              <a:spcBef>
                <a:spcPts val="0"/>
              </a:spcBef>
              <a:spcAft>
                <a:spcPts val="0"/>
              </a:spcAft>
              <a:buSzPts val="1100"/>
              <a:buAutoNum type="arabicPeriod"/>
            </a:pPr>
            <a:r>
              <a:rPr lang="en"/>
              <a:t>Normal photo / consumer vehicle ki charging infra per dependence dikha do</a:t>
            </a:r>
            <a:endParaRPr/>
          </a:p>
          <a:p>
            <a:pPr indent="-298450" lvl="0" marL="457200" rtl="0" algn="l">
              <a:spcBef>
                <a:spcPts val="0"/>
              </a:spcBef>
              <a:spcAft>
                <a:spcPts val="0"/>
              </a:spcAft>
              <a:buSzPts val="1100"/>
              <a:buAutoNum type="arabicPeriod"/>
            </a:pPr>
            <a:r>
              <a:rPr lang="en"/>
              <a:t>Avg life cycle improvement, maintenance cost reduction</a:t>
            </a:r>
            <a:endParaRPr/>
          </a:p>
          <a:p>
            <a:pPr indent="-298450" lvl="0" marL="457200" rtl="0" algn="l">
              <a:spcBef>
                <a:spcPts val="0"/>
              </a:spcBef>
              <a:spcAft>
                <a:spcPts val="0"/>
              </a:spcAft>
              <a:buSzPts val="1100"/>
              <a:buAutoNum type="arabicPeriod"/>
            </a:pPr>
            <a:r>
              <a:rPr lang="en"/>
              <a:t>Fuel, dist covered stats</a:t>
            </a:r>
            <a:endParaRPr/>
          </a:p>
          <a:p>
            <a:pPr indent="-298450" lvl="0" marL="457200" rtl="0" algn="l">
              <a:spcBef>
                <a:spcPts val="0"/>
              </a:spcBef>
              <a:spcAft>
                <a:spcPts val="0"/>
              </a:spcAft>
              <a:buSzPts val="1100"/>
              <a:buAutoNum type="arabicPeriod"/>
            </a:pPr>
            <a:r>
              <a:rPr lang="en"/>
              <a:t>Show no. of 2W/cars/buses/trucks, then show ulcvs launched in india</a:t>
            </a:r>
            <a:endParaRPr/>
          </a:p>
          <a:p>
            <a:pPr indent="-298450" lvl="0" marL="457200" rtl="0" algn="l">
              <a:spcBef>
                <a:spcPts val="0"/>
              </a:spcBef>
              <a:spcAft>
                <a:spcPts val="0"/>
              </a:spcAft>
              <a:buSzPts val="1100"/>
              <a:buAutoNum type="arabicPeriod"/>
            </a:pPr>
            <a:r>
              <a:rPr lang="en"/>
              <a:t>Torque graph comparison</a:t>
            </a:r>
            <a:endParaRPr/>
          </a:p>
          <a:p>
            <a:pPr indent="-298450" lvl="0" marL="457200" rtl="0" algn="l">
              <a:spcBef>
                <a:spcPts val="0"/>
              </a:spcBef>
              <a:spcAft>
                <a:spcPts val="0"/>
              </a:spcAft>
              <a:buSzPts val="1100"/>
              <a:buAutoNum type="arabicPeriod"/>
            </a:pPr>
            <a:r>
              <a:rPr lang="en"/>
              <a:t>Show map of registered ulcvs to show concentration in cities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caba56cf35_7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caba56cf35_7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5275" lvl="0" marL="457200" rtl="0" algn="l">
              <a:spcBef>
                <a:spcPts val="0"/>
              </a:spcBef>
              <a:spcAft>
                <a:spcPts val="0"/>
              </a:spcAft>
              <a:buClr>
                <a:schemeClr val="dk1"/>
              </a:buClr>
              <a:buSzPts val="1050"/>
              <a:buAutoNum type="arabicPeriod"/>
            </a:pPr>
            <a:r>
              <a:rPr lang="en" sz="1050">
                <a:solidFill>
                  <a:schemeClr val="dk1"/>
                </a:solidFill>
              </a:rPr>
              <a:t> We focussed on B2Bs - Cost justification B2B focussed - </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EV is better suited for cities(urban and semi-urban) rather than highways.</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Low maintanance.</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Demand growth due to e-commerce.(Like Tata Ace ,Tata Magic have shown cosiderable growth).</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B2B will usually involve fixed routes so charging can be scheduled and managed.</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Environment.</a:t>
            </a:r>
            <a:endParaRPr sz="1050">
              <a:solidFill>
                <a:schemeClr val="dk1"/>
              </a:solidFill>
            </a:endParaRPr>
          </a:p>
          <a:p>
            <a:pPr indent="0" lvl="0" marL="457200" rtl="0" algn="l">
              <a:spcBef>
                <a:spcPts val="0"/>
              </a:spcBef>
              <a:spcAft>
                <a:spcPts val="0"/>
              </a:spcAft>
              <a:buNone/>
            </a:pPr>
            <a:r>
              <a:t/>
            </a:r>
            <a:endParaRPr sz="1050">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Best target for early adoption - fuel consumption and distance travelled per day  - biggest impact with minimum need for drastic measures/ market disruption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Untapped market potential  - passenger, vehicles - big players involved, significant development, trucks, buses - still we see electric ones, but ulcvs - NO</a:t>
            </a:r>
            <a:endParaRPr>
              <a:solidFill>
                <a:schemeClr val="dk1"/>
              </a:solidFill>
            </a:endParaRPr>
          </a:p>
          <a:p>
            <a:pPr indent="-298450" lvl="0" marL="457200" rtl="0" algn="l">
              <a:spcBef>
                <a:spcPts val="0"/>
              </a:spcBef>
              <a:spcAft>
                <a:spcPts val="0"/>
              </a:spcAft>
              <a:buClr>
                <a:schemeClr val="dk1"/>
              </a:buClr>
              <a:buSzPts val="1100"/>
              <a:buChar char="●"/>
            </a:pPr>
            <a:r>
              <a:t/>
            </a:r>
            <a:endParaRPr/>
          </a:p>
          <a:p>
            <a:pPr indent="0" lvl="0" marL="0" rtl="0" algn="l">
              <a:spcBef>
                <a:spcPts val="0"/>
              </a:spcBef>
              <a:spcAft>
                <a:spcPts val="0"/>
              </a:spcAft>
              <a:buNone/>
            </a:pPr>
            <a:r>
              <a:rPr lang="en">
                <a:solidFill>
                  <a:srgbClr val="FF0000"/>
                </a:solidFill>
              </a:rPr>
              <a:t>Story ki atrah single para ki tarah bata</a:t>
            </a:r>
            <a:endParaRPr>
              <a:solidFill>
                <a:srgbClr val="FF0000"/>
              </a:solidFill>
            </a:endParaRPr>
          </a:p>
          <a:p>
            <a:pPr indent="0" lvl="0" marL="0" rtl="0" algn="l">
              <a:spcBef>
                <a:spcPts val="0"/>
              </a:spcBef>
              <a:spcAft>
                <a:spcPts val="0"/>
              </a:spcAft>
              <a:buNone/>
            </a:pPr>
            <a:r>
              <a:rPr lang="en"/>
              <a:t>Market share B2b vehicles ka, ULCVs ka, percentage growth rojections for both</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AutoNum type="arabicPeriod"/>
            </a:pPr>
            <a:r>
              <a:rPr lang="en"/>
              <a:t>ex of popularity of autorickshaws, okinawa</a:t>
            </a:r>
            <a:endParaRPr/>
          </a:p>
          <a:p>
            <a:pPr indent="-298450" lvl="0" marL="457200" rtl="0" algn="l">
              <a:spcBef>
                <a:spcPts val="0"/>
              </a:spcBef>
              <a:spcAft>
                <a:spcPts val="0"/>
              </a:spcAft>
              <a:buSzPts val="1100"/>
              <a:buAutoNum type="arabicPeriod"/>
            </a:pPr>
            <a:r>
              <a:rPr lang="en"/>
              <a:t>Justification via image</a:t>
            </a:r>
            <a:endParaRPr/>
          </a:p>
          <a:p>
            <a:pPr indent="-298450" lvl="0" marL="457200" rtl="0" algn="l">
              <a:spcBef>
                <a:spcPts val="0"/>
              </a:spcBef>
              <a:spcAft>
                <a:spcPts val="0"/>
              </a:spcAft>
              <a:buSzPts val="1100"/>
              <a:buAutoNum type="arabicPeriod"/>
            </a:pPr>
            <a:r>
              <a:rPr lang="en"/>
              <a:t>Market growth till now, future projections</a:t>
            </a:r>
            <a:endParaRPr/>
          </a:p>
          <a:p>
            <a:pPr indent="-298450" lvl="0" marL="457200" rtl="0" algn="l">
              <a:spcBef>
                <a:spcPts val="0"/>
              </a:spcBef>
              <a:spcAft>
                <a:spcPts val="0"/>
              </a:spcAft>
              <a:buSzPts val="1100"/>
              <a:buAutoNum type="arabicPeriod"/>
            </a:pPr>
            <a:r>
              <a:rPr lang="en"/>
              <a:t>Normal photo / consumer vehicle ki charging infra per dependence dikha do</a:t>
            </a:r>
            <a:endParaRPr/>
          </a:p>
          <a:p>
            <a:pPr indent="-298450" lvl="0" marL="457200" rtl="0" algn="l">
              <a:spcBef>
                <a:spcPts val="0"/>
              </a:spcBef>
              <a:spcAft>
                <a:spcPts val="0"/>
              </a:spcAft>
              <a:buSzPts val="1100"/>
              <a:buAutoNum type="arabicPeriod"/>
            </a:pPr>
            <a:r>
              <a:rPr lang="en"/>
              <a:t>Avg life cycle improvement, maintenance cost reduction</a:t>
            </a:r>
            <a:endParaRPr/>
          </a:p>
          <a:p>
            <a:pPr indent="-298450" lvl="0" marL="457200" rtl="0" algn="l">
              <a:spcBef>
                <a:spcPts val="0"/>
              </a:spcBef>
              <a:spcAft>
                <a:spcPts val="0"/>
              </a:spcAft>
              <a:buSzPts val="1100"/>
              <a:buAutoNum type="arabicPeriod"/>
            </a:pPr>
            <a:r>
              <a:rPr lang="en"/>
              <a:t>Fuel, dist covered stats</a:t>
            </a:r>
            <a:endParaRPr/>
          </a:p>
          <a:p>
            <a:pPr indent="-298450" lvl="0" marL="457200" rtl="0" algn="l">
              <a:spcBef>
                <a:spcPts val="0"/>
              </a:spcBef>
              <a:spcAft>
                <a:spcPts val="0"/>
              </a:spcAft>
              <a:buSzPts val="1100"/>
              <a:buAutoNum type="arabicPeriod"/>
            </a:pPr>
            <a:r>
              <a:rPr lang="en"/>
              <a:t>Show no. of 2W/cars/buses/trucks, then show ulcvs launched in india</a:t>
            </a:r>
            <a:endParaRPr/>
          </a:p>
          <a:p>
            <a:pPr indent="-298450" lvl="0" marL="457200" rtl="0" algn="l">
              <a:spcBef>
                <a:spcPts val="0"/>
              </a:spcBef>
              <a:spcAft>
                <a:spcPts val="0"/>
              </a:spcAft>
              <a:buSzPts val="1100"/>
              <a:buAutoNum type="arabicPeriod"/>
            </a:pPr>
            <a:r>
              <a:rPr lang="en"/>
              <a:t>Torque graph comparison</a:t>
            </a:r>
            <a:endParaRPr/>
          </a:p>
          <a:p>
            <a:pPr indent="-298450" lvl="0" marL="457200" rtl="0" algn="l">
              <a:spcBef>
                <a:spcPts val="0"/>
              </a:spcBef>
              <a:spcAft>
                <a:spcPts val="0"/>
              </a:spcAft>
              <a:buSzPts val="1100"/>
              <a:buAutoNum type="arabicPeriod"/>
            </a:pPr>
            <a:r>
              <a:rPr lang="en"/>
              <a:t>Show map of registered ulcvs to show concentration in cities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caba56cf35_7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caba56cf35_7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5275" lvl="0" marL="457200" rtl="0" algn="l">
              <a:spcBef>
                <a:spcPts val="0"/>
              </a:spcBef>
              <a:spcAft>
                <a:spcPts val="0"/>
              </a:spcAft>
              <a:buClr>
                <a:schemeClr val="dk1"/>
              </a:buClr>
              <a:buSzPts val="1050"/>
              <a:buAutoNum type="arabicPeriod"/>
            </a:pPr>
            <a:r>
              <a:rPr lang="en" sz="1050">
                <a:solidFill>
                  <a:schemeClr val="dk1"/>
                </a:solidFill>
              </a:rPr>
              <a:t> We focussed on B2Bs - Cost justification B2B focussed - </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EV is better suited for cities(urban and semi-urban) rather than highways.</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Low maintanance.</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Demand growth due to e-commerce.(Like Tata Ace ,Tata Magic have shown cosiderable growth).</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B2B will usually involve fixed routes so charging can be scheduled and managed.</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Environment.</a:t>
            </a:r>
            <a:endParaRPr sz="1050">
              <a:solidFill>
                <a:schemeClr val="dk1"/>
              </a:solidFill>
            </a:endParaRPr>
          </a:p>
          <a:p>
            <a:pPr indent="0" lvl="0" marL="457200" rtl="0" algn="l">
              <a:spcBef>
                <a:spcPts val="0"/>
              </a:spcBef>
              <a:spcAft>
                <a:spcPts val="0"/>
              </a:spcAft>
              <a:buNone/>
            </a:pPr>
            <a:r>
              <a:t/>
            </a:r>
            <a:endParaRPr sz="1050">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Best target for early adoption - fuel consumption and distance travelled per day  - biggest impact with minimum need for drastic measures/ market disruption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Untapped market potential  - passenger, vehicles - big players involved, significant development, trucks, buses - still we see electric ones, but ulcvs - NO</a:t>
            </a:r>
            <a:endParaRPr>
              <a:solidFill>
                <a:schemeClr val="dk1"/>
              </a:solidFill>
            </a:endParaRPr>
          </a:p>
          <a:p>
            <a:pPr indent="-298450" lvl="0" marL="457200" rtl="0" algn="l">
              <a:spcBef>
                <a:spcPts val="0"/>
              </a:spcBef>
              <a:spcAft>
                <a:spcPts val="0"/>
              </a:spcAft>
              <a:buClr>
                <a:schemeClr val="dk1"/>
              </a:buClr>
              <a:buSzPts val="1100"/>
              <a:buChar char="●"/>
            </a:pPr>
            <a:r>
              <a:t/>
            </a:r>
            <a:endParaRPr/>
          </a:p>
          <a:p>
            <a:pPr indent="0" lvl="0" marL="0" rtl="0" algn="l">
              <a:spcBef>
                <a:spcPts val="0"/>
              </a:spcBef>
              <a:spcAft>
                <a:spcPts val="0"/>
              </a:spcAft>
              <a:buNone/>
            </a:pPr>
            <a:r>
              <a:rPr lang="en">
                <a:solidFill>
                  <a:srgbClr val="FF0000"/>
                </a:solidFill>
              </a:rPr>
              <a:t>Story ki atrah single para ki tarah bata</a:t>
            </a:r>
            <a:endParaRPr>
              <a:solidFill>
                <a:srgbClr val="FF0000"/>
              </a:solidFill>
            </a:endParaRPr>
          </a:p>
          <a:p>
            <a:pPr indent="0" lvl="0" marL="0" rtl="0" algn="l">
              <a:spcBef>
                <a:spcPts val="0"/>
              </a:spcBef>
              <a:spcAft>
                <a:spcPts val="0"/>
              </a:spcAft>
              <a:buNone/>
            </a:pPr>
            <a:r>
              <a:rPr lang="en"/>
              <a:t>Market share B2b vehicles ka, ULCVs ka, percentage growth rojections for both</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AutoNum type="arabicPeriod"/>
            </a:pPr>
            <a:r>
              <a:rPr lang="en"/>
              <a:t>ex of popularity of autorickshaws, okinawa</a:t>
            </a:r>
            <a:endParaRPr/>
          </a:p>
          <a:p>
            <a:pPr indent="-298450" lvl="0" marL="457200" rtl="0" algn="l">
              <a:spcBef>
                <a:spcPts val="0"/>
              </a:spcBef>
              <a:spcAft>
                <a:spcPts val="0"/>
              </a:spcAft>
              <a:buSzPts val="1100"/>
              <a:buAutoNum type="arabicPeriod"/>
            </a:pPr>
            <a:r>
              <a:rPr lang="en"/>
              <a:t>Justification via image</a:t>
            </a:r>
            <a:endParaRPr/>
          </a:p>
          <a:p>
            <a:pPr indent="-298450" lvl="0" marL="457200" rtl="0" algn="l">
              <a:spcBef>
                <a:spcPts val="0"/>
              </a:spcBef>
              <a:spcAft>
                <a:spcPts val="0"/>
              </a:spcAft>
              <a:buSzPts val="1100"/>
              <a:buAutoNum type="arabicPeriod"/>
            </a:pPr>
            <a:r>
              <a:rPr lang="en"/>
              <a:t>Market growth till now, future projections</a:t>
            </a:r>
            <a:endParaRPr/>
          </a:p>
          <a:p>
            <a:pPr indent="-298450" lvl="0" marL="457200" rtl="0" algn="l">
              <a:spcBef>
                <a:spcPts val="0"/>
              </a:spcBef>
              <a:spcAft>
                <a:spcPts val="0"/>
              </a:spcAft>
              <a:buSzPts val="1100"/>
              <a:buAutoNum type="arabicPeriod"/>
            </a:pPr>
            <a:r>
              <a:rPr lang="en"/>
              <a:t>Normal photo / consumer vehicle ki charging infra per dependence dikha do</a:t>
            </a:r>
            <a:endParaRPr/>
          </a:p>
          <a:p>
            <a:pPr indent="-298450" lvl="0" marL="457200" rtl="0" algn="l">
              <a:spcBef>
                <a:spcPts val="0"/>
              </a:spcBef>
              <a:spcAft>
                <a:spcPts val="0"/>
              </a:spcAft>
              <a:buSzPts val="1100"/>
              <a:buAutoNum type="arabicPeriod"/>
            </a:pPr>
            <a:r>
              <a:rPr lang="en"/>
              <a:t>Avg life cycle improvement, maintenance cost reduction</a:t>
            </a:r>
            <a:endParaRPr/>
          </a:p>
          <a:p>
            <a:pPr indent="-298450" lvl="0" marL="457200" rtl="0" algn="l">
              <a:spcBef>
                <a:spcPts val="0"/>
              </a:spcBef>
              <a:spcAft>
                <a:spcPts val="0"/>
              </a:spcAft>
              <a:buSzPts val="1100"/>
              <a:buAutoNum type="arabicPeriod"/>
            </a:pPr>
            <a:r>
              <a:rPr lang="en"/>
              <a:t>Fuel, dist covered stats</a:t>
            </a:r>
            <a:endParaRPr/>
          </a:p>
          <a:p>
            <a:pPr indent="-298450" lvl="0" marL="457200" rtl="0" algn="l">
              <a:spcBef>
                <a:spcPts val="0"/>
              </a:spcBef>
              <a:spcAft>
                <a:spcPts val="0"/>
              </a:spcAft>
              <a:buSzPts val="1100"/>
              <a:buAutoNum type="arabicPeriod"/>
            </a:pPr>
            <a:r>
              <a:rPr lang="en"/>
              <a:t>Show no. of 2W/cars/buses/trucks, then show ulcvs launched in india</a:t>
            </a:r>
            <a:endParaRPr/>
          </a:p>
          <a:p>
            <a:pPr indent="-298450" lvl="0" marL="457200" rtl="0" algn="l">
              <a:spcBef>
                <a:spcPts val="0"/>
              </a:spcBef>
              <a:spcAft>
                <a:spcPts val="0"/>
              </a:spcAft>
              <a:buSzPts val="1100"/>
              <a:buAutoNum type="arabicPeriod"/>
            </a:pPr>
            <a:r>
              <a:rPr lang="en"/>
              <a:t>Torque graph comparison</a:t>
            </a:r>
            <a:endParaRPr/>
          </a:p>
          <a:p>
            <a:pPr indent="-298450" lvl="0" marL="457200" rtl="0" algn="l">
              <a:spcBef>
                <a:spcPts val="0"/>
              </a:spcBef>
              <a:spcAft>
                <a:spcPts val="0"/>
              </a:spcAft>
              <a:buSzPts val="1100"/>
              <a:buAutoNum type="arabicPeriod"/>
            </a:pPr>
            <a:r>
              <a:rPr lang="en"/>
              <a:t>Show map of registered ulcvs to show concentration in cities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cad39eb0e1_1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cad39eb0e1_1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5275" lvl="0" marL="457200" rtl="0" algn="l">
              <a:spcBef>
                <a:spcPts val="0"/>
              </a:spcBef>
              <a:spcAft>
                <a:spcPts val="0"/>
              </a:spcAft>
              <a:buClr>
                <a:schemeClr val="dk1"/>
              </a:buClr>
              <a:buSzPts val="1050"/>
              <a:buAutoNum type="arabicPeriod"/>
            </a:pPr>
            <a:r>
              <a:rPr lang="en" sz="1050">
                <a:solidFill>
                  <a:schemeClr val="dk1"/>
                </a:solidFill>
              </a:rPr>
              <a:t> We focussed on B2Bs - Cost justification B2B focussed - </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EV is better suited for cities(urban and semi-urban) rather than highways.</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Low maintanance.</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Demand growth due to e-commerce.(Like Tata Ace ,Tata Magic have shown cosiderable growth).</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B2B will usually involve fixed routes so charging can be scheduled and managed.</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Environment.</a:t>
            </a:r>
            <a:endParaRPr sz="1050">
              <a:solidFill>
                <a:schemeClr val="dk1"/>
              </a:solidFill>
            </a:endParaRPr>
          </a:p>
          <a:p>
            <a:pPr indent="0" lvl="0" marL="457200" rtl="0" algn="l">
              <a:spcBef>
                <a:spcPts val="0"/>
              </a:spcBef>
              <a:spcAft>
                <a:spcPts val="0"/>
              </a:spcAft>
              <a:buNone/>
            </a:pPr>
            <a:r>
              <a:t/>
            </a:r>
            <a:endParaRPr sz="1050">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Best target for early adoption - fuel consumption and distance travelled per day  - biggest impact with minimum need for drastic measures/ market disruption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Untapped market potential  - passenger, vehicles - big players involved, significant development, trucks, buses - still we see electric ones, but ulcvs - NO</a:t>
            </a:r>
            <a:endParaRPr>
              <a:solidFill>
                <a:schemeClr val="dk1"/>
              </a:solidFill>
            </a:endParaRPr>
          </a:p>
          <a:p>
            <a:pPr indent="-298450" lvl="0" marL="457200" rtl="0" algn="l">
              <a:spcBef>
                <a:spcPts val="0"/>
              </a:spcBef>
              <a:spcAft>
                <a:spcPts val="0"/>
              </a:spcAft>
              <a:buClr>
                <a:schemeClr val="dk1"/>
              </a:buClr>
              <a:buSzPts val="1100"/>
              <a:buChar char="●"/>
            </a:pPr>
            <a:r>
              <a:t/>
            </a:r>
            <a:endParaRPr/>
          </a:p>
          <a:p>
            <a:pPr indent="0" lvl="0" marL="0" rtl="0" algn="l">
              <a:spcBef>
                <a:spcPts val="0"/>
              </a:spcBef>
              <a:spcAft>
                <a:spcPts val="0"/>
              </a:spcAft>
              <a:buNone/>
            </a:pPr>
            <a:r>
              <a:rPr lang="en">
                <a:solidFill>
                  <a:srgbClr val="FF0000"/>
                </a:solidFill>
              </a:rPr>
              <a:t>Story ki atrah single para ki tarah bata</a:t>
            </a:r>
            <a:endParaRPr>
              <a:solidFill>
                <a:srgbClr val="FF0000"/>
              </a:solidFill>
            </a:endParaRPr>
          </a:p>
          <a:p>
            <a:pPr indent="0" lvl="0" marL="0" rtl="0" algn="l">
              <a:spcBef>
                <a:spcPts val="0"/>
              </a:spcBef>
              <a:spcAft>
                <a:spcPts val="0"/>
              </a:spcAft>
              <a:buNone/>
            </a:pPr>
            <a:r>
              <a:rPr lang="en"/>
              <a:t>Market share B2b vehicles ka, ULCVs ka, percentage growth rojections for both</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AutoNum type="arabicPeriod"/>
            </a:pPr>
            <a:r>
              <a:rPr lang="en"/>
              <a:t>ex of popularity of autorickshaws, okinawa</a:t>
            </a:r>
            <a:endParaRPr/>
          </a:p>
          <a:p>
            <a:pPr indent="-298450" lvl="0" marL="457200" rtl="0" algn="l">
              <a:spcBef>
                <a:spcPts val="0"/>
              </a:spcBef>
              <a:spcAft>
                <a:spcPts val="0"/>
              </a:spcAft>
              <a:buSzPts val="1100"/>
              <a:buAutoNum type="arabicPeriod"/>
            </a:pPr>
            <a:r>
              <a:rPr lang="en"/>
              <a:t>Justification via image</a:t>
            </a:r>
            <a:endParaRPr/>
          </a:p>
          <a:p>
            <a:pPr indent="-298450" lvl="0" marL="457200" rtl="0" algn="l">
              <a:spcBef>
                <a:spcPts val="0"/>
              </a:spcBef>
              <a:spcAft>
                <a:spcPts val="0"/>
              </a:spcAft>
              <a:buSzPts val="1100"/>
              <a:buAutoNum type="arabicPeriod"/>
            </a:pPr>
            <a:r>
              <a:rPr lang="en"/>
              <a:t>Market growth till now, future projections</a:t>
            </a:r>
            <a:endParaRPr/>
          </a:p>
          <a:p>
            <a:pPr indent="-298450" lvl="0" marL="457200" rtl="0" algn="l">
              <a:spcBef>
                <a:spcPts val="0"/>
              </a:spcBef>
              <a:spcAft>
                <a:spcPts val="0"/>
              </a:spcAft>
              <a:buSzPts val="1100"/>
              <a:buAutoNum type="arabicPeriod"/>
            </a:pPr>
            <a:r>
              <a:rPr lang="en"/>
              <a:t>Normal photo / consumer vehicle ki charging infra per dependence dikha do</a:t>
            </a:r>
            <a:endParaRPr/>
          </a:p>
          <a:p>
            <a:pPr indent="-298450" lvl="0" marL="457200" rtl="0" algn="l">
              <a:spcBef>
                <a:spcPts val="0"/>
              </a:spcBef>
              <a:spcAft>
                <a:spcPts val="0"/>
              </a:spcAft>
              <a:buSzPts val="1100"/>
              <a:buAutoNum type="arabicPeriod"/>
            </a:pPr>
            <a:r>
              <a:rPr lang="en"/>
              <a:t>Avg life cycle improvement, maintenance cost reduction</a:t>
            </a:r>
            <a:endParaRPr/>
          </a:p>
          <a:p>
            <a:pPr indent="-298450" lvl="0" marL="457200" rtl="0" algn="l">
              <a:spcBef>
                <a:spcPts val="0"/>
              </a:spcBef>
              <a:spcAft>
                <a:spcPts val="0"/>
              </a:spcAft>
              <a:buSzPts val="1100"/>
              <a:buAutoNum type="arabicPeriod"/>
            </a:pPr>
            <a:r>
              <a:rPr lang="en"/>
              <a:t>Fuel, dist covered stats</a:t>
            </a:r>
            <a:endParaRPr/>
          </a:p>
          <a:p>
            <a:pPr indent="-298450" lvl="0" marL="457200" rtl="0" algn="l">
              <a:spcBef>
                <a:spcPts val="0"/>
              </a:spcBef>
              <a:spcAft>
                <a:spcPts val="0"/>
              </a:spcAft>
              <a:buSzPts val="1100"/>
              <a:buAutoNum type="arabicPeriod"/>
            </a:pPr>
            <a:r>
              <a:rPr lang="en"/>
              <a:t>Show no. of 2W/cars/buses/trucks, then show ulcvs launched in india</a:t>
            </a:r>
            <a:endParaRPr/>
          </a:p>
          <a:p>
            <a:pPr indent="-298450" lvl="0" marL="457200" rtl="0" algn="l">
              <a:spcBef>
                <a:spcPts val="0"/>
              </a:spcBef>
              <a:spcAft>
                <a:spcPts val="0"/>
              </a:spcAft>
              <a:buSzPts val="1100"/>
              <a:buAutoNum type="arabicPeriod"/>
            </a:pPr>
            <a:r>
              <a:rPr lang="en"/>
              <a:t>Torque graph comparison</a:t>
            </a:r>
            <a:endParaRPr/>
          </a:p>
          <a:p>
            <a:pPr indent="-298450" lvl="0" marL="457200" rtl="0" algn="l">
              <a:spcBef>
                <a:spcPts val="0"/>
              </a:spcBef>
              <a:spcAft>
                <a:spcPts val="0"/>
              </a:spcAft>
              <a:buSzPts val="1100"/>
              <a:buAutoNum type="arabicPeriod"/>
            </a:pPr>
            <a:r>
              <a:rPr lang="en"/>
              <a:t>Show map of registered ulcvs to show concentration in cities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caba56cf35_7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caba56cf35_7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5275" lvl="0" marL="457200" rtl="0" algn="l">
              <a:spcBef>
                <a:spcPts val="0"/>
              </a:spcBef>
              <a:spcAft>
                <a:spcPts val="0"/>
              </a:spcAft>
              <a:buClr>
                <a:schemeClr val="dk1"/>
              </a:buClr>
              <a:buSzPts val="1050"/>
              <a:buAutoNum type="arabicPeriod"/>
            </a:pPr>
            <a:r>
              <a:rPr lang="en" sz="1050">
                <a:solidFill>
                  <a:schemeClr val="dk1"/>
                </a:solidFill>
              </a:rPr>
              <a:t> We focussed on B2Bs - Cost justification B2B focussed - </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EV is better suited for cities(urban and semi-urban) rather than highways.</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Low maintanance.</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Demand growth due to e-commerce.(Like Tata Ace ,Tata Magic have shown cosiderable growth).</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B2B will usually involve fixed routes so charging can be scheduled and managed.</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Environment.</a:t>
            </a:r>
            <a:endParaRPr sz="1050">
              <a:solidFill>
                <a:schemeClr val="dk1"/>
              </a:solidFill>
            </a:endParaRPr>
          </a:p>
          <a:p>
            <a:pPr indent="0" lvl="0" marL="457200" rtl="0" algn="l">
              <a:spcBef>
                <a:spcPts val="0"/>
              </a:spcBef>
              <a:spcAft>
                <a:spcPts val="0"/>
              </a:spcAft>
              <a:buNone/>
            </a:pPr>
            <a:r>
              <a:t/>
            </a:r>
            <a:endParaRPr sz="1050">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Best target for early adoption - fuel consumption and distance travelled per day  - biggest impact with minimum need for drastic measures/ market disruption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Untapped market potential  - passenger, vehicles - big players involved, significant development, trucks, buses - still we see electric ones, but ulcvs - NO</a:t>
            </a:r>
            <a:endParaRPr>
              <a:solidFill>
                <a:schemeClr val="dk1"/>
              </a:solidFill>
            </a:endParaRPr>
          </a:p>
          <a:p>
            <a:pPr indent="-298450" lvl="0" marL="457200" rtl="0" algn="l">
              <a:spcBef>
                <a:spcPts val="0"/>
              </a:spcBef>
              <a:spcAft>
                <a:spcPts val="0"/>
              </a:spcAft>
              <a:buClr>
                <a:schemeClr val="dk1"/>
              </a:buClr>
              <a:buSzPts val="1100"/>
              <a:buChar char="●"/>
            </a:pPr>
            <a:r>
              <a:t/>
            </a:r>
            <a:endParaRPr/>
          </a:p>
          <a:p>
            <a:pPr indent="0" lvl="0" marL="0" rtl="0" algn="l">
              <a:spcBef>
                <a:spcPts val="0"/>
              </a:spcBef>
              <a:spcAft>
                <a:spcPts val="0"/>
              </a:spcAft>
              <a:buNone/>
            </a:pPr>
            <a:r>
              <a:rPr lang="en">
                <a:solidFill>
                  <a:srgbClr val="FF0000"/>
                </a:solidFill>
              </a:rPr>
              <a:t>Story ki atrah single para ki tarah bata</a:t>
            </a:r>
            <a:endParaRPr>
              <a:solidFill>
                <a:srgbClr val="FF0000"/>
              </a:solidFill>
            </a:endParaRPr>
          </a:p>
          <a:p>
            <a:pPr indent="0" lvl="0" marL="0" rtl="0" algn="l">
              <a:spcBef>
                <a:spcPts val="0"/>
              </a:spcBef>
              <a:spcAft>
                <a:spcPts val="0"/>
              </a:spcAft>
              <a:buNone/>
            </a:pPr>
            <a:r>
              <a:rPr lang="en"/>
              <a:t>Market share B2b vehicles ka, ULCVs ka, percentage growth rojections for both</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AutoNum type="arabicPeriod"/>
            </a:pPr>
            <a:r>
              <a:rPr lang="en"/>
              <a:t>ex of popularity of autorickshaws, okinawa</a:t>
            </a:r>
            <a:endParaRPr/>
          </a:p>
          <a:p>
            <a:pPr indent="-298450" lvl="0" marL="457200" rtl="0" algn="l">
              <a:spcBef>
                <a:spcPts val="0"/>
              </a:spcBef>
              <a:spcAft>
                <a:spcPts val="0"/>
              </a:spcAft>
              <a:buSzPts val="1100"/>
              <a:buAutoNum type="arabicPeriod"/>
            </a:pPr>
            <a:r>
              <a:rPr lang="en"/>
              <a:t>Justification via image</a:t>
            </a:r>
            <a:endParaRPr/>
          </a:p>
          <a:p>
            <a:pPr indent="-298450" lvl="0" marL="457200" rtl="0" algn="l">
              <a:spcBef>
                <a:spcPts val="0"/>
              </a:spcBef>
              <a:spcAft>
                <a:spcPts val="0"/>
              </a:spcAft>
              <a:buSzPts val="1100"/>
              <a:buAutoNum type="arabicPeriod"/>
            </a:pPr>
            <a:r>
              <a:rPr lang="en"/>
              <a:t>Market growth till now, future projections</a:t>
            </a:r>
            <a:endParaRPr/>
          </a:p>
          <a:p>
            <a:pPr indent="-298450" lvl="0" marL="457200" rtl="0" algn="l">
              <a:spcBef>
                <a:spcPts val="0"/>
              </a:spcBef>
              <a:spcAft>
                <a:spcPts val="0"/>
              </a:spcAft>
              <a:buSzPts val="1100"/>
              <a:buAutoNum type="arabicPeriod"/>
            </a:pPr>
            <a:r>
              <a:rPr lang="en"/>
              <a:t>Normal photo / consumer vehicle ki charging infra per dependence dikha do</a:t>
            </a:r>
            <a:endParaRPr/>
          </a:p>
          <a:p>
            <a:pPr indent="-298450" lvl="0" marL="457200" rtl="0" algn="l">
              <a:spcBef>
                <a:spcPts val="0"/>
              </a:spcBef>
              <a:spcAft>
                <a:spcPts val="0"/>
              </a:spcAft>
              <a:buSzPts val="1100"/>
              <a:buAutoNum type="arabicPeriod"/>
            </a:pPr>
            <a:r>
              <a:rPr lang="en"/>
              <a:t>Avg life cycle improvement, maintenance cost reduction</a:t>
            </a:r>
            <a:endParaRPr/>
          </a:p>
          <a:p>
            <a:pPr indent="-298450" lvl="0" marL="457200" rtl="0" algn="l">
              <a:spcBef>
                <a:spcPts val="0"/>
              </a:spcBef>
              <a:spcAft>
                <a:spcPts val="0"/>
              </a:spcAft>
              <a:buSzPts val="1100"/>
              <a:buAutoNum type="arabicPeriod"/>
            </a:pPr>
            <a:r>
              <a:rPr lang="en"/>
              <a:t>Fuel, dist covered stats</a:t>
            </a:r>
            <a:endParaRPr/>
          </a:p>
          <a:p>
            <a:pPr indent="-298450" lvl="0" marL="457200" rtl="0" algn="l">
              <a:spcBef>
                <a:spcPts val="0"/>
              </a:spcBef>
              <a:spcAft>
                <a:spcPts val="0"/>
              </a:spcAft>
              <a:buSzPts val="1100"/>
              <a:buAutoNum type="arabicPeriod"/>
            </a:pPr>
            <a:r>
              <a:rPr lang="en"/>
              <a:t>Show no. of 2W/cars/buses/trucks, then show ulcvs launched in india</a:t>
            </a:r>
            <a:endParaRPr/>
          </a:p>
          <a:p>
            <a:pPr indent="-298450" lvl="0" marL="457200" rtl="0" algn="l">
              <a:spcBef>
                <a:spcPts val="0"/>
              </a:spcBef>
              <a:spcAft>
                <a:spcPts val="0"/>
              </a:spcAft>
              <a:buSzPts val="1100"/>
              <a:buAutoNum type="arabicPeriod"/>
            </a:pPr>
            <a:r>
              <a:rPr lang="en"/>
              <a:t>Torque graph comparison</a:t>
            </a:r>
            <a:endParaRPr/>
          </a:p>
          <a:p>
            <a:pPr indent="-298450" lvl="0" marL="457200" rtl="0" algn="l">
              <a:spcBef>
                <a:spcPts val="0"/>
              </a:spcBef>
              <a:spcAft>
                <a:spcPts val="0"/>
              </a:spcAft>
              <a:buSzPts val="1100"/>
              <a:buAutoNum type="arabicPeriod"/>
            </a:pPr>
            <a:r>
              <a:rPr lang="en"/>
              <a:t>Show map of registered ulcvs to show concentration in cities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caba56cf35_7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caba56cf35_7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5275" lvl="0" marL="457200" rtl="0" algn="l">
              <a:spcBef>
                <a:spcPts val="0"/>
              </a:spcBef>
              <a:spcAft>
                <a:spcPts val="0"/>
              </a:spcAft>
              <a:buClr>
                <a:schemeClr val="dk1"/>
              </a:buClr>
              <a:buSzPts val="1050"/>
              <a:buAutoNum type="arabicPeriod"/>
            </a:pPr>
            <a:r>
              <a:rPr lang="en" sz="1050">
                <a:solidFill>
                  <a:schemeClr val="dk1"/>
                </a:solidFill>
              </a:rPr>
              <a:t> We focussed on B2Bs - Cost justification B2B focussed - </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EV is better suited for cities(urban and semi-urban) rather than highways.</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Low maintanance.</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Demand growth due to e-commerce.(Like Tata Ace ,Tata Magic have shown cosiderable growth).</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B2B will usually involve fixed routes so charging can be scheduled and managed.</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Environment.</a:t>
            </a:r>
            <a:endParaRPr sz="1050">
              <a:solidFill>
                <a:schemeClr val="dk1"/>
              </a:solidFill>
            </a:endParaRPr>
          </a:p>
          <a:p>
            <a:pPr indent="0" lvl="0" marL="457200" rtl="0" algn="l">
              <a:spcBef>
                <a:spcPts val="0"/>
              </a:spcBef>
              <a:spcAft>
                <a:spcPts val="0"/>
              </a:spcAft>
              <a:buNone/>
            </a:pPr>
            <a:r>
              <a:t/>
            </a:r>
            <a:endParaRPr sz="1050">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Best target for early adoption - fuel consumption and distance travelled per day  - biggest impact with minimum need for drastic measures/ market disruption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Untapped market potential  - passenger, vehicles - big players involved, significant development, trucks, buses - still we see electric ones, but ulcvs - NO</a:t>
            </a:r>
            <a:endParaRPr>
              <a:solidFill>
                <a:schemeClr val="dk1"/>
              </a:solidFill>
            </a:endParaRPr>
          </a:p>
          <a:p>
            <a:pPr indent="-298450" lvl="0" marL="457200" rtl="0" algn="l">
              <a:spcBef>
                <a:spcPts val="0"/>
              </a:spcBef>
              <a:spcAft>
                <a:spcPts val="0"/>
              </a:spcAft>
              <a:buClr>
                <a:schemeClr val="dk1"/>
              </a:buClr>
              <a:buSzPts val="1100"/>
              <a:buChar char="●"/>
            </a:pPr>
            <a:r>
              <a:t/>
            </a:r>
            <a:endParaRPr/>
          </a:p>
          <a:p>
            <a:pPr indent="0" lvl="0" marL="0" rtl="0" algn="l">
              <a:spcBef>
                <a:spcPts val="0"/>
              </a:spcBef>
              <a:spcAft>
                <a:spcPts val="0"/>
              </a:spcAft>
              <a:buNone/>
            </a:pPr>
            <a:r>
              <a:rPr lang="en">
                <a:solidFill>
                  <a:srgbClr val="FF0000"/>
                </a:solidFill>
              </a:rPr>
              <a:t>Story ki atrah single para ki tarah bata</a:t>
            </a:r>
            <a:endParaRPr>
              <a:solidFill>
                <a:srgbClr val="FF0000"/>
              </a:solidFill>
            </a:endParaRPr>
          </a:p>
          <a:p>
            <a:pPr indent="0" lvl="0" marL="0" rtl="0" algn="l">
              <a:spcBef>
                <a:spcPts val="0"/>
              </a:spcBef>
              <a:spcAft>
                <a:spcPts val="0"/>
              </a:spcAft>
              <a:buNone/>
            </a:pPr>
            <a:r>
              <a:rPr lang="en"/>
              <a:t>Market share B2b vehicles ka, ULCVs ka, percentage growth rojections for both</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AutoNum type="arabicPeriod"/>
            </a:pPr>
            <a:r>
              <a:rPr lang="en"/>
              <a:t>ex of popularity of autorickshaws, okinawa</a:t>
            </a:r>
            <a:endParaRPr/>
          </a:p>
          <a:p>
            <a:pPr indent="-298450" lvl="0" marL="457200" rtl="0" algn="l">
              <a:spcBef>
                <a:spcPts val="0"/>
              </a:spcBef>
              <a:spcAft>
                <a:spcPts val="0"/>
              </a:spcAft>
              <a:buSzPts val="1100"/>
              <a:buAutoNum type="arabicPeriod"/>
            </a:pPr>
            <a:r>
              <a:rPr lang="en"/>
              <a:t>Justification via image</a:t>
            </a:r>
            <a:endParaRPr/>
          </a:p>
          <a:p>
            <a:pPr indent="-298450" lvl="0" marL="457200" rtl="0" algn="l">
              <a:spcBef>
                <a:spcPts val="0"/>
              </a:spcBef>
              <a:spcAft>
                <a:spcPts val="0"/>
              </a:spcAft>
              <a:buSzPts val="1100"/>
              <a:buAutoNum type="arabicPeriod"/>
            </a:pPr>
            <a:r>
              <a:rPr lang="en"/>
              <a:t>Market growth till now, future projections</a:t>
            </a:r>
            <a:endParaRPr/>
          </a:p>
          <a:p>
            <a:pPr indent="-298450" lvl="0" marL="457200" rtl="0" algn="l">
              <a:spcBef>
                <a:spcPts val="0"/>
              </a:spcBef>
              <a:spcAft>
                <a:spcPts val="0"/>
              </a:spcAft>
              <a:buSzPts val="1100"/>
              <a:buAutoNum type="arabicPeriod"/>
            </a:pPr>
            <a:r>
              <a:rPr lang="en"/>
              <a:t>Normal photo / consumer vehicle ki charging infra per dependence dikha do</a:t>
            </a:r>
            <a:endParaRPr/>
          </a:p>
          <a:p>
            <a:pPr indent="-298450" lvl="0" marL="457200" rtl="0" algn="l">
              <a:spcBef>
                <a:spcPts val="0"/>
              </a:spcBef>
              <a:spcAft>
                <a:spcPts val="0"/>
              </a:spcAft>
              <a:buSzPts val="1100"/>
              <a:buAutoNum type="arabicPeriod"/>
            </a:pPr>
            <a:r>
              <a:rPr lang="en"/>
              <a:t>Avg life cycle improvement, maintenance cost reduction</a:t>
            </a:r>
            <a:endParaRPr/>
          </a:p>
          <a:p>
            <a:pPr indent="-298450" lvl="0" marL="457200" rtl="0" algn="l">
              <a:spcBef>
                <a:spcPts val="0"/>
              </a:spcBef>
              <a:spcAft>
                <a:spcPts val="0"/>
              </a:spcAft>
              <a:buSzPts val="1100"/>
              <a:buAutoNum type="arabicPeriod"/>
            </a:pPr>
            <a:r>
              <a:rPr lang="en"/>
              <a:t>Fuel, dist covered stats</a:t>
            </a:r>
            <a:endParaRPr/>
          </a:p>
          <a:p>
            <a:pPr indent="-298450" lvl="0" marL="457200" rtl="0" algn="l">
              <a:spcBef>
                <a:spcPts val="0"/>
              </a:spcBef>
              <a:spcAft>
                <a:spcPts val="0"/>
              </a:spcAft>
              <a:buSzPts val="1100"/>
              <a:buAutoNum type="arabicPeriod"/>
            </a:pPr>
            <a:r>
              <a:rPr lang="en"/>
              <a:t>Show no. of 2W/cars/buses/trucks, then show ulcvs launched in india</a:t>
            </a:r>
            <a:endParaRPr/>
          </a:p>
          <a:p>
            <a:pPr indent="-298450" lvl="0" marL="457200" rtl="0" algn="l">
              <a:spcBef>
                <a:spcPts val="0"/>
              </a:spcBef>
              <a:spcAft>
                <a:spcPts val="0"/>
              </a:spcAft>
              <a:buSzPts val="1100"/>
              <a:buAutoNum type="arabicPeriod"/>
            </a:pPr>
            <a:r>
              <a:rPr lang="en"/>
              <a:t>Torque graph comparison</a:t>
            </a:r>
            <a:endParaRPr/>
          </a:p>
          <a:p>
            <a:pPr indent="-298450" lvl="0" marL="457200" rtl="0" algn="l">
              <a:spcBef>
                <a:spcPts val="0"/>
              </a:spcBef>
              <a:spcAft>
                <a:spcPts val="0"/>
              </a:spcAft>
              <a:buSzPts val="1100"/>
              <a:buAutoNum type="arabicPeriod"/>
            </a:pPr>
            <a:r>
              <a:rPr lang="en"/>
              <a:t>Show map of registered ulcvs to show concentration in cities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caba56cf35_7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caba56cf35_7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5275" lvl="0" marL="457200" rtl="0" algn="l">
              <a:spcBef>
                <a:spcPts val="0"/>
              </a:spcBef>
              <a:spcAft>
                <a:spcPts val="0"/>
              </a:spcAft>
              <a:buClr>
                <a:schemeClr val="dk1"/>
              </a:buClr>
              <a:buSzPts val="1050"/>
              <a:buAutoNum type="arabicPeriod"/>
            </a:pPr>
            <a:r>
              <a:rPr lang="en" sz="1050">
                <a:solidFill>
                  <a:schemeClr val="dk1"/>
                </a:solidFill>
              </a:rPr>
              <a:t> We focussed on B2Bs - Cost justification B2B focussed - </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EV is better suited for cities(urban and semi-urban) rather than highways.</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Low maintanance.</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Demand growth due to e-commerce.(Like Tata Ace ,Tata Magic have shown cosiderable growth).</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B2B will usually involve fixed routes so charging can be scheduled and managed.</a:t>
            </a:r>
            <a:endParaRPr sz="1050">
              <a:solidFill>
                <a:schemeClr val="dk1"/>
              </a:solidFill>
            </a:endParaRPr>
          </a:p>
          <a:p>
            <a:pPr indent="-295275" lvl="0" marL="457200" rtl="0" algn="l">
              <a:spcBef>
                <a:spcPts val="0"/>
              </a:spcBef>
              <a:spcAft>
                <a:spcPts val="0"/>
              </a:spcAft>
              <a:buClr>
                <a:schemeClr val="dk1"/>
              </a:buClr>
              <a:buSzPts val="1050"/>
              <a:buAutoNum type="arabicPeriod"/>
            </a:pPr>
            <a:r>
              <a:rPr lang="en" sz="1050">
                <a:solidFill>
                  <a:schemeClr val="dk1"/>
                </a:solidFill>
              </a:rPr>
              <a:t> Environment.</a:t>
            </a:r>
            <a:endParaRPr sz="1050">
              <a:solidFill>
                <a:schemeClr val="dk1"/>
              </a:solidFill>
            </a:endParaRPr>
          </a:p>
          <a:p>
            <a:pPr indent="0" lvl="0" marL="457200" rtl="0" algn="l">
              <a:spcBef>
                <a:spcPts val="0"/>
              </a:spcBef>
              <a:spcAft>
                <a:spcPts val="0"/>
              </a:spcAft>
              <a:buNone/>
            </a:pPr>
            <a:r>
              <a:t/>
            </a:r>
            <a:endParaRPr sz="1050">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Best target for early adoption - fuel consumption and distance travelled per day  - biggest impact with minimum need for drastic measures/ market disruption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Untapped market potential  - passenger, vehicles - big players involved, significant development, trucks, buses - still we see electric ones, but ulcvs - NO</a:t>
            </a:r>
            <a:endParaRPr>
              <a:solidFill>
                <a:schemeClr val="dk1"/>
              </a:solidFill>
            </a:endParaRPr>
          </a:p>
          <a:p>
            <a:pPr indent="-298450" lvl="0" marL="457200" rtl="0" algn="l">
              <a:spcBef>
                <a:spcPts val="0"/>
              </a:spcBef>
              <a:spcAft>
                <a:spcPts val="0"/>
              </a:spcAft>
              <a:buClr>
                <a:schemeClr val="dk1"/>
              </a:buClr>
              <a:buSzPts val="1100"/>
              <a:buChar char="●"/>
            </a:pPr>
            <a:r>
              <a:t/>
            </a:r>
            <a:endParaRPr/>
          </a:p>
          <a:p>
            <a:pPr indent="0" lvl="0" marL="0" rtl="0" algn="l">
              <a:spcBef>
                <a:spcPts val="0"/>
              </a:spcBef>
              <a:spcAft>
                <a:spcPts val="0"/>
              </a:spcAft>
              <a:buNone/>
            </a:pPr>
            <a:r>
              <a:rPr lang="en">
                <a:solidFill>
                  <a:srgbClr val="FF0000"/>
                </a:solidFill>
              </a:rPr>
              <a:t>Story ki atrah single para ki tarah bata</a:t>
            </a:r>
            <a:endParaRPr>
              <a:solidFill>
                <a:srgbClr val="FF0000"/>
              </a:solidFill>
            </a:endParaRPr>
          </a:p>
          <a:p>
            <a:pPr indent="0" lvl="0" marL="0" rtl="0" algn="l">
              <a:spcBef>
                <a:spcPts val="0"/>
              </a:spcBef>
              <a:spcAft>
                <a:spcPts val="0"/>
              </a:spcAft>
              <a:buNone/>
            </a:pPr>
            <a:r>
              <a:rPr lang="en"/>
              <a:t>Market share B2b vehicles ka, ULCVs ka, percentage growth rojections for both</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AutoNum type="arabicPeriod"/>
            </a:pPr>
            <a:r>
              <a:rPr lang="en"/>
              <a:t>ex of popularity of autorickshaws, okinawa</a:t>
            </a:r>
            <a:endParaRPr/>
          </a:p>
          <a:p>
            <a:pPr indent="-298450" lvl="0" marL="457200" rtl="0" algn="l">
              <a:spcBef>
                <a:spcPts val="0"/>
              </a:spcBef>
              <a:spcAft>
                <a:spcPts val="0"/>
              </a:spcAft>
              <a:buSzPts val="1100"/>
              <a:buAutoNum type="arabicPeriod"/>
            </a:pPr>
            <a:r>
              <a:rPr lang="en"/>
              <a:t>Justification via image</a:t>
            </a:r>
            <a:endParaRPr/>
          </a:p>
          <a:p>
            <a:pPr indent="-298450" lvl="0" marL="457200" rtl="0" algn="l">
              <a:spcBef>
                <a:spcPts val="0"/>
              </a:spcBef>
              <a:spcAft>
                <a:spcPts val="0"/>
              </a:spcAft>
              <a:buSzPts val="1100"/>
              <a:buAutoNum type="arabicPeriod"/>
            </a:pPr>
            <a:r>
              <a:rPr lang="en"/>
              <a:t>Market growth till now, future projections</a:t>
            </a:r>
            <a:endParaRPr/>
          </a:p>
          <a:p>
            <a:pPr indent="-298450" lvl="0" marL="457200" rtl="0" algn="l">
              <a:spcBef>
                <a:spcPts val="0"/>
              </a:spcBef>
              <a:spcAft>
                <a:spcPts val="0"/>
              </a:spcAft>
              <a:buSzPts val="1100"/>
              <a:buAutoNum type="arabicPeriod"/>
            </a:pPr>
            <a:r>
              <a:rPr lang="en"/>
              <a:t>Normal photo / consumer vehicle ki charging infra per dependence dikha do</a:t>
            </a:r>
            <a:endParaRPr/>
          </a:p>
          <a:p>
            <a:pPr indent="-298450" lvl="0" marL="457200" rtl="0" algn="l">
              <a:spcBef>
                <a:spcPts val="0"/>
              </a:spcBef>
              <a:spcAft>
                <a:spcPts val="0"/>
              </a:spcAft>
              <a:buSzPts val="1100"/>
              <a:buAutoNum type="arabicPeriod"/>
            </a:pPr>
            <a:r>
              <a:rPr lang="en"/>
              <a:t>Avg life cycle improvement, maintenance cost reduction</a:t>
            </a:r>
            <a:endParaRPr/>
          </a:p>
          <a:p>
            <a:pPr indent="-298450" lvl="0" marL="457200" rtl="0" algn="l">
              <a:spcBef>
                <a:spcPts val="0"/>
              </a:spcBef>
              <a:spcAft>
                <a:spcPts val="0"/>
              </a:spcAft>
              <a:buSzPts val="1100"/>
              <a:buAutoNum type="arabicPeriod"/>
            </a:pPr>
            <a:r>
              <a:rPr lang="en"/>
              <a:t>Fuel, dist covered stats</a:t>
            </a:r>
            <a:endParaRPr/>
          </a:p>
          <a:p>
            <a:pPr indent="-298450" lvl="0" marL="457200" rtl="0" algn="l">
              <a:spcBef>
                <a:spcPts val="0"/>
              </a:spcBef>
              <a:spcAft>
                <a:spcPts val="0"/>
              </a:spcAft>
              <a:buSzPts val="1100"/>
              <a:buAutoNum type="arabicPeriod"/>
            </a:pPr>
            <a:r>
              <a:rPr lang="en"/>
              <a:t>Show no. of 2W/cars/buses/trucks, then show ulcvs launched in india</a:t>
            </a:r>
            <a:endParaRPr/>
          </a:p>
          <a:p>
            <a:pPr indent="-298450" lvl="0" marL="457200" rtl="0" algn="l">
              <a:spcBef>
                <a:spcPts val="0"/>
              </a:spcBef>
              <a:spcAft>
                <a:spcPts val="0"/>
              </a:spcAft>
              <a:buSzPts val="1100"/>
              <a:buAutoNum type="arabicPeriod"/>
            </a:pPr>
            <a:r>
              <a:rPr lang="en"/>
              <a:t>Torque graph comparison</a:t>
            </a:r>
            <a:endParaRPr/>
          </a:p>
          <a:p>
            <a:pPr indent="-298450" lvl="0" marL="457200" rtl="0" algn="l">
              <a:spcBef>
                <a:spcPts val="0"/>
              </a:spcBef>
              <a:spcAft>
                <a:spcPts val="0"/>
              </a:spcAft>
              <a:buSzPts val="1100"/>
              <a:buAutoNum type="arabicPeriod"/>
            </a:pPr>
            <a:r>
              <a:rPr lang="en"/>
              <a:t>Show map of registered ulcvs to show concentration in cities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ca0598ca85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ca0598ca85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Loaded / unloaded equal distance of travelto the eyes</a:t>
            </a:r>
            <a:endParaRPr/>
          </a:p>
          <a:p>
            <a:pPr indent="0" lvl="0" marL="0" rtl="0" algn="l">
              <a:spcBef>
                <a:spcPts val="0"/>
              </a:spcBef>
              <a:spcAft>
                <a:spcPts val="0"/>
              </a:spcAft>
              <a:buClr>
                <a:schemeClr val="dk1"/>
              </a:buClr>
              <a:buSzPts val="1100"/>
              <a:buFont typeface="Arial"/>
              <a:buNone/>
            </a:pPr>
            <a:r>
              <a:rPr lang="en"/>
              <a:t>Flyovers / gradient roads - part of travel, but say only 10%</a:t>
            </a:r>
            <a:endParaRPr/>
          </a:p>
          <a:p>
            <a:pPr indent="0" lvl="0" marL="0" rtl="0" algn="l">
              <a:spcBef>
                <a:spcPts val="0"/>
              </a:spcBef>
              <a:spcAft>
                <a:spcPts val="0"/>
              </a:spcAft>
              <a:buClr>
                <a:schemeClr val="dk1"/>
              </a:buClr>
              <a:buSzPts val="1100"/>
              <a:buFont typeface="Arial"/>
              <a:buNone/>
            </a:pPr>
            <a:r>
              <a:rPr lang="en"/>
              <a:t>High Traffic operation -60 % of the time</a:t>
            </a:r>
            <a:endParaRPr/>
          </a:p>
          <a:p>
            <a:pPr indent="0" lvl="0" marL="0" rtl="0" algn="l">
              <a:spcBef>
                <a:spcPts val="0"/>
              </a:spcBef>
              <a:spcAft>
                <a:spcPts val="0"/>
              </a:spcAft>
              <a:buClr>
                <a:schemeClr val="dk1"/>
              </a:buClr>
              <a:buSzPts val="1100"/>
              <a:buFont typeface="Arial"/>
              <a:buNone/>
            </a:pPr>
            <a:r>
              <a:rPr lang="en"/>
              <a:t>High speed/highway cruise operation - 30% of the time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ca94265ded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ca94265ded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Braking dist - </a:t>
            </a:r>
            <a:r>
              <a:rPr lang="en"/>
              <a:t>ps://</a:t>
            </a:r>
            <a:r>
              <a:rPr lang="en" u="sng">
                <a:solidFill>
                  <a:schemeClr val="hlink"/>
                </a:solidFill>
                <a:hlinkClick r:id="rId2"/>
              </a:rPr>
              <a:t>www.consumerreports.org/car-safety/best-and-worst-braking-distances/</a:t>
            </a:r>
            <a:endParaRPr/>
          </a:p>
          <a:p>
            <a:pPr indent="0" lvl="0" marL="0" rtl="0" algn="l">
              <a:spcBef>
                <a:spcPts val="0"/>
              </a:spcBef>
              <a:spcAft>
                <a:spcPts val="0"/>
              </a:spcAft>
              <a:buNone/>
            </a:pPr>
            <a:r>
              <a:rPr lang="en"/>
              <a:t>We did a study about the use case </a:t>
            </a:r>
            <a:r>
              <a:rPr lang="en"/>
              <a:t>scenarios</a:t>
            </a:r>
            <a:r>
              <a:rPr lang="en"/>
              <a:t> and specifications of existing ULCVs like TATA Ace to determine the baseline performance  for our vehicle.</a:t>
            </a:r>
            <a:br>
              <a:rPr lang="en"/>
            </a:br>
            <a:r>
              <a:rPr lang="en"/>
              <a:t>For example, Payload capacity was set to 800kg which is similar to TATA ACE’s 750kg capacity. Target Gradability was also set by taking the gradient of roads in consideration. Top Speed at loaded condition matches the max allowed speed for commercial vehicles on highways, and the range is set by considering a ULCV’s daily usage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ca64f25ba6_1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ca64f25ba6_1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ca64f25ba6_1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ca64f25ba6_1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ca0598ca85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ca0598ca85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understand the Torque and Power requirement for our vehicle, we began the preliminary modelling by making dynamic spreadsheet which gives us </a:t>
            </a:r>
            <a:r>
              <a:rPr lang="en"/>
              <a:t>the</a:t>
            </a:r>
            <a:r>
              <a:rPr lang="en"/>
              <a:t> required Torque &amp; Power for any given condition defined by the acceleration, velocity, and grade angle at any point. Vehicle parameters like the mass, drag coefficient, frontal area were given as inputs. This sheet was subsequently used for Motor sizing. We also made a dynamic spreadsheet for the Mass &amp; CG Estimation of the vehicle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cad39eb0e1_1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cad39eb0e1_1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the range estimation, we used the WLTP Class 1 Low drive cycle. WLTP is the standard drivecycle used globally for the range estimation of EVs. Based on our Energy to mass ratio and our top speed we decided to use the ‘Class 1’ WLTP.</a:t>
            </a:r>
            <a:endParaRPr/>
          </a:p>
          <a:p>
            <a:pPr indent="0" lvl="0" marL="0" rtl="0" algn="l">
              <a:spcBef>
                <a:spcPts val="0"/>
              </a:spcBef>
              <a:spcAft>
                <a:spcPts val="0"/>
              </a:spcAft>
              <a:buNone/>
            </a:pPr>
            <a:r>
              <a:rPr lang="en"/>
              <a:t>To calculate the acceleration time and the braking distance we created a MATLAB scripts which solve the shown differential equation numerically and give us results for varying vehicle parameters like gear ratio or the braking torque.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ca71b6878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ca71b6878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then used the data from preliminary models, and the efficiency maps generated using motor &amp; motor controller model to develop various sub-system level models like Battery subsystem, Longitudinal Driver (PI) subsystem, Motor &amp; Motor Contro</a:t>
            </a:r>
            <a:r>
              <a:rPr lang="en"/>
              <a:t>ller Subsystem, and the Transmission &amp; Load Forces Subsystem.</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ca71b6878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ca71b6878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All the subsystem models were then integrated to make the full vehicle model which uses drive cycle data to give the </a:t>
            </a:r>
            <a:r>
              <a:rPr lang="en"/>
              <a:t>reference</a:t>
            </a:r>
            <a:r>
              <a:rPr lang="en"/>
              <a:t> velocity to the PI Driver which then gives input signals to rest of the subsystems.This model </a:t>
            </a:r>
            <a:r>
              <a:rPr lang="en"/>
              <a:t>provides</a:t>
            </a:r>
            <a:r>
              <a:rPr lang="en"/>
              <a:t> various useful results like the Motor Torque Profile, Power Consumption Profile, Battery SOC profile etc.</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cad39eb0e1_11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cad39eb0e1_11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are some of the results/plots that we </a:t>
            </a:r>
            <a:r>
              <a:rPr lang="en"/>
              <a:t>received</a:t>
            </a:r>
            <a:r>
              <a:rPr lang="en"/>
              <a:t> from our vehicle model</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ca94265ded_4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ca94265ded_4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further utilized the results from the mathematical modelling shown in the previous slide to produce sizing values for our motor. We made a dynamic spreadsheet containing basic vehicle parameters and certain variables, allowing us to roughly examine the the extent to which they affect the sizing values, which include required torque and the motor output power. We followed this up by making a preliminary powertrain loss model in Simulink to back our claims. On plugging in reasonable values for the vehicle velocity, acceleration and gradient angle, we ended up obtaining the maximum motor output power required to be around 25.8 kW.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ca745de9d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ca745de9d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a:t>
            </a:r>
            <a:r>
              <a:rPr lang="en"/>
              <a:t>decided to choose a commercially available motor instead of designing one from the scratch, simply owing to the lack of time. We decided to go with GVM210-100D PMSM Traction motor by ‘Parker’ as the motor choice for our vehicle. The motor peak output power for this model is 26kW, which is greater than the peak 25.8kW obtained from the motor sizing procedure followed as explained in the previous slide.   </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c79fea906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c79fea906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after finalizing the power rating we moved on to design our Motor Controller. After initial research we found out that FoC control of motor is more suitable for our higher power applications because it directly controls the current and hence less harmonics and noise in low speed conditions as compared to DTC. Also it has higher efficiency because of which we had planned to implement it in our model.</a:t>
            </a:r>
            <a:endParaRPr/>
          </a:p>
          <a:p>
            <a:pPr indent="0" lvl="0" marL="0" rtl="0" algn="l">
              <a:spcBef>
                <a:spcPts val="0"/>
              </a:spcBef>
              <a:spcAft>
                <a:spcPts val="0"/>
              </a:spcAft>
              <a:buNone/>
            </a:pPr>
            <a:r>
              <a:rPr lang="en"/>
              <a:t>For the first version we </a:t>
            </a:r>
            <a:r>
              <a:rPr lang="en"/>
              <a:t>decided</a:t>
            </a:r>
            <a:r>
              <a:rPr lang="en"/>
              <a:t> to go with constant switching frequency as it was </a:t>
            </a:r>
            <a:r>
              <a:rPr lang="en"/>
              <a:t>easier</a:t>
            </a:r>
            <a:r>
              <a:rPr lang="en"/>
              <a:t> to implement and control</a:t>
            </a:r>
            <a:endParaRPr/>
          </a:p>
          <a:p>
            <a:pPr indent="0" lvl="0" marL="0" rtl="0" algn="l">
              <a:spcBef>
                <a:spcPts val="0"/>
              </a:spcBef>
              <a:spcAft>
                <a:spcPts val="0"/>
              </a:spcAft>
              <a:buNone/>
            </a:pPr>
            <a:r>
              <a:rPr lang="en"/>
              <a:t>Modelled the conduction and switching losses of the IGBT’s </a:t>
            </a:r>
            <a:r>
              <a:rPr lang="en"/>
              <a:t>which</a:t>
            </a:r>
            <a:r>
              <a:rPr lang="en"/>
              <a:t> we have selected according to our requ</a:t>
            </a:r>
            <a:r>
              <a:rPr lang="en"/>
              <a:t>irements.</a:t>
            </a:r>
            <a:endParaRPr/>
          </a:p>
          <a:p>
            <a:pPr indent="0" lvl="0" marL="0" rtl="0" algn="l">
              <a:spcBef>
                <a:spcPts val="0"/>
              </a:spcBef>
              <a:spcAft>
                <a:spcPts val="0"/>
              </a:spcAft>
              <a:buNone/>
            </a:pPr>
            <a:r>
              <a:rPr lang="en"/>
              <a:t>According to the simulation we were able to tune the PI controller such that the current follows the </a:t>
            </a:r>
            <a:r>
              <a:rPr lang="en"/>
              <a:t>reference</a:t>
            </a:r>
            <a:r>
              <a:rPr lang="en"/>
              <a:t> current with low error.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ca71b68785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ca71b68785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image of outer section os  simulink model which we made in matlab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cad39eb0e1_1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cad39eb0e1_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image showing the electromagnetic torque with less ripples developed by the motor </a:t>
            </a:r>
            <a:r>
              <a:rPr lang="en"/>
              <a:t>which we got from our simulations</a:t>
            </a:r>
            <a:endParaRPr/>
          </a:p>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cad39eb0e1_16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cad39eb0e1_16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power loss block where we confirmed the losses values with the official manufacturers power loss values and it fits the </a:t>
            </a:r>
            <a:r>
              <a:rPr lang="en"/>
              <a:t>result</a:t>
            </a:r>
            <a:r>
              <a:rPr lang="en"/>
              <a:t> with about and error of 3%</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ca94265ded_4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ca94265ded_4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for the battery dimensioning, we used a </a:t>
            </a:r>
            <a:r>
              <a:rPr lang="en"/>
              <a:t>separate Powertrain Sizing</a:t>
            </a:r>
            <a:r>
              <a:rPr lang="en"/>
              <a:t> model to determine the battery size required to cover a given distance corresponding to the various drive cycles and values of vehicle parameters like the gear ratio, drag coefficient, payload mass, etc. We began the process by making subsystem level models of motor &amp; motor controller which takes in Motor Torque &amp; Motor RPM as the inputs to get the instantaneous motor &amp; </a:t>
            </a:r>
            <a:r>
              <a:rPr lang="en"/>
              <a:t>motor controller’s efficiency and gives powertrain current and power losses as output.</a:t>
            </a:r>
            <a:r>
              <a:rPr lang="en"/>
              <a:t>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ca94265ded_4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ca94265ded_4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Other subsystems like the Transmission, Drive Train Losses, Road Load Forces Subsystem were also modelled to be used as a part of the integrated Powertrain Sizing Model. These subsystems convert the drive cycle data to Motor Torque &amp; Motor RPM which can then be used by the motor &amp; motor Controller subsystem.</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ca94265ded_4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ca94265ded_4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All the subsystems mentioned in the previous slides are integrated to make the Powertrain Sizing Model as shown in this image. As mentioned before, this model can be used to determine the battery size for a given range with varying vehicle parameters.</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caba56ce0e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caba56ce0e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Image contains the results from the powertrain sizing model. Some of the useful results that we can get from this model are: Total Battery Energy, Total Regen Energy, Mass of the cells, Powertrain Heat Losses, etc</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ca0598ca85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ca0598ca85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b="1" lang="en">
                <a:solidFill>
                  <a:srgbClr val="595959"/>
                </a:solidFill>
                <a:latin typeface="Lato"/>
                <a:ea typeface="Lato"/>
                <a:cs typeface="Lato"/>
                <a:sym typeface="Lato"/>
              </a:rPr>
              <a:t>On the previous slides, we have shown in brief  how the powertrain sizing model works, now in the Battery Optimisation section we will cover how this model can be used to reduce the battery size by varying certain </a:t>
            </a:r>
            <a:r>
              <a:rPr b="1" lang="en">
                <a:solidFill>
                  <a:srgbClr val="595959"/>
                </a:solidFill>
                <a:latin typeface="Lato"/>
                <a:ea typeface="Lato"/>
                <a:cs typeface="Lato"/>
                <a:sym typeface="Lato"/>
              </a:rPr>
              <a:t>parameters</a:t>
            </a:r>
            <a:r>
              <a:rPr b="1" lang="en">
                <a:solidFill>
                  <a:srgbClr val="595959"/>
                </a:solidFill>
                <a:latin typeface="Lato"/>
                <a:ea typeface="Lato"/>
                <a:cs typeface="Lato"/>
                <a:sym typeface="Lato"/>
              </a:rPr>
              <a:t> for the vehicle.</a:t>
            </a:r>
            <a:endParaRPr b="1">
              <a:solidFill>
                <a:srgbClr val="595959"/>
              </a:solidFill>
              <a:latin typeface="Lato"/>
              <a:ea typeface="Lato"/>
              <a:cs typeface="Lato"/>
              <a:sym typeface="Lato"/>
            </a:endParaRPr>
          </a:p>
          <a:p>
            <a:pPr indent="0" lvl="0" marL="0" rtl="0" algn="l">
              <a:lnSpc>
                <a:spcPct val="125000"/>
              </a:lnSpc>
              <a:spcBef>
                <a:spcPts val="0"/>
              </a:spcBef>
              <a:spcAft>
                <a:spcPts val="0"/>
              </a:spcAft>
              <a:buNone/>
            </a:pPr>
            <a:r>
              <a:rPr b="1" lang="en">
                <a:solidFill>
                  <a:srgbClr val="595959"/>
                </a:solidFill>
                <a:latin typeface="Lato"/>
                <a:ea typeface="Lato"/>
                <a:cs typeface="Lato"/>
                <a:sym typeface="Lato"/>
              </a:rPr>
              <a:t>First method for battery optimisation is the reduction of drag coefficient of the vehicle. </a:t>
            </a:r>
            <a:r>
              <a:rPr b="1" lang="en">
                <a:solidFill>
                  <a:srgbClr val="595959"/>
                </a:solidFill>
                <a:latin typeface="Lato"/>
                <a:ea typeface="Lato"/>
                <a:cs typeface="Lato"/>
                <a:sym typeface="Lato"/>
              </a:rPr>
              <a:t>Aerodynamic Drag is the most significant Resistive Force on vehicle, especially at high speeds. By using CFD simulations we were able to reduce the Drag coefficient from 0.86, which is the drag coefficient for TATA ace, to 0.52 by changing the shape of the front of the vehicle. Corresponding to this design change we were able to reduce the battery size by 3.9 kWh</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caba56ce0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caba56ce0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Usually EVs have a single gear ratio as electric motors can have a high efficiency for a wide range of motor torque and RPM. But in case of a commercial vehicle with variable mass, using a multiple gear drive can not just increase the range of gradablity and top speed, but also the powertrain efficiency for a given motor .</a:t>
            </a:r>
            <a:endParaRPr/>
          </a:p>
          <a:p>
            <a:pPr indent="0" lvl="0" marL="0" rtl="0" algn="l">
              <a:spcBef>
                <a:spcPts val="0"/>
              </a:spcBef>
              <a:spcAft>
                <a:spcPts val="0"/>
              </a:spcAft>
              <a:buNone/>
            </a:pPr>
            <a:r>
              <a:rPr lang="en"/>
              <a:t>As you can see in the table,</a:t>
            </a:r>
            <a:r>
              <a:rPr lang="en"/>
              <a:t> </a:t>
            </a:r>
            <a:r>
              <a:rPr lang="en"/>
              <a:t>Case 1 represents the best compromise for a single gear drive which gives as a gradability of 17.6% and top speed of 59 km/h fot the given motor. And, case 4 represents the configuration where the higher gear ratio gives as a higher gradablity of 21.2% and and the lower gear ratio gives us a top speed of 80km/h.</a:t>
            </a:r>
            <a:endParaRPr/>
          </a:p>
          <a:p>
            <a:pPr indent="0" lvl="0" marL="0" rtl="0" algn="l">
              <a:spcBef>
                <a:spcPts val="0"/>
              </a:spcBef>
              <a:spcAft>
                <a:spcPts val="0"/>
              </a:spcAft>
              <a:buNone/>
            </a:pPr>
            <a:r>
              <a:rPr lang="en"/>
              <a:t>Also, using a transmission system which </a:t>
            </a:r>
            <a:r>
              <a:rPr lang="en"/>
              <a:t>automatically</a:t>
            </a:r>
            <a:r>
              <a:rPr lang="en"/>
              <a:t> changes the gear ratio to maximize the efficiency for any given configuration of torque &amp; RPM, we can actually decrease the battery size by 1.8 kWh.</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caba56ce0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gcaba56ce0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have implemented regenerative braking in our model to increase the vehicle range. It has been ensured in the model that </a:t>
            </a:r>
            <a:r>
              <a:rPr lang="en"/>
              <a:t>regenerative</a:t>
            </a:r>
            <a:r>
              <a:rPr lang="en"/>
              <a:t> braking does not occur for a very </a:t>
            </a:r>
            <a:r>
              <a:rPr lang="en"/>
              <a:t>high</a:t>
            </a:r>
            <a:r>
              <a:rPr lang="en"/>
              <a:t> or very low SOC and at very high regen torque to prevent damage to the motor and the batteries. The </a:t>
            </a:r>
            <a:r>
              <a:rPr lang="en"/>
              <a:t>excess current developed due to regen for the case of a high deceleration is to be dissipated through a ballast circuit, for overcurrent protection. Generator losses have also been modelled for calculating the generated power through regenerative braking.</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caba56ce0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caba56ce0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table, we are comparing the various cases to analyze the impacts changes mentioned in the previous slides have on the battery size. We can see by varying the drag coefficient, adding a 2-gear drive, and </a:t>
            </a:r>
            <a:r>
              <a:rPr lang="en"/>
              <a:t>incorporating</a:t>
            </a:r>
            <a:r>
              <a:rPr lang="en"/>
              <a:t> the regenerated energy, we can reduce the required battery size from 60.9 kWh to 47.5 kWh for a range of 300 km at fully loaded condition with 800 kg payload. This corresponds to a reduction of 22% in the battery size.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the required nominal voltage of 350V, we need to put 98 Li-ion cells in series. So, for the optimal case, we need to use 53 cells in parallel with regen turned on which gives us a total capacity of 47.5 kWh. With regen turned off we need to use the 98s63p configuration of battery corresponding to 55.9 kWh of battery.</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ca94265ded_23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ca94265ded_23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ca94265ded_3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1" name="Google Shape;741;gca94265ded_3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caba56cf3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6" name="Google Shape;776;gcaba56cf3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are the key components for our electric vehicle. We have 24V </a:t>
            </a:r>
            <a:r>
              <a:rPr lang="en"/>
              <a:t>auxiliary</a:t>
            </a:r>
            <a:r>
              <a:rPr lang="en"/>
              <a:t> battery for start up functions of the vehicles and can also serve as the backup for the Low Voltage Source.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DC to DC converter outputs 2 voltages :- 48V and 24V. 48V is used by the HVAC system which requires nearly 800W power for a typical single cabin vehicle and, 24V for rest of the low voltage systems.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ca94265ded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1" name="Google Shape;831;gca94265ded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Motor Controller includes DC - Link capacitor which has to be put in parallel with the battery to maintain a constant DC bus voltage and filter out all the voltage spikes and ripples. So to interface our battery with the motor controller</a:t>
            </a:r>
            <a:r>
              <a:rPr lang="en"/>
              <a:t> we have to charge the DC link capacitor which cannot be shorted directly to the battery and, for the purpose we need to charge the DC Link first just to prevent any kind of inrush currents. </a:t>
            </a:r>
            <a:endParaRPr/>
          </a:p>
          <a:p>
            <a:pPr indent="0" lvl="0" marL="0" rtl="0" algn="l">
              <a:spcBef>
                <a:spcPts val="0"/>
              </a:spcBef>
              <a:spcAft>
                <a:spcPts val="0"/>
              </a:spcAft>
              <a:buNone/>
            </a:pPr>
            <a:r>
              <a:rPr lang="en"/>
              <a:t>This control is achieved by Vehicle Control Unit.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gca94265ded_1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2" name="Google Shape;842;gca94265ded_1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distributing power to the low voltage systems we </a:t>
            </a:r>
            <a:r>
              <a:rPr lang="en"/>
              <a:t>decided</a:t>
            </a:r>
            <a:r>
              <a:rPr lang="en"/>
              <a:t> to go with DC - DC converter as </a:t>
            </a:r>
            <a:endParaRPr/>
          </a:p>
          <a:p>
            <a:pPr indent="-298450" lvl="0" marL="457200" rtl="0" algn="l">
              <a:spcBef>
                <a:spcPts val="0"/>
              </a:spcBef>
              <a:spcAft>
                <a:spcPts val="0"/>
              </a:spcAft>
              <a:buSzPts val="1100"/>
              <a:buAutoNum type="arabicPeriod"/>
            </a:pPr>
            <a:r>
              <a:rPr lang="en"/>
              <a:t>It can operate at very high efficiency even at full load.</a:t>
            </a:r>
            <a:endParaRPr/>
          </a:p>
          <a:p>
            <a:pPr indent="-298450" lvl="0" marL="457200" rtl="0" algn="l">
              <a:spcBef>
                <a:spcPts val="0"/>
              </a:spcBef>
              <a:spcAft>
                <a:spcPts val="0"/>
              </a:spcAft>
              <a:buSzPts val="1100"/>
              <a:buAutoNum type="arabicPeriod"/>
            </a:pPr>
            <a:r>
              <a:rPr lang="en"/>
              <a:t>It is a lightweight system with high power density of 1200W/in3.</a:t>
            </a:r>
            <a:endParaRPr/>
          </a:p>
          <a:p>
            <a:pPr indent="-298450" lvl="0" marL="457200" rtl="0" algn="l">
              <a:spcBef>
                <a:spcPts val="0"/>
              </a:spcBef>
              <a:spcAft>
                <a:spcPts val="0"/>
              </a:spcAft>
              <a:buSzPts val="1100"/>
              <a:buAutoNum type="arabicPeriod"/>
            </a:pPr>
            <a:r>
              <a:rPr lang="en"/>
              <a:t>It can also be considered as safe as a battery against Over Voltage, Under Voltage, Open Circuit, Short Circuit &amp; Thermal protection.</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ca94265ded_1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2" name="Google Shape;862;gca94265ded_1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according to our ini</a:t>
            </a:r>
            <a:r>
              <a:rPr lang="en"/>
              <a:t>tial survey we have assumed the net power consumption of our Low Voltage system is nearly 1.5kW for which the DC DC converter cover the entire system.</a:t>
            </a:r>
            <a:endParaRPr/>
          </a:p>
          <a:p>
            <a:pPr indent="0" lvl="0" marL="0" rtl="0" algn="l">
              <a:spcBef>
                <a:spcPts val="0"/>
              </a:spcBef>
              <a:spcAft>
                <a:spcPts val="0"/>
              </a:spcAft>
              <a:buNone/>
            </a:pPr>
            <a:r>
              <a:rPr lang="en"/>
              <a:t>So to connect these systems and all the sensors in our vehicle w</a:t>
            </a:r>
            <a:r>
              <a:rPr lang="en"/>
              <a:t>e are </a:t>
            </a:r>
            <a:r>
              <a:rPr lang="en"/>
              <a:t>planning</a:t>
            </a:r>
            <a:r>
              <a:rPr lang="en"/>
              <a:t> to use CAN communication for data transfer from one part of vehicle to another and LIN data transfer locally in each sections</a:t>
            </a:r>
            <a:endParaRPr/>
          </a:p>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ca15c8785c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4" name="Google Shape;894;gca15c8785c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gcaad3ee560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6" name="Google Shape;906;gcaad3ee560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Simulation result of the Motor controller showing the torque command (as the quadrature current) given to the motor as </a:t>
            </a:r>
            <a:r>
              <a:rPr lang="en"/>
              <a:t>followed</a:t>
            </a:r>
            <a:r>
              <a:rPr lang="en"/>
              <a:t> by the motor currents.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54.png"/><Relationship Id="rId7"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54.png"/><Relationship Id="rId7"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54.png"/><Relationship Id="rId7"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54.png"/><Relationship Id="rId7"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54.png"/><Relationship Id="rId7"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15.png"/><Relationship Id="rId7"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2.png"/><Relationship Id="rId5" Type="http://schemas.openxmlformats.org/officeDocument/2006/relationships/image" Target="../media/image1.png"/><Relationship Id="rId6" Type="http://schemas.openxmlformats.org/officeDocument/2006/relationships/image" Target="../media/image14.png"/><Relationship Id="rId7" Type="http://schemas.openxmlformats.org/officeDocument/2006/relationships/image" Target="../media/image22.png"/><Relationship Id="rId8"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20.png"/><Relationship Id="rId5" Type="http://schemas.openxmlformats.org/officeDocument/2006/relationships/image" Target="../media/image1.png"/><Relationship Id="rId6" Type="http://schemas.openxmlformats.org/officeDocument/2006/relationships/image" Target="../media/image25.png"/><Relationship Id="rId7" Type="http://schemas.openxmlformats.org/officeDocument/2006/relationships/image" Target="../media/image23.png"/><Relationship Id="rId8"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19.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3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27.png"/><Relationship Id="rId6" Type="http://schemas.openxmlformats.org/officeDocument/2006/relationships/image" Target="../media/image17.png"/><Relationship Id="rId7"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53.png"/><Relationship Id="rId4" Type="http://schemas.openxmlformats.org/officeDocument/2006/relationships/image" Target="../media/image6.png"/><Relationship Id="rId5"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24.png"/><Relationship Id="rId6" Type="http://schemas.openxmlformats.org/officeDocument/2006/relationships/image" Target="../media/image3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35.png"/><Relationship Id="rId7" Type="http://schemas.openxmlformats.org/officeDocument/2006/relationships/image" Target="../media/image4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2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30.png"/><Relationship Id="rId7" Type="http://schemas.openxmlformats.org/officeDocument/2006/relationships/image" Target="../media/image39.png"/><Relationship Id="rId8" Type="http://schemas.openxmlformats.org/officeDocument/2006/relationships/image" Target="../media/image34.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png"/><Relationship Id="rId5" Type="http://schemas.openxmlformats.org/officeDocument/2006/relationships/image" Target="../media/image37.jpg"/><Relationship Id="rId6" Type="http://schemas.openxmlformats.org/officeDocument/2006/relationships/image" Target="../media/image43.png"/><Relationship Id="rId7" Type="http://schemas.openxmlformats.org/officeDocument/2006/relationships/image" Target="../media/image41.png"/><Relationship Id="rId8" Type="http://schemas.openxmlformats.org/officeDocument/2006/relationships/image" Target="../media/image42.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png"/><Relationship Id="rId5" Type="http://schemas.openxmlformats.org/officeDocument/2006/relationships/image" Target="../media/image37.jpg"/><Relationship Id="rId6" Type="http://schemas.openxmlformats.org/officeDocument/2006/relationships/image" Target="../media/image43.png"/><Relationship Id="rId7" Type="http://schemas.openxmlformats.org/officeDocument/2006/relationships/image" Target="../media/image41.png"/><Relationship Id="rId8" Type="http://schemas.openxmlformats.org/officeDocument/2006/relationships/image" Target="../media/image42.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4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4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6.png"/><Relationship Id="rId4" Type="http://schemas.openxmlformats.org/officeDocument/2006/relationships/image" Target="../media/image5.png"/><Relationship Id="rId11" Type="http://schemas.openxmlformats.org/officeDocument/2006/relationships/image" Target="../media/image44.png"/><Relationship Id="rId10" Type="http://schemas.openxmlformats.org/officeDocument/2006/relationships/image" Target="../media/image51.png"/><Relationship Id="rId12" Type="http://schemas.openxmlformats.org/officeDocument/2006/relationships/image" Target="../media/image52.png"/><Relationship Id="rId9" Type="http://schemas.openxmlformats.org/officeDocument/2006/relationships/image" Target="../media/image46.png"/><Relationship Id="rId5" Type="http://schemas.openxmlformats.org/officeDocument/2006/relationships/image" Target="../media/image1.png"/><Relationship Id="rId6" Type="http://schemas.openxmlformats.org/officeDocument/2006/relationships/image" Target="../media/image48.png"/><Relationship Id="rId7" Type="http://schemas.openxmlformats.org/officeDocument/2006/relationships/image" Target="../media/image47.png"/><Relationship Id="rId8" Type="http://schemas.openxmlformats.org/officeDocument/2006/relationships/image" Target="../media/image4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5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302895" lvl="0" marL="457200" rtl="0" algn="l">
              <a:spcBef>
                <a:spcPts val="0"/>
              </a:spcBef>
              <a:spcAft>
                <a:spcPts val="0"/>
              </a:spcAft>
              <a:buClr>
                <a:schemeClr val="dk2"/>
              </a:buClr>
              <a:buSzPct val="100000"/>
              <a:buChar char="●"/>
            </a:pPr>
            <a:r>
              <a:rPr lang="en" sz="1300">
                <a:solidFill>
                  <a:schemeClr val="dk2"/>
                </a:solidFill>
              </a:rPr>
              <a:t>Project Overview - maybe -- intro and approach - 1      - Amogh, Bakshi	0:30</a:t>
            </a:r>
            <a:endParaRPr sz="1300">
              <a:solidFill>
                <a:schemeClr val="dk2"/>
              </a:solidFill>
            </a:endParaRPr>
          </a:p>
          <a:p>
            <a:pPr indent="-302895" lvl="0" marL="457200" rtl="0" algn="l">
              <a:spcBef>
                <a:spcPts val="0"/>
              </a:spcBef>
              <a:spcAft>
                <a:spcPts val="0"/>
              </a:spcAft>
              <a:buClr>
                <a:schemeClr val="dk2"/>
              </a:buClr>
              <a:buSzPct val="100000"/>
              <a:buChar char="●"/>
            </a:pPr>
            <a:r>
              <a:rPr lang="en" sz="1300">
                <a:solidFill>
                  <a:schemeClr val="dk2"/>
                </a:solidFill>
              </a:rPr>
              <a:t>Vehicle Segment Selection -- 1    -Amogh						0:45</a:t>
            </a:r>
            <a:endParaRPr sz="1300">
              <a:solidFill>
                <a:schemeClr val="dk2"/>
              </a:solidFill>
            </a:endParaRPr>
          </a:p>
          <a:p>
            <a:pPr indent="-302895" lvl="0" marL="457200" rtl="0" algn="l">
              <a:spcBef>
                <a:spcPts val="0"/>
              </a:spcBef>
              <a:spcAft>
                <a:spcPts val="0"/>
              </a:spcAft>
              <a:buClr>
                <a:schemeClr val="dk2"/>
              </a:buClr>
              <a:buSzPct val="100000"/>
              <a:buChar char="●"/>
            </a:pPr>
            <a:r>
              <a:rPr lang="en" sz="1300">
                <a:solidFill>
                  <a:schemeClr val="dk2"/>
                </a:solidFill>
              </a:rPr>
              <a:t>Performance Baselining -- 2  	  -Amogh, Tanisha				1:15</a:t>
            </a:r>
            <a:endParaRPr sz="1300">
              <a:solidFill>
                <a:schemeClr val="dk2"/>
              </a:solidFill>
            </a:endParaRPr>
          </a:p>
          <a:p>
            <a:pPr indent="-302895" lvl="0" marL="457200" rtl="0" algn="l">
              <a:spcBef>
                <a:spcPts val="0"/>
              </a:spcBef>
              <a:spcAft>
                <a:spcPts val="0"/>
              </a:spcAft>
              <a:buClr>
                <a:schemeClr val="dk2"/>
              </a:buClr>
              <a:buSzPct val="100000"/>
              <a:buChar char="●"/>
            </a:pPr>
            <a:r>
              <a:rPr lang="en" sz="1300">
                <a:solidFill>
                  <a:schemeClr val="dk2"/>
                </a:solidFill>
              </a:rPr>
              <a:t>Modelling and Drive Cycle -- 3,4   -Sangeet, Arjav, Bakshi			3 :00</a:t>
            </a:r>
            <a:endParaRPr sz="1300">
              <a:solidFill>
                <a:schemeClr val="dk2"/>
              </a:solidFill>
            </a:endParaRPr>
          </a:p>
          <a:p>
            <a:pPr indent="-302895" lvl="0" marL="457200" rtl="0" algn="l">
              <a:spcBef>
                <a:spcPts val="0"/>
              </a:spcBef>
              <a:spcAft>
                <a:spcPts val="0"/>
              </a:spcAft>
              <a:buClr>
                <a:schemeClr val="dk2"/>
              </a:buClr>
              <a:buSzPct val="100000"/>
              <a:buChar char="●"/>
            </a:pPr>
            <a:r>
              <a:rPr lang="en" sz="1300">
                <a:solidFill>
                  <a:schemeClr val="dk2"/>
                </a:solidFill>
              </a:rPr>
              <a:t>Motor Selection -- 1    -Anchit, Tanisha						1:00</a:t>
            </a:r>
            <a:endParaRPr sz="1300">
              <a:solidFill>
                <a:schemeClr val="dk2"/>
              </a:solidFill>
            </a:endParaRPr>
          </a:p>
          <a:p>
            <a:pPr indent="-302895" lvl="0" marL="457200" rtl="0" algn="l">
              <a:spcBef>
                <a:spcPts val="0"/>
              </a:spcBef>
              <a:spcAft>
                <a:spcPts val="0"/>
              </a:spcAft>
              <a:buClr>
                <a:schemeClr val="dk2"/>
              </a:buClr>
              <a:buSzPct val="100000"/>
              <a:buChar char="●"/>
            </a:pPr>
            <a:r>
              <a:rPr lang="en" sz="1300">
                <a:solidFill>
                  <a:schemeClr val="dk2"/>
                </a:solidFill>
              </a:rPr>
              <a:t>Inverter Design and Selection -- 3    -Roshan    					2:30</a:t>
            </a:r>
            <a:endParaRPr sz="1300">
              <a:solidFill>
                <a:schemeClr val="dk2"/>
              </a:solidFill>
            </a:endParaRPr>
          </a:p>
          <a:p>
            <a:pPr indent="-302895" lvl="0" marL="457200" rtl="0" algn="l">
              <a:spcBef>
                <a:spcPts val="0"/>
              </a:spcBef>
              <a:spcAft>
                <a:spcPts val="0"/>
              </a:spcAft>
              <a:buClr>
                <a:schemeClr val="dk2"/>
              </a:buClr>
              <a:buSzPct val="100000"/>
              <a:buChar char="●"/>
            </a:pPr>
            <a:r>
              <a:rPr lang="en" sz="1300">
                <a:solidFill>
                  <a:schemeClr val="dk2"/>
                </a:solidFill>
              </a:rPr>
              <a:t>Battery Dimensioning -- 1   -Bakshi						1:15</a:t>
            </a:r>
            <a:endParaRPr sz="1300">
              <a:solidFill>
                <a:schemeClr val="dk2"/>
              </a:solidFill>
            </a:endParaRPr>
          </a:p>
          <a:p>
            <a:pPr indent="-302895" lvl="0" marL="457200" rtl="0" algn="l">
              <a:spcBef>
                <a:spcPts val="0"/>
              </a:spcBef>
              <a:spcAft>
                <a:spcPts val="0"/>
              </a:spcAft>
              <a:buClr>
                <a:schemeClr val="dk2"/>
              </a:buClr>
              <a:buSzPct val="100000"/>
              <a:buChar char="●"/>
            </a:pPr>
            <a:r>
              <a:rPr lang="en" sz="1300">
                <a:solidFill>
                  <a:schemeClr val="dk2"/>
                </a:solidFill>
              </a:rPr>
              <a:t>Battery Optimization --4      -Bakshi, Anchit					1:45</a:t>
            </a:r>
            <a:endParaRPr sz="1300">
              <a:solidFill>
                <a:schemeClr val="dk2"/>
              </a:solidFill>
            </a:endParaRPr>
          </a:p>
          <a:p>
            <a:pPr indent="-302895" lvl="0" marL="457200" rtl="0" algn="l">
              <a:spcBef>
                <a:spcPts val="0"/>
              </a:spcBef>
              <a:spcAft>
                <a:spcPts val="0"/>
              </a:spcAft>
              <a:buClr>
                <a:schemeClr val="dk2"/>
              </a:buClr>
              <a:buSzPct val="100000"/>
              <a:buChar char="●"/>
            </a:pPr>
            <a:r>
              <a:rPr lang="en" sz="1300">
                <a:solidFill>
                  <a:schemeClr val="dk2"/>
                </a:solidFill>
              </a:rPr>
              <a:t>EE Architecture -- 5             -Asati, Sangeet					1:30</a:t>
            </a:r>
            <a:endParaRPr sz="1300">
              <a:solidFill>
                <a:schemeClr val="dk2"/>
              </a:solidFill>
            </a:endParaRPr>
          </a:p>
          <a:p>
            <a:pPr indent="-302895" lvl="0" marL="457200" rtl="0" algn="l">
              <a:spcBef>
                <a:spcPts val="0"/>
              </a:spcBef>
              <a:spcAft>
                <a:spcPts val="0"/>
              </a:spcAft>
              <a:buClr>
                <a:schemeClr val="dk2"/>
              </a:buClr>
              <a:buSzPct val="100000"/>
              <a:buChar char="●"/>
            </a:pPr>
            <a:r>
              <a:rPr lang="en" sz="1300">
                <a:solidFill>
                  <a:schemeClr val="dk2"/>
                </a:solidFill>
              </a:rPr>
              <a:t>Conclusion -- 1 (scope of improvement) -- automatic transmission, regen	1:00</a:t>
            </a:r>
            <a:endParaRPr sz="1300">
              <a:solidFill>
                <a:schemeClr val="dk2"/>
              </a:solidFill>
            </a:endParaRPr>
          </a:p>
          <a:p>
            <a:pPr indent="0" lvl="0" marL="457200" rtl="0" algn="l">
              <a:spcBef>
                <a:spcPts val="0"/>
              </a:spcBef>
              <a:spcAft>
                <a:spcPts val="0"/>
              </a:spcAft>
              <a:buNone/>
            </a:pPr>
            <a:r>
              <a:rPr lang="en" sz="1300">
                <a:solidFill>
                  <a:schemeClr val="dk2"/>
                </a:solidFill>
              </a:rPr>
              <a:t>fuzzy logic, modelling auxiliary loads properly, modelling batteries properly.							</a:t>
            </a:r>
            <a:endParaRPr/>
          </a:p>
        </p:txBody>
      </p:sp>
      <p:sp>
        <p:nvSpPr>
          <p:cNvPr id="55" name="Google Shape;55;p13"/>
          <p:cNvSpPr txBox="1"/>
          <p:nvPr>
            <p:ph idx="1" type="subTitle"/>
          </p:nvPr>
        </p:nvSpPr>
        <p:spPr>
          <a:xfrm>
            <a:off x="205825" y="3019400"/>
            <a:ext cx="8520600" cy="17976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sz="1400"/>
              <a:t>Segment selection					5</a:t>
            </a:r>
            <a:endParaRPr sz="1400"/>
          </a:p>
          <a:p>
            <a:pPr indent="-317500" lvl="0" marL="457200" rtl="0" algn="l">
              <a:spcBef>
                <a:spcPts val="0"/>
              </a:spcBef>
              <a:spcAft>
                <a:spcPts val="0"/>
              </a:spcAft>
              <a:buSzPts val="1400"/>
              <a:buChar char="●"/>
            </a:pPr>
            <a:r>
              <a:rPr lang="en" sz="1400"/>
              <a:t>Baselining							10</a:t>
            </a:r>
            <a:endParaRPr sz="1400"/>
          </a:p>
          <a:p>
            <a:pPr indent="-317500" lvl="0" marL="457200" rtl="0" algn="l">
              <a:spcBef>
                <a:spcPts val="0"/>
              </a:spcBef>
              <a:spcAft>
                <a:spcPts val="0"/>
              </a:spcAft>
              <a:buSzPts val="1400"/>
              <a:buChar char="●"/>
            </a:pPr>
            <a:r>
              <a:rPr lang="en" sz="1400"/>
              <a:t>Modelling							20</a:t>
            </a:r>
            <a:endParaRPr sz="1400"/>
          </a:p>
          <a:p>
            <a:pPr indent="-317500" lvl="0" marL="457200" rtl="0" algn="l">
              <a:spcBef>
                <a:spcPts val="0"/>
              </a:spcBef>
              <a:spcAft>
                <a:spcPts val="0"/>
              </a:spcAft>
              <a:buSzPts val="1400"/>
              <a:buChar char="●"/>
            </a:pPr>
            <a:r>
              <a:rPr lang="en" sz="1400"/>
              <a:t>Motor , inverter design					25</a:t>
            </a:r>
            <a:endParaRPr sz="1400"/>
          </a:p>
          <a:p>
            <a:pPr indent="-317500" lvl="0" marL="457200" rtl="0" algn="l">
              <a:spcBef>
                <a:spcPts val="0"/>
              </a:spcBef>
              <a:spcAft>
                <a:spcPts val="0"/>
              </a:spcAft>
              <a:buSzPts val="1400"/>
              <a:buChar char="●"/>
            </a:pPr>
            <a:r>
              <a:rPr lang="en" sz="1400"/>
              <a:t>Battery Dimensioning and Optimization		15</a:t>
            </a:r>
            <a:endParaRPr sz="1400"/>
          </a:p>
          <a:p>
            <a:pPr indent="-317500" lvl="0" marL="457200" rtl="0" algn="l">
              <a:spcBef>
                <a:spcPts val="0"/>
              </a:spcBef>
              <a:spcAft>
                <a:spcPts val="0"/>
              </a:spcAft>
              <a:buSzPts val="1400"/>
              <a:buChar char="●"/>
            </a:pPr>
            <a:r>
              <a:rPr lang="en" sz="1400"/>
              <a:t>EE architecture						10</a:t>
            </a:r>
            <a:endParaRPr sz="1400"/>
          </a:p>
          <a:p>
            <a:pPr indent="-317500" lvl="0" marL="457200" rtl="0" algn="l">
              <a:spcBef>
                <a:spcPts val="0"/>
              </a:spcBef>
              <a:spcAft>
                <a:spcPts val="0"/>
              </a:spcAft>
              <a:buSzPts val="1400"/>
              <a:buChar char="●"/>
            </a:pPr>
            <a:r>
              <a:rPr lang="en" sz="1400"/>
              <a:t>Overall/ Conclusion 					5</a:t>
            </a:r>
            <a:endParaRPr sz="1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9" name="Shape 59"/>
        <p:cNvGrpSpPr/>
        <p:nvPr/>
      </p:nvGrpSpPr>
      <p:grpSpPr>
        <a:xfrm>
          <a:off x="0" y="0"/>
          <a:ext cx="0" cy="0"/>
          <a:chOff x="0" y="0"/>
          <a:chExt cx="0" cy="0"/>
        </a:xfrm>
      </p:grpSpPr>
      <p:sp>
        <p:nvSpPr>
          <p:cNvPr id="60" name="Google Shape;60;p14"/>
          <p:cNvSpPr txBox="1"/>
          <p:nvPr/>
        </p:nvSpPr>
        <p:spPr>
          <a:xfrm>
            <a:off x="837900" y="88438"/>
            <a:ext cx="4567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rgbClr val="EFEFEF"/>
                </a:solidFill>
                <a:latin typeface="Lato Black"/>
                <a:ea typeface="Lato Black"/>
                <a:cs typeface="Lato Black"/>
                <a:sym typeface="Lato Black"/>
              </a:rPr>
              <a:t>INTER IIT TECH MEET 9.0</a:t>
            </a:r>
            <a:endParaRPr sz="2000">
              <a:solidFill>
                <a:srgbClr val="EFEFEF"/>
              </a:solidFill>
              <a:latin typeface="Lato Black"/>
              <a:ea typeface="Lato Black"/>
              <a:cs typeface="Lato Black"/>
              <a:sym typeface="Lato Black"/>
            </a:endParaRPr>
          </a:p>
        </p:txBody>
      </p:sp>
      <p:pic>
        <p:nvPicPr>
          <p:cNvPr id="61" name="Google Shape;61;p14"/>
          <p:cNvPicPr preferRelativeResize="0"/>
          <p:nvPr/>
        </p:nvPicPr>
        <p:blipFill>
          <a:blip r:embed="rId3">
            <a:alphaModFix/>
          </a:blip>
          <a:stretch>
            <a:fillRect/>
          </a:stretch>
        </p:blipFill>
        <p:spPr>
          <a:xfrm>
            <a:off x="2288402" y="1661737"/>
            <a:ext cx="4567200" cy="1079026"/>
          </a:xfrm>
          <a:prstGeom prst="rect">
            <a:avLst/>
          </a:prstGeom>
          <a:noFill/>
          <a:ln>
            <a:noFill/>
          </a:ln>
        </p:spPr>
      </p:pic>
      <p:pic>
        <p:nvPicPr>
          <p:cNvPr id="62" name="Google Shape;62;p14"/>
          <p:cNvPicPr preferRelativeResize="0"/>
          <p:nvPr/>
        </p:nvPicPr>
        <p:blipFill>
          <a:blip r:embed="rId4">
            <a:alphaModFix/>
          </a:blip>
          <a:stretch>
            <a:fillRect/>
          </a:stretch>
        </p:blipFill>
        <p:spPr>
          <a:xfrm>
            <a:off x="131225" y="80800"/>
            <a:ext cx="606727" cy="507900"/>
          </a:xfrm>
          <a:prstGeom prst="rect">
            <a:avLst/>
          </a:prstGeom>
          <a:noFill/>
          <a:ln>
            <a:noFill/>
          </a:ln>
        </p:spPr>
      </p:pic>
      <p:sp>
        <p:nvSpPr>
          <p:cNvPr id="63" name="Google Shape;63;p14"/>
          <p:cNvSpPr/>
          <p:nvPr/>
        </p:nvSpPr>
        <p:spPr>
          <a:xfrm>
            <a:off x="0" y="2740750"/>
            <a:ext cx="9144000" cy="741000"/>
          </a:xfrm>
          <a:prstGeom prst="trapezoid">
            <a:avLst>
              <a:gd fmla="val 0" name="adj"/>
            </a:avLst>
          </a:prstGeom>
          <a:noFill/>
          <a:ln>
            <a:noFill/>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lang="en" sz="2700">
                <a:solidFill>
                  <a:srgbClr val="48BACA"/>
                </a:solidFill>
                <a:latin typeface="Lato Black"/>
                <a:ea typeface="Lato Black"/>
                <a:cs typeface="Lato Black"/>
                <a:sym typeface="Lato Black"/>
              </a:rPr>
              <a:t>ELECTRIC VEHICLE SIMULATION</a:t>
            </a:r>
            <a:endParaRPr i="0" sz="2700" u="none" cap="none" strike="noStrike">
              <a:solidFill>
                <a:srgbClr val="48BACA"/>
              </a:solidFill>
              <a:latin typeface="Lato Black"/>
              <a:ea typeface="Lato Black"/>
              <a:cs typeface="Lato Black"/>
              <a:sym typeface="Lato Black"/>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67" name="Shape 67"/>
        <p:cNvGrpSpPr/>
        <p:nvPr/>
      </p:nvGrpSpPr>
      <p:grpSpPr>
        <a:xfrm>
          <a:off x="0" y="0"/>
          <a:ext cx="0" cy="0"/>
          <a:chOff x="0" y="0"/>
          <a:chExt cx="0" cy="0"/>
        </a:xfrm>
      </p:grpSpPr>
      <p:sp>
        <p:nvSpPr>
          <p:cNvPr id="68" name="Google Shape;68;p15"/>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0" i="0" lang="en" sz="2200" u="none" cap="none" strike="noStrike">
                <a:solidFill>
                  <a:srgbClr val="F3F3F3"/>
                </a:solidFill>
                <a:latin typeface="Lato"/>
                <a:ea typeface="Lato"/>
                <a:cs typeface="Lato"/>
                <a:sym typeface="Lato"/>
              </a:rPr>
              <a:t>Glimpses of </a:t>
            </a:r>
            <a:r>
              <a:rPr b="0" i="0" lang="en" sz="2200" u="none" cap="none" strike="noStrike">
                <a:solidFill>
                  <a:srgbClr val="00A600"/>
                </a:solidFill>
                <a:latin typeface="Lato Black"/>
                <a:ea typeface="Lato Black"/>
                <a:cs typeface="Lato Black"/>
                <a:sym typeface="Lato Black"/>
              </a:rPr>
              <a:t>Formula Student</a:t>
            </a:r>
            <a:endParaRPr b="0" i="0" sz="2200" u="none" cap="none" strike="noStrike">
              <a:solidFill>
                <a:srgbClr val="00A600"/>
              </a:solidFill>
              <a:latin typeface="Lato Black"/>
              <a:ea typeface="Lato Black"/>
              <a:cs typeface="Lato Black"/>
              <a:sym typeface="Lato Black"/>
            </a:endParaRPr>
          </a:p>
        </p:txBody>
      </p:sp>
      <p:pic>
        <p:nvPicPr>
          <p:cNvPr id="69" name="Google Shape;69;p15"/>
          <p:cNvPicPr preferRelativeResize="0"/>
          <p:nvPr/>
        </p:nvPicPr>
        <p:blipFill>
          <a:blip r:embed="rId3">
            <a:alphaModFix amt="26000"/>
          </a:blip>
          <a:stretch>
            <a:fillRect/>
          </a:stretch>
        </p:blipFill>
        <p:spPr>
          <a:xfrm rot="9900000">
            <a:off x="5128900" y="2442475"/>
            <a:ext cx="4289526" cy="2716700"/>
          </a:xfrm>
          <a:prstGeom prst="rect">
            <a:avLst/>
          </a:prstGeom>
          <a:noFill/>
          <a:ln>
            <a:noFill/>
          </a:ln>
        </p:spPr>
      </p:pic>
      <p:sp>
        <p:nvSpPr>
          <p:cNvPr id="70" name="Google Shape;70;p15"/>
          <p:cNvSpPr txBox="1"/>
          <p:nvPr/>
        </p:nvSpPr>
        <p:spPr>
          <a:xfrm>
            <a:off x="743150" y="1447075"/>
            <a:ext cx="8450700" cy="157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500">
                <a:latin typeface="Open Sans"/>
                <a:ea typeface="Open Sans"/>
                <a:cs typeface="Open Sans"/>
                <a:sym typeface="Open Sans"/>
              </a:rPr>
              <a:t>Sub-sub Heading goes here!</a:t>
            </a:r>
            <a:r>
              <a:rPr b="1" lang="en" sz="1500">
                <a:solidFill>
                  <a:srgbClr val="23656F"/>
                </a:solidFill>
                <a:latin typeface="Open Sans"/>
                <a:ea typeface="Open Sans"/>
                <a:cs typeface="Open Sans"/>
                <a:sym typeface="Open Sans"/>
              </a:rPr>
              <a:t> </a:t>
            </a:r>
            <a:endParaRPr b="1" sz="1500">
              <a:solidFill>
                <a:srgbClr val="23656F"/>
              </a:solidFill>
              <a:latin typeface="Open Sans"/>
              <a:ea typeface="Open Sans"/>
              <a:cs typeface="Open Sans"/>
              <a:sym typeface="Open Sans"/>
            </a:endParaRPr>
          </a:p>
          <a:p>
            <a:pPr indent="-311150" lvl="0" marL="457200" rtl="0" algn="l">
              <a:lnSpc>
                <a:spcPct val="115000"/>
              </a:lnSpc>
              <a:spcBef>
                <a:spcPts val="0"/>
              </a:spcBef>
              <a:spcAft>
                <a:spcPts val="0"/>
              </a:spcAft>
              <a:buClr>
                <a:srgbClr val="434343"/>
              </a:buClr>
              <a:buSzPts val="1300"/>
              <a:buFont typeface="Open Sans SemiBold"/>
              <a:buChar char="●"/>
            </a:pPr>
            <a:r>
              <a:rPr b="1" lang="en" sz="1300">
                <a:latin typeface="Lato"/>
                <a:ea typeface="Lato"/>
                <a:cs typeface="Lato"/>
                <a:sym typeface="Lato"/>
              </a:rPr>
              <a:t>Wonder</a:t>
            </a:r>
            <a:r>
              <a:rPr lang="en" sz="1300">
                <a:solidFill>
                  <a:srgbClr val="434343"/>
                </a:solidFill>
                <a:latin typeface="Lato"/>
                <a:ea typeface="Lato"/>
                <a:cs typeface="Lato"/>
                <a:sym typeface="Lato"/>
              </a:rPr>
              <a:t> </a:t>
            </a:r>
            <a:r>
              <a:rPr lang="en" sz="1300">
                <a:solidFill>
                  <a:srgbClr val="324B4F"/>
                </a:solidFill>
                <a:latin typeface="Lato"/>
                <a:ea typeface="Lato"/>
                <a:cs typeface="Lato"/>
                <a:sym typeface="Lato"/>
              </a:rPr>
              <a:t>to the eyes</a:t>
            </a:r>
            <a:endParaRPr sz="1300">
              <a:solidFill>
                <a:srgbClr val="324B4F"/>
              </a:solidFill>
              <a:latin typeface="Lato"/>
              <a:ea typeface="Lato"/>
              <a:cs typeface="Lato"/>
              <a:sym typeface="Lato"/>
            </a:endParaRPr>
          </a:p>
          <a:p>
            <a:pPr indent="-311150" lvl="0" marL="457200" rtl="0" algn="l">
              <a:lnSpc>
                <a:spcPct val="115000"/>
              </a:lnSpc>
              <a:spcBef>
                <a:spcPts val="0"/>
              </a:spcBef>
              <a:spcAft>
                <a:spcPts val="0"/>
              </a:spcAft>
              <a:buClr>
                <a:srgbClr val="434343"/>
              </a:buClr>
              <a:buSzPts val="1300"/>
              <a:buFont typeface="Lato"/>
              <a:buChar char="●"/>
            </a:pPr>
            <a:r>
              <a:rPr lang="en" sz="1300">
                <a:solidFill>
                  <a:srgbClr val="23656F"/>
                </a:solidFill>
                <a:latin typeface="Lato Black"/>
                <a:ea typeface="Lato Black"/>
                <a:cs typeface="Lato Black"/>
                <a:sym typeface="Lato Black"/>
              </a:rPr>
              <a:t>Wonder</a:t>
            </a:r>
            <a:r>
              <a:rPr lang="en" sz="1300">
                <a:solidFill>
                  <a:srgbClr val="434343"/>
                </a:solidFill>
                <a:latin typeface="Lato"/>
                <a:ea typeface="Lato"/>
                <a:cs typeface="Lato"/>
                <a:sym typeface="Lato"/>
              </a:rPr>
              <a:t> to the eyes</a:t>
            </a:r>
            <a:endParaRPr sz="1300">
              <a:solidFill>
                <a:srgbClr val="434343"/>
              </a:solidFill>
              <a:latin typeface="Lato"/>
              <a:ea typeface="Lato"/>
              <a:cs typeface="Lato"/>
              <a:sym typeface="Lato"/>
            </a:endParaRPr>
          </a:p>
          <a:p>
            <a:pPr indent="-311150" lvl="0" marL="457200" rtl="0" algn="l">
              <a:lnSpc>
                <a:spcPct val="115000"/>
              </a:lnSpc>
              <a:spcBef>
                <a:spcPts val="0"/>
              </a:spcBef>
              <a:spcAft>
                <a:spcPts val="0"/>
              </a:spcAft>
              <a:buClr>
                <a:srgbClr val="434343"/>
              </a:buClr>
              <a:buSzPts val="1300"/>
              <a:buFont typeface="Open Sans SemiBold"/>
              <a:buChar char="●"/>
            </a:pPr>
            <a:r>
              <a:rPr lang="en" sz="1300">
                <a:solidFill>
                  <a:srgbClr val="434343"/>
                </a:solidFill>
                <a:latin typeface="Lato"/>
                <a:ea typeface="Lato"/>
                <a:cs typeface="Lato"/>
                <a:sym typeface="Lato"/>
              </a:rPr>
              <a:t>Excellent </a:t>
            </a:r>
            <a:r>
              <a:rPr b="1" lang="en" sz="1300">
                <a:solidFill>
                  <a:srgbClr val="434343"/>
                </a:solidFill>
                <a:latin typeface="Lato"/>
                <a:ea typeface="Lato"/>
                <a:cs typeface="Lato"/>
                <a:sym typeface="Lato"/>
              </a:rPr>
              <a:t>Work</a:t>
            </a:r>
            <a:endParaRPr b="1" sz="1300">
              <a:solidFill>
                <a:srgbClr val="434343"/>
              </a:solidFill>
              <a:latin typeface="Lato"/>
              <a:ea typeface="Lato"/>
              <a:cs typeface="Lato"/>
              <a:sym typeface="Lato"/>
            </a:endParaRPr>
          </a:p>
          <a:p>
            <a:pPr indent="0" lvl="0" marL="0" rtl="0" algn="l">
              <a:lnSpc>
                <a:spcPct val="115000"/>
              </a:lnSpc>
              <a:spcBef>
                <a:spcPts val="0"/>
              </a:spcBef>
              <a:spcAft>
                <a:spcPts val="0"/>
              </a:spcAft>
              <a:buNone/>
            </a:pPr>
            <a:r>
              <a:rPr lang="en" sz="1300">
                <a:latin typeface="Lato Black"/>
                <a:ea typeface="Lato Black"/>
                <a:cs typeface="Lato Black"/>
                <a:sym typeface="Lato Black"/>
              </a:rPr>
              <a:t>{Highlight </a:t>
            </a:r>
            <a:r>
              <a:rPr lang="en" sz="1300">
                <a:latin typeface="Lato"/>
                <a:ea typeface="Lato"/>
                <a:cs typeface="Lato"/>
                <a:sym typeface="Lato"/>
              </a:rPr>
              <a:t>using extra bold}</a:t>
            </a:r>
            <a:endParaRPr sz="1300">
              <a:solidFill>
                <a:schemeClr val="dk1"/>
              </a:solidFill>
              <a:latin typeface="Lato"/>
              <a:ea typeface="Lato"/>
              <a:cs typeface="Lato"/>
              <a:sym typeface="Lato"/>
            </a:endParaRPr>
          </a:p>
          <a:p>
            <a:pPr indent="0" lvl="0" marL="0" rtl="0" algn="l">
              <a:lnSpc>
                <a:spcPct val="115000"/>
              </a:lnSpc>
              <a:spcBef>
                <a:spcPts val="0"/>
              </a:spcBef>
              <a:spcAft>
                <a:spcPts val="0"/>
              </a:spcAft>
              <a:buNone/>
            </a:pPr>
            <a:r>
              <a:t/>
            </a:r>
            <a:endParaRPr sz="1300">
              <a:latin typeface="Lato"/>
              <a:ea typeface="Lato"/>
              <a:cs typeface="Lato"/>
              <a:sym typeface="Lato"/>
            </a:endParaRPr>
          </a:p>
        </p:txBody>
      </p:sp>
      <p:sp>
        <p:nvSpPr>
          <p:cNvPr id="71" name="Google Shape;71;p15"/>
          <p:cNvSpPr txBox="1"/>
          <p:nvPr/>
        </p:nvSpPr>
        <p:spPr>
          <a:xfrm>
            <a:off x="0" y="941225"/>
            <a:ext cx="4111500" cy="407100"/>
          </a:xfrm>
          <a:prstGeom prst="rect">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700">
                <a:solidFill>
                  <a:srgbClr val="00A600"/>
                </a:solidFill>
                <a:latin typeface="Open Sans ExtraBold"/>
                <a:ea typeface="Open Sans ExtraBold"/>
                <a:cs typeface="Open Sans ExtraBold"/>
                <a:sym typeface="Open Sans ExtraBold"/>
              </a:rPr>
              <a:t>SUB-HEADING GOES HERE!</a:t>
            </a:r>
            <a:endParaRPr sz="1700">
              <a:solidFill>
                <a:srgbClr val="00A600"/>
              </a:solidFill>
              <a:latin typeface="Open Sans ExtraBold"/>
              <a:ea typeface="Open Sans ExtraBold"/>
              <a:cs typeface="Open Sans ExtraBold"/>
              <a:sym typeface="Open Sans ExtraBold"/>
            </a:endParaRPr>
          </a:p>
        </p:txBody>
      </p:sp>
      <p:sp>
        <p:nvSpPr>
          <p:cNvPr id="72" name="Google Shape;72;p15"/>
          <p:cNvSpPr/>
          <p:nvPr/>
        </p:nvSpPr>
        <p:spPr>
          <a:xfrm>
            <a:off x="3834275" y="941225"/>
            <a:ext cx="399000" cy="4071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73" name="Google Shape;73;p15"/>
          <p:cNvPicPr preferRelativeResize="0"/>
          <p:nvPr/>
        </p:nvPicPr>
        <p:blipFill rotWithShape="1">
          <a:blip r:embed="rId4">
            <a:alphaModFix/>
          </a:blip>
          <a:srcRect b="11281" l="20956" r="20375" t="10435"/>
          <a:stretch/>
        </p:blipFill>
        <p:spPr>
          <a:xfrm>
            <a:off x="3815225" y="985441"/>
            <a:ext cx="360900" cy="318660"/>
          </a:xfrm>
          <a:prstGeom prst="rect">
            <a:avLst/>
          </a:prstGeom>
          <a:noFill/>
          <a:ln>
            <a:noFill/>
          </a:ln>
        </p:spPr>
      </p:pic>
      <p:pic>
        <p:nvPicPr>
          <p:cNvPr id="74" name="Google Shape;74;p15"/>
          <p:cNvPicPr preferRelativeResize="0"/>
          <p:nvPr/>
        </p:nvPicPr>
        <p:blipFill>
          <a:blip r:embed="rId5">
            <a:alphaModFix/>
          </a:blip>
          <a:stretch>
            <a:fillRect/>
          </a:stretch>
        </p:blipFill>
        <p:spPr>
          <a:xfrm>
            <a:off x="-42125" y="4736398"/>
            <a:ext cx="895141" cy="407102"/>
          </a:xfrm>
          <a:prstGeom prst="rect">
            <a:avLst/>
          </a:prstGeom>
          <a:noFill/>
          <a:ln>
            <a:noFill/>
          </a:ln>
        </p:spPr>
      </p:pic>
      <p:pic>
        <p:nvPicPr>
          <p:cNvPr id="75" name="Google Shape;75;p15"/>
          <p:cNvPicPr preferRelativeResize="0"/>
          <p:nvPr/>
        </p:nvPicPr>
        <p:blipFill>
          <a:blip r:embed="rId6">
            <a:alphaModFix/>
          </a:blip>
          <a:stretch>
            <a:fillRect/>
          </a:stretch>
        </p:blipFill>
        <p:spPr>
          <a:xfrm>
            <a:off x="7369427" y="61100"/>
            <a:ext cx="664571" cy="664602"/>
          </a:xfrm>
          <a:prstGeom prst="rect">
            <a:avLst/>
          </a:prstGeom>
          <a:noFill/>
          <a:ln>
            <a:noFill/>
          </a:ln>
        </p:spPr>
      </p:pic>
      <p:pic>
        <p:nvPicPr>
          <p:cNvPr id="76" name="Google Shape;76;p15"/>
          <p:cNvPicPr preferRelativeResize="0"/>
          <p:nvPr/>
        </p:nvPicPr>
        <p:blipFill>
          <a:blip r:embed="rId7">
            <a:alphaModFix/>
          </a:blip>
          <a:stretch>
            <a:fillRect/>
          </a:stretch>
        </p:blipFill>
        <p:spPr>
          <a:xfrm>
            <a:off x="8208359" y="143950"/>
            <a:ext cx="810791" cy="283800"/>
          </a:xfrm>
          <a:prstGeom prst="rect">
            <a:avLst/>
          </a:prstGeom>
          <a:noFill/>
          <a:ln>
            <a:noFill/>
          </a:ln>
        </p:spPr>
      </p:pic>
      <p:cxnSp>
        <p:nvCxnSpPr>
          <p:cNvPr id="77" name="Google Shape;77;p15"/>
          <p:cNvCxnSpPr/>
          <p:nvPr/>
        </p:nvCxnSpPr>
        <p:spPr>
          <a:xfrm>
            <a:off x="8083075" y="228600"/>
            <a:ext cx="0" cy="283800"/>
          </a:xfrm>
          <a:prstGeom prst="straightConnector1">
            <a:avLst/>
          </a:prstGeom>
          <a:noFill/>
          <a:ln cap="flat" cmpd="sng" w="9525">
            <a:solidFill>
              <a:srgbClr val="EFEFEF"/>
            </a:solidFill>
            <a:prstDash val="solid"/>
            <a:round/>
            <a:headEnd len="med" w="med" type="none"/>
            <a:tailEnd len="med" w="med" type="none"/>
          </a:ln>
        </p:spPr>
      </p:cxnSp>
      <p:sp>
        <p:nvSpPr>
          <p:cNvPr id="78" name="Google Shape;78;p15"/>
          <p:cNvSpPr txBox="1"/>
          <p:nvPr/>
        </p:nvSpPr>
        <p:spPr>
          <a:xfrm>
            <a:off x="8033988" y="340800"/>
            <a:ext cx="11862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0" i="0" lang="en" sz="700" u="none" cap="none" strike="noStrike">
                <a:solidFill>
                  <a:srgbClr val="D9D9D9"/>
                </a:solidFill>
                <a:latin typeface="Open Sans"/>
                <a:ea typeface="Open Sans"/>
                <a:cs typeface="Open Sans"/>
                <a:sym typeface="Open Sans"/>
              </a:rPr>
              <a:t>I I T   R O O R K E E</a:t>
            </a:r>
            <a:endParaRPr sz="650">
              <a:solidFill>
                <a:srgbClr val="D9D9D9"/>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800"/>
              <a:buFont typeface="Arial"/>
              <a:buNone/>
            </a:pPr>
            <a:r>
              <a:rPr b="0" i="0" lang="en" sz="600" u="none" cap="none" strike="noStrike">
                <a:solidFill>
                  <a:srgbClr val="D9D9D9"/>
                </a:solidFill>
                <a:latin typeface="Open Sans"/>
                <a:ea typeface="Open Sans"/>
                <a:cs typeface="Open Sans"/>
                <a:sym typeface="Open Sans"/>
              </a:rPr>
              <a:t>M O T O R S P O R T S</a:t>
            </a:r>
            <a:endParaRPr b="0" i="0" sz="600" u="none" cap="none" strike="noStrike">
              <a:solidFill>
                <a:srgbClr val="D9D9D9"/>
              </a:solidFill>
              <a:latin typeface="Open Sans"/>
              <a:ea typeface="Open Sans"/>
              <a:cs typeface="Open Sans"/>
              <a:sym typeface="Open Sans"/>
            </a:endParaRPr>
          </a:p>
        </p:txBody>
      </p:sp>
      <p:sp>
        <p:nvSpPr>
          <p:cNvPr id="79" name="Google Shape;79;p15"/>
          <p:cNvSpPr txBox="1"/>
          <p:nvPr/>
        </p:nvSpPr>
        <p:spPr>
          <a:xfrm>
            <a:off x="7204275" y="4791650"/>
            <a:ext cx="1968300" cy="42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lang="en" sz="1200">
                <a:solidFill>
                  <a:srgbClr val="999999"/>
                </a:solidFill>
                <a:latin typeface="Lato"/>
                <a:ea typeface="Lato"/>
                <a:cs typeface="Lato"/>
                <a:sym typeface="Lato"/>
              </a:rPr>
              <a:t>FSEV Challenge 2021</a:t>
            </a:r>
            <a:endParaRPr b="0" i="0" sz="1200" u="none" cap="none" strike="noStrike">
              <a:solidFill>
                <a:srgbClr val="999999"/>
              </a:solidFill>
              <a:latin typeface="Lato"/>
              <a:ea typeface="Lato"/>
              <a:cs typeface="Lato"/>
              <a:sym typeface="Lato"/>
            </a:endParaRPr>
          </a:p>
        </p:txBody>
      </p:sp>
      <p:cxnSp>
        <p:nvCxnSpPr>
          <p:cNvPr id="80" name="Google Shape;80;p15"/>
          <p:cNvCxnSpPr>
            <a:endCxn id="79" idx="1"/>
          </p:cNvCxnSpPr>
          <p:nvPr/>
        </p:nvCxnSpPr>
        <p:spPr>
          <a:xfrm>
            <a:off x="852975" y="5005250"/>
            <a:ext cx="6351300" cy="0"/>
          </a:xfrm>
          <a:prstGeom prst="straightConnector1">
            <a:avLst/>
          </a:prstGeom>
          <a:noFill/>
          <a:ln cap="flat" cmpd="sng" w="9525">
            <a:solidFill>
              <a:srgbClr val="00A600"/>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84" name="Shape 84"/>
        <p:cNvGrpSpPr/>
        <p:nvPr/>
      </p:nvGrpSpPr>
      <p:grpSpPr>
        <a:xfrm>
          <a:off x="0" y="0"/>
          <a:ext cx="0" cy="0"/>
          <a:chOff x="0" y="0"/>
          <a:chExt cx="0" cy="0"/>
        </a:xfrm>
      </p:grpSpPr>
      <p:sp>
        <p:nvSpPr>
          <p:cNvPr id="85" name="Google Shape;85;p16"/>
          <p:cNvSpPr/>
          <p:nvPr/>
        </p:nvSpPr>
        <p:spPr>
          <a:xfrm>
            <a:off x="0" y="0"/>
            <a:ext cx="9144000" cy="741000"/>
          </a:xfrm>
          <a:prstGeom prst="trapezoid">
            <a:avLst>
              <a:gd fmla="val 0" name="adj"/>
            </a:avLst>
          </a:prstGeom>
          <a:solidFill>
            <a:srgbClr val="10101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0" i="0" lang="en" sz="2200" u="none" cap="none" strike="noStrike">
                <a:solidFill>
                  <a:srgbClr val="F3F3F3"/>
                </a:solidFill>
                <a:latin typeface="Lato"/>
                <a:ea typeface="Lato"/>
                <a:cs typeface="Lato"/>
                <a:sym typeface="Lato"/>
              </a:rPr>
              <a:t>Glimpses of </a:t>
            </a:r>
            <a:r>
              <a:rPr b="0" i="0" lang="en" sz="2200" u="none" cap="none" strike="noStrike">
                <a:solidFill>
                  <a:srgbClr val="1EC91E"/>
                </a:solidFill>
                <a:latin typeface="Lato Black"/>
                <a:ea typeface="Lato Black"/>
                <a:cs typeface="Lato Black"/>
                <a:sym typeface="Lato Black"/>
              </a:rPr>
              <a:t>Formula Student</a:t>
            </a:r>
            <a:endParaRPr b="0" i="0" sz="2200" u="none" cap="none" strike="noStrike">
              <a:solidFill>
                <a:srgbClr val="1EC91E"/>
              </a:solidFill>
              <a:latin typeface="Lato Black"/>
              <a:ea typeface="Lato Black"/>
              <a:cs typeface="Lato Black"/>
              <a:sym typeface="Lato Black"/>
            </a:endParaRPr>
          </a:p>
        </p:txBody>
      </p:sp>
      <p:pic>
        <p:nvPicPr>
          <p:cNvPr id="86" name="Google Shape;86;p16"/>
          <p:cNvPicPr preferRelativeResize="0"/>
          <p:nvPr/>
        </p:nvPicPr>
        <p:blipFill>
          <a:blip r:embed="rId3">
            <a:alphaModFix amt="26000"/>
          </a:blip>
          <a:stretch>
            <a:fillRect/>
          </a:stretch>
        </p:blipFill>
        <p:spPr>
          <a:xfrm rot="9900000">
            <a:off x="5128900" y="2442475"/>
            <a:ext cx="4289526" cy="2716700"/>
          </a:xfrm>
          <a:prstGeom prst="rect">
            <a:avLst/>
          </a:prstGeom>
          <a:noFill/>
          <a:ln>
            <a:noFill/>
          </a:ln>
        </p:spPr>
      </p:pic>
      <p:sp>
        <p:nvSpPr>
          <p:cNvPr id="87" name="Google Shape;87;p16"/>
          <p:cNvSpPr txBox="1"/>
          <p:nvPr/>
        </p:nvSpPr>
        <p:spPr>
          <a:xfrm>
            <a:off x="743150" y="1447075"/>
            <a:ext cx="8450700" cy="157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500">
                <a:latin typeface="Open Sans"/>
                <a:ea typeface="Open Sans"/>
                <a:cs typeface="Open Sans"/>
                <a:sym typeface="Open Sans"/>
              </a:rPr>
              <a:t>Sub-sub Heading goes here!</a:t>
            </a:r>
            <a:r>
              <a:rPr b="1" lang="en" sz="1500">
                <a:solidFill>
                  <a:srgbClr val="23656F"/>
                </a:solidFill>
                <a:latin typeface="Open Sans"/>
                <a:ea typeface="Open Sans"/>
                <a:cs typeface="Open Sans"/>
                <a:sym typeface="Open Sans"/>
              </a:rPr>
              <a:t> </a:t>
            </a:r>
            <a:endParaRPr b="1" sz="1500">
              <a:solidFill>
                <a:srgbClr val="23656F"/>
              </a:solidFill>
              <a:latin typeface="Open Sans"/>
              <a:ea typeface="Open Sans"/>
              <a:cs typeface="Open Sans"/>
              <a:sym typeface="Open Sans"/>
            </a:endParaRPr>
          </a:p>
          <a:p>
            <a:pPr indent="-311150" lvl="0" marL="457200" rtl="0" algn="l">
              <a:lnSpc>
                <a:spcPct val="115000"/>
              </a:lnSpc>
              <a:spcBef>
                <a:spcPts val="0"/>
              </a:spcBef>
              <a:spcAft>
                <a:spcPts val="0"/>
              </a:spcAft>
              <a:buClr>
                <a:srgbClr val="434343"/>
              </a:buClr>
              <a:buSzPts val="1300"/>
              <a:buFont typeface="Open Sans SemiBold"/>
              <a:buChar char="●"/>
            </a:pPr>
            <a:r>
              <a:rPr b="1" lang="en" sz="1300">
                <a:latin typeface="Lato"/>
                <a:ea typeface="Lato"/>
                <a:cs typeface="Lato"/>
                <a:sym typeface="Lato"/>
              </a:rPr>
              <a:t>Wonder</a:t>
            </a:r>
            <a:r>
              <a:rPr lang="en" sz="1300">
                <a:solidFill>
                  <a:srgbClr val="434343"/>
                </a:solidFill>
                <a:latin typeface="Lato"/>
                <a:ea typeface="Lato"/>
                <a:cs typeface="Lato"/>
                <a:sym typeface="Lato"/>
              </a:rPr>
              <a:t> </a:t>
            </a:r>
            <a:r>
              <a:rPr lang="en" sz="1300">
                <a:solidFill>
                  <a:srgbClr val="324B4F"/>
                </a:solidFill>
                <a:latin typeface="Lato"/>
                <a:ea typeface="Lato"/>
                <a:cs typeface="Lato"/>
                <a:sym typeface="Lato"/>
              </a:rPr>
              <a:t>to the eyes</a:t>
            </a:r>
            <a:endParaRPr sz="1300">
              <a:solidFill>
                <a:srgbClr val="324B4F"/>
              </a:solidFill>
              <a:latin typeface="Lato"/>
              <a:ea typeface="Lato"/>
              <a:cs typeface="Lato"/>
              <a:sym typeface="Lato"/>
            </a:endParaRPr>
          </a:p>
          <a:p>
            <a:pPr indent="-311150" lvl="0" marL="457200" rtl="0" algn="l">
              <a:lnSpc>
                <a:spcPct val="115000"/>
              </a:lnSpc>
              <a:spcBef>
                <a:spcPts val="0"/>
              </a:spcBef>
              <a:spcAft>
                <a:spcPts val="0"/>
              </a:spcAft>
              <a:buClr>
                <a:srgbClr val="434343"/>
              </a:buClr>
              <a:buSzPts val="1300"/>
              <a:buFont typeface="Lato"/>
              <a:buChar char="●"/>
            </a:pPr>
            <a:r>
              <a:rPr lang="en" sz="1300">
                <a:solidFill>
                  <a:srgbClr val="23656F"/>
                </a:solidFill>
                <a:latin typeface="Lato Black"/>
                <a:ea typeface="Lato Black"/>
                <a:cs typeface="Lato Black"/>
                <a:sym typeface="Lato Black"/>
              </a:rPr>
              <a:t>Wonder</a:t>
            </a:r>
            <a:r>
              <a:rPr lang="en" sz="1300">
                <a:solidFill>
                  <a:srgbClr val="434343"/>
                </a:solidFill>
                <a:latin typeface="Lato"/>
                <a:ea typeface="Lato"/>
                <a:cs typeface="Lato"/>
                <a:sym typeface="Lato"/>
              </a:rPr>
              <a:t> to the eyes</a:t>
            </a:r>
            <a:endParaRPr sz="1300">
              <a:solidFill>
                <a:srgbClr val="434343"/>
              </a:solidFill>
              <a:latin typeface="Lato"/>
              <a:ea typeface="Lato"/>
              <a:cs typeface="Lato"/>
              <a:sym typeface="Lato"/>
            </a:endParaRPr>
          </a:p>
          <a:p>
            <a:pPr indent="-311150" lvl="0" marL="457200" rtl="0" algn="l">
              <a:lnSpc>
                <a:spcPct val="115000"/>
              </a:lnSpc>
              <a:spcBef>
                <a:spcPts val="0"/>
              </a:spcBef>
              <a:spcAft>
                <a:spcPts val="0"/>
              </a:spcAft>
              <a:buClr>
                <a:srgbClr val="434343"/>
              </a:buClr>
              <a:buSzPts val="1300"/>
              <a:buFont typeface="Open Sans SemiBold"/>
              <a:buChar char="●"/>
            </a:pPr>
            <a:r>
              <a:rPr lang="en" sz="1300">
                <a:solidFill>
                  <a:srgbClr val="434343"/>
                </a:solidFill>
                <a:latin typeface="Lato"/>
                <a:ea typeface="Lato"/>
                <a:cs typeface="Lato"/>
                <a:sym typeface="Lato"/>
              </a:rPr>
              <a:t>Excellent </a:t>
            </a:r>
            <a:r>
              <a:rPr b="1" lang="en" sz="1300">
                <a:solidFill>
                  <a:srgbClr val="434343"/>
                </a:solidFill>
                <a:latin typeface="Lato"/>
                <a:ea typeface="Lato"/>
                <a:cs typeface="Lato"/>
                <a:sym typeface="Lato"/>
              </a:rPr>
              <a:t>Work</a:t>
            </a:r>
            <a:endParaRPr b="1" sz="1300">
              <a:solidFill>
                <a:srgbClr val="434343"/>
              </a:solidFill>
              <a:latin typeface="Lato"/>
              <a:ea typeface="Lato"/>
              <a:cs typeface="Lato"/>
              <a:sym typeface="Lato"/>
            </a:endParaRPr>
          </a:p>
          <a:p>
            <a:pPr indent="0" lvl="0" marL="0" rtl="0" algn="l">
              <a:lnSpc>
                <a:spcPct val="115000"/>
              </a:lnSpc>
              <a:spcBef>
                <a:spcPts val="0"/>
              </a:spcBef>
              <a:spcAft>
                <a:spcPts val="0"/>
              </a:spcAft>
              <a:buNone/>
            </a:pPr>
            <a:r>
              <a:rPr lang="en" sz="1300">
                <a:latin typeface="Lato Black"/>
                <a:ea typeface="Lato Black"/>
                <a:cs typeface="Lato Black"/>
                <a:sym typeface="Lato Black"/>
              </a:rPr>
              <a:t>{Highlight </a:t>
            </a:r>
            <a:r>
              <a:rPr lang="en" sz="1300">
                <a:latin typeface="Lato"/>
                <a:ea typeface="Lato"/>
                <a:cs typeface="Lato"/>
                <a:sym typeface="Lato"/>
              </a:rPr>
              <a:t>using extra bold}</a:t>
            </a:r>
            <a:endParaRPr sz="1300">
              <a:solidFill>
                <a:schemeClr val="dk1"/>
              </a:solidFill>
              <a:latin typeface="Lato"/>
              <a:ea typeface="Lato"/>
              <a:cs typeface="Lato"/>
              <a:sym typeface="Lato"/>
            </a:endParaRPr>
          </a:p>
          <a:p>
            <a:pPr indent="0" lvl="0" marL="0" rtl="0" algn="l">
              <a:lnSpc>
                <a:spcPct val="115000"/>
              </a:lnSpc>
              <a:spcBef>
                <a:spcPts val="0"/>
              </a:spcBef>
              <a:spcAft>
                <a:spcPts val="0"/>
              </a:spcAft>
              <a:buNone/>
            </a:pPr>
            <a:r>
              <a:t/>
            </a:r>
            <a:endParaRPr sz="1300">
              <a:latin typeface="Lato"/>
              <a:ea typeface="Lato"/>
              <a:cs typeface="Lato"/>
              <a:sym typeface="Lato"/>
            </a:endParaRPr>
          </a:p>
        </p:txBody>
      </p:sp>
      <p:sp>
        <p:nvSpPr>
          <p:cNvPr id="88" name="Google Shape;88;p16"/>
          <p:cNvSpPr txBox="1"/>
          <p:nvPr/>
        </p:nvSpPr>
        <p:spPr>
          <a:xfrm>
            <a:off x="0" y="941225"/>
            <a:ext cx="4111500" cy="407100"/>
          </a:xfrm>
          <a:prstGeom prst="rect">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700">
                <a:solidFill>
                  <a:srgbClr val="00A600"/>
                </a:solidFill>
                <a:latin typeface="Open Sans ExtraBold"/>
                <a:ea typeface="Open Sans ExtraBold"/>
                <a:cs typeface="Open Sans ExtraBold"/>
                <a:sym typeface="Open Sans ExtraBold"/>
              </a:rPr>
              <a:t>SUB-HEADING GOES HERE!</a:t>
            </a:r>
            <a:endParaRPr sz="1700">
              <a:solidFill>
                <a:srgbClr val="00A600"/>
              </a:solidFill>
              <a:latin typeface="Open Sans ExtraBold"/>
              <a:ea typeface="Open Sans ExtraBold"/>
              <a:cs typeface="Open Sans ExtraBold"/>
              <a:sym typeface="Open Sans ExtraBold"/>
            </a:endParaRPr>
          </a:p>
        </p:txBody>
      </p:sp>
      <p:sp>
        <p:nvSpPr>
          <p:cNvPr id="89" name="Google Shape;89;p16"/>
          <p:cNvSpPr/>
          <p:nvPr/>
        </p:nvSpPr>
        <p:spPr>
          <a:xfrm>
            <a:off x="3834275" y="941225"/>
            <a:ext cx="399000" cy="4071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90" name="Google Shape;90;p16"/>
          <p:cNvPicPr preferRelativeResize="0"/>
          <p:nvPr/>
        </p:nvPicPr>
        <p:blipFill rotWithShape="1">
          <a:blip r:embed="rId4">
            <a:alphaModFix/>
          </a:blip>
          <a:srcRect b="11281" l="20956" r="20375" t="10435"/>
          <a:stretch/>
        </p:blipFill>
        <p:spPr>
          <a:xfrm>
            <a:off x="3815225" y="985441"/>
            <a:ext cx="360900" cy="318660"/>
          </a:xfrm>
          <a:prstGeom prst="rect">
            <a:avLst/>
          </a:prstGeom>
          <a:noFill/>
          <a:ln>
            <a:noFill/>
          </a:ln>
        </p:spPr>
      </p:pic>
      <p:pic>
        <p:nvPicPr>
          <p:cNvPr id="91" name="Google Shape;91;p16"/>
          <p:cNvPicPr preferRelativeResize="0"/>
          <p:nvPr/>
        </p:nvPicPr>
        <p:blipFill>
          <a:blip r:embed="rId5">
            <a:alphaModFix/>
          </a:blip>
          <a:stretch>
            <a:fillRect/>
          </a:stretch>
        </p:blipFill>
        <p:spPr>
          <a:xfrm>
            <a:off x="0" y="4736400"/>
            <a:ext cx="895141" cy="407100"/>
          </a:xfrm>
          <a:prstGeom prst="rect">
            <a:avLst/>
          </a:prstGeom>
          <a:noFill/>
          <a:ln>
            <a:noFill/>
          </a:ln>
        </p:spPr>
      </p:pic>
      <p:pic>
        <p:nvPicPr>
          <p:cNvPr id="92" name="Google Shape;92;p16"/>
          <p:cNvPicPr preferRelativeResize="0"/>
          <p:nvPr/>
        </p:nvPicPr>
        <p:blipFill>
          <a:blip r:embed="rId6">
            <a:alphaModFix/>
          </a:blip>
          <a:stretch>
            <a:fillRect/>
          </a:stretch>
        </p:blipFill>
        <p:spPr>
          <a:xfrm>
            <a:off x="78577" y="38200"/>
            <a:ext cx="664571" cy="664602"/>
          </a:xfrm>
          <a:prstGeom prst="rect">
            <a:avLst/>
          </a:prstGeom>
          <a:noFill/>
          <a:ln>
            <a:noFill/>
          </a:ln>
        </p:spPr>
      </p:pic>
      <p:pic>
        <p:nvPicPr>
          <p:cNvPr id="93" name="Google Shape;93;p16"/>
          <p:cNvPicPr preferRelativeResize="0"/>
          <p:nvPr/>
        </p:nvPicPr>
        <p:blipFill>
          <a:blip r:embed="rId7">
            <a:alphaModFix/>
          </a:blip>
          <a:stretch>
            <a:fillRect/>
          </a:stretch>
        </p:blipFill>
        <p:spPr>
          <a:xfrm>
            <a:off x="8208359" y="143950"/>
            <a:ext cx="810791" cy="283800"/>
          </a:xfrm>
          <a:prstGeom prst="rect">
            <a:avLst/>
          </a:prstGeom>
          <a:noFill/>
          <a:ln>
            <a:noFill/>
          </a:ln>
        </p:spPr>
      </p:pic>
      <p:sp>
        <p:nvSpPr>
          <p:cNvPr id="94" name="Google Shape;94;p16"/>
          <p:cNvSpPr txBox="1"/>
          <p:nvPr/>
        </p:nvSpPr>
        <p:spPr>
          <a:xfrm>
            <a:off x="8033988" y="340800"/>
            <a:ext cx="11862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0" i="0" lang="en" sz="700" u="none" cap="none" strike="noStrike">
                <a:solidFill>
                  <a:srgbClr val="D9D9D9"/>
                </a:solidFill>
                <a:latin typeface="Open Sans"/>
                <a:ea typeface="Open Sans"/>
                <a:cs typeface="Open Sans"/>
                <a:sym typeface="Open Sans"/>
              </a:rPr>
              <a:t>I I T   R O O R K E E</a:t>
            </a:r>
            <a:endParaRPr sz="650">
              <a:solidFill>
                <a:srgbClr val="D9D9D9"/>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800"/>
              <a:buFont typeface="Arial"/>
              <a:buNone/>
            </a:pPr>
            <a:r>
              <a:rPr b="0" i="0" lang="en" sz="600" u="none" cap="none" strike="noStrike">
                <a:solidFill>
                  <a:srgbClr val="D9D9D9"/>
                </a:solidFill>
                <a:latin typeface="Open Sans"/>
                <a:ea typeface="Open Sans"/>
                <a:cs typeface="Open Sans"/>
                <a:sym typeface="Open Sans"/>
              </a:rPr>
              <a:t>M O T O R S P O R T S</a:t>
            </a:r>
            <a:endParaRPr b="0" i="0" sz="600" u="none" cap="none" strike="noStrike">
              <a:solidFill>
                <a:srgbClr val="D9D9D9"/>
              </a:solidFill>
              <a:latin typeface="Open Sans"/>
              <a:ea typeface="Open Sans"/>
              <a:cs typeface="Open Sans"/>
              <a:sym typeface="Open Sans"/>
            </a:endParaRPr>
          </a:p>
        </p:txBody>
      </p:sp>
      <p:cxnSp>
        <p:nvCxnSpPr>
          <p:cNvPr id="95" name="Google Shape;95;p16"/>
          <p:cNvCxnSpPr>
            <a:endCxn id="96" idx="1"/>
          </p:cNvCxnSpPr>
          <p:nvPr/>
        </p:nvCxnSpPr>
        <p:spPr>
          <a:xfrm>
            <a:off x="75" y="5005250"/>
            <a:ext cx="7204200" cy="0"/>
          </a:xfrm>
          <a:prstGeom prst="straightConnector1">
            <a:avLst/>
          </a:prstGeom>
          <a:noFill/>
          <a:ln cap="flat" cmpd="sng" w="9525">
            <a:solidFill>
              <a:srgbClr val="999999"/>
            </a:solidFill>
            <a:prstDash val="solid"/>
            <a:round/>
            <a:headEnd len="sm" w="sm" type="none"/>
            <a:tailEnd len="sm" w="sm" type="none"/>
          </a:ln>
        </p:spPr>
      </p:cxnSp>
      <p:sp>
        <p:nvSpPr>
          <p:cNvPr id="96" name="Google Shape;96;p16"/>
          <p:cNvSpPr txBox="1"/>
          <p:nvPr/>
        </p:nvSpPr>
        <p:spPr>
          <a:xfrm>
            <a:off x="7204275" y="4791650"/>
            <a:ext cx="1968300" cy="42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lang="en" sz="1200">
                <a:solidFill>
                  <a:srgbClr val="999999"/>
                </a:solidFill>
                <a:latin typeface="Lato"/>
                <a:ea typeface="Lato"/>
                <a:cs typeface="Lato"/>
                <a:sym typeface="Lato"/>
              </a:rPr>
              <a:t>FSEV Challenge 2021</a:t>
            </a:r>
            <a:endParaRPr b="0" i="0" sz="1200" u="none" cap="none" strike="noStrike">
              <a:solidFill>
                <a:srgbClr val="999999"/>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100" name="Shape 100"/>
        <p:cNvGrpSpPr/>
        <p:nvPr/>
      </p:nvGrpSpPr>
      <p:grpSpPr>
        <a:xfrm>
          <a:off x="0" y="0"/>
          <a:ext cx="0" cy="0"/>
          <a:chOff x="0" y="0"/>
          <a:chExt cx="0" cy="0"/>
        </a:xfrm>
      </p:grpSpPr>
      <p:sp>
        <p:nvSpPr>
          <p:cNvPr id="101" name="Google Shape;101;p17"/>
          <p:cNvSpPr/>
          <p:nvPr/>
        </p:nvSpPr>
        <p:spPr>
          <a:xfrm>
            <a:off x="0" y="0"/>
            <a:ext cx="9144000" cy="6645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i="0" lang="en" sz="2200" u="none" cap="none" strike="noStrike">
                <a:solidFill>
                  <a:srgbClr val="F3F3F3"/>
                </a:solidFill>
                <a:latin typeface="Open Sans"/>
                <a:ea typeface="Open Sans"/>
                <a:cs typeface="Open Sans"/>
                <a:sym typeface="Open Sans"/>
              </a:rPr>
              <a:t>Glimpses of </a:t>
            </a:r>
            <a:r>
              <a:rPr i="0" lang="en" sz="2200" u="none" cap="none" strike="noStrike">
                <a:solidFill>
                  <a:srgbClr val="00A600"/>
                </a:solidFill>
                <a:latin typeface="Open Sans ExtraBold"/>
                <a:ea typeface="Open Sans ExtraBold"/>
                <a:cs typeface="Open Sans ExtraBold"/>
                <a:sym typeface="Open Sans ExtraBold"/>
              </a:rPr>
              <a:t>Formula Student</a:t>
            </a:r>
            <a:endParaRPr i="0" sz="2200" u="none" cap="none" strike="noStrike">
              <a:solidFill>
                <a:srgbClr val="00A600"/>
              </a:solidFill>
              <a:latin typeface="Open Sans ExtraBold"/>
              <a:ea typeface="Open Sans ExtraBold"/>
              <a:cs typeface="Open Sans ExtraBold"/>
              <a:sym typeface="Open Sans ExtraBold"/>
            </a:endParaRPr>
          </a:p>
        </p:txBody>
      </p:sp>
      <p:pic>
        <p:nvPicPr>
          <p:cNvPr id="102" name="Google Shape;102;p17"/>
          <p:cNvPicPr preferRelativeResize="0"/>
          <p:nvPr/>
        </p:nvPicPr>
        <p:blipFill>
          <a:blip r:embed="rId3">
            <a:alphaModFix amt="26000"/>
          </a:blip>
          <a:stretch>
            <a:fillRect/>
          </a:stretch>
        </p:blipFill>
        <p:spPr>
          <a:xfrm rot="9900000">
            <a:off x="5128900" y="2442475"/>
            <a:ext cx="4289526" cy="2716700"/>
          </a:xfrm>
          <a:prstGeom prst="rect">
            <a:avLst/>
          </a:prstGeom>
          <a:noFill/>
          <a:ln>
            <a:noFill/>
          </a:ln>
        </p:spPr>
      </p:pic>
      <p:sp>
        <p:nvSpPr>
          <p:cNvPr id="103" name="Google Shape;103;p17"/>
          <p:cNvSpPr txBox="1"/>
          <p:nvPr/>
        </p:nvSpPr>
        <p:spPr>
          <a:xfrm>
            <a:off x="743150" y="1447075"/>
            <a:ext cx="8450700" cy="157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500">
                <a:latin typeface="Open Sans"/>
                <a:ea typeface="Open Sans"/>
                <a:cs typeface="Open Sans"/>
                <a:sym typeface="Open Sans"/>
              </a:rPr>
              <a:t>Sub-sub Heading goes here!</a:t>
            </a:r>
            <a:r>
              <a:rPr b="1" lang="en" sz="1500">
                <a:solidFill>
                  <a:srgbClr val="23656F"/>
                </a:solidFill>
                <a:latin typeface="Open Sans"/>
                <a:ea typeface="Open Sans"/>
                <a:cs typeface="Open Sans"/>
                <a:sym typeface="Open Sans"/>
              </a:rPr>
              <a:t> </a:t>
            </a:r>
            <a:endParaRPr b="1" sz="1500">
              <a:solidFill>
                <a:srgbClr val="23656F"/>
              </a:solidFill>
              <a:latin typeface="Open Sans"/>
              <a:ea typeface="Open Sans"/>
              <a:cs typeface="Open Sans"/>
              <a:sym typeface="Open Sans"/>
            </a:endParaRPr>
          </a:p>
          <a:p>
            <a:pPr indent="-311150" lvl="0" marL="457200" rtl="0" algn="l">
              <a:lnSpc>
                <a:spcPct val="115000"/>
              </a:lnSpc>
              <a:spcBef>
                <a:spcPts val="0"/>
              </a:spcBef>
              <a:spcAft>
                <a:spcPts val="0"/>
              </a:spcAft>
              <a:buClr>
                <a:srgbClr val="434343"/>
              </a:buClr>
              <a:buSzPts val="1300"/>
              <a:buFont typeface="Open Sans SemiBold"/>
              <a:buChar char="●"/>
            </a:pPr>
            <a:r>
              <a:rPr b="1" lang="en" sz="1300">
                <a:latin typeface="Lato"/>
                <a:ea typeface="Lato"/>
                <a:cs typeface="Lato"/>
                <a:sym typeface="Lato"/>
              </a:rPr>
              <a:t>Wonder</a:t>
            </a:r>
            <a:r>
              <a:rPr lang="en" sz="1300">
                <a:solidFill>
                  <a:srgbClr val="434343"/>
                </a:solidFill>
                <a:latin typeface="Lato"/>
                <a:ea typeface="Lato"/>
                <a:cs typeface="Lato"/>
                <a:sym typeface="Lato"/>
              </a:rPr>
              <a:t> </a:t>
            </a:r>
            <a:r>
              <a:rPr lang="en" sz="1300">
                <a:solidFill>
                  <a:srgbClr val="324B4F"/>
                </a:solidFill>
                <a:latin typeface="Lato"/>
                <a:ea typeface="Lato"/>
                <a:cs typeface="Lato"/>
                <a:sym typeface="Lato"/>
              </a:rPr>
              <a:t>to the eyes</a:t>
            </a:r>
            <a:endParaRPr sz="1300">
              <a:solidFill>
                <a:srgbClr val="324B4F"/>
              </a:solidFill>
              <a:latin typeface="Lato"/>
              <a:ea typeface="Lato"/>
              <a:cs typeface="Lato"/>
              <a:sym typeface="Lato"/>
            </a:endParaRPr>
          </a:p>
          <a:p>
            <a:pPr indent="-311150" lvl="0" marL="457200" rtl="0" algn="l">
              <a:lnSpc>
                <a:spcPct val="115000"/>
              </a:lnSpc>
              <a:spcBef>
                <a:spcPts val="0"/>
              </a:spcBef>
              <a:spcAft>
                <a:spcPts val="0"/>
              </a:spcAft>
              <a:buClr>
                <a:srgbClr val="434343"/>
              </a:buClr>
              <a:buSzPts val="1300"/>
              <a:buFont typeface="Lato"/>
              <a:buChar char="●"/>
            </a:pPr>
            <a:r>
              <a:rPr b="1" lang="en" sz="1300">
                <a:solidFill>
                  <a:srgbClr val="00A600"/>
                </a:solidFill>
                <a:latin typeface="Lato"/>
                <a:ea typeface="Lato"/>
                <a:cs typeface="Lato"/>
                <a:sym typeface="Lato"/>
              </a:rPr>
              <a:t>Wonder</a:t>
            </a:r>
            <a:r>
              <a:rPr lang="en" sz="1300">
                <a:solidFill>
                  <a:srgbClr val="434343"/>
                </a:solidFill>
                <a:latin typeface="Lato"/>
                <a:ea typeface="Lato"/>
                <a:cs typeface="Lato"/>
                <a:sym typeface="Lato"/>
              </a:rPr>
              <a:t> to the eyes</a:t>
            </a:r>
            <a:endParaRPr sz="1300">
              <a:solidFill>
                <a:srgbClr val="434343"/>
              </a:solidFill>
              <a:latin typeface="Lato"/>
              <a:ea typeface="Lato"/>
              <a:cs typeface="Lato"/>
              <a:sym typeface="Lato"/>
            </a:endParaRPr>
          </a:p>
          <a:p>
            <a:pPr indent="-311150" lvl="0" marL="457200" rtl="0" algn="l">
              <a:lnSpc>
                <a:spcPct val="115000"/>
              </a:lnSpc>
              <a:spcBef>
                <a:spcPts val="0"/>
              </a:spcBef>
              <a:spcAft>
                <a:spcPts val="0"/>
              </a:spcAft>
              <a:buClr>
                <a:srgbClr val="434343"/>
              </a:buClr>
              <a:buSzPts val="1300"/>
              <a:buFont typeface="Open Sans SemiBold"/>
              <a:buChar char="●"/>
            </a:pPr>
            <a:r>
              <a:rPr lang="en" sz="1300">
                <a:solidFill>
                  <a:srgbClr val="434343"/>
                </a:solidFill>
                <a:latin typeface="Lato"/>
                <a:ea typeface="Lato"/>
                <a:cs typeface="Lato"/>
                <a:sym typeface="Lato"/>
              </a:rPr>
              <a:t>Excellent </a:t>
            </a:r>
            <a:r>
              <a:rPr b="1" lang="en" sz="1300">
                <a:solidFill>
                  <a:srgbClr val="274E13"/>
                </a:solidFill>
                <a:latin typeface="Lato"/>
                <a:ea typeface="Lato"/>
                <a:cs typeface="Lato"/>
                <a:sym typeface="Lato"/>
              </a:rPr>
              <a:t>Work</a:t>
            </a:r>
            <a:endParaRPr b="1" sz="1300">
              <a:solidFill>
                <a:srgbClr val="274E13"/>
              </a:solidFill>
              <a:latin typeface="Lato"/>
              <a:ea typeface="Lato"/>
              <a:cs typeface="Lato"/>
              <a:sym typeface="Lato"/>
            </a:endParaRPr>
          </a:p>
          <a:p>
            <a:pPr indent="0" lvl="0" marL="0" rtl="0" algn="l">
              <a:lnSpc>
                <a:spcPct val="115000"/>
              </a:lnSpc>
              <a:spcBef>
                <a:spcPts val="0"/>
              </a:spcBef>
              <a:spcAft>
                <a:spcPts val="0"/>
              </a:spcAft>
              <a:buNone/>
            </a:pPr>
            <a:r>
              <a:rPr lang="en" sz="1300">
                <a:latin typeface="Lato Black"/>
                <a:ea typeface="Lato Black"/>
                <a:cs typeface="Lato Black"/>
                <a:sym typeface="Lato Black"/>
              </a:rPr>
              <a:t>{Highlight </a:t>
            </a:r>
            <a:r>
              <a:rPr lang="en" sz="1300">
                <a:latin typeface="Lato"/>
                <a:ea typeface="Lato"/>
                <a:cs typeface="Lato"/>
                <a:sym typeface="Lato"/>
              </a:rPr>
              <a:t>using extra bold}</a:t>
            </a:r>
            <a:endParaRPr sz="1300">
              <a:solidFill>
                <a:schemeClr val="dk1"/>
              </a:solidFill>
              <a:latin typeface="Lato"/>
              <a:ea typeface="Lato"/>
              <a:cs typeface="Lato"/>
              <a:sym typeface="Lato"/>
            </a:endParaRPr>
          </a:p>
          <a:p>
            <a:pPr indent="0" lvl="0" marL="0" rtl="0" algn="l">
              <a:lnSpc>
                <a:spcPct val="115000"/>
              </a:lnSpc>
              <a:spcBef>
                <a:spcPts val="0"/>
              </a:spcBef>
              <a:spcAft>
                <a:spcPts val="0"/>
              </a:spcAft>
              <a:buNone/>
            </a:pPr>
            <a:r>
              <a:t/>
            </a:r>
            <a:endParaRPr sz="1300">
              <a:latin typeface="Lato"/>
              <a:ea typeface="Lato"/>
              <a:cs typeface="Lato"/>
              <a:sym typeface="Lato"/>
            </a:endParaRPr>
          </a:p>
        </p:txBody>
      </p:sp>
      <p:sp>
        <p:nvSpPr>
          <p:cNvPr id="104" name="Google Shape;104;p17"/>
          <p:cNvSpPr txBox="1"/>
          <p:nvPr/>
        </p:nvSpPr>
        <p:spPr>
          <a:xfrm>
            <a:off x="0" y="941225"/>
            <a:ext cx="4111500" cy="407100"/>
          </a:xfrm>
          <a:prstGeom prst="rect">
            <a:avLst/>
          </a:prstGeom>
          <a:solidFill>
            <a:srgbClr val="274E13"/>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700">
                <a:solidFill>
                  <a:srgbClr val="D9EAD3"/>
                </a:solidFill>
                <a:latin typeface="Open Sans ExtraBold"/>
                <a:ea typeface="Open Sans ExtraBold"/>
                <a:cs typeface="Open Sans ExtraBold"/>
                <a:sym typeface="Open Sans ExtraBold"/>
              </a:rPr>
              <a:t>SUB-HEADING GOES HERE!</a:t>
            </a:r>
            <a:endParaRPr sz="1700">
              <a:solidFill>
                <a:srgbClr val="D9EAD3"/>
              </a:solidFill>
              <a:latin typeface="Open Sans ExtraBold"/>
              <a:ea typeface="Open Sans ExtraBold"/>
              <a:cs typeface="Open Sans ExtraBold"/>
              <a:sym typeface="Open Sans ExtraBold"/>
            </a:endParaRPr>
          </a:p>
        </p:txBody>
      </p:sp>
      <p:sp>
        <p:nvSpPr>
          <p:cNvPr id="105" name="Google Shape;105;p17"/>
          <p:cNvSpPr/>
          <p:nvPr/>
        </p:nvSpPr>
        <p:spPr>
          <a:xfrm>
            <a:off x="3834275" y="941225"/>
            <a:ext cx="399000" cy="407100"/>
          </a:xfrm>
          <a:prstGeom prst="ellipse">
            <a:avLst/>
          </a:prstGeom>
          <a:solidFill>
            <a:srgbClr val="38761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106" name="Google Shape;106;p17"/>
          <p:cNvPicPr preferRelativeResize="0"/>
          <p:nvPr/>
        </p:nvPicPr>
        <p:blipFill rotWithShape="1">
          <a:blip r:embed="rId4">
            <a:alphaModFix/>
          </a:blip>
          <a:srcRect b="11281" l="20956" r="20375" t="10435"/>
          <a:stretch/>
        </p:blipFill>
        <p:spPr>
          <a:xfrm>
            <a:off x="3853325" y="985441"/>
            <a:ext cx="360900" cy="318660"/>
          </a:xfrm>
          <a:prstGeom prst="rect">
            <a:avLst/>
          </a:prstGeom>
          <a:noFill/>
          <a:ln>
            <a:noFill/>
          </a:ln>
        </p:spPr>
      </p:pic>
      <p:pic>
        <p:nvPicPr>
          <p:cNvPr id="107" name="Google Shape;107;p17"/>
          <p:cNvPicPr preferRelativeResize="0"/>
          <p:nvPr/>
        </p:nvPicPr>
        <p:blipFill>
          <a:blip r:embed="rId5">
            <a:alphaModFix/>
          </a:blip>
          <a:stretch>
            <a:fillRect/>
          </a:stretch>
        </p:blipFill>
        <p:spPr>
          <a:xfrm>
            <a:off x="104275" y="128700"/>
            <a:ext cx="895141" cy="407100"/>
          </a:xfrm>
          <a:prstGeom prst="rect">
            <a:avLst/>
          </a:prstGeom>
          <a:noFill/>
          <a:ln>
            <a:noFill/>
          </a:ln>
        </p:spPr>
      </p:pic>
      <p:pic>
        <p:nvPicPr>
          <p:cNvPr id="108" name="Google Shape;108;p17"/>
          <p:cNvPicPr preferRelativeResize="0"/>
          <p:nvPr/>
        </p:nvPicPr>
        <p:blipFill>
          <a:blip r:embed="rId6">
            <a:alphaModFix/>
          </a:blip>
          <a:stretch>
            <a:fillRect/>
          </a:stretch>
        </p:blipFill>
        <p:spPr>
          <a:xfrm>
            <a:off x="7369427" y="-46450"/>
            <a:ext cx="664571" cy="664602"/>
          </a:xfrm>
          <a:prstGeom prst="rect">
            <a:avLst/>
          </a:prstGeom>
          <a:noFill/>
          <a:ln>
            <a:noFill/>
          </a:ln>
        </p:spPr>
      </p:pic>
      <p:pic>
        <p:nvPicPr>
          <p:cNvPr id="109" name="Google Shape;109;p17"/>
          <p:cNvPicPr preferRelativeResize="0"/>
          <p:nvPr/>
        </p:nvPicPr>
        <p:blipFill>
          <a:blip r:embed="rId7">
            <a:alphaModFix/>
          </a:blip>
          <a:stretch>
            <a:fillRect/>
          </a:stretch>
        </p:blipFill>
        <p:spPr>
          <a:xfrm>
            <a:off x="8208359" y="41375"/>
            <a:ext cx="810791" cy="283800"/>
          </a:xfrm>
          <a:prstGeom prst="rect">
            <a:avLst/>
          </a:prstGeom>
          <a:noFill/>
          <a:ln>
            <a:noFill/>
          </a:ln>
        </p:spPr>
      </p:pic>
      <p:cxnSp>
        <p:nvCxnSpPr>
          <p:cNvPr id="110" name="Google Shape;110;p17"/>
          <p:cNvCxnSpPr/>
          <p:nvPr/>
        </p:nvCxnSpPr>
        <p:spPr>
          <a:xfrm>
            <a:off x="8083075" y="126025"/>
            <a:ext cx="0" cy="283800"/>
          </a:xfrm>
          <a:prstGeom prst="straightConnector1">
            <a:avLst/>
          </a:prstGeom>
          <a:noFill/>
          <a:ln cap="flat" cmpd="sng" w="9525">
            <a:solidFill>
              <a:srgbClr val="EFEFEF"/>
            </a:solidFill>
            <a:prstDash val="solid"/>
            <a:round/>
            <a:headEnd len="med" w="med" type="none"/>
            <a:tailEnd len="med" w="med" type="none"/>
          </a:ln>
        </p:spPr>
      </p:cxnSp>
      <p:sp>
        <p:nvSpPr>
          <p:cNvPr id="111" name="Google Shape;111;p17"/>
          <p:cNvSpPr txBox="1"/>
          <p:nvPr/>
        </p:nvSpPr>
        <p:spPr>
          <a:xfrm>
            <a:off x="8033988" y="238225"/>
            <a:ext cx="11862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0" i="0" lang="en" sz="700" u="none" cap="none" strike="noStrike">
                <a:solidFill>
                  <a:srgbClr val="D9D9D9"/>
                </a:solidFill>
                <a:latin typeface="Open Sans"/>
                <a:ea typeface="Open Sans"/>
                <a:cs typeface="Open Sans"/>
                <a:sym typeface="Open Sans"/>
              </a:rPr>
              <a:t>I I T   R O O R K E E</a:t>
            </a:r>
            <a:endParaRPr sz="650">
              <a:solidFill>
                <a:srgbClr val="D9D9D9"/>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800"/>
              <a:buFont typeface="Arial"/>
              <a:buNone/>
            </a:pPr>
            <a:r>
              <a:rPr b="0" i="0" lang="en" sz="600" u="none" cap="none" strike="noStrike">
                <a:solidFill>
                  <a:srgbClr val="D9D9D9"/>
                </a:solidFill>
                <a:latin typeface="Open Sans"/>
                <a:ea typeface="Open Sans"/>
                <a:cs typeface="Open Sans"/>
                <a:sym typeface="Open Sans"/>
              </a:rPr>
              <a:t>M O T O R S P O R T S</a:t>
            </a:r>
            <a:endParaRPr b="0" i="0" sz="600" u="none" cap="none" strike="noStrike">
              <a:solidFill>
                <a:srgbClr val="D9D9D9"/>
              </a:solidFill>
              <a:latin typeface="Open Sans"/>
              <a:ea typeface="Open Sans"/>
              <a:cs typeface="Open Sans"/>
              <a:sym typeface="Open Sans"/>
            </a:endParaRPr>
          </a:p>
        </p:txBody>
      </p:sp>
      <p:cxnSp>
        <p:nvCxnSpPr>
          <p:cNvPr id="112" name="Google Shape;112;p17"/>
          <p:cNvCxnSpPr>
            <a:endCxn id="113" idx="1"/>
          </p:cNvCxnSpPr>
          <p:nvPr/>
        </p:nvCxnSpPr>
        <p:spPr>
          <a:xfrm>
            <a:off x="75" y="5005250"/>
            <a:ext cx="7204200" cy="0"/>
          </a:xfrm>
          <a:prstGeom prst="straightConnector1">
            <a:avLst/>
          </a:prstGeom>
          <a:noFill/>
          <a:ln cap="flat" cmpd="sng" w="9525">
            <a:solidFill>
              <a:srgbClr val="999999"/>
            </a:solidFill>
            <a:prstDash val="solid"/>
            <a:round/>
            <a:headEnd len="sm" w="sm" type="none"/>
            <a:tailEnd len="sm" w="sm" type="none"/>
          </a:ln>
        </p:spPr>
      </p:cxnSp>
      <p:sp>
        <p:nvSpPr>
          <p:cNvPr id="113" name="Google Shape;113;p17"/>
          <p:cNvSpPr txBox="1"/>
          <p:nvPr/>
        </p:nvSpPr>
        <p:spPr>
          <a:xfrm>
            <a:off x="7204275" y="4791650"/>
            <a:ext cx="1968300" cy="42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lang="en" sz="1200">
                <a:solidFill>
                  <a:srgbClr val="999999"/>
                </a:solidFill>
                <a:latin typeface="Lato"/>
                <a:ea typeface="Lato"/>
                <a:cs typeface="Lato"/>
                <a:sym typeface="Lato"/>
              </a:rPr>
              <a:t>FSEV Challenge 2021</a:t>
            </a:r>
            <a:endParaRPr b="0" i="0" sz="1200" u="none" cap="none" strike="noStrike">
              <a:solidFill>
                <a:srgbClr val="999999"/>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117" name="Shape 117"/>
        <p:cNvGrpSpPr/>
        <p:nvPr/>
      </p:nvGrpSpPr>
      <p:grpSpPr>
        <a:xfrm>
          <a:off x="0" y="0"/>
          <a:ext cx="0" cy="0"/>
          <a:chOff x="0" y="0"/>
          <a:chExt cx="0" cy="0"/>
        </a:xfrm>
      </p:grpSpPr>
      <p:sp>
        <p:nvSpPr>
          <p:cNvPr id="118" name="Google Shape;118;p18"/>
          <p:cNvSpPr/>
          <p:nvPr/>
        </p:nvSpPr>
        <p:spPr>
          <a:xfrm>
            <a:off x="0" y="0"/>
            <a:ext cx="9144000" cy="6645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i="0" lang="en" sz="2200" u="none" cap="none" strike="noStrike">
                <a:solidFill>
                  <a:srgbClr val="F3F3F3"/>
                </a:solidFill>
                <a:latin typeface="Open Sans Light"/>
                <a:ea typeface="Open Sans Light"/>
                <a:cs typeface="Open Sans Light"/>
                <a:sym typeface="Open Sans Light"/>
              </a:rPr>
              <a:t>Glimpses of</a:t>
            </a:r>
            <a:r>
              <a:rPr i="0" lang="en" sz="2200" u="none" cap="none" strike="noStrike">
                <a:solidFill>
                  <a:srgbClr val="F3F3F3"/>
                </a:solidFill>
                <a:latin typeface="Open Sans"/>
                <a:ea typeface="Open Sans"/>
                <a:cs typeface="Open Sans"/>
                <a:sym typeface="Open Sans"/>
              </a:rPr>
              <a:t> </a:t>
            </a:r>
            <a:r>
              <a:rPr i="0" lang="en" sz="2200" u="none" cap="none" strike="noStrike">
                <a:solidFill>
                  <a:srgbClr val="00A600"/>
                </a:solidFill>
                <a:latin typeface="Open Sans ExtraBold"/>
                <a:ea typeface="Open Sans ExtraBold"/>
                <a:cs typeface="Open Sans ExtraBold"/>
                <a:sym typeface="Open Sans ExtraBold"/>
              </a:rPr>
              <a:t>Formula Student</a:t>
            </a:r>
            <a:endParaRPr i="0" sz="2200" u="none" cap="none" strike="noStrike">
              <a:solidFill>
                <a:srgbClr val="00A600"/>
              </a:solidFill>
              <a:latin typeface="Open Sans ExtraBold"/>
              <a:ea typeface="Open Sans ExtraBold"/>
              <a:cs typeface="Open Sans ExtraBold"/>
              <a:sym typeface="Open Sans ExtraBold"/>
            </a:endParaRPr>
          </a:p>
        </p:txBody>
      </p:sp>
      <p:pic>
        <p:nvPicPr>
          <p:cNvPr id="119" name="Google Shape;119;p18"/>
          <p:cNvPicPr preferRelativeResize="0"/>
          <p:nvPr/>
        </p:nvPicPr>
        <p:blipFill>
          <a:blip r:embed="rId3">
            <a:alphaModFix amt="26000"/>
          </a:blip>
          <a:stretch>
            <a:fillRect/>
          </a:stretch>
        </p:blipFill>
        <p:spPr>
          <a:xfrm rot="9900000">
            <a:off x="5128900" y="2442475"/>
            <a:ext cx="4289526" cy="2716700"/>
          </a:xfrm>
          <a:prstGeom prst="rect">
            <a:avLst/>
          </a:prstGeom>
          <a:noFill/>
          <a:ln>
            <a:noFill/>
          </a:ln>
        </p:spPr>
      </p:pic>
      <p:sp>
        <p:nvSpPr>
          <p:cNvPr id="120" name="Google Shape;120;p18"/>
          <p:cNvSpPr txBox="1"/>
          <p:nvPr/>
        </p:nvSpPr>
        <p:spPr>
          <a:xfrm>
            <a:off x="743150" y="1447075"/>
            <a:ext cx="8450700" cy="157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500">
                <a:latin typeface="Roboto"/>
                <a:ea typeface="Roboto"/>
                <a:cs typeface="Roboto"/>
                <a:sym typeface="Roboto"/>
              </a:rPr>
              <a:t>Sub-sub Heading goes here!</a:t>
            </a:r>
            <a:r>
              <a:rPr b="1" lang="en" sz="1500">
                <a:solidFill>
                  <a:srgbClr val="23656F"/>
                </a:solidFill>
                <a:latin typeface="Roboto"/>
                <a:ea typeface="Roboto"/>
                <a:cs typeface="Roboto"/>
                <a:sym typeface="Roboto"/>
              </a:rPr>
              <a:t> </a:t>
            </a:r>
            <a:endParaRPr b="1" sz="1500">
              <a:solidFill>
                <a:srgbClr val="23656F"/>
              </a:solidFill>
              <a:latin typeface="Roboto"/>
              <a:ea typeface="Roboto"/>
              <a:cs typeface="Roboto"/>
              <a:sym typeface="Roboto"/>
            </a:endParaRPr>
          </a:p>
          <a:p>
            <a:pPr indent="-311150" lvl="0" marL="457200" rtl="0" algn="l">
              <a:lnSpc>
                <a:spcPct val="115000"/>
              </a:lnSpc>
              <a:spcBef>
                <a:spcPts val="0"/>
              </a:spcBef>
              <a:spcAft>
                <a:spcPts val="0"/>
              </a:spcAft>
              <a:buClr>
                <a:srgbClr val="434343"/>
              </a:buClr>
              <a:buSzPts val="1300"/>
              <a:buFont typeface="Open Sans SemiBold"/>
              <a:buChar char="●"/>
            </a:pPr>
            <a:r>
              <a:rPr b="1" lang="en" sz="1300">
                <a:latin typeface="Roboto"/>
                <a:ea typeface="Roboto"/>
                <a:cs typeface="Roboto"/>
                <a:sym typeface="Roboto"/>
              </a:rPr>
              <a:t>Wonder</a:t>
            </a:r>
            <a:r>
              <a:rPr lang="en" sz="1300">
                <a:solidFill>
                  <a:srgbClr val="434343"/>
                </a:solidFill>
                <a:latin typeface="Roboto"/>
                <a:ea typeface="Roboto"/>
                <a:cs typeface="Roboto"/>
                <a:sym typeface="Roboto"/>
              </a:rPr>
              <a:t> </a:t>
            </a:r>
            <a:r>
              <a:rPr lang="en" sz="1300">
                <a:solidFill>
                  <a:srgbClr val="324B4F"/>
                </a:solidFill>
                <a:latin typeface="Roboto"/>
                <a:ea typeface="Roboto"/>
                <a:cs typeface="Roboto"/>
                <a:sym typeface="Roboto"/>
              </a:rPr>
              <a:t>to the eyes</a:t>
            </a:r>
            <a:endParaRPr sz="1300">
              <a:solidFill>
                <a:srgbClr val="324B4F"/>
              </a:solidFill>
              <a:latin typeface="Roboto"/>
              <a:ea typeface="Roboto"/>
              <a:cs typeface="Roboto"/>
              <a:sym typeface="Roboto"/>
            </a:endParaRPr>
          </a:p>
          <a:p>
            <a:pPr indent="-311150" lvl="0" marL="457200" rtl="0" algn="l">
              <a:lnSpc>
                <a:spcPct val="115000"/>
              </a:lnSpc>
              <a:spcBef>
                <a:spcPts val="0"/>
              </a:spcBef>
              <a:spcAft>
                <a:spcPts val="0"/>
              </a:spcAft>
              <a:buClr>
                <a:srgbClr val="434343"/>
              </a:buClr>
              <a:buSzPts val="1300"/>
              <a:buFont typeface="Lato"/>
              <a:buChar char="●"/>
            </a:pPr>
            <a:r>
              <a:rPr b="1" lang="en" sz="1300">
                <a:solidFill>
                  <a:srgbClr val="00A600"/>
                </a:solidFill>
                <a:latin typeface="Roboto"/>
                <a:ea typeface="Roboto"/>
                <a:cs typeface="Roboto"/>
                <a:sym typeface="Roboto"/>
              </a:rPr>
              <a:t>Wonder</a:t>
            </a:r>
            <a:r>
              <a:rPr lang="en" sz="1300">
                <a:solidFill>
                  <a:srgbClr val="434343"/>
                </a:solidFill>
                <a:latin typeface="Roboto"/>
                <a:ea typeface="Roboto"/>
                <a:cs typeface="Roboto"/>
                <a:sym typeface="Roboto"/>
              </a:rPr>
              <a:t> to the eyes</a:t>
            </a:r>
            <a:endParaRPr sz="1300">
              <a:solidFill>
                <a:srgbClr val="434343"/>
              </a:solidFill>
              <a:latin typeface="Roboto"/>
              <a:ea typeface="Roboto"/>
              <a:cs typeface="Roboto"/>
              <a:sym typeface="Roboto"/>
            </a:endParaRPr>
          </a:p>
          <a:p>
            <a:pPr indent="-311150" lvl="0" marL="457200" rtl="0" algn="l">
              <a:lnSpc>
                <a:spcPct val="115000"/>
              </a:lnSpc>
              <a:spcBef>
                <a:spcPts val="0"/>
              </a:spcBef>
              <a:spcAft>
                <a:spcPts val="0"/>
              </a:spcAft>
              <a:buClr>
                <a:srgbClr val="434343"/>
              </a:buClr>
              <a:buSzPts val="1300"/>
              <a:buFont typeface="Open Sans SemiBold"/>
              <a:buChar char="●"/>
            </a:pPr>
            <a:r>
              <a:rPr lang="en" sz="1300">
                <a:solidFill>
                  <a:srgbClr val="434343"/>
                </a:solidFill>
                <a:latin typeface="Roboto"/>
                <a:ea typeface="Roboto"/>
                <a:cs typeface="Roboto"/>
                <a:sym typeface="Roboto"/>
              </a:rPr>
              <a:t>Excellent </a:t>
            </a:r>
            <a:r>
              <a:rPr lang="en" sz="1300">
                <a:solidFill>
                  <a:srgbClr val="274E13"/>
                </a:solidFill>
                <a:latin typeface="Roboto Black"/>
                <a:ea typeface="Roboto Black"/>
                <a:cs typeface="Roboto Black"/>
                <a:sym typeface="Roboto Black"/>
              </a:rPr>
              <a:t>Work</a:t>
            </a:r>
            <a:endParaRPr sz="1300">
              <a:solidFill>
                <a:srgbClr val="274E13"/>
              </a:solidFill>
              <a:latin typeface="Roboto Black"/>
              <a:ea typeface="Roboto Black"/>
              <a:cs typeface="Roboto Black"/>
              <a:sym typeface="Roboto Black"/>
            </a:endParaRPr>
          </a:p>
          <a:p>
            <a:pPr indent="0" lvl="0" marL="0" rtl="0" algn="l">
              <a:lnSpc>
                <a:spcPct val="115000"/>
              </a:lnSpc>
              <a:spcBef>
                <a:spcPts val="0"/>
              </a:spcBef>
              <a:spcAft>
                <a:spcPts val="0"/>
              </a:spcAft>
              <a:buNone/>
            </a:pPr>
            <a:r>
              <a:rPr b="1" lang="en" sz="1300">
                <a:latin typeface="Roboto"/>
                <a:ea typeface="Roboto"/>
                <a:cs typeface="Roboto"/>
                <a:sym typeface="Roboto"/>
              </a:rPr>
              <a:t>{Highlight </a:t>
            </a:r>
            <a:r>
              <a:rPr lang="en" sz="1300">
                <a:latin typeface="Roboto"/>
                <a:ea typeface="Roboto"/>
                <a:cs typeface="Roboto"/>
                <a:sym typeface="Roboto"/>
              </a:rPr>
              <a:t>using extra bold}</a:t>
            </a:r>
            <a:endParaRPr sz="13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1300">
              <a:latin typeface="Lato"/>
              <a:ea typeface="Lato"/>
              <a:cs typeface="Lato"/>
              <a:sym typeface="Lato"/>
            </a:endParaRPr>
          </a:p>
        </p:txBody>
      </p:sp>
      <p:sp>
        <p:nvSpPr>
          <p:cNvPr id="121" name="Google Shape;121;p18"/>
          <p:cNvSpPr txBox="1"/>
          <p:nvPr/>
        </p:nvSpPr>
        <p:spPr>
          <a:xfrm>
            <a:off x="0" y="941225"/>
            <a:ext cx="4111500" cy="407100"/>
          </a:xfrm>
          <a:prstGeom prst="rect">
            <a:avLst/>
          </a:prstGeom>
          <a:solidFill>
            <a:srgbClr val="274E13"/>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700">
                <a:solidFill>
                  <a:srgbClr val="D9EAD3"/>
                </a:solidFill>
                <a:latin typeface="Open Sans ExtraBold"/>
                <a:ea typeface="Open Sans ExtraBold"/>
                <a:cs typeface="Open Sans ExtraBold"/>
                <a:sym typeface="Open Sans ExtraBold"/>
              </a:rPr>
              <a:t>SUB-HEADING GOES HERE!</a:t>
            </a:r>
            <a:endParaRPr sz="1700">
              <a:solidFill>
                <a:srgbClr val="D9EAD3"/>
              </a:solidFill>
              <a:latin typeface="Open Sans ExtraBold"/>
              <a:ea typeface="Open Sans ExtraBold"/>
              <a:cs typeface="Open Sans ExtraBold"/>
              <a:sym typeface="Open Sans ExtraBold"/>
            </a:endParaRPr>
          </a:p>
        </p:txBody>
      </p:sp>
      <p:sp>
        <p:nvSpPr>
          <p:cNvPr id="122" name="Google Shape;122;p18"/>
          <p:cNvSpPr/>
          <p:nvPr/>
        </p:nvSpPr>
        <p:spPr>
          <a:xfrm>
            <a:off x="3834275" y="941225"/>
            <a:ext cx="399000" cy="407100"/>
          </a:xfrm>
          <a:prstGeom prst="ellipse">
            <a:avLst/>
          </a:prstGeom>
          <a:solidFill>
            <a:srgbClr val="38761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123" name="Google Shape;123;p18"/>
          <p:cNvPicPr preferRelativeResize="0"/>
          <p:nvPr/>
        </p:nvPicPr>
        <p:blipFill rotWithShape="1">
          <a:blip r:embed="rId4">
            <a:alphaModFix/>
          </a:blip>
          <a:srcRect b="11281" l="20956" r="20375" t="10435"/>
          <a:stretch/>
        </p:blipFill>
        <p:spPr>
          <a:xfrm>
            <a:off x="3834275" y="985441"/>
            <a:ext cx="360900" cy="318660"/>
          </a:xfrm>
          <a:prstGeom prst="rect">
            <a:avLst/>
          </a:prstGeom>
          <a:noFill/>
          <a:ln>
            <a:noFill/>
          </a:ln>
        </p:spPr>
      </p:pic>
      <p:pic>
        <p:nvPicPr>
          <p:cNvPr id="124" name="Google Shape;124;p18"/>
          <p:cNvPicPr preferRelativeResize="0"/>
          <p:nvPr/>
        </p:nvPicPr>
        <p:blipFill>
          <a:blip r:embed="rId5">
            <a:alphaModFix/>
          </a:blip>
          <a:stretch>
            <a:fillRect/>
          </a:stretch>
        </p:blipFill>
        <p:spPr>
          <a:xfrm>
            <a:off x="8208350" y="4721100"/>
            <a:ext cx="895141" cy="407100"/>
          </a:xfrm>
          <a:prstGeom prst="rect">
            <a:avLst/>
          </a:prstGeom>
          <a:noFill/>
          <a:ln>
            <a:noFill/>
          </a:ln>
        </p:spPr>
      </p:pic>
      <p:pic>
        <p:nvPicPr>
          <p:cNvPr id="125" name="Google Shape;125;p18"/>
          <p:cNvPicPr preferRelativeResize="0"/>
          <p:nvPr/>
        </p:nvPicPr>
        <p:blipFill>
          <a:blip r:embed="rId6">
            <a:alphaModFix/>
          </a:blip>
          <a:stretch>
            <a:fillRect/>
          </a:stretch>
        </p:blipFill>
        <p:spPr>
          <a:xfrm>
            <a:off x="66200" y="38050"/>
            <a:ext cx="588375" cy="588395"/>
          </a:xfrm>
          <a:prstGeom prst="rect">
            <a:avLst/>
          </a:prstGeom>
          <a:noFill/>
          <a:ln>
            <a:noFill/>
          </a:ln>
        </p:spPr>
      </p:pic>
      <p:pic>
        <p:nvPicPr>
          <p:cNvPr id="126" name="Google Shape;126;p18"/>
          <p:cNvPicPr preferRelativeResize="0"/>
          <p:nvPr/>
        </p:nvPicPr>
        <p:blipFill>
          <a:blip r:embed="rId7">
            <a:alphaModFix/>
          </a:blip>
          <a:stretch>
            <a:fillRect/>
          </a:stretch>
        </p:blipFill>
        <p:spPr>
          <a:xfrm>
            <a:off x="8208350" y="104863"/>
            <a:ext cx="750000" cy="262525"/>
          </a:xfrm>
          <a:prstGeom prst="rect">
            <a:avLst/>
          </a:prstGeom>
          <a:noFill/>
          <a:ln>
            <a:noFill/>
          </a:ln>
        </p:spPr>
      </p:pic>
      <p:sp>
        <p:nvSpPr>
          <p:cNvPr id="127" name="Google Shape;127;p18"/>
          <p:cNvSpPr txBox="1"/>
          <p:nvPr/>
        </p:nvSpPr>
        <p:spPr>
          <a:xfrm>
            <a:off x="7990238" y="295188"/>
            <a:ext cx="11862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0" i="0" lang="en" sz="650" u="none" cap="none" strike="noStrike">
                <a:solidFill>
                  <a:srgbClr val="CCCCCC"/>
                </a:solidFill>
                <a:latin typeface="Open Sans"/>
                <a:ea typeface="Open Sans"/>
                <a:cs typeface="Open Sans"/>
                <a:sym typeface="Open Sans"/>
              </a:rPr>
              <a:t>I I T   R O O R K E E</a:t>
            </a:r>
            <a:endParaRPr sz="650">
              <a:solidFill>
                <a:srgbClr val="CCCCCC"/>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800"/>
              <a:buFont typeface="Arial"/>
              <a:buNone/>
            </a:pPr>
            <a:r>
              <a:rPr b="0" i="0" lang="en" sz="550" u="none" cap="none" strike="noStrike">
                <a:solidFill>
                  <a:srgbClr val="CCCCCC"/>
                </a:solidFill>
                <a:latin typeface="Open Sans"/>
                <a:ea typeface="Open Sans"/>
                <a:cs typeface="Open Sans"/>
                <a:sym typeface="Open Sans"/>
              </a:rPr>
              <a:t>M O T O R S P O R T S</a:t>
            </a:r>
            <a:endParaRPr b="0" i="0" sz="550" u="none" cap="none" strike="noStrike">
              <a:solidFill>
                <a:srgbClr val="CCCCCC"/>
              </a:solidFill>
              <a:latin typeface="Open Sans"/>
              <a:ea typeface="Open Sans"/>
              <a:cs typeface="Open Sans"/>
              <a:sym typeface="Open Sans"/>
            </a:endParaRPr>
          </a:p>
        </p:txBody>
      </p:sp>
      <p:cxnSp>
        <p:nvCxnSpPr>
          <p:cNvPr id="128" name="Google Shape;128;p18"/>
          <p:cNvCxnSpPr>
            <a:stCxn id="129" idx="3"/>
          </p:cNvCxnSpPr>
          <p:nvPr/>
        </p:nvCxnSpPr>
        <p:spPr>
          <a:xfrm>
            <a:off x="1625400" y="4951200"/>
            <a:ext cx="7526100" cy="9900"/>
          </a:xfrm>
          <a:prstGeom prst="straightConnector1">
            <a:avLst/>
          </a:prstGeom>
          <a:noFill/>
          <a:ln cap="flat" cmpd="sng" w="9525">
            <a:solidFill>
              <a:srgbClr val="999999"/>
            </a:solidFill>
            <a:prstDash val="solid"/>
            <a:round/>
            <a:headEnd len="sm" w="sm" type="none"/>
            <a:tailEnd len="sm" w="sm" type="none"/>
          </a:ln>
        </p:spPr>
      </p:cxnSp>
      <p:sp>
        <p:nvSpPr>
          <p:cNvPr id="129" name="Google Shape;129;p18"/>
          <p:cNvSpPr txBox="1"/>
          <p:nvPr/>
        </p:nvSpPr>
        <p:spPr>
          <a:xfrm>
            <a:off x="0" y="4774200"/>
            <a:ext cx="16254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lang="en" sz="1100">
                <a:solidFill>
                  <a:srgbClr val="38761D"/>
                </a:solidFill>
                <a:latin typeface="Open Sans SemiBold"/>
                <a:ea typeface="Open Sans SemiBold"/>
                <a:cs typeface="Open Sans SemiBold"/>
                <a:sym typeface="Open Sans SemiBold"/>
              </a:rPr>
              <a:t>FSEV Challenge 2021</a:t>
            </a:r>
            <a:endParaRPr i="0" sz="1100" u="none" cap="none" strike="noStrike">
              <a:solidFill>
                <a:srgbClr val="38761D"/>
              </a:solidFill>
              <a:latin typeface="Open Sans SemiBold"/>
              <a:ea typeface="Open Sans SemiBold"/>
              <a:cs typeface="Open Sans SemiBold"/>
              <a:sym typeface="Open Sans SemiBo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133" name="Shape 133"/>
        <p:cNvGrpSpPr/>
        <p:nvPr/>
      </p:nvGrpSpPr>
      <p:grpSpPr>
        <a:xfrm>
          <a:off x="0" y="0"/>
          <a:ext cx="0" cy="0"/>
          <a:chOff x="0" y="0"/>
          <a:chExt cx="0" cy="0"/>
        </a:xfrm>
      </p:grpSpPr>
      <p:sp>
        <p:nvSpPr>
          <p:cNvPr id="134" name="Google Shape;134;p19"/>
          <p:cNvSpPr/>
          <p:nvPr/>
        </p:nvSpPr>
        <p:spPr>
          <a:xfrm>
            <a:off x="0" y="0"/>
            <a:ext cx="9144000" cy="6645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i="0" lang="en" sz="2200" u="none" cap="none" strike="noStrike">
                <a:solidFill>
                  <a:srgbClr val="F3F3F3"/>
                </a:solidFill>
                <a:latin typeface="Open Sans Light"/>
                <a:ea typeface="Open Sans Light"/>
                <a:cs typeface="Open Sans Light"/>
                <a:sym typeface="Open Sans Light"/>
              </a:rPr>
              <a:t>Glimpses of</a:t>
            </a:r>
            <a:r>
              <a:rPr i="0" lang="en" sz="2200" u="none" cap="none" strike="noStrike">
                <a:solidFill>
                  <a:srgbClr val="F3F3F3"/>
                </a:solidFill>
                <a:latin typeface="Open Sans"/>
                <a:ea typeface="Open Sans"/>
                <a:cs typeface="Open Sans"/>
                <a:sym typeface="Open Sans"/>
              </a:rPr>
              <a:t> </a:t>
            </a:r>
            <a:r>
              <a:rPr i="0" lang="en" sz="2200" u="none" cap="none" strike="noStrike">
                <a:solidFill>
                  <a:srgbClr val="00A600"/>
                </a:solidFill>
                <a:latin typeface="Open Sans ExtraBold"/>
                <a:ea typeface="Open Sans ExtraBold"/>
                <a:cs typeface="Open Sans ExtraBold"/>
                <a:sym typeface="Open Sans ExtraBold"/>
              </a:rPr>
              <a:t>Formula Student</a:t>
            </a:r>
            <a:endParaRPr i="0" sz="2200" u="none" cap="none" strike="noStrike">
              <a:solidFill>
                <a:srgbClr val="00A600"/>
              </a:solidFill>
              <a:latin typeface="Open Sans ExtraBold"/>
              <a:ea typeface="Open Sans ExtraBold"/>
              <a:cs typeface="Open Sans ExtraBold"/>
              <a:sym typeface="Open Sans ExtraBold"/>
            </a:endParaRPr>
          </a:p>
        </p:txBody>
      </p:sp>
      <p:pic>
        <p:nvPicPr>
          <p:cNvPr id="135" name="Google Shape;135;p19"/>
          <p:cNvPicPr preferRelativeResize="0"/>
          <p:nvPr/>
        </p:nvPicPr>
        <p:blipFill>
          <a:blip r:embed="rId3">
            <a:alphaModFix amt="26000"/>
          </a:blip>
          <a:stretch>
            <a:fillRect/>
          </a:stretch>
        </p:blipFill>
        <p:spPr>
          <a:xfrm rot="9900000">
            <a:off x="5128900" y="2442475"/>
            <a:ext cx="4289526" cy="2716700"/>
          </a:xfrm>
          <a:prstGeom prst="rect">
            <a:avLst/>
          </a:prstGeom>
          <a:noFill/>
          <a:ln>
            <a:noFill/>
          </a:ln>
        </p:spPr>
      </p:pic>
      <p:sp>
        <p:nvSpPr>
          <p:cNvPr id="136" name="Google Shape;136;p19"/>
          <p:cNvSpPr txBox="1"/>
          <p:nvPr/>
        </p:nvSpPr>
        <p:spPr>
          <a:xfrm>
            <a:off x="743150" y="1447075"/>
            <a:ext cx="8450700" cy="157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500">
                <a:latin typeface="Roboto"/>
                <a:ea typeface="Roboto"/>
                <a:cs typeface="Roboto"/>
                <a:sym typeface="Roboto"/>
              </a:rPr>
              <a:t>Sub-sub Heading goes here!</a:t>
            </a:r>
            <a:r>
              <a:rPr b="1" lang="en" sz="1500">
                <a:solidFill>
                  <a:srgbClr val="23656F"/>
                </a:solidFill>
                <a:latin typeface="Roboto"/>
                <a:ea typeface="Roboto"/>
                <a:cs typeface="Roboto"/>
                <a:sym typeface="Roboto"/>
              </a:rPr>
              <a:t> </a:t>
            </a:r>
            <a:endParaRPr b="1" sz="1500">
              <a:solidFill>
                <a:srgbClr val="23656F"/>
              </a:solidFill>
              <a:latin typeface="Roboto"/>
              <a:ea typeface="Roboto"/>
              <a:cs typeface="Roboto"/>
              <a:sym typeface="Roboto"/>
            </a:endParaRPr>
          </a:p>
          <a:p>
            <a:pPr indent="-311150" lvl="0" marL="457200" rtl="0" algn="l">
              <a:lnSpc>
                <a:spcPct val="115000"/>
              </a:lnSpc>
              <a:spcBef>
                <a:spcPts val="0"/>
              </a:spcBef>
              <a:spcAft>
                <a:spcPts val="0"/>
              </a:spcAft>
              <a:buClr>
                <a:srgbClr val="434343"/>
              </a:buClr>
              <a:buSzPts val="1300"/>
              <a:buFont typeface="Open Sans SemiBold"/>
              <a:buChar char="●"/>
            </a:pPr>
            <a:r>
              <a:rPr b="1" lang="en" sz="1300">
                <a:latin typeface="Roboto"/>
                <a:ea typeface="Roboto"/>
                <a:cs typeface="Roboto"/>
                <a:sym typeface="Roboto"/>
              </a:rPr>
              <a:t>Wonder</a:t>
            </a:r>
            <a:r>
              <a:rPr lang="en" sz="1300">
                <a:solidFill>
                  <a:srgbClr val="434343"/>
                </a:solidFill>
                <a:latin typeface="Roboto"/>
                <a:ea typeface="Roboto"/>
                <a:cs typeface="Roboto"/>
                <a:sym typeface="Roboto"/>
              </a:rPr>
              <a:t> </a:t>
            </a:r>
            <a:r>
              <a:rPr lang="en" sz="1300">
                <a:solidFill>
                  <a:srgbClr val="324B4F"/>
                </a:solidFill>
                <a:latin typeface="Roboto"/>
                <a:ea typeface="Roboto"/>
                <a:cs typeface="Roboto"/>
                <a:sym typeface="Roboto"/>
              </a:rPr>
              <a:t>to the eyes</a:t>
            </a:r>
            <a:endParaRPr sz="1300">
              <a:solidFill>
                <a:srgbClr val="324B4F"/>
              </a:solidFill>
              <a:latin typeface="Roboto"/>
              <a:ea typeface="Roboto"/>
              <a:cs typeface="Roboto"/>
              <a:sym typeface="Roboto"/>
            </a:endParaRPr>
          </a:p>
          <a:p>
            <a:pPr indent="-311150" lvl="0" marL="457200" rtl="0" algn="l">
              <a:lnSpc>
                <a:spcPct val="115000"/>
              </a:lnSpc>
              <a:spcBef>
                <a:spcPts val="0"/>
              </a:spcBef>
              <a:spcAft>
                <a:spcPts val="0"/>
              </a:spcAft>
              <a:buClr>
                <a:srgbClr val="434343"/>
              </a:buClr>
              <a:buSzPts val="1300"/>
              <a:buFont typeface="Lato"/>
              <a:buChar char="●"/>
            </a:pPr>
            <a:r>
              <a:rPr b="1" lang="en" sz="1300">
                <a:solidFill>
                  <a:srgbClr val="00A600"/>
                </a:solidFill>
                <a:latin typeface="Roboto"/>
                <a:ea typeface="Roboto"/>
                <a:cs typeface="Roboto"/>
                <a:sym typeface="Roboto"/>
              </a:rPr>
              <a:t>Wonder</a:t>
            </a:r>
            <a:r>
              <a:rPr lang="en" sz="1300">
                <a:solidFill>
                  <a:srgbClr val="434343"/>
                </a:solidFill>
                <a:latin typeface="Roboto"/>
                <a:ea typeface="Roboto"/>
                <a:cs typeface="Roboto"/>
                <a:sym typeface="Roboto"/>
              </a:rPr>
              <a:t> to the eyes</a:t>
            </a:r>
            <a:endParaRPr sz="1300">
              <a:solidFill>
                <a:srgbClr val="434343"/>
              </a:solidFill>
              <a:latin typeface="Roboto"/>
              <a:ea typeface="Roboto"/>
              <a:cs typeface="Roboto"/>
              <a:sym typeface="Roboto"/>
            </a:endParaRPr>
          </a:p>
          <a:p>
            <a:pPr indent="-311150" lvl="0" marL="457200" rtl="0" algn="l">
              <a:lnSpc>
                <a:spcPct val="115000"/>
              </a:lnSpc>
              <a:spcBef>
                <a:spcPts val="0"/>
              </a:spcBef>
              <a:spcAft>
                <a:spcPts val="0"/>
              </a:spcAft>
              <a:buClr>
                <a:srgbClr val="434343"/>
              </a:buClr>
              <a:buSzPts val="1300"/>
              <a:buFont typeface="Open Sans SemiBold"/>
              <a:buChar char="●"/>
            </a:pPr>
            <a:r>
              <a:rPr lang="en" sz="1300">
                <a:solidFill>
                  <a:srgbClr val="434343"/>
                </a:solidFill>
                <a:latin typeface="Roboto"/>
                <a:ea typeface="Roboto"/>
                <a:cs typeface="Roboto"/>
                <a:sym typeface="Roboto"/>
              </a:rPr>
              <a:t>Excellent </a:t>
            </a:r>
            <a:r>
              <a:rPr lang="en" sz="1300">
                <a:solidFill>
                  <a:srgbClr val="274E13"/>
                </a:solidFill>
                <a:latin typeface="Roboto Black"/>
                <a:ea typeface="Roboto Black"/>
                <a:cs typeface="Roboto Black"/>
                <a:sym typeface="Roboto Black"/>
              </a:rPr>
              <a:t>Work</a:t>
            </a:r>
            <a:endParaRPr sz="1300">
              <a:solidFill>
                <a:srgbClr val="274E13"/>
              </a:solidFill>
              <a:latin typeface="Roboto Black"/>
              <a:ea typeface="Roboto Black"/>
              <a:cs typeface="Roboto Black"/>
              <a:sym typeface="Roboto Black"/>
            </a:endParaRPr>
          </a:p>
          <a:p>
            <a:pPr indent="0" lvl="0" marL="0" rtl="0" algn="l">
              <a:lnSpc>
                <a:spcPct val="115000"/>
              </a:lnSpc>
              <a:spcBef>
                <a:spcPts val="0"/>
              </a:spcBef>
              <a:spcAft>
                <a:spcPts val="0"/>
              </a:spcAft>
              <a:buNone/>
            </a:pPr>
            <a:r>
              <a:rPr b="1" lang="en" sz="1300">
                <a:latin typeface="Roboto"/>
                <a:ea typeface="Roboto"/>
                <a:cs typeface="Roboto"/>
                <a:sym typeface="Roboto"/>
              </a:rPr>
              <a:t>{Highlight </a:t>
            </a:r>
            <a:r>
              <a:rPr lang="en" sz="1300">
                <a:latin typeface="Roboto"/>
                <a:ea typeface="Roboto"/>
                <a:cs typeface="Roboto"/>
                <a:sym typeface="Roboto"/>
              </a:rPr>
              <a:t>using extra bold}</a:t>
            </a:r>
            <a:endParaRPr sz="13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1300">
              <a:latin typeface="Lato"/>
              <a:ea typeface="Lato"/>
              <a:cs typeface="Lato"/>
              <a:sym typeface="Lato"/>
            </a:endParaRPr>
          </a:p>
        </p:txBody>
      </p:sp>
      <p:sp>
        <p:nvSpPr>
          <p:cNvPr id="137" name="Google Shape;137;p19"/>
          <p:cNvSpPr txBox="1"/>
          <p:nvPr/>
        </p:nvSpPr>
        <p:spPr>
          <a:xfrm>
            <a:off x="0" y="941225"/>
            <a:ext cx="4111500" cy="407100"/>
          </a:xfrm>
          <a:prstGeom prst="rect">
            <a:avLst/>
          </a:prstGeom>
          <a:solidFill>
            <a:srgbClr val="274E13"/>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700">
                <a:solidFill>
                  <a:srgbClr val="D9EAD3"/>
                </a:solidFill>
                <a:latin typeface="Open Sans ExtraBold"/>
                <a:ea typeface="Open Sans ExtraBold"/>
                <a:cs typeface="Open Sans ExtraBold"/>
                <a:sym typeface="Open Sans ExtraBold"/>
              </a:rPr>
              <a:t>SUB-HEADING GOES HERE!</a:t>
            </a:r>
            <a:endParaRPr sz="1700">
              <a:solidFill>
                <a:srgbClr val="D9EAD3"/>
              </a:solidFill>
              <a:latin typeface="Open Sans ExtraBold"/>
              <a:ea typeface="Open Sans ExtraBold"/>
              <a:cs typeface="Open Sans ExtraBold"/>
              <a:sym typeface="Open Sans ExtraBold"/>
            </a:endParaRPr>
          </a:p>
        </p:txBody>
      </p:sp>
      <p:sp>
        <p:nvSpPr>
          <p:cNvPr id="138" name="Google Shape;138;p19"/>
          <p:cNvSpPr/>
          <p:nvPr/>
        </p:nvSpPr>
        <p:spPr>
          <a:xfrm>
            <a:off x="3834275" y="941225"/>
            <a:ext cx="399000" cy="407100"/>
          </a:xfrm>
          <a:prstGeom prst="ellipse">
            <a:avLst/>
          </a:prstGeom>
          <a:solidFill>
            <a:srgbClr val="38761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139" name="Google Shape;139;p19"/>
          <p:cNvPicPr preferRelativeResize="0"/>
          <p:nvPr/>
        </p:nvPicPr>
        <p:blipFill rotWithShape="1">
          <a:blip r:embed="rId4">
            <a:alphaModFix/>
          </a:blip>
          <a:srcRect b="11281" l="20956" r="20375" t="10435"/>
          <a:stretch/>
        </p:blipFill>
        <p:spPr>
          <a:xfrm>
            <a:off x="3834275" y="985441"/>
            <a:ext cx="360900" cy="318660"/>
          </a:xfrm>
          <a:prstGeom prst="rect">
            <a:avLst/>
          </a:prstGeom>
          <a:noFill/>
          <a:ln>
            <a:noFill/>
          </a:ln>
        </p:spPr>
      </p:pic>
      <p:pic>
        <p:nvPicPr>
          <p:cNvPr id="140" name="Google Shape;140;p19"/>
          <p:cNvPicPr preferRelativeResize="0"/>
          <p:nvPr/>
        </p:nvPicPr>
        <p:blipFill>
          <a:blip r:embed="rId5">
            <a:alphaModFix/>
          </a:blip>
          <a:stretch>
            <a:fillRect/>
          </a:stretch>
        </p:blipFill>
        <p:spPr>
          <a:xfrm>
            <a:off x="237825" y="4752600"/>
            <a:ext cx="895141" cy="407100"/>
          </a:xfrm>
          <a:prstGeom prst="rect">
            <a:avLst/>
          </a:prstGeom>
          <a:noFill/>
          <a:ln>
            <a:noFill/>
          </a:ln>
        </p:spPr>
      </p:pic>
      <p:pic>
        <p:nvPicPr>
          <p:cNvPr id="141" name="Google Shape;141;p19"/>
          <p:cNvPicPr preferRelativeResize="0"/>
          <p:nvPr/>
        </p:nvPicPr>
        <p:blipFill>
          <a:blip r:embed="rId6">
            <a:alphaModFix/>
          </a:blip>
          <a:stretch>
            <a:fillRect/>
          </a:stretch>
        </p:blipFill>
        <p:spPr>
          <a:xfrm>
            <a:off x="66200" y="38050"/>
            <a:ext cx="588375" cy="588395"/>
          </a:xfrm>
          <a:prstGeom prst="rect">
            <a:avLst/>
          </a:prstGeom>
          <a:noFill/>
          <a:ln>
            <a:noFill/>
          </a:ln>
        </p:spPr>
      </p:pic>
      <p:pic>
        <p:nvPicPr>
          <p:cNvPr id="142" name="Google Shape;142;p19"/>
          <p:cNvPicPr preferRelativeResize="0"/>
          <p:nvPr/>
        </p:nvPicPr>
        <p:blipFill>
          <a:blip r:embed="rId7">
            <a:alphaModFix/>
          </a:blip>
          <a:stretch>
            <a:fillRect/>
          </a:stretch>
        </p:blipFill>
        <p:spPr>
          <a:xfrm>
            <a:off x="8208350" y="104863"/>
            <a:ext cx="750000" cy="262525"/>
          </a:xfrm>
          <a:prstGeom prst="rect">
            <a:avLst/>
          </a:prstGeom>
          <a:noFill/>
          <a:ln>
            <a:noFill/>
          </a:ln>
        </p:spPr>
      </p:pic>
      <p:sp>
        <p:nvSpPr>
          <p:cNvPr id="143" name="Google Shape;143;p19"/>
          <p:cNvSpPr txBox="1"/>
          <p:nvPr/>
        </p:nvSpPr>
        <p:spPr>
          <a:xfrm>
            <a:off x="7990238" y="295188"/>
            <a:ext cx="11862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0" i="0" lang="en" sz="650" u="none" cap="none" strike="noStrike">
                <a:solidFill>
                  <a:srgbClr val="CCCCCC"/>
                </a:solidFill>
                <a:latin typeface="Open Sans"/>
                <a:ea typeface="Open Sans"/>
                <a:cs typeface="Open Sans"/>
                <a:sym typeface="Open Sans"/>
              </a:rPr>
              <a:t>I I T   R O O R K E E</a:t>
            </a:r>
            <a:endParaRPr sz="650">
              <a:solidFill>
                <a:srgbClr val="CCCCCC"/>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800"/>
              <a:buFont typeface="Arial"/>
              <a:buNone/>
            </a:pPr>
            <a:r>
              <a:rPr b="0" i="0" lang="en" sz="550" u="none" cap="none" strike="noStrike">
                <a:solidFill>
                  <a:srgbClr val="CCCCCC"/>
                </a:solidFill>
                <a:latin typeface="Open Sans"/>
                <a:ea typeface="Open Sans"/>
                <a:cs typeface="Open Sans"/>
                <a:sym typeface="Open Sans"/>
              </a:rPr>
              <a:t>M O T O R S P O R T S</a:t>
            </a:r>
            <a:endParaRPr b="0" i="0" sz="550" u="none" cap="none" strike="noStrike">
              <a:solidFill>
                <a:srgbClr val="CCCCCC"/>
              </a:solidFill>
              <a:latin typeface="Open Sans"/>
              <a:ea typeface="Open Sans"/>
              <a:cs typeface="Open Sans"/>
              <a:sym typeface="Open Sans"/>
            </a:endParaRPr>
          </a:p>
        </p:txBody>
      </p:sp>
      <p:cxnSp>
        <p:nvCxnSpPr>
          <p:cNvPr id="144" name="Google Shape;144;p19"/>
          <p:cNvCxnSpPr>
            <a:stCxn id="140" idx="3"/>
          </p:cNvCxnSpPr>
          <p:nvPr/>
        </p:nvCxnSpPr>
        <p:spPr>
          <a:xfrm>
            <a:off x="1132966" y="4956150"/>
            <a:ext cx="8018400" cy="4800"/>
          </a:xfrm>
          <a:prstGeom prst="straightConnector1">
            <a:avLst/>
          </a:prstGeom>
          <a:noFill/>
          <a:ln cap="flat" cmpd="sng" w="9525">
            <a:solidFill>
              <a:srgbClr val="999999"/>
            </a:solidFill>
            <a:prstDash val="solid"/>
            <a:round/>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148" name="Shape 148"/>
        <p:cNvGrpSpPr/>
        <p:nvPr/>
      </p:nvGrpSpPr>
      <p:grpSpPr>
        <a:xfrm>
          <a:off x="0" y="0"/>
          <a:ext cx="0" cy="0"/>
          <a:chOff x="0" y="0"/>
          <a:chExt cx="0" cy="0"/>
        </a:xfrm>
      </p:grpSpPr>
      <p:sp>
        <p:nvSpPr>
          <p:cNvPr id="149" name="Google Shape;149;p20"/>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lang="en" sz="2400">
                <a:solidFill>
                  <a:srgbClr val="F3F3F3"/>
                </a:solidFill>
                <a:latin typeface="Lato"/>
                <a:ea typeface="Lato"/>
                <a:cs typeface="Lato"/>
                <a:sym typeface="Lato"/>
              </a:rPr>
              <a:t>Project</a:t>
            </a:r>
            <a:r>
              <a:rPr b="1" i="0" lang="en" sz="2400" u="none" cap="none" strike="noStrike">
                <a:solidFill>
                  <a:srgbClr val="F3F3F3"/>
                </a:solidFill>
                <a:latin typeface="Lato"/>
                <a:ea typeface="Lato"/>
                <a:cs typeface="Lato"/>
                <a:sym typeface="Lato"/>
              </a:rPr>
              <a:t> </a:t>
            </a:r>
            <a:r>
              <a:rPr lang="en" sz="2400">
                <a:solidFill>
                  <a:srgbClr val="48BACA"/>
                </a:solidFill>
                <a:latin typeface="Lato Black"/>
                <a:ea typeface="Lato Black"/>
                <a:cs typeface="Lato Black"/>
                <a:sym typeface="Lato Black"/>
              </a:rPr>
              <a:t>Overview</a:t>
            </a:r>
            <a:endParaRPr i="0" sz="2400" u="none" cap="none" strike="noStrike">
              <a:solidFill>
                <a:srgbClr val="48BACA"/>
              </a:solidFill>
              <a:latin typeface="Lato Black"/>
              <a:ea typeface="Lato Black"/>
              <a:cs typeface="Lato Black"/>
              <a:sym typeface="Lato Black"/>
            </a:endParaRPr>
          </a:p>
        </p:txBody>
      </p:sp>
      <p:pic>
        <p:nvPicPr>
          <p:cNvPr id="150" name="Google Shape;150;p20"/>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151" name="Google Shape;151;p20"/>
          <p:cNvPicPr preferRelativeResize="0"/>
          <p:nvPr/>
        </p:nvPicPr>
        <p:blipFill>
          <a:blip r:embed="rId4">
            <a:alphaModFix amt="26000"/>
          </a:blip>
          <a:stretch>
            <a:fillRect/>
          </a:stretch>
        </p:blipFill>
        <p:spPr>
          <a:xfrm rot="9900000">
            <a:off x="5128900" y="2442475"/>
            <a:ext cx="4289526" cy="2716700"/>
          </a:xfrm>
          <a:prstGeom prst="rect">
            <a:avLst/>
          </a:prstGeom>
          <a:noFill/>
          <a:ln>
            <a:noFill/>
          </a:ln>
        </p:spPr>
      </p:pic>
      <p:cxnSp>
        <p:nvCxnSpPr>
          <p:cNvPr id="152" name="Google Shape;152;p20"/>
          <p:cNvCxnSpPr>
            <a:endCxn id="153" idx="1"/>
          </p:cNvCxnSpPr>
          <p:nvPr/>
        </p:nvCxnSpPr>
        <p:spPr>
          <a:xfrm>
            <a:off x="1094100" y="2924038"/>
            <a:ext cx="440400" cy="0"/>
          </a:xfrm>
          <a:prstGeom prst="straightConnector1">
            <a:avLst/>
          </a:prstGeom>
          <a:noFill/>
          <a:ln cap="flat" cmpd="sng" w="28575">
            <a:solidFill>
              <a:schemeClr val="dk2"/>
            </a:solidFill>
            <a:prstDash val="solid"/>
            <a:round/>
            <a:headEnd len="med" w="med" type="none"/>
            <a:tailEnd len="med" w="med" type="stealth"/>
          </a:ln>
        </p:spPr>
      </p:cxnSp>
      <p:cxnSp>
        <p:nvCxnSpPr>
          <p:cNvPr id="154" name="Google Shape;154;p20"/>
          <p:cNvCxnSpPr>
            <a:stCxn id="155" idx="2"/>
            <a:endCxn id="156" idx="0"/>
          </p:cNvCxnSpPr>
          <p:nvPr/>
        </p:nvCxnSpPr>
        <p:spPr>
          <a:xfrm flipH="1">
            <a:off x="3745200" y="2025575"/>
            <a:ext cx="21000" cy="1733400"/>
          </a:xfrm>
          <a:prstGeom prst="straightConnector1">
            <a:avLst/>
          </a:prstGeom>
          <a:noFill/>
          <a:ln cap="flat" cmpd="sng" w="28575">
            <a:solidFill>
              <a:schemeClr val="dk2"/>
            </a:solidFill>
            <a:prstDash val="solid"/>
            <a:round/>
            <a:headEnd len="med" w="med" type="stealth"/>
            <a:tailEnd len="med" w="med" type="stealth"/>
          </a:ln>
        </p:spPr>
      </p:cxnSp>
      <p:cxnSp>
        <p:nvCxnSpPr>
          <p:cNvPr id="157" name="Google Shape;157;p20"/>
          <p:cNvCxnSpPr>
            <a:stCxn id="158" idx="3"/>
          </p:cNvCxnSpPr>
          <p:nvPr/>
        </p:nvCxnSpPr>
        <p:spPr>
          <a:xfrm>
            <a:off x="7579925" y="2892275"/>
            <a:ext cx="341100" cy="6900"/>
          </a:xfrm>
          <a:prstGeom prst="straightConnector1">
            <a:avLst/>
          </a:prstGeom>
          <a:noFill/>
          <a:ln cap="flat" cmpd="sng" w="28575">
            <a:solidFill>
              <a:schemeClr val="dk2"/>
            </a:solidFill>
            <a:prstDash val="solid"/>
            <a:round/>
            <a:headEnd len="med" w="med" type="none"/>
            <a:tailEnd len="med" w="med" type="stealth"/>
          </a:ln>
        </p:spPr>
      </p:cxnSp>
      <p:sp>
        <p:nvSpPr>
          <p:cNvPr id="159" name="Google Shape;159;p20"/>
          <p:cNvSpPr/>
          <p:nvPr/>
        </p:nvSpPr>
        <p:spPr>
          <a:xfrm>
            <a:off x="2474976" y="1655182"/>
            <a:ext cx="832650" cy="1238325"/>
          </a:xfrm>
          <a:custGeom>
            <a:rect b="b" l="l" r="r" t="t"/>
            <a:pathLst>
              <a:path extrusionOk="0" h="49533" w="33306">
                <a:moveTo>
                  <a:pt x="0" y="49287"/>
                </a:moveTo>
                <a:cubicBezTo>
                  <a:pt x="2328" y="48481"/>
                  <a:pt x="11371" y="51883"/>
                  <a:pt x="13967" y="44452"/>
                </a:cubicBezTo>
                <a:cubicBezTo>
                  <a:pt x="16564" y="37021"/>
                  <a:pt x="12356" y="12043"/>
                  <a:pt x="15579" y="4701"/>
                </a:cubicBezTo>
                <a:cubicBezTo>
                  <a:pt x="18802" y="-2640"/>
                  <a:pt x="30352" y="1119"/>
                  <a:pt x="33306" y="403"/>
                </a:cubicBezTo>
              </a:path>
            </a:pathLst>
          </a:custGeom>
          <a:noFill/>
          <a:ln cap="flat" cmpd="sng" w="28575">
            <a:solidFill>
              <a:schemeClr val="dk2"/>
            </a:solidFill>
            <a:prstDash val="solid"/>
            <a:round/>
            <a:headEnd len="med" w="med" type="none"/>
            <a:tailEnd len="med" w="med" type="stealth"/>
          </a:ln>
        </p:spPr>
      </p:sp>
      <p:sp>
        <p:nvSpPr>
          <p:cNvPr id="160" name="Google Shape;160;p20"/>
          <p:cNvSpPr/>
          <p:nvPr/>
        </p:nvSpPr>
        <p:spPr>
          <a:xfrm flipH="1" rot="10800000">
            <a:off x="2473799" y="2893500"/>
            <a:ext cx="780609" cy="1238325"/>
          </a:xfrm>
          <a:custGeom>
            <a:rect b="b" l="l" r="r" t="t"/>
            <a:pathLst>
              <a:path extrusionOk="0" h="49533" w="33306">
                <a:moveTo>
                  <a:pt x="0" y="49287"/>
                </a:moveTo>
                <a:cubicBezTo>
                  <a:pt x="2328" y="48481"/>
                  <a:pt x="11371" y="51883"/>
                  <a:pt x="13967" y="44452"/>
                </a:cubicBezTo>
                <a:cubicBezTo>
                  <a:pt x="16564" y="37021"/>
                  <a:pt x="12356" y="12043"/>
                  <a:pt x="15579" y="4701"/>
                </a:cubicBezTo>
                <a:cubicBezTo>
                  <a:pt x="18802" y="-2640"/>
                  <a:pt x="30352" y="1119"/>
                  <a:pt x="33306" y="403"/>
                </a:cubicBezTo>
              </a:path>
            </a:pathLst>
          </a:custGeom>
          <a:noFill/>
          <a:ln cap="flat" cmpd="sng" w="28575">
            <a:solidFill>
              <a:schemeClr val="dk2"/>
            </a:solidFill>
            <a:prstDash val="solid"/>
            <a:round/>
            <a:headEnd len="med" w="med" type="none"/>
            <a:tailEnd len="med" w="med" type="stealth"/>
          </a:ln>
        </p:spPr>
      </p:sp>
      <p:sp>
        <p:nvSpPr>
          <p:cNvPr id="161" name="Google Shape;161;p20"/>
          <p:cNvSpPr/>
          <p:nvPr/>
        </p:nvSpPr>
        <p:spPr>
          <a:xfrm flipH="1" rot="10800000">
            <a:off x="5784398" y="1697302"/>
            <a:ext cx="879362" cy="1196098"/>
          </a:xfrm>
          <a:custGeom>
            <a:rect b="b" l="l" r="r" t="t"/>
            <a:pathLst>
              <a:path extrusionOk="0" h="49533" w="33306">
                <a:moveTo>
                  <a:pt x="0" y="49287"/>
                </a:moveTo>
                <a:cubicBezTo>
                  <a:pt x="2328" y="48481"/>
                  <a:pt x="11371" y="51883"/>
                  <a:pt x="13967" y="44452"/>
                </a:cubicBezTo>
                <a:cubicBezTo>
                  <a:pt x="16564" y="37021"/>
                  <a:pt x="12356" y="12043"/>
                  <a:pt x="15579" y="4701"/>
                </a:cubicBezTo>
                <a:cubicBezTo>
                  <a:pt x="18802" y="-2640"/>
                  <a:pt x="30352" y="1119"/>
                  <a:pt x="33306" y="403"/>
                </a:cubicBezTo>
              </a:path>
            </a:pathLst>
          </a:custGeom>
          <a:noFill/>
          <a:ln cap="flat" cmpd="sng" w="28575">
            <a:solidFill>
              <a:schemeClr val="dk2"/>
            </a:solidFill>
            <a:prstDash val="solid"/>
            <a:round/>
            <a:headEnd len="med" w="med" type="none"/>
            <a:tailEnd len="med" w="med" type="stealth"/>
          </a:ln>
        </p:spPr>
      </p:sp>
      <p:sp>
        <p:nvSpPr>
          <p:cNvPr id="162" name="Google Shape;162;p20"/>
          <p:cNvSpPr/>
          <p:nvPr/>
        </p:nvSpPr>
        <p:spPr>
          <a:xfrm>
            <a:off x="5827776" y="2880360"/>
            <a:ext cx="832650" cy="1238325"/>
          </a:xfrm>
          <a:custGeom>
            <a:rect b="b" l="l" r="r" t="t"/>
            <a:pathLst>
              <a:path extrusionOk="0" h="49533" w="33306">
                <a:moveTo>
                  <a:pt x="0" y="49287"/>
                </a:moveTo>
                <a:cubicBezTo>
                  <a:pt x="2328" y="48481"/>
                  <a:pt x="11371" y="51883"/>
                  <a:pt x="13967" y="44452"/>
                </a:cubicBezTo>
                <a:cubicBezTo>
                  <a:pt x="16564" y="37021"/>
                  <a:pt x="12356" y="12043"/>
                  <a:pt x="15579" y="4701"/>
                </a:cubicBezTo>
                <a:cubicBezTo>
                  <a:pt x="18802" y="-2640"/>
                  <a:pt x="30352" y="1119"/>
                  <a:pt x="33306" y="403"/>
                </a:cubicBezTo>
              </a:path>
            </a:pathLst>
          </a:custGeom>
          <a:noFill/>
          <a:ln cap="flat" cmpd="sng" w="28575">
            <a:solidFill>
              <a:schemeClr val="dk2"/>
            </a:solidFill>
            <a:prstDash val="solid"/>
            <a:round/>
            <a:headEnd len="med" w="med" type="none"/>
            <a:tailEnd len="med" w="med" type="stealth"/>
          </a:ln>
        </p:spPr>
      </p:sp>
      <p:cxnSp>
        <p:nvCxnSpPr>
          <p:cNvPr id="163" name="Google Shape;163;p20"/>
          <p:cNvCxnSpPr/>
          <p:nvPr/>
        </p:nvCxnSpPr>
        <p:spPr>
          <a:xfrm flipH="1" rot="10800000">
            <a:off x="3881000" y="4242775"/>
            <a:ext cx="1044000" cy="12300"/>
          </a:xfrm>
          <a:prstGeom prst="straightConnector1">
            <a:avLst/>
          </a:prstGeom>
          <a:noFill/>
          <a:ln cap="flat" cmpd="sng" w="28575">
            <a:solidFill>
              <a:schemeClr val="dk2"/>
            </a:solidFill>
            <a:prstDash val="solid"/>
            <a:round/>
            <a:headEnd len="med" w="med" type="none"/>
            <a:tailEnd len="med" w="med" type="stealth"/>
          </a:ln>
        </p:spPr>
      </p:cxnSp>
      <p:sp>
        <p:nvSpPr>
          <p:cNvPr id="164" name="Google Shape;164;p20"/>
          <p:cNvSpPr/>
          <p:nvPr/>
        </p:nvSpPr>
        <p:spPr>
          <a:xfrm>
            <a:off x="4293825" y="1830100"/>
            <a:ext cx="656726" cy="2220573"/>
          </a:xfrm>
          <a:custGeom>
            <a:rect b="b" l="l" r="r" t="t"/>
            <a:pathLst>
              <a:path extrusionOk="0" h="85210" w="23636">
                <a:moveTo>
                  <a:pt x="0" y="0"/>
                </a:moveTo>
                <a:cubicBezTo>
                  <a:pt x="1880" y="1522"/>
                  <a:pt x="9311" y="-3671"/>
                  <a:pt x="11281" y="9132"/>
                </a:cubicBezTo>
                <a:cubicBezTo>
                  <a:pt x="13251" y="21935"/>
                  <a:pt x="9759" y="64193"/>
                  <a:pt x="11818" y="76817"/>
                </a:cubicBezTo>
                <a:cubicBezTo>
                  <a:pt x="13877" y="89441"/>
                  <a:pt x="21666" y="83531"/>
                  <a:pt x="23636" y="84874"/>
                </a:cubicBezTo>
              </a:path>
            </a:pathLst>
          </a:custGeom>
          <a:noFill/>
          <a:ln cap="flat" cmpd="sng" w="28575">
            <a:solidFill>
              <a:schemeClr val="dk2"/>
            </a:solidFill>
            <a:prstDash val="solid"/>
            <a:round/>
            <a:headEnd len="med" w="med" type="none"/>
            <a:tailEnd len="med" w="med" type="stealth"/>
          </a:ln>
        </p:spPr>
      </p:sp>
      <p:cxnSp>
        <p:nvCxnSpPr>
          <p:cNvPr id="165" name="Google Shape;165;p20"/>
          <p:cNvCxnSpPr>
            <a:stCxn id="155" idx="3"/>
            <a:endCxn id="166" idx="1"/>
          </p:cNvCxnSpPr>
          <p:nvPr/>
        </p:nvCxnSpPr>
        <p:spPr>
          <a:xfrm>
            <a:off x="4225950" y="1655075"/>
            <a:ext cx="719100" cy="0"/>
          </a:xfrm>
          <a:prstGeom prst="straightConnector1">
            <a:avLst/>
          </a:prstGeom>
          <a:noFill/>
          <a:ln cap="flat" cmpd="sng" w="28575">
            <a:solidFill>
              <a:schemeClr val="dk2"/>
            </a:solidFill>
            <a:prstDash val="solid"/>
            <a:round/>
            <a:headEnd len="med" w="med" type="none"/>
            <a:tailEnd len="med" w="med" type="stealth"/>
          </a:ln>
        </p:spPr>
      </p:cxnSp>
      <p:cxnSp>
        <p:nvCxnSpPr>
          <p:cNvPr id="167" name="Google Shape;167;p20"/>
          <p:cNvCxnSpPr/>
          <p:nvPr/>
        </p:nvCxnSpPr>
        <p:spPr>
          <a:xfrm flipH="1">
            <a:off x="4199050" y="1832950"/>
            <a:ext cx="233700" cy="9600"/>
          </a:xfrm>
          <a:prstGeom prst="straightConnector1">
            <a:avLst/>
          </a:prstGeom>
          <a:noFill/>
          <a:ln cap="flat" cmpd="sng" w="28575">
            <a:solidFill>
              <a:schemeClr val="dk2"/>
            </a:solidFill>
            <a:prstDash val="solid"/>
            <a:round/>
            <a:headEnd len="med" w="med" type="none"/>
            <a:tailEnd len="med" w="med" type="stealth"/>
          </a:ln>
        </p:spPr>
      </p:cxnSp>
      <p:sp>
        <p:nvSpPr>
          <p:cNvPr id="168" name="Google Shape;168;p20"/>
          <p:cNvSpPr/>
          <p:nvPr/>
        </p:nvSpPr>
        <p:spPr>
          <a:xfrm>
            <a:off x="227100" y="2553525"/>
            <a:ext cx="896100" cy="741000"/>
          </a:xfrm>
          <a:prstGeom prst="roundRect">
            <a:avLst>
              <a:gd fmla="val 16667" name="adj"/>
            </a:avLst>
          </a:prstGeom>
          <a:solidFill>
            <a:srgbClr val="6D9E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073763"/>
                </a:solidFill>
                <a:latin typeface="Lato"/>
                <a:ea typeface="Lato"/>
                <a:cs typeface="Lato"/>
                <a:sym typeface="Lato"/>
              </a:rPr>
              <a:t>Vehicle Segment Selection</a:t>
            </a:r>
            <a:endParaRPr b="1" sz="1000">
              <a:solidFill>
                <a:srgbClr val="073763"/>
              </a:solidFill>
              <a:latin typeface="Lato"/>
              <a:ea typeface="Lato"/>
              <a:cs typeface="Lato"/>
              <a:sym typeface="Lato"/>
            </a:endParaRPr>
          </a:p>
        </p:txBody>
      </p:sp>
      <p:sp>
        <p:nvSpPr>
          <p:cNvPr id="153" name="Google Shape;153;p20"/>
          <p:cNvSpPr/>
          <p:nvPr/>
        </p:nvSpPr>
        <p:spPr>
          <a:xfrm>
            <a:off x="1534500" y="2553538"/>
            <a:ext cx="1004100" cy="741000"/>
          </a:xfrm>
          <a:prstGeom prst="roundRect">
            <a:avLst>
              <a:gd fmla="val 16667" name="adj"/>
            </a:avLst>
          </a:prstGeom>
          <a:solidFill>
            <a:srgbClr val="93C4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073763"/>
                </a:solidFill>
                <a:latin typeface="Lato"/>
                <a:ea typeface="Lato"/>
                <a:cs typeface="Lato"/>
                <a:sym typeface="Lato"/>
              </a:rPr>
              <a:t>Performance Baselining</a:t>
            </a:r>
            <a:endParaRPr b="1" sz="1000">
              <a:solidFill>
                <a:srgbClr val="073763"/>
              </a:solidFill>
              <a:latin typeface="Lato"/>
              <a:ea typeface="Lato"/>
              <a:cs typeface="Lato"/>
              <a:sym typeface="Lato"/>
            </a:endParaRPr>
          </a:p>
        </p:txBody>
      </p:sp>
      <p:sp>
        <p:nvSpPr>
          <p:cNvPr id="155" name="Google Shape;155;p20"/>
          <p:cNvSpPr/>
          <p:nvPr/>
        </p:nvSpPr>
        <p:spPr>
          <a:xfrm>
            <a:off x="3306450" y="1284575"/>
            <a:ext cx="919500" cy="741000"/>
          </a:xfrm>
          <a:prstGeom prst="roundRect">
            <a:avLst>
              <a:gd fmla="val 16667" name="adj"/>
            </a:avLst>
          </a:prstGeom>
          <a:solidFill>
            <a:srgbClr val="6EC0C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073763"/>
                </a:solidFill>
                <a:latin typeface="Lato"/>
                <a:ea typeface="Lato"/>
                <a:cs typeface="Lato"/>
                <a:sym typeface="Lato"/>
              </a:rPr>
              <a:t>Powertrain Sizing</a:t>
            </a:r>
            <a:endParaRPr b="1" sz="1000">
              <a:solidFill>
                <a:srgbClr val="073763"/>
              </a:solidFill>
              <a:latin typeface="Lato"/>
              <a:ea typeface="Lato"/>
              <a:cs typeface="Lato"/>
              <a:sym typeface="Lato"/>
            </a:endParaRPr>
          </a:p>
        </p:txBody>
      </p:sp>
      <p:sp>
        <p:nvSpPr>
          <p:cNvPr id="156" name="Google Shape;156;p20"/>
          <p:cNvSpPr/>
          <p:nvPr/>
        </p:nvSpPr>
        <p:spPr>
          <a:xfrm>
            <a:off x="3251400" y="3759075"/>
            <a:ext cx="987300" cy="741000"/>
          </a:xfrm>
          <a:prstGeom prst="roundRect">
            <a:avLst>
              <a:gd fmla="val 16667" name="adj"/>
            </a:avLst>
          </a:prstGeom>
          <a:solidFill>
            <a:srgbClr val="6EC0C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073763"/>
                </a:solidFill>
                <a:latin typeface="Lato"/>
                <a:ea typeface="Lato"/>
                <a:cs typeface="Lato"/>
                <a:sym typeface="Lato"/>
              </a:rPr>
              <a:t>Preliminary Vehicle Modelling</a:t>
            </a:r>
            <a:endParaRPr b="1" sz="1000">
              <a:solidFill>
                <a:srgbClr val="073763"/>
              </a:solidFill>
              <a:latin typeface="Lato"/>
              <a:ea typeface="Lato"/>
              <a:cs typeface="Lato"/>
              <a:sym typeface="Lato"/>
            </a:endParaRPr>
          </a:p>
        </p:txBody>
      </p:sp>
      <p:sp>
        <p:nvSpPr>
          <p:cNvPr id="166" name="Google Shape;166;p20"/>
          <p:cNvSpPr/>
          <p:nvPr/>
        </p:nvSpPr>
        <p:spPr>
          <a:xfrm>
            <a:off x="4945025" y="1284575"/>
            <a:ext cx="1004100" cy="741000"/>
          </a:xfrm>
          <a:prstGeom prst="roundRect">
            <a:avLst>
              <a:gd fmla="val 16667" name="adj"/>
            </a:avLst>
          </a:prstGeom>
          <a:solidFill>
            <a:srgbClr val="B4A7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073763"/>
                </a:solidFill>
                <a:latin typeface="Lato"/>
                <a:ea typeface="Lato"/>
                <a:cs typeface="Lato"/>
                <a:sym typeface="Lato"/>
              </a:rPr>
              <a:t>Battery Optimisation </a:t>
            </a:r>
            <a:endParaRPr b="1" sz="1000">
              <a:solidFill>
                <a:srgbClr val="073763"/>
              </a:solidFill>
              <a:latin typeface="Lato"/>
              <a:ea typeface="Lato"/>
              <a:cs typeface="Lato"/>
              <a:sym typeface="Lato"/>
            </a:endParaRPr>
          </a:p>
        </p:txBody>
      </p:sp>
      <p:sp>
        <p:nvSpPr>
          <p:cNvPr id="169" name="Google Shape;169;p20"/>
          <p:cNvSpPr/>
          <p:nvPr/>
        </p:nvSpPr>
        <p:spPr>
          <a:xfrm>
            <a:off x="4925075" y="3759075"/>
            <a:ext cx="1044000" cy="741000"/>
          </a:xfrm>
          <a:prstGeom prst="roundRect">
            <a:avLst>
              <a:gd fmla="val 16667" name="adj"/>
            </a:avLst>
          </a:prstGeom>
          <a:solidFill>
            <a:srgbClr val="B4A7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073763"/>
                </a:solidFill>
                <a:latin typeface="Lato"/>
                <a:ea typeface="Lato"/>
                <a:cs typeface="Lato"/>
                <a:sym typeface="Lato"/>
              </a:rPr>
              <a:t>Electric Drive Dimensioning</a:t>
            </a:r>
            <a:endParaRPr b="1" sz="1000">
              <a:solidFill>
                <a:srgbClr val="073763"/>
              </a:solidFill>
              <a:latin typeface="Lato"/>
              <a:ea typeface="Lato"/>
              <a:cs typeface="Lato"/>
              <a:sym typeface="Lato"/>
            </a:endParaRPr>
          </a:p>
        </p:txBody>
      </p:sp>
      <p:sp>
        <p:nvSpPr>
          <p:cNvPr id="158" name="Google Shape;158;p20"/>
          <p:cNvSpPr/>
          <p:nvPr/>
        </p:nvSpPr>
        <p:spPr>
          <a:xfrm>
            <a:off x="6660425" y="2521775"/>
            <a:ext cx="919500" cy="741000"/>
          </a:xfrm>
          <a:prstGeom prst="roundRect">
            <a:avLst>
              <a:gd fmla="val 16667" name="adj"/>
            </a:avLst>
          </a:prstGeom>
          <a:solidFill>
            <a:srgbClr val="D5A6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073763"/>
                </a:solidFill>
                <a:latin typeface="Lato"/>
                <a:ea typeface="Lato"/>
                <a:cs typeface="Lato"/>
                <a:sym typeface="Lato"/>
              </a:rPr>
              <a:t>Final Vehicle Model</a:t>
            </a:r>
            <a:endParaRPr b="1" sz="1000">
              <a:solidFill>
                <a:srgbClr val="073763"/>
              </a:solidFill>
              <a:latin typeface="Lato"/>
              <a:ea typeface="Lato"/>
              <a:cs typeface="Lato"/>
              <a:sym typeface="Lato"/>
            </a:endParaRPr>
          </a:p>
        </p:txBody>
      </p:sp>
      <p:sp>
        <p:nvSpPr>
          <p:cNvPr id="170" name="Google Shape;170;p20"/>
          <p:cNvSpPr/>
          <p:nvPr/>
        </p:nvSpPr>
        <p:spPr>
          <a:xfrm>
            <a:off x="7921025" y="2521775"/>
            <a:ext cx="919500" cy="741000"/>
          </a:xfrm>
          <a:prstGeom prst="roundRect">
            <a:avLst>
              <a:gd fmla="val 16667" name="adj"/>
            </a:avLst>
          </a:prstGeom>
          <a:solidFill>
            <a:srgbClr val="EA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073763"/>
                </a:solidFill>
                <a:latin typeface="Lato"/>
                <a:ea typeface="Lato"/>
                <a:cs typeface="Lato"/>
                <a:sym typeface="Lato"/>
              </a:rPr>
              <a:t>Final Results</a:t>
            </a:r>
            <a:endParaRPr b="1" sz="1000">
              <a:solidFill>
                <a:srgbClr val="073763"/>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FEFEF"/>
        </a:solidFill>
      </p:bgPr>
    </p:bg>
    <p:spTree>
      <p:nvGrpSpPr>
        <p:cNvPr id="174" name="Shape 174"/>
        <p:cNvGrpSpPr/>
        <p:nvPr/>
      </p:nvGrpSpPr>
      <p:grpSpPr>
        <a:xfrm>
          <a:off x="0" y="0"/>
          <a:ext cx="0" cy="0"/>
          <a:chOff x="0" y="0"/>
          <a:chExt cx="0" cy="0"/>
        </a:xfrm>
      </p:grpSpPr>
      <p:sp>
        <p:nvSpPr>
          <p:cNvPr id="175" name="Google Shape;175;p21"/>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200"/>
              <a:buFont typeface="Arial"/>
              <a:buNone/>
            </a:pPr>
            <a:r>
              <a:rPr lang="en" sz="2400">
                <a:solidFill>
                  <a:srgbClr val="F3F3F3"/>
                </a:solidFill>
                <a:latin typeface="Lato"/>
                <a:ea typeface="Lato"/>
                <a:cs typeface="Lato"/>
                <a:sym typeface="Lato"/>
              </a:rPr>
              <a:t>Selection of</a:t>
            </a:r>
            <a:r>
              <a:rPr b="1" lang="en" sz="2400">
                <a:solidFill>
                  <a:srgbClr val="F3F3F3"/>
                </a:solidFill>
                <a:latin typeface="Lato"/>
                <a:ea typeface="Lato"/>
                <a:cs typeface="Lato"/>
                <a:sym typeface="Lato"/>
              </a:rPr>
              <a:t> </a:t>
            </a:r>
            <a:r>
              <a:rPr lang="en" sz="2400">
                <a:solidFill>
                  <a:srgbClr val="48BACA"/>
                </a:solidFill>
                <a:latin typeface="Lato Black"/>
                <a:ea typeface="Lato Black"/>
                <a:cs typeface="Lato Black"/>
                <a:sym typeface="Lato Black"/>
              </a:rPr>
              <a:t>Vehicle Segment</a:t>
            </a:r>
            <a:endParaRPr sz="2400">
              <a:solidFill>
                <a:srgbClr val="F3F3F3"/>
              </a:solidFill>
              <a:latin typeface="Lato"/>
              <a:ea typeface="Lato"/>
              <a:cs typeface="Lato"/>
              <a:sym typeface="Lato"/>
            </a:endParaRPr>
          </a:p>
        </p:txBody>
      </p:sp>
      <p:pic>
        <p:nvPicPr>
          <p:cNvPr id="176" name="Google Shape;176;p21"/>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177" name="Google Shape;177;p21"/>
          <p:cNvPicPr preferRelativeResize="0"/>
          <p:nvPr/>
        </p:nvPicPr>
        <p:blipFill>
          <a:blip r:embed="rId4">
            <a:alphaModFix amt="26000"/>
          </a:blip>
          <a:stretch>
            <a:fillRect/>
          </a:stretch>
        </p:blipFill>
        <p:spPr>
          <a:xfrm rot="9900000">
            <a:off x="5128900" y="2442475"/>
            <a:ext cx="4289526" cy="2716700"/>
          </a:xfrm>
          <a:prstGeom prst="rect">
            <a:avLst/>
          </a:prstGeom>
          <a:noFill/>
          <a:ln>
            <a:noFill/>
          </a:ln>
        </p:spPr>
      </p:pic>
      <p:sp>
        <p:nvSpPr>
          <p:cNvPr id="178" name="Google Shape;178;p21"/>
          <p:cNvSpPr txBox="1"/>
          <p:nvPr/>
        </p:nvSpPr>
        <p:spPr>
          <a:xfrm>
            <a:off x="0" y="941225"/>
            <a:ext cx="4111500" cy="407100"/>
          </a:xfrm>
          <a:prstGeom prst="rect">
            <a:avLst/>
          </a:prstGeom>
          <a:solidFill>
            <a:srgbClr val="23656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700">
                <a:solidFill>
                  <a:srgbClr val="EFEFEF"/>
                </a:solidFill>
                <a:latin typeface="Open Sans ExtraBold"/>
                <a:ea typeface="Open Sans ExtraBold"/>
                <a:cs typeface="Open Sans ExtraBold"/>
                <a:sym typeface="Open Sans ExtraBold"/>
              </a:rPr>
              <a:t>SEGMENT SELECTION</a:t>
            </a:r>
            <a:endParaRPr sz="1700">
              <a:solidFill>
                <a:srgbClr val="EFEFEF"/>
              </a:solidFill>
              <a:latin typeface="Open Sans ExtraBold"/>
              <a:ea typeface="Open Sans ExtraBold"/>
              <a:cs typeface="Open Sans ExtraBold"/>
              <a:sym typeface="Open Sans ExtraBold"/>
            </a:endParaRPr>
          </a:p>
        </p:txBody>
      </p:sp>
      <p:sp>
        <p:nvSpPr>
          <p:cNvPr id="179" name="Google Shape;179;p21"/>
          <p:cNvSpPr/>
          <p:nvPr/>
        </p:nvSpPr>
        <p:spPr>
          <a:xfrm>
            <a:off x="3834275" y="941225"/>
            <a:ext cx="399000" cy="4071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180" name="Google Shape;180;p21"/>
          <p:cNvPicPr preferRelativeResize="0"/>
          <p:nvPr/>
        </p:nvPicPr>
        <p:blipFill rotWithShape="1">
          <a:blip r:embed="rId5">
            <a:alphaModFix/>
          </a:blip>
          <a:srcRect b="11281" l="20956" r="20375" t="10435"/>
          <a:stretch/>
        </p:blipFill>
        <p:spPr>
          <a:xfrm>
            <a:off x="3834275" y="985441"/>
            <a:ext cx="360900" cy="318660"/>
          </a:xfrm>
          <a:prstGeom prst="rect">
            <a:avLst/>
          </a:prstGeom>
          <a:noFill/>
          <a:ln>
            <a:noFill/>
          </a:ln>
        </p:spPr>
      </p:pic>
      <p:sp>
        <p:nvSpPr>
          <p:cNvPr id="181" name="Google Shape;181;p21"/>
          <p:cNvSpPr txBox="1"/>
          <p:nvPr/>
        </p:nvSpPr>
        <p:spPr>
          <a:xfrm>
            <a:off x="1650525" y="1701700"/>
            <a:ext cx="4452600" cy="1693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For the event, we chose to design a Ultra Light Commercial Vehicle (ULCV)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PHOTO OF A ULCV</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Let us have a look !</a:t>
            </a:r>
            <a:endParaRPr/>
          </a:p>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FEFEF"/>
        </a:solidFill>
      </p:bgPr>
    </p:bg>
    <p:spTree>
      <p:nvGrpSpPr>
        <p:cNvPr id="185" name="Shape 185"/>
        <p:cNvGrpSpPr/>
        <p:nvPr/>
      </p:nvGrpSpPr>
      <p:grpSpPr>
        <a:xfrm>
          <a:off x="0" y="0"/>
          <a:ext cx="0" cy="0"/>
          <a:chOff x="0" y="0"/>
          <a:chExt cx="0" cy="0"/>
        </a:xfrm>
      </p:grpSpPr>
      <p:sp>
        <p:nvSpPr>
          <p:cNvPr id="186" name="Google Shape;186;p22"/>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lang="en" sz="2400">
                <a:solidFill>
                  <a:srgbClr val="F3F3F3"/>
                </a:solidFill>
                <a:latin typeface="Lato"/>
                <a:ea typeface="Lato"/>
                <a:cs typeface="Lato"/>
                <a:sym typeface="Lato"/>
              </a:rPr>
              <a:t>Selection of</a:t>
            </a:r>
            <a:r>
              <a:rPr b="1" i="0" lang="en" sz="2400" u="none" cap="none" strike="noStrike">
                <a:solidFill>
                  <a:srgbClr val="F3F3F3"/>
                </a:solidFill>
                <a:latin typeface="Lato"/>
                <a:ea typeface="Lato"/>
                <a:cs typeface="Lato"/>
                <a:sym typeface="Lato"/>
              </a:rPr>
              <a:t> </a:t>
            </a:r>
            <a:r>
              <a:rPr lang="en" sz="2400">
                <a:solidFill>
                  <a:srgbClr val="48BACA"/>
                </a:solidFill>
                <a:latin typeface="Lato Black"/>
                <a:ea typeface="Lato Black"/>
                <a:cs typeface="Lato Black"/>
                <a:sym typeface="Lato Black"/>
              </a:rPr>
              <a:t>Vehicle Segment</a:t>
            </a:r>
            <a:endParaRPr i="0" sz="2400" u="none" cap="none" strike="noStrike">
              <a:solidFill>
                <a:srgbClr val="48BACA"/>
              </a:solidFill>
              <a:latin typeface="Lato Black"/>
              <a:ea typeface="Lato Black"/>
              <a:cs typeface="Lato Black"/>
              <a:sym typeface="Lato Black"/>
            </a:endParaRPr>
          </a:p>
        </p:txBody>
      </p:sp>
      <p:pic>
        <p:nvPicPr>
          <p:cNvPr id="187" name="Google Shape;187;p22"/>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188" name="Google Shape;188;p22"/>
          <p:cNvPicPr preferRelativeResize="0"/>
          <p:nvPr/>
        </p:nvPicPr>
        <p:blipFill>
          <a:blip r:embed="rId4">
            <a:alphaModFix amt="26000"/>
          </a:blip>
          <a:stretch>
            <a:fillRect/>
          </a:stretch>
        </p:blipFill>
        <p:spPr>
          <a:xfrm rot="9900000">
            <a:off x="5128900" y="2442475"/>
            <a:ext cx="4289526" cy="2716700"/>
          </a:xfrm>
          <a:prstGeom prst="rect">
            <a:avLst/>
          </a:prstGeom>
          <a:noFill/>
          <a:ln>
            <a:noFill/>
          </a:ln>
        </p:spPr>
      </p:pic>
      <p:sp>
        <p:nvSpPr>
          <p:cNvPr id="189" name="Google Shape;189;p22"/>
          <p:cNvSpPr/>
          <p:nvPr/>
        </p:nvSpPr>
        <p:spPr>
          <a:xfrm>
            <a:off x="0" y="1575800"/>
            <a:ext cx="3795000" cy="2604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2"/>
          <p:cNvSpPr txBox="1"/>
          <p:nvPr/>
        </p:nvSpPr>
        <p:spPr>
          <a:xfrm>
            <a:off x="74400" y="1514275"/>
            <a:ext cx="3590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EVs need to be economically viable -&gt; B2Bs</a:t>
            </a:r>
            <a:endParaRPr>
              <a:latin typeface="Lato"/>
              <a:ea typeface="Lato"/>
              <a:cs typeface="Lato"/>
              <a:sym typeface="Lato"/>
            </a:endParaRPr>
          </a:p>
        </p:txBody>
      </p:sp>
      <p:sp>
        <p:nvSpPr>
          <p:cNvPr id="191" name="Google Shape;191;p22"/>
          <p:cNvSpPr/>
          <p:nvPr/>
        </p:nvSpPr>
        <p:spPr>
          <a:xfrm>
            <a:off x="0" y="1956800"/>
            <a:ext cx="3795000" cy="2604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2"/>
          <p:cNvSpPr txBox="1"/>
          <p:nvPr/>
        </p:nvSpPr>
        <p:spPr>
          <a:xfrm>
            <a:off x="74400" y="1895275"/>
            <a:ext cx="6642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EVs : Maximum efficiency gains in Urban and Semi-Urban transport</a:t>
            </a:r>
            <a:endParaRPr/>
          </a:p>
        </p:txBody>
      </p:sp>
      <p:sp>
        <p:nvSpPr>
          <p:cNvPr id="193" name="Google Shape;193;p22"/>
          <p:cNvSpPr/>
          <p:nvPr/>
        </p:nvSpPr>
        <p:spPr>
          <a:xfrm>
            <a:off x="0" y="2337800"/>
            <a:ext cx="3795000" cy="2604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2"/>
          <p:cNvSpPr txBox="1"/>
          <p:nvPr/>
        </p:nvSpPr>
        <p:spPr>
          <a:xfrm>
            <a:off x="74400" y="2276275"/>
            <a:ext cx="4339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Promising Market growth in ULCV segment</a:t>
            </a:r>
            <a:endParaRPr/>
          </a:p>
        </p:txBody>
      </p:sp>
      <p:sp>
        <p:nvSpPr>
          <p:cNvPr id="195" name="Google Shape;195;p22"/>
          <p:cNvSpPr/>
          <p:nvPr/>
        </p:nvSpPr>
        <p:spPr>
          <a:xfrm>
            <a:off x="0" y="3861800"/>
            <a:ext cx="3795000" cy="2604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2"/>
          <p:cNvSpPr txBox="1"/>
          <p:nvPr/>
        </p:nvSpPr>
        <p:spPr>
          <a:xfrm>
            <a:off x="74400" y="3800275"/>
            <a:ext cx="3590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solidFill>
                  <a:schemeClr val="dk1"/>
                </a:solidFill>
              </a:rPr>
              <a:t>Early mover’s advantage</a:t>
            </a:r>
            <a:endParaRPr>
              <a:solidFill>
                <a:schemeClr val="dk1"/>
              </a:solidFill>
            </a:endParaRPr>
          </a:p>
        </p:txBody>
      </p:sp>
      <p:sp>
        <p:nvSpPr>
          <p:cNvPr id="197" name="Google Shape;197;p22"/>
          <p:cNvSpPr/>
          <p:nvPr/>
        </p:nvSpPr>
        <p:spPr>
          <a:xfrm>
            <a:off x="0" y="4242800"/>
            <a:ext cx="3795000" cy="2604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2"/>
          <p:cNvSpPr txBox="1"/>
          <p:nvPr/>
        </p:nvSpPr>
        <p:spPr>
          <a:xfrm>
            <a:off x="74400" y="4181275"/>
            <a:ext cx="3590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rgbClr val="FF0000"/>
              </a:solidFill>
            </a:endParaRPr>
          </a:p>
        </p:txBody>
      </p:sp>
      <p:sp>
        <p:nvSpPr>
          <p:cNvPr id="199" name="Google Shape;199;p22"/>
          <p:cNvSpPr/>
          <p:nvPr/>
        </p:nvSpPr>
        <p:spPr>
          <a:xfrm>
            <a:off x="0" y="4623800"/>
            <a:ext cx="3795000" cy="2604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2"/>
          <p:cNvSpPr txBox="1"/>
          <p:nvPr/>
        </p:nvSpPr>
        <p:spPr>
          <a:xfrm>
            <a:off x="74400" y="4562275"/>
            <a:ext cx="3590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Easier to offer customer support -language</a:t>
            </a:r>
            <a:endParaRPr/>
          </a:p>
        </p:txBody>
      </p:sp>
      <p:sp>
        <p:nvSpPr>
          <p:cNvPr id="201" name="Google Shape;201;p22"/>
          <p:cNvSpPr/>
          <p:nvPr/>
        </p:nvSpPr>
        <p:spPr>
          <a:xfrm>
            <a:off x="0" y="2718800"/>
            <a:ext cx="3795000" cy="2604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2"/>
          <p:cNvSpPr txBox="1"/>
          <p:nvPr/>
        </p:nvSpPr>
        <p:spPr>
          <a:xfrm>
            <a:off x="74400" y="2657275"/>
            <a:ext cx="495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Small investment need in charging infrastructure</a:t>
            </a:r>
            <a:endParaRPr/>
          </a:p>
        </p:txBody>
      </p:sp>
      <p:sp>
        <p:nvSpPr>
          <p:cNvPr id="203" name="Google Shape;203;p22"/>
          <p:cNvSpPr/>
          <p:nvPr/>
        </p:nvSpPr>
        <p:spPr>
          <a:xfrm>
            <a:off x="0" y="3480800"/>
            <a:ext cx="3795000" cy="2604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2"/>
          <p:cNvSpPr txBox="1"/>
          <p:nvPr/>
        </p:nvSpPr>
        <p:spPr>
          <a:xfrm>
            <a:off x="74400" y="3419275"/>
            <a:ext cx="3590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solidFill>
                  <a:schemeClr val="dk1"/>
                </a:solidFill>
              </a:rPr>
              <a:t>Best target for early adoption</a:t>
            </a:r>
            <a:endParaRPr>
              <a:solidFill>
                <a:schemeClr val="dk1"/>
              </a:solidFill>
            </a:endParaRPr>
          </a:p>
        </p:txBody>
      </p:sp>
      <p:sp>
        <p:nvSpPr>
          <p:cNvPr id="205" name="Google Shape;205;p22"/>
          <p:cNvSpPr/>
          <p:nvPr/>
        </p:nvSpPr>
        <p:spPr>
          <a:xfrm>
            <a:off x="0" y="3099800"/>
            <a:ext cx="3795000" cy="2604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2"/>
          <p:cNvSpPr txBox="1"/>
          <p:nvPr/>
        </p:nvSpPr>
        <p:spPr>
          <a:xfrm>
            <a:off x="74400" y="3038275"/>
            <a:ext cx="582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Long life cycle and Low maintenance costs gain importance</a:t>
            </a:r>
            <a:endParaRPr/>
          </a:p>
        </p:txBody>
      </p:sp>
      <p:sp>
        <p:nvSpPr>
          <p:cNvPr id="207" name="Google Shape;207;p22"/>
          <p:cNvSpPr txBox="1"/>
          <p:nvPr/>
        </p:nvSpPr>
        <p:spPr>
          <a:xfrm>
            <a:off x="0" y="995925"/>
            <a:ext cx="4397400" cy="352500"/>
          </a:xfrm>
          <a:prstGeom prst="rect">
            <a:avLst/>
          </a:prstGeom>
          <a:solidFill>
            <a:srgbClr val="23656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700">
                <a:solidFill>
                  <a:srgbClr val="EFEFEF"/>
                </a:solidFill>
                <a:latin typeface="Open Sans ExtraBold"/>
                <a:ea typeface="Open Sans ExtraBold"/>
                <a:cs typeface="Open Sans ExtraBold"/>
                <a:sym typeface="Open Sans ExtraBold"/>
              </a:rPr>
              <a:t>SEGMENT SELECTION</a:t>
            </a:r>
            <a:endParaRPr sz="1700">
              <a:solidFill>
                <a:srgbClr val="EFEFEF"/>
              </a:solidFill>
              <a:latin typeface="Open Sans ExtraBold"/>
              <a:ea typeface="Open Sans ExtraBold"/>
              <a:cs typeface="Open Sans ExtraBold"/>
              <a:sym typeface="Open Sans ExtraBold"/>
            </a:endParaRPr>
          </a:p>
        </p:txBody>
      </p:sp>
      <p:sp>
        <p:nvSpPr>
          <p:cNvPr id="208" name="Google Shape;208;p22"/>
          <p:cNvSpPr/>
          <p:nvPr/>
        </p:nvSpPr>
        <p:spPr>
          <a:xfrm>
            <a:off x="4157309" y="995922"/>
            <a:ext cx="3453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209" name="Google Shape;209;p22"/>
          <p:cNvPicPr preferRelativeResize="0"/>
          <p:nvPr/>
        </p:nvPicPr>
        <p:blipFill rotWithShape="1">
          <a:blip r:embed="rId5">
            <a:alphaModFix/>
          </a:blip>
          <a:srcRect b="11281" l="20956" r="20375" t="10435"/>
          <a:stretch/>
        </p:blipFill>
        <p:spPr>
          <a:xfrm>
            <a:off x="4140818" y="1034197"/>
            <a:ext cx="312410" cy="275845"/>
          </a:xfrm>
          <a:prstGeom prst="rect">
            <a:avLst/>
          </a:prstGeom>
          <a:noFill/>
          <a:ln>
            <a:noFill/>
          </a:ln>
        </p:spPr>
      </p:pic>
      <p:sp>
        <p:nvSpPr>
          <p:cNvPr id="210" name="Google Shape;210;p22"/>
          <p:cNvSpPr txBox="1"/>
          <p:nvPr/>
        </p:nvSpPr>
        <p:spPr>
          <a:xfrm>
            <a:off x="5706475" y="1637725"/>
            <a:ext cx="2725200" cy="25629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Photo aati jayegi about each point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FEFEF"/>
        </a:solidFill>
      </p:bgPr>
    </p:bg>
    <p:spTree>
      <p:nvGrpSpPr>
        <p:cNvPr id="214" name="Shape 214"/>
        <p:cNvGrpSpPr/>
        <p:nvPr/>
      </p:nvGrpSpPr>
      <p:grpSpPr>
        <a:xfrm>
          <a:off x="0" y="0"/>
          <a:ext cx="0" cy="0"/>
          <a:chOff x="0" y="0"/>
          <a:chExt cx="0" cy="0"/>
        </a:xfrm>
      </p:grpSpPr>
      <p:sp>
        <p:nvSpPr>
          <p:cNvPr id="215" name="Google Shape;215;p23"/>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lang="en" sz="2400">
                <a:solidFill>
                  <a:srgbClr val="F3F3F3"/>
                </a:solidFill>
                <a:latin typeface="Lato"/>
                <a:ea typeface="Lato"/>
                <a:cs typeface="Lato"/>
                <a:sym typeface="Lato"/>
              </a:rPr>
              <a:t>Selection of</a:t>
            </a:r>
            <a:r>
              <a:rPr b="1" i="0" lang="en" sz="2400" u="none" cap="none" strike="noStrike">
                <a:solidFill>
                  <a:srgbClr val="F3F3F3"/>
                </a:solidFill>
                <a:latin typeface="Lato"/>
                <a:ea typeface="Lato"/>
                <a:cs typeface="Lato"/>
                <a:sym typeface="Lato"/>
              </a:rPr>
              <a:t> </a:t>
            </a:r>
            <a:r>
              <a:rPr lang="en" sz="2400">
                <a:solidFill>
                  <a:srgbClr val="48BACA"/>
                </a:solidFill>
                <a:latin typeface="Lato Black"/>
                <a:ea typeface="Lato Black"/>
                <a:cs typeface="Lato Black"/>
                <a:sym typeface="Lato Black"/>
              </a:rPr>
              <a:t>Vehicle Segment</a:t>
            </a:r>
            <a:endParaRPr i="0" sz="2400" u="none" cap="none" strike="noStrike">
              <a:solidFill>
                <a:srgbClr val="48BACA"/>
              </a:solidFill>
              <a:latin typeface="Lato Black"/>
              <a:ea typeface="Lato Black"/>
              <a:cs typeface="Lato Black"/>
              <a:sym typeface="Lato Black"/>
            </a:endParaRPr>
          </a:p>
        </p:txBody>
      </p:sp>
      <p:pic>
        <p:nvPicPr>
          <p:cNvPr id="216" name="Google Shape;216;p23"/>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217" name="Google Shape;217;p23"/>
          <p:cNvPicPr preferRelativeResize="0"/>
          <p:nvPr/>
        </p:nvPicPr>
        <p:blipFill>
          <a:blip r:embed="rId4">
            <a:alphaModFix amt="26000"/>
          </a:blip>
          <a:stretch>
            <a:fillRect/>
          </a:stretch>
        </p:blipFill>
        <p:spPr>
          <a:xfrm rot="9900000">
            <a:off x="5128900" y="2442475"/>
            <a:ext cx="4289526" cy="2716700"/>
          </a:xfrm>
          <a:prstGeom prst="rect">
            <a:avLst/>
          </a:prstGeom>
          <a:noFill/>
          <a:ln>
            <a:noFill/>
          </a:ln>
        </p:spPr>
      </p:pic>
      <p:sp>
        <p:nvSpPr>
          <p:cNvPr id="218" name="Google Shape;218;p23"/>
          <p:cNvSpPr txBox="1"/>
          <p:nvPr/>
        </p:nvSpPr>
        <p:spPr>
          <a:xfrm>
            <a:off x="0" y="1224525"/>
            <a:ext cx="53010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Target B2Bs - Economic Viability, greater Impact</a:t>
            </a:r>
            <a:endParaRPr sz="1200">
              <a:solidFill>
                <a:srgbClr val="FFFFFF"/>
              </a:solidFill>
              <a:latin typeface="Open Sans ExtraBold"/>
              <a:ea typeface="Open Sans ExtraBold"/>
              <a:cs typeface="Open Sans ExtraBold"/>
              <a:sym typeface="Open Sans ExtraBold"/>
            </a:endParaRPr>
          </a:p>
        </p:txBody>
      </p:sp>
      <p:sp>
        <p:nvSpPr>
          <p:cNvPr id="219" name="Google Shape;219;p23"/>
          <p:cNvSpPr/>
          <p:nvPr/>
        </p:nvSpPr>
        <p:spPr>
          <a:xfrm>
            <a:off x="5036638" y="1224525"/>
            <a:ext cx="3804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220" name="Google Shape;220;p23"/>
          <p:cNvPicPr preferRelativeResize="0"/>
          <p:nvPr/>
        </p:nvPicPr>
        <p:blipFill rotWithShape="1">
          <a:blip r:embed="rId5">
            <a:alphaModFix/>
          </a:blip>
          <a:srcRect b="11281" l="20956" r="20375" t="10435"/>
          <a:stretch/>
        </p:blipFill>
        <p:spPr>
          <a:xfrm>
            <a:off x="5018473" y="1262800"/>
            <a:ext cx="344133" cy="275843"/>
          </a:xfrm>
          <a:prstGeom prst="rect">
            <a:avLst/>
          </a:prstGeom>
          <a:noFill/>
          <a:ln>
            <a:noFill/>
          </a:ln>
        </p:spPr>
      </p:pic>
      <p:sp>
        <p:nvSpPr>
          <p:cNvPr id="221" name="Google Shape;221;p23"/>
          <p:cNvSpPr txBox="1"/>
          <p:nvPr/>
        </p:nvSpPr>
        <p:spPr>
          <a:xfrm>
            <a:off x="6022888" y="1290300"/>
            <a:ext cx="2725200" cy="25629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Photo aati jayegi about each point</a:t>
            </a:r>
            <a:endParaRPr/>
          </a:p>
        </p:txBody>
      </p:sp>
      <p:sp>
        <p:nvSpPr>
          <p:cNvPr id="222" name="Google Shape;222;p23"/>
          <p:cNvSpPr txBox="1"/>
          <p:nvPr/>
        </p:nvSpPr>
        <p:spPr>
          <a:xfrm>
            <a:off x="0" y="1757925"/>
            <a:ext cx="53010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EVs : Maximum efficiency gains in Urban and Semi-Urban transport</a:t>
            </a:r>
            <a:endParaRPr sz="1200">
              <a:solidFill>
                <a:srgbClr val="FFFFFF"/>
              </a:solidFill>
              <a:latin typeface="Open Sans ExtraBold"/>
              <a:ea typeface="Open Sans ExtraBold"/>
              <a:cs typeface="Open Sans ExtraBold"/>
              <a:sym typeface="Open Sans ExtraBold"/>
            </a:endParaRPr>
          </a:p>
        </p:txBody>
      </p:sp>
      <p:sp>
        <p:nvSpPr>
          <p:cNvPr id="223" name="Google Shape;223;p23"/>
          <p:cNvSpPr/>
          <p:nvPr/>
        </p:nvSpPr>
        <p:spPr>
          <a:xfrm>
            <a:off x="5036638" y="1757925"/>
            <a:ext cx="3804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224" name="Google Shape;224;p23"/>
          <p:cNvPicPr preferRelativeResize="0"/>
          <p:nvPr/>
        </p:nvPicPr>
        <p:blipFill rotWithShape="1">
          <a:blip r:embed="rId5">
            <a:alphaModFix/>
          </a:blip>
          <a:srcRect b="11281" l="20956" r="20375" t="10435"/>
          <a:stretch/>
        </p:blipFill>
        <p:spPr>
          <a:xfrm>
            <a:off x="5018473" y="1796200"/>
            <a:ext cx="344133" cy="275843"/>
          </a:xfrm>
          <a:prstGeom prst="rect">
            <a:avLst/>
          </a:prstGeom>
          <a:noFill/>
          <a:ln>
            <a:noFill/>
          </a:ln>
        </p:spPr>
      </p:pic>
      <p:sp>
        <p:nvSpPr>
          <p:cNvPr id="225" name="Google Shape;225;p23"/>
          <p:cNvSpPr txBox="1"/>
          <p:nvPr/>
        </p:nvSpPr>
        <p:spPr>
          <a:xfrm>
            <a:off x="0" y="2291325"/>
            <a:ext cx="53010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Promising Market growth in ULCV segment</a:t>
            </a:r>
            <a:endParaRPr sz="1200">
              <a:solidFill>
                <a:srgbClr val="FFFFFF"/>
              </a:solidFill>
              <a:latin typeface="Open Sans ExtraBold"/>
              <a:ea typeface="Open Sans ExtraBold"/>
              <a:cs typeface="Open Sans ExtraBold"/>
              <a:sym typeface="Open Sans ExtraBold"/>
            </a:endParaRPr>
          </a:p>
        </p:txBody>
      </p:sp>
      <p:sp>
        <p:nvSpPr>
          <p:cNvPr id="226" name="Google Shape;226;p23"/>
          <p:cNvSpPr/>
          <p:nvPr/>
        </p:nvSpPr>
        <p:spPr>
          <a:xfrm>
            <a:off x="5036638" y="2291325"/>
            <a:ext cx="3804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227" name="Google Shape;227;p23"/>
          <p:cNvPicPr preferRelativeResize="0"/>
          <p:nvPr/>
        </p:nvPicPr>
        <p:blipFill rotWithShape="1">
          <a:blip r:embed="rId5">
            <a:alphaModFix/>
          </a:blip>
          <a:srcRect b="11281" l="20956" r="20375" t="10435"/>
          <a:stretch/>
        </p:blipFill>
        <p:spPr>
          <a:xfrm>
            <a:off x="5018473" y="2329600"/>
            <a:ext cx="344133" cy="275843"/>
          </a:xfrm>
          <a:prstGeom prst="rect">
            <a:avLst/>
          </a:prstGeom>
          <a:noFill/>
          <a:ln>
            <a:noFill/>
          </a:ln>
        </p:spPr>
      </p:pic>
      <p:sp>
        <p:nvSpPr>
          <p:cNvPr id="228" name="Google Shape;228;p23"/>
          <p:cNvSpPr txBox="1"/>
          <p:nvPr/>
        </p:nvSpPr>
        <p:spPr>
          <a:xfrm>
            <a:off x="0" y="2824725"/>
            <a:ext cx="53010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Small investment need in charging infrastructure</a:t>
            </a:r>
            <a:endParaRPr sz="1200">
              <a:solidFill>
                <a:srgbClr val="FFFFFF"/>
              </a:solidFill>
              <a:latin typeface="Open Sans ExtraBold"/>
              <a:ea typeface="Open Sans ExtraBold"/>
              <a:cs typeface="Open Sans ExtraBold"/>
              <a:sym typeface="Open Sans ExtraBold"/>
            </a:endParaRPr>
          </a:p>
        </p:txBody>
      </p:sp>
      <p:sp>
        <p:nvSpPr>
          <p:cNvPr id="229" name="Google Shape;229;p23"/>
          <p:cNvSpPr/>
          <p:nvPr/>
        </p:nvSpPr>
        <p:spPr>
          <a:xfrm>
            <a:off x="5036638" y="2824725"/>
            <a:ext cx="3804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230" name="Google Shape;230;p23"/>
          <p:cNvPicPr preferRelativeResize="0"/>
          <p:nvPr/>
        </p:nvPicPr>
        <p:blipFill rotWithShape="1">
          <a:blip r:embed="rId5">
            <a:alphaModFix/>
          </a:blip>
          <a:srcRect b="11281" l="20956" r="20375" t="10435"/>
          <a:stretch/>
        </p:blipFill>
        <p:spPr>
          <a:xfrm>
            <a:off x="5018473" y="2863000"/>
            <a:ext cx="344133" cy="275843"/>
          </a:xfrm>
          <a:prstGeom prst="rect">
            <a:avLst/>
          </a:prstGeom>
          <a:noFill/>
          <a:ln>
            <a:noFill/>
          </a:ln>
        </p:spPr>
      </p:pic>
      <p:sp>
        <p:nvSpPr>
          <p:cNvPr id="231" name="Google Shape;231;p23"/>
          <p:cNvSpPr txBox="1"/>
          <p:nvPr/>
        </p:nvSpPr>
        <p:spPr>
          <a:xfrm>
            <a:off x="0" y="3358125"/>
            <a:ext cx="53010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Long life cycle and Low maintenance costs gain importance</a:t>
            </a:r>
            <a:endParaRPr sz="1200">
              <a:solidFill>
                <a:srgbClr val="FFFFFF"/>
              </a:solidFill>
              <a:latin typeface="Open Sans ExtraBold"/>
              <a:ea typeface="Open Sans ExtraBold"/>
              <a:cs typeface="Open Sans ExtraBold"/>
              <a:sym typeface="Open Sans ExtraBold"/>
            </a:endParaRPr>
          </a:p>
        </p:txBody>
      </p:sp>
      <p:sp>
        <p:nvSpPr>
          <p:cNvPr id="232" name="Google Shape;232;p23"/>
          <p:cNvSpPr/>
          <p:nvPr/>
        </p:nvSpPr>
        <p:spPr>
          <a:xfrm>
            <a:off x="5036638" y="3358125"/>
            <a:ext cx="3804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233" name="Google Shape;233;p23"/>
          <p:cNvPicPr preferRelativeResize="0"/>
          <p:nvPr/>
        </p:nvPicPr>
        <p:blipFill rotWithShape="1">
          <a:blip r:embed="rId5">
            <a:alphaModFix/>
          </a:blip>
          <a:srcRect b="11281" l="20956" r="20375" t="10435"/>
          <a:stretch/>
        </p:blipFill>
        <p:spPr>
          <a:xfrm>
            <a:off x="5018473" y="3396400"/>
            <a:ext cx="344133" cy="275843"/>
          </a:xfrm>
          <a:prstGeom prst="rect">
            <a:avLst/>
          </a:prstGeom>
          <a:noFill/>
          <a:ln>
            <a:noFill/>
          </a:ln>
        </p:spPr>
      </p:pic>
      <p:sp>
        <p:nvSpPr>
          <p:cNvPr id="234" name="Google Shape;234;p23"/>
          <p:cNvSpPr txBox="1"/>
          <p:nvPr/>
        </p:nvSpPr>
        <p:spPr>
          <a:xfrm>
            <a:off x="0" y="3891525"/>
            <a:ext cx="53010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Early mover’s advantage, </a:t>
            </a:r>
            <a:endParaRPr sz="1200">
              <a:solidFill>
                <a:srgbClr val="FFFFFF"/>
              </a:solidFill>
              <a:latin typeface="Open Sans ExtraBold"/>
              <a:ea typeface="Open Sans ExtraBold"/>
              <a:cs typeface="Open Sans ExtraBold"/>
              <a:sym typeface="Open Sans ExtraBold"/>
            </a:endParaRPr>
          </a:p>
        </p:txBody>
      </p:sp>
      <p:sp>
        <p:nvSpPr>
          <p:cNvPr id="235" name="Google Shape;235;p23"/>
          <p:cNvSpPr/>
          <p:nvPr/>
        </p:nvSpPr>
        <p:spPr>
          <a:xfrm>
            <a:off x="5036638" y="3891525"/>
            <a:ext cx="3804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236" name="Google Shape;236;p23"/>
          <p:cNvPicPr preferRelativeResize="0"/>
          <p:nvPr/>
        </p:nvPicPr>
        <p:blipFill rotWithShape="1">
          <a:blip r:embed="rId5">
            <a:alphaModFix/>
          </a:blip>
          <a:srcRect b="11281" l="20956" r="20375" t="10435"/>
          <a:stretch/>
        </p:blipFill>
        <p:spPr>
          <a:xfrm>
            <a:off x="5018473" y="3929800"/>
            <a:ext cx="344133" cy="275843"/>
          </a:xfrm>
          <a:prstGeom prst="rect">
            <a:avLst/>
          </a:prstGeom>
          <a:noFill/>
          <a:ln>
            <a:noFill/>
          </a:ln>
        </p:spPr>
      </p:pic>
      <p:sp>
        <p:nvSpPr>
          <p:cNvPr id="237" name="Google Shape;237;p23"/>
          <p:cNvSpPr txBox="1"/>
          <p:nvPr/>
        </p:nvSpPr>
        <p:spPr>
          <a:xfrm>
            <a:off x="0" y="4424925"/>
            <a:ext cx="53010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Easier to offer customer support-language</a:t>
            </a:r>
            <a:endParaRPr sz="1200">
              <a:solidFill>
                <a:srgbClr val="FFFFFF"/>
              </a:solidFill>
              <a:latin typeface="Open Sans ExtraBold"/>
              <a:ea typeface="Open Sans ExtraBold"/>
              <a:cs typeface="Open Sans ExtraBold"/>
              <a:sym typeface="Open Sans ExtraBold"/>
            </a:endParaRPr>
          </a:p>
        </p:txBody>
      </p:sp>
      <p:sp>
        <p:nvSpPr>
          <p:cNvPr id="238" name="Google Shape;238;p23"/>
          <p:cNvSpPr/>
          <p:nvPr/>
        </p:nvSpPr>
        <p:spPr>
          <a:xfrm>
            <a:off x="5036638" y="4424925"/>
            <a:ext cx="3804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239" name="Google Shape;239;p23"/>
          <p:cNvPicPr preferRelativeResize="0"/>
          <p:nvPr/>
        </p:nvPicPr>
        <p:blipFill rotWithShape="1">
          <a:blip r:embed="rId5">
            <a:alphaModFix/>
          </a:blip>
          <a:srcRect b="11281" l="20956" r="20375" t="10435"/>
          <a:stretch/>
        </p:blipFill>
        <p:spPr>
          <a:xfrm>
            <a:off x="5018473" y="4463200"/>
            <a:ext cx="344133" cy="27584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243" name="Shape 243"/>
        <p:cNvGrpSpPr/>
        <p:nvPr/>
      </p:nvGrpSpPr>
      <p:grpSpPr>
        <a:xfrm>
          <a:off x="0" y="0"/>
          <a:ext cx="0" cy="0"/>
          <a:chOff x="0" y="0"/>
          <a:chExt cx="0" cy="0"/>
        </a:xfrm>
      </p:grpSpPr>
      <p:sp>
        <p:nvSpPr>
          <p:cNvPr id="244" name="Google Shape;244;p24"/>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lang="en" sz="2400">
                <a:solidFill>
                  <a:srgbClr val="F3F3F3"/>
                </a:solidFill>
                <a:latin typeface="Lato"/>
                <a:ea typeface="Lato"/>
                <a:cs typeface="Lato"/>
                <a:sym typeface="Lato"/>
              </a:rPr>
              <a:t>Selection of</a:t>
            </a:r>
            <a:r>
              <a:rPr b="1" i="0" lang="en" sz="2400" u="none" cap="none" strike="noStrike">
                <a:solidFill>
                  <a:srgbClr val="F3F3F3"/>
                </a:solidFill>
                <a:latin typeface="Lato"/>
                <a:ea typeface="Lato"/>
                <a:cs typeface="Lato"/>
                <a:sym typeface="Lato"/>
              </a:rPr>
              <a:t> </a:t>
            </a:r>
            <a:r>
              <a:rPr lang="en" sz="2400">
                <a:solidFill>
                  <a:srgbClr val="48BACA"/>
                </a:solidFill>
                <a:latin typeface="Lato Black"/>
                <a:ea typeface="Lato Black"/>
                <a:cs typeface="Lato Black"/>
                <a:sym typeface="Lato Black"/>
              </a:rPr>
              <a:t>Vehicle Segment</a:t>
            </a:r>
            <a:endParaRPr i="0" sz="2400" u="none" cap="none" strike="noStrike">
              <a:solidFill>
                <a:srgbClr val="48BACA"/>
              </a:solidFill>
              <a:latin typeface="Lato Black"/>
              <a:ea typeface="Lato Black"/>
              <a:cs typeface="Lato Black"/>
              <a:sym typeface="Lato Black"/>
            </a:endParaRPr>
          </a:p>
        </p:txBody>
      </p:sp>
      <p:pic>
        <p:nvPicPr>
          <p:cNvPr id="245" name="Google Shape;245;p24"/>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246" name="Google Shape;246;p24"/>
          <p:cNvPicPr preferRelativeResize="0"/>
          <p:nvPr/>
        </p:nvPicPr>
        <p:blipFill>
          <a:blip r:embed="rId4">
            <a:alphaModFix amt="26000"/>
          </a:blip>
          <a:stretch>
            <a:fillRect/>
          </a:stretch>
        </p:blipFill>
        <p:spPr>
          <a:xfrm rot="9900000">
            <a:off x="5128900" y="2442475"/>
            <a:ext cx="4289526" cy="2716700"/>
          </a:xfrm>
          <a:prstGeom prst="rect">
            <a:avLst/>
          </a:prstGeom>
          <a:noFill/>
          <a:ln>
            <a:noFill/>
          </a:ln>
        </p:spPr>
      </p:pic>
      <p:sp>
        <p:nvSpPr>
          <p:cNvPr id="247" name="Google Shape;247;p24"/>
          <p:cNvSpPr txBox="1"/>
          <p:nvPr/>
        </p:nvSpPr>
        <p:spPr>
          <a:xfrm>
            <a:off x="0" y="1300725"/>
            <a:ext cx="47046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Our Target : </a:t>
            </a:r>
            <a:r>
              <a:rPr b="1" lang="en" sz="1700">
                <a:solidFill>
                  <a:srgbClr val="FFFFFF"/>
                </a:solidFill>
                <a:latin typeface="Open Sans"/>
                <a:ea typeface="Open Sans"/>
                <a:cs typeface="Open Sans"/>
                <a:sym typeface="Open Sans"/>
              </a:rPr>
              <a:t>B</a:t>
            </a:r>
            <a:r>
              <a:rPr b="1" lang="en" sz="1200">
                <a:solidFill>
                  <a:srgbClr val="FFFFFF"/>
                </a:solidFill>
                <a:latin typeface="Open Sans"/>
                <a:ea typeface="Open Sans"/>
                <a:cs typeface="Open Sans"/>
                <a:sym typeface="Open Sans"/>
              </a:rPr>
              <a:t>2</a:t>
            </a:r>
            <a:r>
              <a:rPr b="1" lang="en" sz="1700">
                <a:solidFill>
                  <a:srgbClr val="FFFFFF"/>
                </a:solidFill>
                <a:latin typeface="Open Sans"/>
                <a:ea typeface="Open Sans"/>
                <a:cs typeface="Open Sans"/>
                <a:sym typeface="Open Sans"/>
              </a:rPr>
              <a:t>B</a:t>
            </a:r>
            <a:r>
              <a:rPr b="1" lang="en" sz="1200">
                <a:solidFill>
                  <a:srgbClr val="FFFFFF"/>
                </a:solidFill>
                <a:latin typeface="Open Sans"/>
                <a:ea typeface="Open Sans"/>
                <a:cs typeface="Open Sans"/>
                <a:sym typeface="Open Sans"/>
              </a:rPr>
              <a:t>s - Faster adoption, Greater Impact</a:t>
            </a:r>
            <a:endParaRPr sz="1200">
              <a:solidFill>
                <a:srgbClr val="FFFFFF"/>
              </a:solidFill>
              <a:latin typeface="Open Sans ExtraBold"/>
              <a:ea typeface="Open Sans ExtraBold"/>
              <a:cs typeface="Open Sans ExtraBold"/>
              <a:sym typeface="Open Sans ExtraBold"/>
            </a:endParaRPr>
          </a:p>
        </p:txBody>
      </p:sp>
      <p:sp>
        <p:nvSpPr>
          <p:cNvPr id="248" name="Google Shape;248;p24"/>
          <p:cNvSpPr/>
          <p:nvPr/>
        </p:nvSpPr>
        <p:spPr>
          <a:xfrm>
            <a:off x="4469853" y="1300725"/>
            <a:ext cx="3375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249" name="Google Shape;249;p24"/>
          <p:cNvPicPr preferRelativeResize="0"/>
          <p:nvPr/>
        </p:nvPicPr>
        <p:blipFill rotWithShape="1">
          <a:blip r:embed="rId5">
            <a:alphaModFix/>
          </a:blip>
          <a:srcRect b="11281" l="20956" r="20375" t="10435"/>
          <a:stretch/>
        </p:blipFill>
        <p:spPr>
          <a:xfrm>
            <a:off x="4453732" y="1339000"/>
            <a:ext cx="305406" cy="275843"/>
          </a:xfrm>
          <a:prstGeom prst="rect">
            <a:avLst/>
          </a:prstGeom>
          <a:noFill/>
          <a:ln>
            <a:noFill/>
          </a:ln>
        </p:spPr>
      </p:pic>
      <p:sp>
        <p:nvSpPr>
          <p:cNvPr id="250" name="Google Shape;250;p24"/>
          <p:cNvSpPr txBox="1"/>
          <p:nvPr/>
        </p:nvSpPr>
        <p:spPr>
          <a:xfrm>
            <a:off x="0" y="2519925"/>
            <a:ext cx="47046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Ideal segment for Efficiency gains</a:t>
            </a:r>
            <a:endParaRPr sz="1200">
              <a:solidFill>
                <a:srgbClr val="FFFFFF"/>
              </a:solidFill>
              <a:latin typeface="Open Sans ExtraBold"/>
              <a:ea typeface="Open Sans ExtraBold"/>
              <a:cs typeface="Open Sans ExtraBold"/>
              <a:sym typeface="Open Sans ExtraBold"/>
            </a:endParaRPr>
          </a:p>
        </p:txBody>
      </p:sp>
      <p:sp>
        <p:nvSpPr>
          <p:cNvPr id="251" name="Google Shape;251;p24"/>
          <p:cNvSpPr/>
          <p:nvPr/>
        </p:nvSpPr>
        <p:spPr>
          <a:xfrm>
            <a:off x="4469853" y="2519925"/>
            <a:ext cx="3375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252" name="Google Shape;252;p24"/>
          <p:cNvPicPr preferRelativeResize="0"/>
          <p:nvPr/>
        </p:nvPicPr>
        <p:blipFill rotWithShape="1">
          <a:blip r:embed="rId5">
            <a:alphaModFix/>
          </a:blip>
          <a:srcRect b="11281" l="20956" r="20375" t="10435"/>
          <a:stretch/>
        </p:blipFill>
        <p:spPr>
          <a:xfrm>
            <a:off x="4453732" y="2558200"/>
            <a:ext cx="305406" cy="275843"/>
          </a:xfrm>
          <a:prstGeom prst="rect">
            <a:avLst/>
          </a:prstGeom>
          <a:noFill/>
          <a:ln>
            <a:noFill/>
          </a:ln>
        </p:spPr>
      </p:pic>
      <p:sp>
        <p:nvSpPr>
          <p:cNvPr id="253" name="Google Shape;253;p24"/>
          <p:cNvSpPr txBox="1"/>
          <p:nvPr/>
        </p:nvSpPr>
        <p:spPr>
          <a:xfrm>
            <a:off x="0" y="3129525"/>
            <a:ext cx="47046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Promising Market segment growth ; </a:t>
            </a:r>
            <a:r>
              <a:rPr b="1" lang="en" sz="1200">
                <a:solidFill>
                  <a:schemeClr val="lt1"/>
                </a:solidFill>
                <a:latin typeface="Open Sans"/>
                <a:ea typeface="Open Sans"/>
                <a:cs typeface="Open Sans"/>
                <a:sym typeface="Open Sans"/>
              </a:rPr>
              <a:t>Nascent w.r.t. EVs</a:t>
            </a:r>
            <a:endParaRPr sz="1200">
              <a:solidFill>
                <a:srgbClr val="FFFFFF"/>
              </a:solidFill>
              <a:latin typeface="Open Sans ExtraBold"/>
              <a:ea typeface="Open Sans ExtraBold"/>
              <a:cs typeface="Open Sans ExtraBold"/>
              <a:sym typeface="Open Sans ExtraBold"/>
            </a:endParaRPr>
          </a:p>
        </p:txBody>
      </p:sp>
      <p:sp>
        <p:nvSpPr>
          <p:cNvPr id="254" name="Google Shape;254;p24"/>
          <p:cNvSpPr/>
          <p:nvPr/>
        </p:nvSpPr>
        <p:spPr>
          <a:xfrm>
            <a:off x="4469853" y="3129525"/>
            <a:ext cx="3375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255" name="Google Shape;255;p24"/>
          <p:cNvPicPr preferRelativeResize="0"/>
          <p:nvPr/>
        </p:nvPicPr>
        <p:blipFill rotWithShape="1">
          <a:blip r:embed="rId5">
            <a:alphaModFix/>
          </a:blip>
          <a:srcRect b="11281" l="20956" r="20375" t="10435"/>
          <a:stretch/>
        </p:blipFill>
        <p:spPr>
          <a:xfrm>
            <a:off x="4453732" y="3167800"/>
            <a:ext cx="305406" cy="275843"/>
          </a:xfrm>
          <a:prstGeom prst="rect">
            <a:avLst/>
          </a:prstGeom>
          <a:noFill/>
          <a:ln>
            <a:noFill/>
          </a:ln>
        </p:spPr>
      </p:pic>
      <p:sp>
        <p:nvSpPr>
          <p:cNvPr id="256" name="Google Shape;256;p24"/>
          <p:cNvSpPr txBox="1"/>
          <p:nvPr/>
        </p:nvSpPr>
        <p:spPr>
          <a:xfrm>
            <a:off x="0" y="3739125"/>
            <a:ext cx="47046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Modest Charging and Service infrastructure need</a:t>
            </a:r>
            <a:endParaRPr sz="1200">
              <a:solidFill>
                <a:srgbClr val="FFFFFF"/>
              </a:solidFill>
              <a:latin typeface="Open Sans ExtraBold"/>
              <a:ea typeface="Open Sans ExtraBold"/>
              <a:cs typeface="Open Sans ExtraBold"/>
              <a:sym typeface="Open Sans ExtraBold"/>
            </a:endParaRPr>
          </a:p>
        </p:txBody>
      </p:sp>
      <p:sp>
        <p:nvSpPr>
          <p:cNvPr id="257" name="Google Shape;257;p24"/>
          <p:cNvSpPr/>
          <p:nvPr/>
        </p:nvSpPr>
        <p:spPr>
          <a:xfrm>
            <a:off x="4469853" y="3739125"/>
            <a:ext cx="3375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258" name="Google Shape;258;p24"/>
          <p:cNvPicPr preferRelativeResize="0"/>
          <p:nvPr/>
        </p:nvPicPr>
        <p:blipFill rotWithShape="1">
          <a:blip r:embed="rId5">
            <a:alphaModFix/>
          </a:blip>
          <a:srcRect b="11281" l="20956" r="20375" t="10435"/>
          <a:stretch/>
        </p:blipFill>
        <p:spPr>
          <a:xfrm>
            <a:off x="4453732" y="3777400"/>
            <a:ext cx="305406" cy="275843"/>
          </a:xfrm>
          <a:prstGeom prst="rect">
            <a:avLst/>
          </a:prstGeom>
          <a:noFill/>
          <a:ln>
            <a:noFill/>
          </a:ln>
        </p:spPr>
      </p:pic>
      <p:sp>
        <p:nvSpPr>
          <p:cNvPr id="259" name="Google Shape;259;p24"/>
          <p:cNvSpPr txBox="1"/>
          <p:nvPr/>
        </p:nvSpPr>
        <p:spPr>
          <a:xfrm>
            <a:off x="0" y="1910325"/>
            <a:ext cx="47046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Economic Viability and durability</a:t>
            </a:r>
            <a:endParaRPr sz="1200">
              <a:solidFill>
                <a:srgbClr val="FFFFFF"/>
              </a:solidFill>
              <a:latin typeface="Open Sans ExtraBold"/>
              <a:ea typeface="Open Sans ExtraBold"/>
              <a:cs typeface="Open Sans ExtraBold"/>
              <a:sym typeface="Open Sans ExtraBold"/>
            </a:endParaRPr>
          </a:p>
        </p:txBody>
      </p:sp>
      <p:sp>
        <p:nvSpPr>
          <p:cNvPr id="260" name="Google Shape;260;p24"/>
          <p:cNvSpPr/>
          <p:nvPr/>
        </p:nvSpPr>
        <p:spPr>
          <a:xfrm>
            <a:off x="4469853" y="1910325"/>
            <a:ext cx="3375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261" name="Google Shape;261;p24"/>
          <p:cNvPicPr preferRelativeResize="0"/>
          <p:nvPr/>
        </p:nvPicPr>
        <p:blipFill rotWithShape="1">
          <a:blip r:embed="rId5">
            <a:alphaModFix/>
          </a:blip>
          <a:srcRect b="11281" l="20956" r="20375" t="10435"/>
          <a:stretch/>
        </p:blipFill>
        <p:spPr>
          <a:xfrm>
            <a:off x="4453732" y="1948600"/>
            <a:ext cx="305406" cy="275843"/>
          </a:xfrm>
          <a:prstGeom prst="rect">
            <a:avLst/>
          </a:prstGeom>
          <a:noFill/>
          <a:ln>
            <a:noFill/>
          </a:ln>
        </p:spPr>
      </p:pic>
      <p:pic>
        <p:nvPicPr>
          <p:cNvPr id="262" name="Google Shape;262;p24"/>
          <p:cNvPicPr preferRelativeResize="0"/>
          <p:nvPr/>
        </p:nvPicPr>
        <p:blipFill>
          <a:blip r:embed="rId6">
            <a:alphaModFix/>
          </a:blip>
          <a:stretch>
            <a:fillRect/>
          </a:stretch>
        </p:blipFill>
        <p:spPr>
          <a:xfrm>
            <a:off x="5110675" y="1681775"/>
            <a:ext cx="3918899" cy="2493450"/>
          </a:xfrm>
          <a:prstGeom prst="rect">
            <a:avLst/>
          </a:prstGeom>
          <a:noFill/>
          <a:ln cap="flat" cmpd="sng" w="9525">
            <a:solidFill>
              <a:srgbClr val="434343"/>
            </a:solidFill>
            <a:prstDash val="solid"/>
            <a:round/>
            <a:headEnd len="sm" w="sm" type="none"/>
            <a:tailEnd len="sm" w="sm" type="none"/>
          </a:ln>
        </p:spPr>
      </p:pic>
      <p:sp>
        <p:nvSpPr>
          <p:cNvPr id="263" name="Google Shape;263;p24"/>
          <p:cNvSpPr txBox="1"/>
          <p:nvPr/>
        </p:nvSpPr>
        <p:spPr>
          <a:xfrm>
            <a:off x="5559350" y="1388625"/>
            <a:ext cx="3718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latin typeface="Lato"/>
                <a:ea typeface="Lato"/>
                <a:cs typeface="Lato"/>
                <a:sym typeface="Lato"/>
              </a:rPr>
              <a:t>Segment-wise </a:t>
            </a:r>
            <a:r>
              <a:rPr lang="en" sz="1300">
                <a:latin typeface="Lato"/>
                <a:ea typeface="Lato"/>
                <a:cs typeface="Lato"/>
                <a:sym typeface="Lato"/>
              </a:rPr>
              <a:t>Sales figures of Tata Motors</a:t>
            </a:r>
            <a:endParaRPr sz="1300">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FEFEF"/>
        </a:solidFill>
      </p:bgPr>
    </p:bg>
    <p:spTree>
      <p:nvGrpSpPr>
        <p:cNvPr id="267" name="Shape 267"/>
        <p:cNvGrpSpPr/>
        <p:nvPr/>
      </p:nvGrpSpPr>
      <p:grpSpPr>
        <a:xfrm>
          <a:off x="0" y="0"/>
          <a:ext cx="0" cy="0"/>
          <a:chOff x="0" y="0"/>
          <a:chExt cx="0" cy="0"/>
        </a:xfrm>
      </p:grpSpPr>
      <p:sp>
        <p:nvSpPr>
          <p:cNvPr id="268" name="Google Shape;268;p25"/>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lang="en" sz="2400">
                <a:solidFill>
                  <a:srgbClr val="F3F3F3"/>
                </a:solidFill>
                <a:latin typeface="Lato"/>
                <a:ea typeface="Lato"/>
                <a:cs typeface="Lato"/>
                <a:sym typeface="Lato"/>
              </a:rPr>
              <a:t>Selection of</a:t>
            </a:r>
            <a:r>
              <a:rPr b="1" i="0" lang="en" sz="2400" u="none" cap="none" strike="noStrike">
                <a:solidFill>
                  <a:srgbClr val="F3F3F3"/>
                </a:solidFill>
                <a:latin typeface="Lato"/>
                <a:ea typeface="Lato"/>
                <a:cs typeface="Lato"/>
                <a:sym typeface="Lato"/>
              </a:rPr>
              <a:t> </a:t>
            </a:r>
            <a:r>
              <a:rPr lang="en" sz="2400">
                <a:solidFill>
                  <a:srgbClr val="48BACA"/>
                </a:solidFill>
                <a:latin typeface="Lato Black"/>
                <a:ea typeface="Lato Black"/>
                <a:cs typeface="Lato Black"/>
                <a:sym typeface="Lato Black"/>
              </a:rPr>
              <a:t>Vehicle Segment</a:t>
            </a:r>
            <a:endParaRPr i="0" sz="2400" u="none" cap="none" strike="noStrike">
              <a:solidFill>
                <a:srgbClr val="48BACA"/>
              </a:solidFill>
              <a:latin typeface="Lato Black"/>
              <a:ea typeface="Lato Black"/>
              <a:cs typeface="Lato Black"/>
              <a:sym typeface="Lato Black"/>
            </a:endParaRPr>
          </a:p>
        </p:txBody>
      </p:sp>
      <p:pic>
        <p:nvPicPr>
          <p:cNvPr id="269" name="Google Shape;269;p25"/>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270" name="Google Shape;270;p25"/>
          <p:cNvPicPr preferRelativeResize="0"/>
          <p:nvPr/>
        </p:nvPicPr>
        <p:blipFill>
          <a:blip r:embed="rId4">
            <a:alphaModFix amt="26000"/>
          </a:blip>
          <a:stretch>
            <a:fillRect/>
          </a:stretch>
        </p:blipFill>
        <p:spPr>
          <a:xfrm rot="9900000">
            <a:off x="5128900" y="2442475"/>
            <a:ext cx="4289526" cy="2716700"/>
          </a:xfrm>
          <a:prstGeom prst="rect">
            <a:avLst/>
          </a:prstGeom>
          <a:noFill/>
          <a:ln>
            <a:noFill/>
          </a:ln>
        </p:spPr>
      </p:pic>
      <p:sp>
        <p:nvSpPr>
          <p:cNvPr id="271" name="Google Shape;271;p25"/>
          <p:cNvSpPr txBox="1"/>
          <p:nvPr/>
        </p:nvSpPr>
        <p:spPr>
          <a:xfrm>
            <a:off x="0" y="1300725"/>
            <a:ext cx="47046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Our Target : </a:t>
            </a:r>
            <a:r>
              <a:rPr b="1" lang="en" sz="1700">
                <a:solidFill>
                  <a:srgbClr val="FFFFFF"/>
                </a:solidFill>
                <a:latin typeface="Open Sans"/>
                <a:ea typeface="Open Sans"/>
                <a:cs typeface="Open Sans"/>
                <a:sym typeface="Open Sans"/>
              </a:rPr>
              <a:t>B</a:t>
            </a:r>
            <a:r>
              <a:rPr b="1" lang="en" sz="1200">
                <a:solidFill>
                  <a:srgbClr val="FFFFFF"/>
                </a:solidFill>
                <a:latin typeface="Open Sans"/>
                <a:ea typeface="Open Sans"/>
                <a:cs typeface="Open Sans"/>
                <a:sym typeface="Open Sans"/>
              </a:rPr>
              <a:t>2</a:t>
            </a:r>
            <a:r>
              <a:rPr b="1" lang="en" sz="1700">
                <a:solidFill>
                  <a:srgbClr val="FFFFFF"/>
                </a:solidFill>
                <a:latin typeface="Open Sans"/>
                <a:ea typeface="Open Sans"/>
                <a:cs typeface="Open Sans"/>
                <a:sym typeface="Open Sans"/>
              </a:rPr>
              <a:t>B</a:t>
            </a:r>
            <a:r>
              <a:rPr b="1" lang="en" sz="1200">
                <a:solidFill>
                  <a:srgbClr val="FFFFFF"/>
                </a:solidFill>
                <a:latin typeface="Open Sans"/>
                <a:ea typeface="Open Sans"/>
                <a:cs typeface="Open Sans"/>
                <a:sym typeface="Open Sans"/>
              </a:rPr>
              <a:t>s - Faster adoption, Greater Impact</a:t>
            </a:r>
            <a:endParaRPr sz="1200">
              <a:solidFill>
                <a:srgbClr val="FFFFFF"/>
              </a:solidFill>
              <a:latin typeface="Open Sans ExtraBold"/>
              <a:ea typeface="Open Sans ExtraBold"/>
              <a:cs typeface="Open Sans ExtraBold"/>
              <a:sym typeface="Open Sans ExtraBold"/>
            </a:endParaRPr>
          </a:p>
        </p:txBody>
      </p:sp>
      <p:sp>
        <p:nvSpPr>
          <p:cNvPr id="272" name="Google Shape;272;p25"/>
          <p:cNvSpPr/>
          <p:nvPr/>
        </p:nvSpPr>
        <p:spPr>
          <a:xfrm>
            <a:off x="4469853" y="1300725"/>
            <a:ext cx="3375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273" name="Google Shape;273;p25"/>
          <p:cNvPicPr preferRelativeResize="0"/>
          <p:nvPr/>
        </p:nvPicPr>
        <p:blipFill rotWithShape="1">
          <a:blip r:embed="rId5">
            <a:alphaModFix/>
          </a:blip>
          <a:srcRect b="11281" l="20956" r="20375" t="10435"/>
          <a:stretch/>
        </p:blipFill>
        <p:spPr>
          <a:xfrm>
            <a:off x="4453732" y="1339000"/>
            <a:ext cx="305406" cy="275843"/>
          </a:xfrm>
          <a:prstGeom prst="rect">
            <a:avLst/>
          </a:prstGeom>
          <a:noFill/>
          <a:ln>
            <a:noFill/>
          </a:ln>
        </p:spPr>
      </p:pic>
      <p:sp>
        <p:nvSpPr>
          <p:cNvPr id="274" name="Google Shape;274;p25"/>
          <p:cNvSpPr txBox="1"/>
          <p:nvPr/>
        </p:nvSpPr>
        <p:spPr>
          <a:xfrm>
            <a:off x="0" y="2519925"/>
            <a:ext cx="47046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Ideal segment for Efficiency gains</a:t>
            </a:r>
            <a:endParaRPr sz="1200">
              <a:solidFill>
                <a:srgbClr val="FFFFFF"/>
              </a:solidFill>
              <a:latin typeface="Open Sans ExtraBold"/>
              <a:ea typeface="Open Sans ExtraBold"/>
              <a:cs typeface="Open Sans ExtraBold"/>
              <a:sym typeface="Open Sans ExtraBold"/>
            </a:endParaRPr>
          </a:p>
        </p:txBody>
      </p:sp>
      <p:sp>
        <p:nvSpPr>
          <p:cNvPr id="275" name="Google Shape;275;p25"/>
          <p:cNvSpPr/>
          <p:nvPr/>
        </p:nvSpPr>
        <p:spPr>
          <a:xfrm>
            <a:off x="4469853" y="2519925"/>
            <a:ext cx="3375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276" name="Google Shape;276;p25"/>
          <p:cNvPicPr preferRelativeResize="0"/>
          <p:nvPr/>
        </p:nvPicPr>
        <p:blipFill rotWithShape="1">
          <a:blip r:embed="rId5">
            <a:alphaModFix/>
          </a:blip>
          <a:srcRect b="11281" l="20956" r="20375" t="10435"/>
          <a:stretch/>
        </p:blipFill>
        <p:spPr>
          <a:xfrm>
            <a:off x="4453732" y="2558200"/>
            <a:ext cx="305406" cy="275843"/>
          </a:xfrm>
          <a:prstGeom prst="rect">
            <a:avLst/>
          </a:prstGeom>
          <a:noFill/>
          <a:ln>
            <a:noFill/>
          </a:ln>
        </p:spPr>
      </p:pic>
      <p:sp>
        <p:nvSpPr>
          <p:cNvPr id="277" name="Google Shape;277;p25"/>
          <p:cNvSpPr txBox="1"/>
          <p:nvPr/>
        </p:nvSpPr>
        <p:spPr>
          <a:xfrm>
            <a:off x="0" y="3129525"/>
            <a:ext cx="47046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Promising Market segment growth ; </a:t>
            </a:r>
            <a:r>
              <a:rPr b="1" lang="en" sz="1200">
                <a:solidFill>
                  <a:schemeClr val="lt1"/>
                </a:solidFill>
                <a:latin typeface="Open Sans"/>
                <a:ea typeface="Open Sans"/>
                <a:cs typeface="Open Sans"/>
                <a:sym typeface="Open Sans"/>
              </a:rPr>
              <a:t>Nascent w.r.t. EVs</a:t>
            </a:r>
            <a:endParaRPr sz="1200">
              <a:solidFill>
                <a:srgbClr val="FFFFFF"/>
              </a:solidFill>
              <a:latin typeface="Open Sans ExtraBold"/>
              <a:ea typeface="Open Sans ExtraBold"/>
              <a:cs typeface="Open Sans ExtraBold"/>
              <a:sym typeface="Open Sans ExtraBold"/>
            </a:endParaRPr>
          </a:p>
        </p:txBody>
      </p:sp>
      <p:sp>
        <p:nvSpPr>
          <p:cNvPr id="278" name="Google Shape;278;p25"/>
          <p:cNvSpPr/>
          <p:nvPr/>
        </p:nvSpPr>
        <p:spPr>
          <a:xfrm>
            <a:off x="4469853" y="3129525"/>
            <a:ext cx="3375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279" name="Google Shape;279;p25"/>
          <p:cNvPicPr preferRelativeResize="0"/>
          <p:nvPr/>
        </p:nvPicPr>
        <p:blipFill rotWithShape="1">
          <a:blip r:embed="rId5">
            <a:alphaModFix/>
          </a:blip>
          <a:srcRect b="11281" l="20956" r="20375" t="10435"/>
          <a:stretch/>
        </p:blipFill>
        <p:spPr>
          <a:xfrm>
            <a:off x="4453732" y="3167800"/>
            <a:ext cx="305406" cy="275843"/>
          </a:xfrm>
          <a:prstGeom prst="rect">
            <a:avLst/>
          </a:prstGeom>
          <a:noFill/>
          <a:ln>
            <a:noFill/>
          </a:ln>
        </p:spPr>
      </p:pic>
      <p:sp>
        <p:nvSpPr>
          <p:cNvPr id="280" name="Google Shape;280;p25"/>
          <p:cNvSpPr txBox="1"/>
          <p:nvPr/>
        </p:nvSpPr>
        <p:spPr>
          <a:xfrm>
            <a:off x="0" y="3739125"/>
            <a:ext cx="47046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Modest Charging and Service infrastructure need</a:t>
            </a:r>
            <a:endParaRPr sz="1200">
              <a:solidFill>
                <a:srgbClr val="FFFFFF"/>
              </a:solidFill>
              <a:latin typeface="Open Sans ExtraBold"/>
              <a:ea typeface="Open Sans ExtraBold"/>
              <a:cs typeface="Open Sans ExtraBold"/>
              <a:sym typeface="Open Sans ExtraBold"/>
            </a:endParaRPr>
          </a:p>
        </p:txBody>
      </p:sp>
      <p:sp>
        <p:nvSpPr>
          <p:cNvPr id="281" name="Google Shape;281;p25"/>
          <p:cNvSpPr/>
          <p:nvPr/>
        </p:nvSpPr>
        <p:spPr>
          <a:xfrm>
            <a:off x="4469853" y="3739125"/>
            <a:ext cx="3375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282" name="Google Shape;282;p25"/>
          <p:cNvPicPr preferRelativeResize="0"/>
          <p:nvPr/>
        </p:nvPicPr>
        <p:blipFill rotWithShape="1">
          <a:blip r:embed="rId5">
            <a:alphaModFix/>
          </a:blip>
          <a:srcRect b="11281" l="20956" r="20375" t="10435"/>
          <a:stretch/>
        </p:blipFill>
        <p:spPr>
          <a:xfrm>
            <a:off x="4453732" y="3777400"/>
            <a:ext cx="305406" cy="275843"/>
          </a:xfrm>
          <a:prstGeom prst="rect">
            <a:avLst/>
          </a:prstGeom>
          <a:noFill/>
          <a:ln>
            <a:noFill/>
          </a:ln>
        </p:spPr>
      </p:pic>
      <p:sp>
        <p:nvSpPr>
          <p:cNvPr id="283" name="Google Shape;283;p25"/>
          <p:cNvSpPr txBox="1"/>
          <p:nvPr/>
        </p:nvSpPr>
        <p:spPr>
          <a:xfrm>
            <a:off x="0" y="1910325"/>
            <a:ext cx="47046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Economic Viability and durability</a:t>
            </a:r>
            <a:endParaRPr sz="1200">
              <a:solidFill>
                <a:srgbClr val="FFFFFF"/>
              </a:solidFill>
              <a:latin typeface="Open Sans ExtraBold"/>
              <a:ea typeface="Open Sans ExtraBold"/>
              <a:cs typeface="Open Sans ExtraBold"/>
              <a:sym typeface="Open Sans ExtraBold"/>
            </a:endParaRPr>
          </a:p>
        </p:txBody>
      </p:sp>
      <p:sp>
        <p:nvSpPr>
          <p:cNvPr id="284" name="Google Shape;284;p25"/>
          <p:cNvSpPr/>
          <p:nvPr/>
        </p:nvSpPr>
        <p:spPr>
          <a:xfrm>
            <a:off x="4469853" y="1910325"/>
            <a:ext cx="3375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285" name="Google Shape;285;p25"/>
          <p:cNvPicPr preferRelativeResize="0"/>
          <p:nvPr/>
        </p:nvPicPr>
        <p:blipFill rotWithShape="1">
          <a:blip r:embed="rId5">
            <a:alphaModFix/>
          </a:blip>
          <a:srcRect b="11281" l="20956" r="20375" t="10435"/>
          <a:stretch/>
        </p:blipFill>
        <p:spPr>
          <a:xfrm>
            <a:off x="4453732" y="1948600"/>
            <a:ext cx="305406" cy="275843"/>
          </a:xfrm>
          <a:prstGeom prst="rect">
            <a:avLst/>
          </a:prstGeom>
          <a:noFill/>
          <a:ln>
            <a:noFill/>
          </a:ln>
        </p:spPr>
      </p:pic>
      <p:pic>
        <p:nvPicPr>
          <p:cNvPr id="286" name="Google Shape;286;p25"/>
          <p:cNvPicPr preferRelativeResize="0"/>
          <p:nvPr/>
        </p:nvPicPr>
        <p:blipFill>
          <a:blip r:embed="rId6">
            <a:alphaModFix/>
          </a:blip>
          <a:stretch>
            <a:fillRect/>
          </a:stretch>
        </p:blipFill>
        <p:spPr>
          <a:xfrm>
            <a:off x="5192062" y="1614844"/>
            <a:ext cx="3726324" cy="2364550"/>
          </a:xfrm>
          <a:prstGeom prst="rect">
            <a:avLst/>
          </a:prstGeom>
          <a:noFill/>
          <a:ln cap="flat" cmpd="sng" w="9525">
            <a:solidFill>
              <a:srgbClr val="434343"/>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290" name="Shape 290"/>
        <p:cNvGrpSpPr/>
        <p:nvPr/>
      </p:nvGrpSpPr>
      <p:grpSpPr>
        <a:xfrm>
          <a:off x="0" y="0"/>
          <a:ext cx="0" cy="0"/>
          <a:chOff x="0" y="0"/>
          <a:chExt cx="0" cy="0"/>
        </a:xfrm>
      </p:grpSpPr>
      <p:sp>
        <p:nvSpPr>
          <p:cNvPr id="291" name="Google Shape;291;p26"/>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lang="en" sz="2400">
                <a:solidFill>
                  <a:srgbClr val="F3F3F3"/>
                </a:solidFill>
                <a:latin typeface="Lato"/>
                <a:ea typeface="Lato"/>
                <a:cs typeface="Lato"/>
                <a:sym typeface="Lato"/>
              </a:rPr>
              <a:t>Selection of</a:t>
            </a:r>
            <a:r>
              <a:rPr b="1" i="0" lang="en" sz="2400" u="none" cap="none" strike="noStrike">
                <a:solidFill>
                  <a:srgbClr val="F3F3F3"/>
                </a:solidFill>
                <a:latin typeface="Lato"/>
                <a:ea typeface="Lato"/>
                <a:cs typeface="Lato"/>
                <a:sym typeface="Lato"/>
              </a:rPr>
              <a:t> </a:t>
            </a:r>
            <a:r>
              <a:rPr lang="en" sz="2400">
                <a:solidFill>
                  <a:srgbClr val="48BACA"/>
                </a:solidFill>
                <a:latin typeface="Lato Black"/>
                <a:ea typeface="Lato Black"/>
                <a:cs typeface="Lato Black"/>
                <a:sym typeface="Lato Black"/>
              </a:rPr>
              <a:t>Vehicle Segment</a:t>
            </a:r>
            <a:endParaRPr i="0" sz="2400" u="none" cap="none" strike="noStrike">
              <a:solidFill>
                <a:srgbClr val="48BACA"/>
              </a:solidFill>
              <a:latin typeface="Lato Black"/>
              <a:ea typeface="Lato Black"/>
              <a:cs typeface="Lato Black"/>
              <a:sym typeface="Lato Black"/>
            </a:endParaRPr>
          </a:p>
        </p:txBody>
      </p:sp>
      <p:pic>
        <p:nvPicPr>
          <p:cNvPr id="292" name="Google Shape;292;p26"/>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293" name="Google Shape;293;p26"/>
          <p:cNvPicPr preferRelativeResize="0"/>
          <p:nvPr/>
        </p:nvPicPr>
        <p:blipFill>
          <a:blip r:embed="rId4">
            <a:alphaModFix amt="26000"/>
          </a:blip>
          <a:stretch>
            <a:fillRect/>
          </a:stretch>
        </p:blipFill>
        <p:spPr>
          <a:xfrm rot="9900000">
            <a:off x="5128900" y="2442475"/>
            <a:ext cx="4289526" cy="2716700"/>
          </a:xfrm>
          <a:prstGeom prst="rect">
            <a:avLst/>
          </a:prstGeom>
          <a:noFill/>
          <a:ln>
            <a:noFill/>
          </a:ln>
        </p:spPr>
      </p:pic>
      <p:sp>
        <p:nvSpPr>
          <p:cNvPr id="294" name="Google Shape;294;p26"/>
          <p:cNvSpPr txBox="1"/>
          <p:nvPr/>
        </p:nvSpPr>
        <p:spPr>
          <a:xfrm>
            <a:off x="0" y="1300725"/>
            <a:ext cx="47046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Our Target : </a:t>
            </a:r>
            <a:r>
              <a:rPr b="1" lang="en" sz="1700">
                <a:solidFill>
                  <a:srgbClr val="FFFFFF"/>
                </a:solidFill>
                <a:latin typeface="Open Sans"/>
                <a:ea typeface="Open Sans"/>
                <a:cs typeface="Open Sans"/>
                <a:sym typeface="Open Sans"/>
              </a:rPr>
              <a:t>B</a:t>
            </a:r>
            <a:r>
              <a:rPr b="1" lang="en" sz="1200">
                <a:solidFill>
                  <a:srgbClr val="FFFFFF"/>
                </a:solidFill>
                <a:latin typeface="Open Sans"/>
                <a:ea typeface="Open Sans"/>
                <a:cs typeface="Open Sans"/>
                <a:sym typeface="Open Sans"/>
              </a:rPr>
              <a:t>2</a:t>
            </a:r>
            <a:r>
              <a:rPr b="1" lang="en" sz="1700">
                <a:solidFill>
                  <a:srgbClr val="FFFFFF"/>
                </a:solidFill>
                <a:latin typeface="Open Sans"/>
                <a:ea typeface="Open Sans"/>
                <a:cs typeface="Open Sans"/>
                <a:sym typeface="Open Sans"/>
              </a:rPr>
              <a:t>B</a:t>
            </a:r>
            <a:r>
              <a:rPr b="1" lang="en" sz="1200">
                <a:solidFill>
                  <a:srgbClr val="FFFFFF"/>
                </a:solidFill>
                <a:latin typeface="Open Sans"/>
                <a:ea typeface="Open Sans"/>
                <a:cs typeface="Open Sans"/>
                <a:sym typeface="Open Sans"/>
              </a:rPr>
              <a:t>s - Faster adoption, Greater Impact</a:t>
            </a:r>
            <a:endParaRPr sz="1200">
              <a:solidFill>
                <a:srgbClr val="FFFFFF"/>
              </a:solidFill>
              <a:latin typeface="Open Sans ExtraBold"/>
              <a:ea typeface="Open Sans ExtraBold"/>
              <a:cs typeface="Open Sans ExtraBold"/>
              <a:sym typeface="Open Sans ExtraBold"/>
            </a:endParaRPr>
          </a:p>
        </p:txBody>
      </p:sp>
      <p:sp>
        <p:nvSpPr>
          <p:cNvPr id="295" name="Google Shape;295;p26"/>
          <p:cNvSpPr/>
          <p:nvPr/>
        </p:nvSpPr>
        <p:spPr>
          <a:xfrm>
            <a:off x="4469853" y="1300725"/>
            <a:ext cx="3375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296" name="Google Shape;296;p26"/>
          <p:cNvPicPr preferRelativeResize="0"/>
          <p:nvPr/>
        </p:nvPicPr>
        <p:blipFill rotWithShape="1">
          <a:blip r:embed="rId5">
            <a:alphaModFix/>
          </a:blip>
          <a:srcRect b="11281" l="20956" r="20375" t="10435"/>
          <a:stretch/>
        </p:blipFill>
        <p:spPr>
          <a:xfrm>
            <a:off x="4453732" y="1339000"/>
            <a:ext cx="305406" cy="275843"/>
          </a:xfrm>
          <a:prstGeom prst="rect">
            <a:avLst/>
          </a:prstGeom>
          <a:noFill/>
          <a:ln>
            <a:noFill/>
          </a:ln>
        </p:spPr>
      </p:pic>
      <p:sp>
        <p:nvSpPr>
          <p:cNvPr id="297" name="Google Shape;297;p26"/>
          <p:cNvSpPr txBox="1"/>
          <p:nvPr/>
        </p:nvSpPr>
        <p:spPr>
          <a:xfrm>
            <a:off x="0" y="2519925"/>
            <a:ext cx="47046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Ideal segment for Efficiency gains</a:t>
            </a:r>
            <a:endParaRPr sz="1200">
              <a:solidFill>
                <a:srgbClr val="FFFFFF"/>
              </a:solidFill>
              <a:latin typeface="Open Sans ExtraBold"/>
              <a:ea typeface="Open Sans ExtraBold"/>
              <a:cs typeface="Open Sans ExtraBold"/>
              <a:sym typeface="Open Sans ExtraBold"/>
            </a:endParaRPr>
          </a:p>
        </p:txBody>
      </p:sp>
      <p:sp>
        <p:nvSpPr>
          <p:cNvPr id="298" name="Google Shape;298;p26"/>
          <p:cNvSpPr/>
          <p:nvPr/>
        </p:nvSpPr>
        <p:spPr>
          <a:xfrm>
            <a:off x="4469853" y="2519925"/>
            <a:ext cx="3375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299" name="Google Shape;299;p26"/>
          <p:cNvPicPr preferRelativeResize="0"/>
          <p:nvPr/>
        </p:nvPicPr>
        <p:blipFill rotWithShape="1">
          <a:blip r:embed="rId5">
            <a:alphaModFix/>
          </a:blip>
          <a:srcRect b="11281" l="20956" r="20375" t="10435"/>
          <a:stretch/>
        </p:blipFill>
        <p:spPr>
          <a:xfrm>
            <a:off x="4453732" y="2558200"/>
            <a:ext cx="305406" cy="275843"/>
          </a:xfrm>
          <a:prstGeom prst="rect">
            <a:avLst/>
          </a:prstGeom>
          <a:noFill/>
          <a:ln>
            <a:noFill/>
          </a:ln>
        </p:spPr>
      </p:pic>
      <p:sp>
        <p:nvSpPr>
          <p:cNvPr id="300" name="Google Shape;300;p26"/>
          <p:cNvSpPr txBox="1"/>
          <p:nvPr/>
        </p:nvSpPr>
        <p:spPr>
          <a:xfrm>
            <a:off x="0" y="3129525"/>
            <a:ext cx="47046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Promising Market segment growth ; </a:t>
            </a:r>
            <a:r>
              <a:rPr b="1" lang="en" sz="1200">
                <a:solidFill>
                  <a:schemeClr val="lt1"/>
                </a:solidFill>
                <a:latin typeface="Open Sans"/>
                <a:ea typeface="Open Sans"/>
                <a:cs typeface="Open Sans"/>
                <a:sym typeface="Open Sans"/>
              </a:rPr>
              <a:t>Nascent w.r.t. EVs</a:t>
            </a:r>
            <a:endParaRPr sz="1200">
              <a:solidFill>
                <a:srgbClr val="FFFFFF"/>
              </a:solidFill>
              <a:latin typeface="Open Sans ExtraBold"/>
              <a:ea typeface="Open Sans ExtraBold"/>
              <a:cs typeface="Open Sans ExtraBold"/>
              <a:sym typeface="Open Sans ExtraBold"/>
            </a:endParaRPr>
          </a:p>
        </p:txBody>
      </p:sp>
      <p:sp>
        <p:nvSpPr>
          <p:cNvPr id="301" name="Google Shape;301;p26"/>
          <p:cNvSpPr/>
          <p:nvPr/>
        </p:nvSpPr>
        <p:spPr>
          <a:xfrm>
            <a:off x="4469853" y="3129525"/>
            <a:ext cx="3375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302" name="Google Shape;302;p26"/>
          <p:cNvPicPr preferRelativeResize="0"/>
          <p:nvPr/>
        </p:nvPicPr>
        <p:blipFill rotWithShape="1">
          <a:blip r:embed="rId5">
            <a:alphaModFix/>
          </a:blip>
          <a:srcRect b="11281" l="20956" r="20375" t="10435"/>
          <a:stretch/>
        </p:blipFill>
        <p:spPr>
          <a:xfrm>
            <a:off x="4453732" y="3167800"/>
            <a:ext cx="305406" cy="275843"/>
          </a:xfrm>
          <a:prstGeom prst="rect">
            <a:avLst/>
          </a:prstGeom>
          <a:noFill/>
          <a:ln>
            <a:noFill/>
          </a:ln>
        </p:spPr>
      </p:pic>
      <p:sp>
        <p:nvSpPr>
          <p:cNvPr id="303" name="Google Shape;303;p26"/>
          <p:cNvSpPr txBox="1"/>
          <p:nvPr/>
        </p:nvSpPr>
        <p:spPr>
          <a:xfrm>
            <a:off x="0" y="3739125"/>
            <a:ext cx="47046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Modest Charging and Service infrastructure need</a:t>
            </a:r>
            <a:endParaRPr sz="1200">
              <a:solidFill>
                <a:srgbClr val="FFFFFF"/>
              </a:solidFill>
              <a:latin typeface="Open Sans ExtraBold"/>
              <a:ea typeface="Open Sans ExtraBold"/>
              <a:cs typeface="Open Sans ExtraBold"/>
              <a:sym typeface="Open Sans ExtraBold"/>
            </a:endParaRPr>
          </a:p>
        </p:txBody>
      </p:sp>
      <p:sp>
        <p:nvSpPr>
          <p:cNvPr id="304" name="Google Shape;304;p26"/>
          <p:cNvSpPr/>
          <p:nvPr/>
        </p:nvSpPr>
        <p:spPr>
          <a:xfrm>
            <a:off x="4469853" y="3739125"/>
            <a:ext cx="3375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305" name="Google Shape;305;p26"/>
          <p:cNvPicPr preferRelativeResize="0"/>
          <p:nvPr/>
        </p:nvPicPr>
        <p:blipFill rotWithShape="1">
          <a:blip r:embed="rId5">
            <a:alphaModFix/>
          </a:blip>
          <a:srcRect b="11281" l="20956" r="20375" t="10435"/>
          <a:stretch/>
        </p:blipFill>
        <p:spPr>
          <a:xfrm>
            <a:off x="4453732" y="3777400"/>
            <a:ext cx="305406" cy="275843"/>
          </a:xfrm>
          <a:prstGeom prst="rect">
            <a:avLst/>
          </a:prstGeom>
          <a:noFill/>
          <a:ln>
            <a:noFill/>
          </a:ln>
        </p:spPr>
      </p:pic>
      <p:sp>
        <p:nvSpPr>
          <p:cNvPr id="306" name="Google Shape;306;p26"/>
          <p:cNvSpPr txBox="1"/>
          <p:nvPr/>
        </p:nvSpPr>
        <p:spPr>
          <a:xfrm>
            <a:off x="0" y="1910325"/>
            <a:ext cx="47046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Economic Viability and durability</a:t>
            </a:r>
            <a:endParaRPr sz="1200">
              <a:solidFill>
                <a:srgbClr val="FFFFFF"/>
              </a:solidFill>
              <a:latin typeface="Open Sans ExtraBold"/>
              <a:ea typeface="Open Sans ExtraBold"/>
              <a:cs typeface="Open Sans ExtraBold"/>
              <a:sym typeface="Open Sans ExtraBold"/>
            </a:endParaRPr>
          </a:p>
        </p:txBody>
      </p:sp>
      <p:sp>
        <p:nvSpPr>
          <p:cNvPr id="307" name="Google Shape;307;p26"/>
          <p:cNvSpPr/>
          <p:nvPr/>
        </p:nvSpPr>
        <p:spPr>
          <a:xfrm>
            <a:off x="4469853" y="1910325"/>
            <a:ext cx="3375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308" name="Google Shape;308;p26"/>
          <p:cNvPicPr preferRelativeResize="0"/>
          <p:nvPr/>
        </p:nvPicPr>
        <p:blipFill rotWithShape="1">
          <a:blip r:embed="rId5">
            <a:alphaModFix/>
          </a:blip>
          <a:srcRect b="11281" l="20956" r="20375" t="10435"/>
          <a:stretch/>
        </p:blipFill>
        <p:spPr>
          <a:xfrm>
            <a:off x="4453732" y="1948600"/>
            <a:ext cx="305406" cy="275843"/>
          </a:xfrm>
          <a:prstGeom prst="rect">
            <a:avLst/>
          </a:prstGeom>
          <a:noFill/>
          <a:ln>
            <a:noFill/>
          </a:ln>
        </p:spPr>
      </p:pic>
      <p:pic>
        <p:nvPicPr>
          <p:cNvPr id="309" name="Google Shape;309;p26"/>
          <p:cNvPicPr preferRelativeResize="0"/>
          <p:nvPr/>
        </p:nvPicPr>
        <p:blipFill>
          <a:blip r:embed="rId6">
            <a:alphaModFix/>
          </a:blip>
          <a:stretch>
            <a:fillRect/>
          </a:stretch>
        </p:blipFill>
        <p:spPr>
          <a:xfrm>
            <a:off x="5372706" y="1507300"/>
            <a:ext cx="3357019" cy="2377650"/>
          </a:xfrm>
          <a:prstGeom prst="rect">
            <a:avLst/>
          </a:prstGeom>
          <a:noFill/>
          <a:ln cap="flat" cmpd="sng" w="9525">
            <a:solidFill>
              <a:srgbClr val="434343"/>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313" name="Shape 313"/>
        <p:cNvGrpSpPr/>
        <p:nvPr/>
      </p:nvGrpSpPr>
      <p:grpSpPr>
        <a:xfrm>
          <a:off x="0" y="0"/>
          <a:ext cx="0" cy="0"/>
          <a:chOff x="0" y="0"/>
          <a:chExt cx="0" cy="0"/>
        </a:xfrm>
      </p:grpSpPr>
      <p:sp>
        <p:nvSpPr>
          <p:cNvPr id="314" name="Google Shape;314;p27"/>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lang="en" sz="2400">
                <a:solidFill>
                  <a:srgbClr val="F3F3F3"/>
                </a:solidFill>
                <a:latin typeface="Lato"/>
                <a:ea typeface="Lato"/>
                <a:cs typeface="Lato"/>
                <a:sym typeface="Lato"/>
              </a:rPr>
              <a:t>Selection of</a:t>
            </a:r>
            <a:r>
              <a:rPr b="1" i="0" lang="en" sz="2400" u="none" cap="none" strike="noStrike">
                <a:solidFill>
                  <a:srgbClr val="F3F3F3"/>
                </a:solidFill>
                <a:latin typeface="Lato"/>
                <a:ea typeface="Lato"/>
                <a:cs typeface="Lato"/>
                <a:sym typeface="Lato"/>
              </a:rPr>
              <a:t> </a:t>
            </a:r>
            <a:r>
              <a:rPr lang="en" sz="2400">
                <a:solidFill>
                  <a:srgbClr val="48BACA"/>
                </a:solidFill>
                <a:latin typeface="Lato Black"/>
                <a:ea typeface="Lato Black"/>
                <a:cs typeface="Lato Black"/>
                <a:sym typeface="Lato Black"/>
              </a:rPr>
              <a:t>Vehicle Segment</a:t>
            </a:r>
            <a:endParaRPr i="0" sz="2400" u="none" cap="none" strike="noStrike">
              <a:solidFill>
                <a:srgbClr val="48BACA"/>
              </a:solidFill>
              <a:latin typeface="Lato Black"/>
              <a:ea typeface="Lato Black"/>
              <a:cs typeface="Lato Black"/>
              <a:sym typeface="Lato Black"/>
            </a:endParaRPr>
          </a:p>
        </p:txBody>
      </p:sp>
      <p:pic>
        <p:nvPicPr>
          <p:cNvPr id="315" name="Google Shape;315;p27"/>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316" name="Google Shape;316;p27"/>
          <p:cNvPicPr preferRelativeResize="0"/>
          <p:nvPr/>
        </p:nvPicPr>
        <p:blipFill>
          <a:blip r:embed="rId4">
            <a:alphaModFix amt="26000"/>
          </a:blip>
          <a:stretch>
            <a:fillRect/>
          </a:stretch>
        </p:blipFill>
        <p:spPr>
          <a:xfrm rot="9900000">
            <a:off x="5128900" y="2442475"/>
            <a:ext cx="4289526" cy="2716700"/>
          </a:xfrm>
          <a:prstGeom prst="rect">
            <a:avLst/>
          </a:prstGeom>
          <a:noFill/>
          <a:ln>
            <a:noFill/>
          </a:ln>
        </p:spPr>
      </p:pic>
      <p:sp>
        <p:nvSpPr>
          <p:cNvPr id="317" name="Google Shape;317;p27"/>
          <p:cNvSpPr txBox="1"/>
          <p:nvPr/>
        </p:nvSpPr>
        <p:spPr>
          <a:xfrm>
            <a:off x="0" y="1300725"/>
            <a:ext cx="47046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Our Target : </a:t>
            </a:r>
            <a:r>
              <a:rPr b="1" lang="en" sz="1700">
                <a:solidFill>
                  <a:srgbClr val="FFFFFF"/>
                </a:solidFill>
                <a:latin typeface="Open Sans"/>
                <a:ea typeface="Open Sans"/>
                <a:cs typeface="Open Sans"/>
                <a:sym typeface="Open Sans"/>
              </a:rPr>
              <a:t>B</a:t>
            </a:r>
            <a:r>
              <a:rPr b="1" lang="en" sz="1200">
                <a:solidFill>
                  <a:srgbClr val="FFFFFF"/>
                </a:solidFill>
                <a:latin typeface="Open Sans"/>
                <a:ea typeface="Open Sans"/>
                <a:cs typeface="Open Sans"/>
                <a:sym typeface="Open Sans"/>
              </a:rPr>
              <a:t>2</a:t>
            </a:r>
            <a:r>
              <a:rPr b="1" lang="en" sz="1700">
                <a:solidFill>
                  <a:srgbClr val="FFFFFF"/>
                </a:solidFill>
                <a:latin typeface="Open Sans"/>
                <a:ea typeface="Open Sans"/>
                <a:cs typeface="Open Sans"/>
                <a:sym typeface="Open Sans"/>
              </a:rPr>
              <a:t>B</a:t>
            </a:r>
            <a:r>
              <a:rPr b="1" lang="en" sz="1200">
                <a:solidFill>
                  <a:srgbClr val="FFFFFF"/>
                </a:solidFill>
                <a:latin typeface="Open Sans"/>
                <a:ea typeface="Open Sans"/>
                <a:cs typeface="Open Sans"/>
                <a:sym typeface="Open Sans"/>
              </a:rPr>
              <a:t>s - Faster adoption, Greater Impact</a:t>
            </a:r>
            <a:endParaRPr sz="1200">
              <a:solidFill>
                <a:srgbClr val="FFFFFF"/>
              </a:solidFill>
              <a:latin typeface="Open Sans ExtraBold"/>
              <a:ea typeface="Open Sans ExtraBold"/>
              <a:cs typeface="Open Sans ExtraBold"/>
              <a:sym typeface="Open Sans ExtraBold"/>
            </a:endParaRPr>
          </a:p>
        </p:txBody>
      </p:sp>
      <p:sp>
        <p:nvSpPr>
          <p:cNvPr id="318" name="Google Shape;318;p27"/>
          <p:cNvSpPr/>
          <p:nvPr/>
        </p:nvSpPr>
        <p:spPr>
          <a:xfrm>
            <a:off x="4469853" y="1300725"/>
            <a:ext cx="3375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319" name="Google Shape;319;p27"/>
          <p:cNvPicPr preferRelativeResize="0"/>
          <p:nvPr/>
        </p:nvPicPr>
        <p:blipFill rotWithShape="1">
          <a:blip r:embed="rId5">
            <a:alphaModFix/>
          </a:blip>
          <a:srcRect b="11281" l="20956" r="20375" t="10435"/>
          <a:stretch/>
        </p:blipFill>
        <p:spPr>
          <a:xfrm>
            <a:off x="4453732" y="1339000"/>
            <a:ext cx="305406" cy="275843"/>
          </a:xfrm>
          <a:prstGeom prst="rect">
            <a:avLst/>
          </a:prstGeom>
          <a:noFill/>
          <a:ln>
            <a:noFill/>
          </a:ln>
        </p:spPr>
      </p:pic>
      <p:sp>
        <p:nvSpPr>
          <p:cNvPr id="320" name="Google Shape;320;p27"/>
          <p:cNvSpPr txBox="1"/>
          <p:nvPr/>
        </p:nvSpPr>
        <p:spPr>
          <a:xfrm>
            <a:off x="0" y="2519925"/>
            <a:ext cx="47046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Ideal segment for Efficiency gains</a:t>
            </a:r>
            <a:endParaRPr sz="1200">
              <a:solidFill>
                <a:srgbClr val="FFFFFF"/>
              </a:solidFill>
              <a:latin typeface="Open Sans ExtraBold"/>
              <a:ea typeface="Open Sans ExtraBold"/>
              <a:cs typeface="Open Sans ExtraBold"/>
              <a:sym typeface="Open Sans ExtraBold"/>
            </a:endParaRPr>
          </a:p>
        </p:txBody>
      </p:sp>
      <p:sp>
        <p:nvSpPr>
          <p:cNvPr id="321" name="Google Shape;321;p27"/>
          <p:cNvSpPr/>
          <p:nvPr/>
        </p:nvSpPr>
        <p:spPr>
          <a:xfrm>
            <a:off x="4469853" y="2519925"/>
            <a:ext cx="3375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322" name="Google Shape;322;p27"/>
          <p:cNvPicPr preferRelativeResize="0"/>
          <p:nvPr/>
        </p:nvPicPr>
        <p:blipFill rotWithShape="1">
          <a:blip r:embed="rId5">
            <a:alphaModFix/>
          </a:blip>
          <a:srcRect b="11281" l="20956" r="20375" t="10435"/>
          <a:stretch/>
        </p:blipFill>
        <p:spPr>
          <a:xfrm>
            <a:off x="4453732" y="2558200"/>
            <a:ext cx="305406" cy="275843"/>
          </a:xfrm>
          <a:prstGeom prst="rect">
            <a:avLst/>
          </a:prstGeom>
          <a:noFill/>
          <a:ln>
            <a:noFill/>
          </a:ln>
        </p:spPr>
      </p:pic>
      <p:sp>
        <p:nvSpPr>
          <p:cNvPr id="323" name="Google Shape;323;p27"/>
          <p:cNvSpPr txBox="1"/>
          <p:nvPr/>
        </p:nvSpPr>
        <p:spPr>
          <a:xfrm>
            <a:off x="0" y="3129525"/>
            <a:ext cx="47046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Promising Market segment growth ; </a:t>
            </a:r>
            <a:r>
              <a:rPr b="1" lang="en" sz="1200">
                <a:solidFill>
                  <a:schemeClr val="lt1"/>
                </a:solidFill>
                <a:latin typeface="Open Sans"/>
                <a:ea typeface="Open Sans"/>
                <a:cs typeface="Open Sans"/>
                <a:sym typeface="Open Sans"/>
              </a:rPr>
              <a:t>Nascent w.r.t. EVs</a:t>
            </a:r>
            <a:endParaRPr sz="1200">
              <a:solidFill>
                <a:srgbClr val="FFFFFF"/>
              </a:solidFill>
              <a:latin typeface="Open Sans ExtraBold"/>
              <a:ea typeface="Open Sans ExtraBold"/>
              <a:cs typeface="Open Sans ExtraBold"/>
              <a:sym typeface="Open Sans ExtraBold"/>
            </a:endParaRPr>
          </a:p>
        </p:txBody>
      </p:sp>
      <p:sp>
        <p:nvSpPr>
          <p:cNvPr id="324" name="Google Shape;324;p27"/>
          <p:cNvSpPr/>
          <p:nvPr/>
        </p:nvSpPr>
        <p:spPr>
          <a:xfrm>
            <a:off x="4469853" y="3129525"/>
            <a:ext cx="3375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325" name="Google Shape;325;p27"/>
          <p:cNvPicPr preferRelativeResize="0"/>
          <p:nvPr/>
        </p:nvPicPr>
        <p:blipFill rotWithShape="1">
          <a:blip r:embed="rId5">
            <a:alphaModFix/>
          </a:blip>
          <a:srcRect b="11281" l="20956" r="20375" t="10435"/>
          <a:stretch/>
        </p:blipFill>
        <p:spPr>
          <a:xfrm>
            <a:off x="4453732" y="3167800"/>
            <a:ext cx="305406" cy="275843"/>
          </a:xfrm>
          <a:prstGeom prst="rect">
            <a:avLst/>
          </a:prstGeom>
          <a:noFill/>
          <a:ln>
            <a:noFill/>
          </a:ln>
        </p:spPr>
      </p:pic>
      <p:sp>
        <p:nvSpPr>
          <p:cNvPr id="326" name="Google Shape;326;p27"/>
          <p:cNvSpPr txBox="1"/>
          <p:nvPr/>
        </p:nvSpPr>
        <p:spPr>
          <a:xfrm>
            <a:off x="0" y="3739125"/>
            <a:ext cx="47046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Modest Charging and Service infrastructure need</a:t>
            </a:r>
            <a:endParaRPr sz="1200">
              <a:solidFill>
                <a:srgbClr val="FFFFFF"/>
              </a:solidFill>
              <a:latin typeface="Open Sans ExtraBold"/>
              <a:ea typeface="Open Sans ExtraBold"/>
              <a:cs typeface="Open Sans ExtraBold"/>
              <a:sym typeface="Open Sans ExtraBold"/>
            </a:endParaRPr>
          </a:p>
        </p:txBody>
      </p:sp>
      <p:sp>
        <p:nvSpPr>
          <p:cNvPr id="327" name="Google Shape;327;p27"/>
          <p:cNvSpPr/>
          <p:nvPr/>
        </p:nvSpPr>
        <p:spPr>
          <a:xfrm>
            <a:off x="4469853" y="3739125"/>
            <a:ext cx="3375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328" name="Google Shape;328;p27"/>
          <p:cNvPicPr preferRelativeResize="0"/>
          <p:nvPr/>
        </p:nvPicPr>
        <p:blipFill rotWithShape="1">
          <a:blip r:embed="rId5">
            <a:alphaModFix/>
          </a:blip>
          <a:srcRect b="11281" l="20956" r="20375" t="10435"/>
          <a:stretch/>
        </p:blipFill>
        <p:spPr>
          <a:xfrm>
            <a:off x="4453732" y="3777400"/>
            <a:ext cx="305406" cy="275843"/>
          </a:xfrm>
          <a:prstGeom prst="rect">
            <a:avLst/>
          </a:prstGeom>
          <a:noFill/>
          <a:ln>
            <a:noFill/>
          </a:ln>
        </p:spPr>
      </p:pic>
      <p:sp>
        <p:nvSpPr>
          <p:cNvPr id="329" name="Google Shape;329;p27"/>
          <p:cNvSpPr txBox="1"/>
          <p:nvPr/>
        </p:nvSpPr>
        <p:spPr>
          <a:xfrm>
            <a:off x="0" y="1910325"/>
            <a:ext cx="47046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Economic Viability and durability</a:t>
            </a:r>
            <a:endParaRPr sz="1200">
              <a:solidFill>
                <a:srgbClr val="FFFFFF"/>
              </a:solidFill>
              <a:latin typeface="Open Sans ExtraBold"/>
              <a:ea typeface="Open Sans ExtraBold"/>
              <a:cs typeface="Open Sans ExtraBold"/>
              <a:sym typeface="Open Sans ExtraBold"/>
            </a:endParaRPr>
          </a:p>
        </p:txBody>
      </p:sp>
      <p:sp>
        <p:nvSpPr>
          <p:cNvPr id="330" name="Google Shape;330;p27"/>
          <p:cNvSpPr/>
          <p:nvPr/>
        </p:nvSpPr>
        <p:spPr>
          <a:xfrm>
            <a:off x="4469853" y="1910325"/>
            <a:ext cx="3375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331" name="Google Shape;331;p27"/>
          <p:cNvPicPr preferRelativeResize="0"/>
          <p:nvPr/>
        </p:nvPicPr>
        <p:blipFill rotWithShape="1">
          <a:blip r:embed="rId5">
            <a:alphaModFix/>
          </a:blip>
          <a:srcRect b="11281" l="20956" r="20375" t="10435"/>
          <a:stretch/>
        </p:blipFill>
        <p:spPr>
          <a:xfrm>
            <a:off x="4453732" y="1948600"/>
            <a:ext cx="305406" cy="275843"/>
          </a:xfrm>
          <a:prstGeom prst="rect">
            <a:avLst/>
          </a:prstGeom>
          <a:noFill/>
          <a:ln>
            <a:noFill/>
          </a:ln>
        </p:spPr>
      </p:pic>
      <p:pic>
        <p:nvPicPr>
          <p:cNvPr id="332" name="Google Shape;332;p27"/>
          <p:cNvPicPr preferRelativeResize="0"/>
          <p:nvPr/>
        </p:nvPicPr>
        <p:blipFill>
          <a:blip r:embed="rId6">
            <a:alphaModFix/>
          </a:blip>
          <a:stretch>
            <a:fillRect/>
          </a:stretch>
        </p:blipFill>
        <p:spPr>
          <a:xfrm>
            <a:off x="5056375" y="2424225"/>
            <a:ext cx="3962209" cy="2305500"/>
          </a:xfrm>
          <a:prstGeom prst="rect">
            <a:avLst/>
          </a:prstGeom>
          <a:noFill/>
          <a:ln cap="flat" cmpd="sng" w="9525">
            <a:solidFill>
              <a:srgbClr val="434343"/>
            </a:solidFill>
            <a:prstDash val="solid"/>
            <a:round/>
            <a:headEnd len="sm" w="sm" type="none"/>
            <a:tailEnd len="sm" w="sm" type="none"/>
          </a:ln>
        </p:spPr>
      </p:pic>
      <p:sp>
        <p:nvSpPr>
          <p:cNvPr id="333" name="Google Shape;333;p27"/>
          <p:cNvSpPr txBox="1"/>
          <p:nvPr/>
        </p:nvSpPr>
        <p:spPr>
          <a:xfrm>
            <a:off x="4980150" y="1202575"/>
            <a:ext cx="4164000" cy="1108200"/>
          </a:xfrm>
          <a:prstGeom prst="rect">
            <a:avLst/>
          </a:prstGeom>
          <a:solidFill>
            <a:srgbClr val="95B0B5"/>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Lato"/>
                <a:ea typeface="Lato"/>
                <a:cs typeface="Lato"/>
                <a:sym typeface="Lato"/>
              </a:rPr>
              <a:t>“EVs convert over 77% of the electrical energy from the grid to power at the wheels. Conventional gasoline vehicles only convert about 12% – 30% of the energy stored in gasoline to power at the wheels,”</a:t>
            </a:r>
            <a:endParaRPr sz="1200">
              <a:latin typeface="Lato"/>
              <a:ea typeface="Lato"/>
              <a:cs typeface="Lato"/>
              <a:sym typeface="Lato"/>
            </a:endParaRPr>
          </a:p>
          <a:p>
            <a:pPr indent="457200" lvl="0" marL="1828800" rtl="0" algn="l">
              <a:spcBef>
                <a:spcPts val="0"/>
              </a:spcBef>
              <a:spcAft>
                <a:spcPts val="0"/>
              </a:spcAft>
              <a:buNone/>
            </a:pPr>
            <a:r>
              <a:rPr i="1" lang="en" sz="1200">
                <a:latin typeface="Lato"/>
                <a:ea typeface="Lato"/>
                <a:cs typeface="Lato"/>
                <a:sym typeface="Lato"/>
              </a:rPr>
              <a:t> </a:t>
            </a:r>
            <a:r>
              <a:rPr b="1" i="1" lang="en" sz="1200">
                <a:latin typeface="Lato"/>
                <a:ea typeface="Lato"/>
                <a:cs typeface="Lato"/>
                <a:sym typeface="Lato"/>
              </a:rPr>
              <a:t>US Department of Energy</a:t>
            </a:r>
            <a:endParaRPr b="1" i="1" sz="1200">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337" name="Shape 337"/>
        <p:cNvGrpSpPr/>
        <p:nvPr/>
      </p:nvGrpSpPr>
      <p:grpSpPr>
        <a:xfrm>
          <a:off x="0" y="0"/>
          <a:ext cx="0" cy="0"/>
          <a:chOff x="0" y="0"/>
          <a:chExt cx="0" cy="0"/>
        </a:xfrm>
      </p:grpSpPr>
      <p:sp>
        <p:nvSpPr>
          <p:cNvPr id="338" name="Google Shape;338;p28"/>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lang="en" sz="2400">
                <a:solidFill>
                  <a:srgbClr val="F3F3F3"/>
                </a:solidFill>
                <a:latin typeface="Lato"/>
                <a:ea typeface="Lato"/>
                <a:cs typeface="Lato"/>
                <a:sym typeface="Lato"/>
              </a:rPr>
              <a:t>Selection of</a:t>
            </a:r>
            <a:r>
              <a:rPr b="1" i="0" lang="en" sz="2400" u="none" cap="none" strike="noStrike">
                <a:solidFill>
                  <a:srgbClr val="F3F3F3"/>
                </a:solidFill>
                <a:latin typeface="Lato"/>
                <a:ea typeface="Lato"/>
                <a:cs typeface="Lato"/>
                <a:sym typeface="Lato"/>
              </a:rPr>
              <a:t> </a:t>
            </a:r>
            <a:r>
              <a:rPr lang="en" sz="2400">
                <a:solidFill>
                  <a:srgbClr val="48BACA"/>
                </a:solidFill>
                <a:latin typeface="Lato Black"/>
                <a:ea typeface="Lato Black"/>
                <a:cs typeface="Lato Black"/>
                <a:sym typeface="Lato Black"/>
              </a:rPr>
              <a:t>Vehicle Segment</a:t>
            </a:r>
            <a:endParaRPr i="0" sz="2400" u="none" cap="none" strike="noStrike">
              <a:solidFill>
                <a:srgbClr val="48BACA"/>
              </a:solidFill>
              <a:latin typeface="Lato Black"/>
              <a:ea typeface="Lato Black"/>
              <a:cs typeface="Lato Black"/>
              <a:sym typeface="Lato Black"/>
            </a:endParaRPr>
          </a:p>
        </p:txBody>
      </p:sp>
      <p:pic>
        <p:nvPicPr>
          <p:cNvPr id="339" name="Google Shape;339;p28"/>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340" name="Google Shape;340;p28"/>
          <p:cNvPicPr preferRelativeResize="0"/>
          <p:nvPr/>
        </p:nvPicPr>
        <p:blipFill>
          <a:blip r:embed="rId4">
            <a:alphaModFix amt="12000"/>
          </a:blip>
          <a:stretch>
            <a:fillRect/>
          </a:stretch>
        </p:blipFill>
        <p:spPr>
          <a:xfrm rot="9900000">
            <a:off x="5128900" y="2442475"/>
            <a:ext cx="4289526" cy="2716700"/>
          </a:xfrm>
          <a:prstGeom prst="rect">
            <a:avLst/>
          </a:prstGeom>
          <a:noFill/>
          <a:ln>
            <a:noFill/>
          </a:ln>
        </p:spPr>
      </p:pic>
      <p:sp>
        <p:nvSpPr>
          <p:cNvPr id="341" name="Google Shape;341;p28"/>
          <p:cNvSpPr txBox="1"/>
          <p:nvPr/>
        </p:nvSpPr>
        <p:spPr>
          <a:xfrm>
            <a:off x="0" y="1300725"/>
            <a:ext cx="47046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Our Target : </a:t>
            </a:r>
            <a:r>
              <a:rPr b="1" lang="en" sz="1700">
                <a:solidFill>
                  <a:srgbClr val="FFFFFF"/>
                </a:solidFill>
                <a:latin typeface="Open Sans"/>
                <a:ea typeface="Open Sans"/>
                <a:cs typeface="Open Sans"/>
                <a:sym typeface="Open Sans"/>
              </a:rPr>
              <a:t>B</a:t>
            </a:r>
            <a:r>
              <a:rPr b="1" lang="en" sz="1200">
                <a:solidFill>
                  <a:srgbClr val="FFFFFF"/>
                </a:solidFill>
                <a:latin typeface="Open Sans"/>
                <a:ea typeface="Open Sans"/>
                <a:cs typeface="Open Sans"/>
                <a:sym typeface="Open Sans"/>
              </a:rPr>
              <a:t>2</a:t>
            </a:r>
            <a:r>
              <a:rPr b="1" lang="en" sz="1700">
                <a:solidFill>
                  <a:srgbClr val="FFFFFF"/>
                </a:solidFill>
                <a:latin typeface="Open Sans"/>
                <a:ea typeface="Open Sans"/>
                <a:cs typeface="Open Sans"/>
                <a:sym typeface="Open Sans"/>
              </a:rPr>
              <a:t>B</a:t>
            </a:r>
            <a:r>
              <a:rPr b="1" lang="en" sz="1200">
                <a:solidFill>
                  <a:srgbClr val="FFFFFF"/>
                </a:solidFill>
                <a:latin typeface="Open Sans"/>
                <a:ea typeface="Open Sans"/>
                <a:cs typeface="Open Sans"/>
                <a:sym typeface="Open Sans"/>
              </a:rPr>
              <a:t>s - Faster adoption, Greater Impact</a:t>
            </a:r>
            <a:endParaRPr sz="1200">
              <a:solidFill>
                <a:srgbClr val="FFFFFF"/>
              </a:solidFill>
              <a:latin typeface="Open Sans ExtraBold"/>
              <a:ea typeface="Open Sans ExtraBold"/>
              <a:cs typeface="Open Sans ExtraBold"/>
              <a:sym typeface="Open Sans ExtraBold"/>
            </a:endParaRPr>
          </a:p>
        </p:txBody>
      </p:sp>
      <p:sp>
        <p:nvSpPr>
          <p:cNvPr id="342" name="Google Shape;342;p28"/>
          <p:cNvSpPr/>
          <p:nvPr/>
        </p:nvSpPr>
        <p:spPr>
          <a:xfrm>
            <a:off x="4469853" y="1300725"/>
            <a:ext cx="3375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343" name="Google Shape;343;p28"/>
          <p:cNvPicPr preferRelativeResize="0"/>
          <p:nvPr/>
        </p:nvPicPr>
        <p:blipFill rotWithShape="1">
          <a:blip r:embed="rId5">
            <a:alphaModFix/>
          </a:blip>
          <a:srcRect b="11281" l="20956" r="20375" t="10435"/>
          <a:stretch/>
        </p:blipFill>
        <p:spPr>
          <a:xfrm>
            <a:off x="4453732" y="1339000"/>
            <a:ext cx="305406" cy="275843"/>
          </a:xfrm>
          <a:prstGeom prst="rect">
            <a:avLst/>
          </a:prstGeom>
          <a:noFill/>
          <a:ln>
            <a:noFill/>
          </a:ln>
        </p:spPr>
      </p:pic>
      <p:sp>
        <p:nvSpPr>
          <p:cNvPr id="344" name="Google Shape;344;p28"/>
          <p:cNvSpPr txBox="1"/>
          <p:nvPr/>
        </p:nvSpPr>
        <p:spPr>
          <a:xfrm>
            <a:off x="0" y="2519925"/>
            <a:ext cx="47046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Ideal segment for Efficiency gains</a:t>
            </a:r>
            <a:endParaRPr sz="1200">
              <a:solidFill>
                <a:srgbClr val="FFFFFF"/>
              </a:solidFill>
              <a:latin typeface="Open Sans ExtraBold"/>
              <a:ea typeface="Open Sans ExtraBold"/>
              <a:cs typeface="Open Sans ExtraBold"/>
              <a:sym typeface="Open Sans ExtraBold"/>
            </a:endParaRPr>
          </a:p>
        </p:txBody>
      </p:sp>
      <p:sp>
        <p:nvSpPr>
          <p:cNvPr id="345" name="Google Shape;345;p28"/>
          <p:cNvSpPr/>
          <p:nvPr/>
        </p:nvSpPr>
        <p:spPr>
          <a:xfrm>
            <a:off x="4469853" y="2519925"/>
            <a:ext cx="3375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346" name="Google Shape;346;p28"/>
          <p:cNvPicPr preferRelativeResize="0"/>
          <p:nvPr/>
        </p:nvPicPr>
        <p:blipFill rotWithShape="1">
          <a:blip r:embed="rId5">
            <a:alphaModFix/>
          </a:blip>
          <a:srcRect b="11281" l="20956" r="20375" t="10435"/>
          <a:stretch/>
        </p:blipFill>
        <p:spPr>
          <a:xfrm>
            <a:off x="4453732" y="2558200"/>
            <a:ext cx="305406" cy="275843"/>
          </a:xfrm>
          <a:prstGeom prst="rect">
            <a:avLst/>
          </a:prstGeom>
          <a:noFill/>
          <a:ln>
            <a:noFill/>
          </a:ln>
        </p:spPr>
      </p:pic>
      <p:sp>
        <p:nvSpPr>
          <p:cNvPr id="347" name="Google Shape;347;p28"/>
          <p:cNvSpPr txBox="1"/>
          <p:nvPr/>
        </p:nvSpPr>
        <p:spPr>
          <a:xfrm>
            <a:off x="0" y="3129525"/>
            <a:ext cx="47046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Promising Market segment growth ; </a:t>
            </a:r>
            <a:r>
              <a:rPr b="1" lang="en" sz="1200">
                <a:solidFill>
                  <a:schemeClr val="lt1"/>
                </a:solidFill>
                <a:latin typeface="Open Sans"/>
                <a:ea typeface="Open Sans"/>
                <a:cs typeface="Open Sans"/>
                <a:sym typeface="Open Sans"/>
              </a:rPr>
              <a:t>Nascent w.r.t. EVs</a:t>
            </a:r>
            <a:endParaRPr sz="1200">
              <a:solidFill>
                <a:srgbClr val="FFFFFF"/>
              </a:solidFill>
              <a:latin typeface="Open Sans ExtraBold"/>
              <a:ea typeface="Open Sans ExtraBold"/>
              <a:cs typeface="Open Sans ExtraBold"/>
              <a:sym typeface="Open Sans ExtraBold"/>
            </a:endParaRPr>
          </a:p>
        </p:txBody>
      </p:sp>
      <p:sp>
        <p:nvSpPr>
          <p:cNvPr id="348" name="Google Shape;348;p28"/>
          <p:cNvSpPr/>
          <p:nvPr/>
        </p:nvSpPr>
        <p:spPr>
          <a:xfrm>
            <a:off x="4469853" y="3129525"/>
            <a:ext cx="3375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349" name="Google Shape;349;p28"/>
          <p:cNvPicPr preferRelativeResize="0"/>
          <p:nvPr/>
        </p:nvPicPr>
        <p:blipFill rotWithShape="1">
          <a:blip r:embed="rId5">
            <a:alphaModFix/>
          </a:blip>
          <a:srcRect b="11281" l="20956" r="20375" t="10435"/>
          <a:stretch/>
        </p:blipFill>
        <p:spPr>
          <a:xfrm>
            <a:off x="4453732" y="3167800"/>
            <a:ext cx="305406" cy="275843"/>
          </a:xfrm>
          <a:prstGeom prst="rect">
            <a:avLst/>
          </a:prstGeom>
          <a:noFill/>
          <a:ln>
            <a:noFill/>
          </a:ln>
        </p:spPr>
      </p:pic>
      <p:sp>
        <p:nvSpPr>
          <p:cNvPr id="350" name="Google Shape;350;p28"/>
          <p:cNvSpPr txBox="1"/>
          <p:nvPr/>
        </p:nvSpPr>
        <p:spPr>
          <a:xfrm>
            <a:off x="0" y="3739125"/>
            <a:ext cx="47046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Modest Charging and Service infrastructure need</a:t>
            </a:r>
            <a:endParaRPr sz="1200">
              <a:solidFill>
                <a:srgbClr val="FFFFFF"/>
              </a:solidFill>
              <a:latin typeface="Open Sans ExtraBold"/>
              <a:ea typeface="Open Sans ExtraBold"/>
              <a:cs typeface="Open Sans ExtraBold"/>
              <a:sym typeface="Open Sans ExtraBold"/>
            </a:endParaRPr>
          </a:p>
        </p:txBody>
      </p:sp>
      <p:sp>
        <p:nvSpPr>
          <p:cNvPr id="351" name="Google Shape;351;p28"/>
          <p:cNvSpPr/>
          <p:nvPr/>
        </p:nvSpPr>
        <p:spPr>
          <a:xfrm>
            <a:off x="4469853" y="3739125"/>
            <a:ext cx="3375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352" name="Google Shape;352;p28"/>
          <p:cNvPicPr preferRelativeResize="0"/>
          <p:nvPr/>
        </p:nvPicPr>
        <p:blipFill rotWithShape="1">
          <a:blip r:embed="rId5">
            <a:alphaModFix/>
          </a:blip>
          <a:srcRect b="11281" l="20956" r="20375" t="10435"/>
          <a:stretch/>
        </p:blipFill>
        <p:spPr>
          <a:xfrm>
            <a:off x="4453732" y="3777400"/>
            <a:ext cx="305406" cy="275843"/>
          </a:xfrm>
          <a:prstGeom prst="rect">
            <a:avLst/>
          </a:prstGeom>
          <a:noFill/>
          <a:ln>
            <a:noFill/>
          </a:ln>
        </p:spPr>
      </p:pic>
      <p:sp>
        <p:nvSpPr>
          <p:cNvPr id="353" name="Google Shape;353;p28"/>
          <p:cNvSpPr txBox="1"/>
          <p:nvPr/>
        </p:nvSpPr>
        <p:spPr>
          <a:xfrm>
            <a:off x="0" y="1910325"/>
            <a:ext cx="47046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Economic Viability and durability</a:t>
            </a:r>
            <a:endParaRPr sz="1200">
              <a:solidFill>
                <a:srgbClr val="FFFFFF"/>
              </a:solidFill>
              <a:latin typeface="Open Sans ExtraBold"/>
              <a:ea typeface="Open Sans ExtraBold"/>
              <a:cs typeface="Open Sans ExtraBold"/>
              <a:sym typeface="Open Sans ExtraBold"/>
            </a:endParaRPr>
          </a:p>
        </p:txBody>
      </p:sp>
      <p:sp>
        <p:nvSpPr>
          <p:cNvPr id="354" name="Google Shape;354;p28"/>
          <p:cNvSpPr/>
          <p:nvPr/>
        </p:nvSpPr>
        <p:spPr>
          <a:xfrm>
            <a:off x="4469853" y="1910325"/>
            <a:ext cx="3375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355" name="Google Shape;355;p28"/>
          <p:cNvPicPr preferRelativeResize="0"/>
          <p:nvPr/>
        </p:nvPicPr>
        <p:blipFill rotWithShape="1">
          <a:blip r:embed="rId5">
            <a:alphaModFix/>
          </a:blip>
          <a:srcRect b="11281" l="20956" r="20375" t="10435"/>
          <a:stretch/>
        </p:blipFill>
        <p:spPr>
          <a:xfrm>
            <a:off x="4453732" y="1948600"/>
            <a:ext cx="305406" cy="275843"/>
          </a:xfrm>
          <a:prstGeom prst="rect">
            <a:avLst/>
          </a:prstGeom>
          <a:noFill/>
          <a:ln>
            <a:noFill/>
          </a:ln>
        </p:spPr>
      </p:pic>
      <p:graphicFrame>
        <p:nvGraphicFramePr>
          <p:cNvPr id="356" name="Google Shape;356;p28"/>
          <p:cNvGraphicFramePr/>
          <p:nvPr/>
        </p:nvGraphicFramePr>
        <p:xfrm>
          <a:off x="5484350" y="1272245"/>
          <a:ext cx="3000000" cy="3000000"/>
        </p:xfrm>
        <a:graphic>
          <a:graphicData uri="http://schemas.openxmlformats.org/drawingml/2006/table">
            <a:tbl>
              <a:tblPr>
                <a:noFill/>
                <a:tableStyleId>{43AF8DD5-E6FA-4577-8082-F1EEE736C7BF}</a:tableStyleId>
              </a:tblPr>
              <a:tblGrid>
                <a:gridCol w="975825"/>
                <a:gridCol w="2440700"/>
              </a:tblGrid>
              <a:tr h="347625">
                <a:tc>
                  <a:txBody>
                    <a:bodyPr/>
                    <a:lstStyle/>
                    <a:p>
                      <a:pPr indent="0" lvl="0" marL="0" rtl="0" algn="ctr">
                        <a:spcBef>
                          <a:spcPts val="0"/>
                        </a:spcBef>
                        <a:spcAft>
                          <a:spcPts val="0"/>
                        </a:spcAft>
                        <a:buNone/>
                      </a:pPr>
                      <a:r>
                        <a:rPr b="1" lang="en" sz="1200">
                          <a:solidFill>
                            <a:srgbClr val="0C343D"/>
                          </a:solidFill>
                          <a:latin typeface="Lato"/>
                          <a:ea typeface="Lato"/>
                          <a:cs typeface="Lato"/>
                          <a:sym typeface="Lato"/>
                        </a:rPr>
                        <a:t>YEAR</a:t>
                      </a:r>
                      <a:endParaRPr b="1" sz="1200">
                        <a:solidFill>
                          <a:srgbClr val="0C343D"/>
                        </a:solidFill>
                        <a:latin typeface="Lato"/>
                        <a:ea typeface="Lato"/>
                        <a:cs typeface="Lato"/>
                        <a:sym typeface="Lato"/>
                      </a:endParaRPr>
                    </a:p>
                  </a:txBody>
                  <a:tcPr marT="91425" marB="91425" marR="91425" marL="91425">
                    <a:solidFill>
                      <a:srgbClr val="95B0B5"/>
                    </a:solidFill>
                  </a:tcPr>
                </a:tc>
                <a:tc>
                  <a:txBody>
                    <a:bodyPr/>
                    <a:lstStyle/>
                    <a:p>
                      <a:pPr indent="0" lvl="0" marL="0" rtl="0" algn="ctr">
                        <a:spcBef>
                          <a:spcPts val="0"/>
                        </a:spcBef>
                        <a:spcAft>
                          <a:spcPts val="0"/>
                        </a:spcAft>
                        <a:buNone/>
                      </a:pPr>
                      <a:r>
                        <a:rPr b="1" lang="en" sz="1200">
                          <a:solidFill>
                            <a:srgbClr val="0C343D"/>
                          </a:solidFill>
                          <a:latin typeface="Lato"/>
                          <a:ea typeface="Lato"/>
                          <a:cs typeface="Lato"/>
                          <a:sym typeface="Lato"/>
                        </a:rPr>
                        <a:t>TATA ACE CUMULATIVE SALES</a:t>
                      </a:r>
                      <a:endParaRPr b="1" sz="1200">
                        <a:solidFill>
                          <a:srgbClr val="0C343D"/>
                        </a:solidFill>
                        <a:latin typeface="Lato"/>
                        <a:ea typeface="Lato"/>
                        <a:cs typeface="Lato"/>
                        <a:sym typeface="Lato"/>
                      </a:endParaRPr>
                    </a:p>
                  </a:txBody>
                  <a:tcPr marT="91425" marB="91425" marR="91425" marL="91425">
                    <a:solidFill>
                      <a:srgbClr val="95B0B5"/>
                    </a:solidFill>
                  </a:tcPr>
                </a:tc>
              </a:tr>
              <a:tr h="347625">
                <a:tc>
                  <a:txBody>
                    <a:bodyPr/>
                    <a:lstStyle/>
                    <a:p>
                      <a:pPr indent="0" lvl="0" marL="0" rtl="0" algn="ctr">
                        <a:spcBef>
                          <a:spcPts val="0"/>
                        </a:spcBef>
                        <a:spcAft>
                          <a:spcPts val="0"/>
                        </a:spcAft>
                        <a:buNone/>
                      </a:pPr>
                      <a:r>
                        <a:rPr lang="en" sz="1200">
                          <a:latin typeface="Lato"/>
                          <a:ea typeface="Lato"/>
                          <a:cs typeface="Lato"/>
                          <a:sym typeface="Lato"/>
                        </a:rPr>
                        <a:t>2005</a:t>
                      </a:r>
                      <a:endParaRPr sz="1200">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lang="en" sz="1200">
                          <a:latin typeface="Lato"/>
                          <a:ea typeface="Lato"/>
                          <a:cs typeface="Lato"/>
                          <a:sym typeface="Lato"/>
                        </a:rPr>
                        <a:t>30,000</a:t>
                      </a:r>
                      <a:endParaRPr sz="1200">
                        <a:latin typeface="Lato"/>
                        <a:ea typeface="Lato"/>
                        <a:cs typeface="Lato"/>
                        <a:sym typeface="Lato"/>
                      </a:endParaRPr>
                    </a:p>
                  </a:txBody>
                  <a:tcPr marT="91425" marB="91425" marR="91425" marL="91425"/>
                </a:tc>
              </a:tr>
              <a:tr h="347625">
                <a:tc>
                  <a:txBody>
                    <a:bodyPr/>
                    <a:lstStyle/>
                    <a:p>
                      <a:pPr indent="0" lvl="0" marL="0" rtl="0" algn="ctr">
                        <a:spcBef>
                          <a:spcPts val="0"/>
                        </a:spcBef>
                        <a:spcAft>
                          <a:spcPts val="0"/>
                        </a:spcAft>
                        <a:buNone/>
                      </a:pPr>
                      <a:r>
                        <a:rPr lang="en" sz="1200">
                          <a:latin typeface="Lato"/>
                          <a:ea typeface="Lato"/>
                          <a:cs typeface="Lato"/>
                          <a:sym typeface="Lato"/>
                        </a:rPr>
                        <a:t>2006</a:t>
                      </a:r>
                      <a:endParaRPr sz="1200">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lang="en" sz="1200">
                          <a:latin typeface="Lato"/>
                          <a:ea typeface="Lato"/>
                          <a:cs typeface="Lato"/>
                          <a:sym typeface="Lato"/>
                        </a:rPr>
                        <a:t>1,00,000</a:t>
                      </a:r>
                      <a:endParaRPr sz="1200">
                        <a:latin typeface="Lato"/>
                        <a:ea typeface="Lato"/>
                        <a:cs typeface="Lato"/>
                        <a:sym typeface="Lato"/>
                      </a:endParaRPr>
                    </a:p>
                  </a:txBody>
                  <a:tcPr marT="91425" marB="91425" marR="91425" marL="91425"/>
                </a:tc>
              </a:tr>
              <a:tr h="347625">
                <a:tc>
                  <a:txBody>
                    <a:bodyPr/>
                    <a:lstStyle/>
                    <a:p>
                      <a:pPr indent="0" lvl="0" marL="0" rtl="0" algn="ctr">
                        <a:spcBef>
                          <a:spcPts val="0"/>
                        </a:spcBef>
                        <a:spcAft>
                          <a:spcPts val="0"/>
                        </a:spcAft>
                        <a:buNone/>
                      </a:pPr>
                      <a:r>
                        <a:rPr lang="en" sz="1200">
                          <a:latin typeface="Lato"/>
                          <a:ea typeface="Lato"/>
                          <a:cs typeface="Lato"/>
                          <a:sym typeface="Lato"/>
                        </a:rPr>
                        <a:t>2007</a:t>
                      </a:r>
                      <a:endParaRPr sz="1200">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lang="en" sz="1200">
                          <a:latin typeface="Lato"/>
                          <a:ea typeface="Lato"/>
                          <a:cs typeface="Lato"/>
                          <a:sym typeface="Lato"/>
                        </a:rPr>
                        <a:t>1,90,000</a:t>
                      </a:r>
                      <a:endParaRPr sz="1200">
                        <a:latin typeface="Lato"/>
                        <a:ea typeface="Lato"/>
                        <a:cs typeface="Lato"/>
                        <a:sym typeface="Lato"/>
                      </a:endParaRPr>
                    </a:p>
                  </a:txBody>
                  <a:tcPr marT="91425" marB="91425" marR="91425" marL="91425"/>
                </a:tc>
              </a:tr>
              <a:tr h="347625">
                <a:tc>
                  <a:txBody>
                    <a:bodyPr/>
                    <a:lstStyle/>
                    <a:p>
                      <a:pPr indent="0" lvl="0" marL="0" rtl="0" algn="ctr">
                        <a:spcBef>
                          <a:spcPts val="0"/>
                        </a:spcBef>
                        <a:spcAft>
                          <a:spcPts val="0"/>
                        </a:spcAft>
                        <a:buNone/>
                      </a:pPr>
                      <a:r>
                        <a:rPr lang="en" sz="1200">
                          <a:latin typeface="Lato"/>
                          <a:ea typeface="Lato"/>
                          <a:cs typeface="Lato"/>
                          <a:sym typeface="Lato"/>
                        </a:rPr>
                        <a:t>2008</a:t>
                      </a:r>
                      <a:endParaRPr sz="1200">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lang="en" sz="1200">
                          <a:latin typeface="Lato"/>
                          <a:ea typeface="Lato"/>
                          <a:cs typeface="Lato"/>
                          <a:sym typeface="Lato"/>
                        </a:rPr>
                        <a:t>2,70,000</a:t>
                      </a:r>
                      <a:endParaRPr sz="1200">
                        <a:latin typeface="Lato"/>
                        <a:ea typeface="Lato"/>
                        <a:cs typeface="Lato"/>
                        <a:sym typeface="Lato"/>
                      </a:endParaRPr>
                    </a:p>
                  </a:txBody>
                  <a:tcPr marT="91425" marB="91425" marR="91425" marL="91425"/>
                </a:tc>
              </a:tr>
              <a:tr h="347625">
                <a:tc>
                  <a:txBody>
                    <a:bodyPr/>
                    <a:lstStyle/>
                    <a:p>
                      <a:pPr indent="0" lvl="0" marL="0" rtl="0" algn="ctr">
                        <a:spcBef>
                          <a:spcPts val="0"/>
                        </a:spcBef>
                        <a:spcAft>
                          <a:spcPts val="0"/>
                        </a:spcAft>
                        <a:buNone/>
                      </a:pPr>
                      <a:r>
                        <a:rPr lang="en" sz="1200">
                          <a:latin typeface="Lato"/>
                          <a:ea typeface="Lato"/>
                          <a:cs typeface="Lato"/>
                          <a:sym typeface="Lato"/>
                        </a:rPr>
                        <a:t>2009</a:t>
                      </a:r>
                      <a:endParaRPr sz="1200">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lang="en" sz="1200">
                          <a:latin typeface="Lato"/>
                          <a:ea typeface="Lato"/>
                          <a:cs typeface="Lato"/>
                          <a:sym typeface="Lato"/>
                        </a:rPr>
                        <a:t>3,80,000</a:t>
                      </a:r>
                      <a:endParaRPr sz="1200">
                        <a:latin typeface="Lato"/>
                        <a:ea typeface="Lato"/>
                        <a:cs typeface="Lato"/>
                        <a:sym typeface="Lato"/>
                      </a:endParaRPr>
                    </a:p>
                  </a:txBody>
                  <a:tcPr marT="91425" marB="91425" marR="91425" marL="91425"/>
                </a:tc>
              </a:tr>
              <a:tr h="347625">
                <a:tc>
                  <a:txBody>
                    <a:bodyPr/>
                    <a:lstStyle/>
                    <a:p>
                      <a:pPr indent="0" lvl="0" marL="0" rtl="0" algn="ctr">
                        <a:spcBef>
                          <a:spcPts val="0"/>
                        </a:spcBef>
                        <a:spcAft>
                          <a:spcPts val="0"/>
                        </a:spcAft>
                        <a:buNone/>
                      </a:pPr>
                      <a:r>
                        <a:rPr lang="en" sz="1200">
                          <a:latin typeface="Lato"/>
                          <a:ea typeface="Lato"/>
                          <a:cs typeface="Lato"/>
                          <a:sym typeface="Lato"/>
                        </a:rPr>
                        <a:t>2010</a:t>
                      </a:r>
                      <a:endParaRPr sz="1200">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lang="en" sz="1200">
                          <a:latin typeface="Lato"/>
                          <a:ea typeface="Lato"/>
                          <a:cs typeface="Lato"/>
                          <a:sym typeface="Lato"/>
                        </a:rPr>
                        <a:t>5,40,000</a:t>
                      </a:r>
                      <a:endParaRPr sz="1200">
                        <a:latin typeface="Lato"/>
                        <a:ea typeface="Lato"/>
                        <a:cs typeface="Lato"/>
                        <a:sym typeface="Lato"/>
                      </a:endParaRPr>
                    </a:p>
                  </a:txBody>
                  <a:tcPr marT="91425" marB="91425" marR="91425" marL="91425"/>
                </a:tc>
              </a:tr>
              <a:tr h="347625">
                <a:tc>
                  <a:txBody>
                    <a:bodyPr/>
                    <a:lstStyle/>
                    <a:p>
                      <a:pPr indent="0" lvl="0" marL="0" rtl="0" algn="ctr">
                        <a:spcBef>
                          <a:spcPts val="0"/>
                        </a:spcBef>
                        <a:spcAft>
                          <a:spcPts val="0"/>
                        </a:spcAft>
                        <a:buNone/>
                      </a:pPr>
                      <a:r>
                        <a:rPr lang="en" sz="1200">
                          <a:latin typeface="Lato"/>
                          <a:ea typeface="Lato"/>
                          <a:cs typeface="Lato"/>
                          <a:sym typeface="Lato"/>
                        </a:rPr>
                        <a:t>2018</a:t>
                      </a:r>
                      <a:endParaRPr sz="1200">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lang="en" sz="1200">
                          <a:latin typeface="Lato"/>
                          <a:ea typeface="Lato"/>
                          <a:cs typeface="Lato"/>
                          <a:sym typeface="Lato"/>
                        </a:rPr>
                        <a:t>20,00,000</a:t>
                      </a:r>
                      <a:endParaRPr sz="1200">
                        <a:latin typeface="Lato"/>
                        <a:ea typeface="Lato"/>
                        <a:cs typeface="Lato"/>
                        <a:sym typeface="Lato"/>
                      </a:endParaRPr>
                    </a:p>
                  </a:txBody>
                  <a:tcPr marT="91425" marB="91425" marR="91425" marL="91425"/>
                </a:tc>
              </a:tr>
            </a:tbl>
          </a:graphicData>
        </a:graphic>
      </p:graphicFrame>
      <p:sp>
        <p:nvSpPr>
          <p:cNvPr id="357" name="Google Shape;357;p28"/>
          <p:cNvSpPr txBox="1"/>
          <p:nvPr/>
        </p:nvSpPr>
        <p:spPr>
          <a:xfrm>
            <a:off x="8020063" y="4154301"/>
            <a:ext cx="1247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Lato"/>
                <a:ea typeface="Lato"/>
                <a:cs typeface="Lato"/>
                <a:sym typeface="Lato"/>
              </a:rPr>
              <a:t>In vehicle units</a:t>
            </a:r>
            <a:endParaRPr i="1" sz="1000">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361" name="Shape 361"/>
        <p:cNvGrpSpPr/>
        <p:nvPr/>
      </p:nvGrpSpPr>
      <p:grpSpPr>
        <a:xfrm>
          <a:off x="0" y="0"/>
          <a:ext cx="0" cy="0"/>
          <a:chOff x="0" y="0"/>
          <a:chExt cx="0" cy="0"/>
        </a:xfrm>
      </p:grpSpPr>
      <p:sp>
        <p:nvSpPr>
          <p:cNvPr id="362" name="Google Shape;362;p29"/>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lang="en" sz="2400">
                <a:solidFill>
                  <a:srgbClr val="F3F3F3"/>
                </a:solidFill>
                <a:latin typeface="Lato"/>
                <a:ea typeface="Lato"/>
                <a:cs typeface="Lato"/>
                <a:sym typeface="Lato"/>
              </a:rPr>
              <a:t>Selection of</a:t>
            </a:r>
            <a:r>
              <a:rPr b="1" i="0" lang="en" sz="2400" u="none" cap="none" strike="noStrike">
                <a:solidFill>
                  <a:srgbClr val="F3F3F3"/>
                </a:solidFill>
                <a:latin typeface="Lato"/>
                <a:ea typeface="Lato"/>
                <a:cs typeface="Lato"/>
                <a:sym typeface="Lato"/>
              </a:rPr>
              <a:t> </a:t>
            </a:r>
            <a:r>
              <a:rPr lang="en" sz="2400">
                <a:solidFill>
                  <a:srgbClr val="48BACA"/>
                </a:solidFill>
                <a:latin typeface="Lato Black"/>
                <a:ea typeface="Lato Black"/>
                <a:cs typeface="Lato Black"/>
                <a:sym typeface="Lato Black"/>
              </a:rPr>
              <a:t>Vehicle Segment</a:t>
            </a:r>
            <a:endParaRPr i="0" sz="2400" u="none" cap="none" strike="noStrike">
              <a:solidFill>
                <a:srgbClr val="48BACA"/>
              </a:solidFill>
              <a:latin typeface="Lato Black"/>
              <a:ea typeface="Lato Black"/>
              <a:cs typeface="Lato Black"/>
              <a:sym typeface="Lato Black"/>
            </a:endParaRPr>
          </a:p>
        </p:txBody>
      </p:sp>
      <p:pic>
        <p:nvPicPr>
          <p:cNvPr id="363" name="Google Shape;363;p29"/>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364" name="Google Shape;364;p29"/>
          <p:cNvPicPr preferRelativeResize="0"/>
          <p:nvPr/>
        </p:nvPicPr>
        <p:blipFill>
          <a:blip r:embed="rId4">
            <a:alphaModFix amt="26000"/>
          </a:blip>
          <a:stretch>
            <a:fillRect/>
          </a:stretch>
        </p:blipFill>
        <p:spPr>
          <a:xfrm rot="9900000">
            <a:off x="5128900" y="2442475"/>
            <a:ext cx="4289526" cy="2716700"/>
          </a:xfrm>
          <a:prstGeom prst="rect">
            <a:avLst/>
          </a:prstGeom>
          <a:noFill/>
          <a:ln>
            <a:noFill/>
          </a:ln>
        </p:spPr>
      </p:pic>
      <p:sp>
        <p:nvSpPr>
          <p:cNvPr id="365" name="Google Shape;365;p29"/>
          <p:cNvSpPr txBox="1"/>
          <p:nvPr/>
        </p:nvSpPr>
        <p:spPr>
          <a:xfrm>
            <a:off x="0" y="1300725"/>
            <a:ext cx="47046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Our Target : </a:t>
            </a:r>
            <a:r>
              <a:rPr b="1" lang="en" sz="1700">
                <a:solidFill>
                  <a:srgbClr val="FFFFFF"/>
                </a:solidFill>
                <a:latin typeface="Open Sans"/>
                <a:ea typeface="Open Sans"/>
                <a:cs typeface="Open Sans"/>
                <a:sym typeface="Open Sans"/>
              </a:rPr>
              <a:t>B</a:t>
            </a:r>
            <a:r>
              <a:rPr b="1" lang="en" sz="1200">
                <a:solidFill>
                  <a:srgbClr val="FFFFFF"/>
                </a:solidFill>
                <a:latin typeface="Open Sans"/>
                <a:ea typeface="Open Sans"/>
                <a:cs typeface="Open Sans"/>
                <a:sym typeface="Open Sans"/>
              </a:rPr>
              <a:t>2</a:t>
            </a:r>
            <a:r>
              <a:rPr b="1" lang="en" sz="1700">
                <a:solidFill>
                  <a:srgbClr val="FFFFFF"/>
                </a:solidFill>
                <a:latin typeface="Open Sans"/>
                <a:ea typeface="Open Sans"/>
                <a:cs typeface="Open Sans"/>
                <a:sym typeface="Open Sans"/>
              </a:rPr>
              <a:t>B</a:t>
            </a:r>
            <a:r>
              <a:rPr b="1" lang="en" sz="1200">
                <a:solidFill>
                  <a:srgbClr val="FFFFFF"/>
                </a:solidFill>
                <a:latin typeface="Open Sans"/>
                <a:ea typeface="Open Sans"/>
                <a:cs typeface="Open Sans"/>
                <a:sym typeface="Open Sans"/>
              </a:rPr>
              <a:t>s - Faster adoption, Greater Impact</a:t>
            </a:r>
            <a:endParaRPr sz="1200">
              <a:solidFill>
                <a:srgbClr val="FFFFFF"/>
              </a:solidFill>
              <a:latin typeface="Open Sans ExtraBold"/>
              <a:ea typeface="Open Sans ExtraBold"/>
              <a:cs typeface="Open Sans ExtraBold"/>
              <a:sym typeface="Open Sans ExtraBold"/>
            </a:endParaRPr>
          </a:p>
        </p:txBody>
      </p:sp>
      <p:sp>
        <p:nvSpPr>
          <p:cNvPr id="366" name="Google Shape;366;p29"/>
          <p:cNvSpPr/>
          <p:nvPr/>
        </p:nvSpPr>
        <p:spPr>
          <a:xfrm>
            <a:off x="4469853" y="1300725"/>
            <a:ext cx="3375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367" name="Google Shape;367;p29"/>
          <p:cNvPicPr preferRelativeResize="0"/>
          <p:nvPr/>
        </p:nvPicPr>
        <p:blipFill rotWithShape="1">
          <a:blip r:embed="rId5">
            <a:alphaModFix/>
          </a:blip>
          <a:srcRect b="11281" l="20956" r="20375" t="10435"/>
          <a:stretch/>
        </p:blipFill>
        <p:spPr>
          <a:xfrm>
            <a:off x="4453732" y="1339000"/>
            <a:ext cx="305406" cy="275843"/>
          </a:xfrm>
          <a:prstGeom prst="rect">
            <a:avLst/>
          </a:prstGeom>
          <a:noFill/>
          <a:ln>
            <a:noFill/>
          </a:ln>
        </p:spPr>
      </p:pic>
      <p:sp>
        <p:nvSpPr>
          <p:cNvPr id="368" name="Google Shape;368;p29"/>
          <p:cNvSpPr txBox="1"/>
          <p:nvPr/>
        </p:nvSpPr>
        <p:spPr>
          <a:xfrm>
            <a:off x="0" y="2519925"/>
            <a:ext cx="47046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Ideal segment for Efficiency gains</a:t>
            </a:r>
            <a:endParaRPr sz="1200">
              <a:solidFill>
                <a:srgbClr val="FFFFFF"/>
              </a:solidFill>
              <a:latin typeface="Open Sans ExtraBold"/>
              <a:ea typeface="Open Sans ExtraBold"/>
              <a:cs typeface="Open Sans ExtraBold"/>
              <a:sym typeface="Open Sans ExtraBold"/>
            </a:endParaRPr>
          </a:p>
        </p:txBody>
      </p:sp>
      <p:sp>
        <p:nvSpPr>
          <p:cNvPr id="369" name="Google Shape;369;p29"/>
          <p:cNvSpPr/>
          <p:nvPr/>
        </p:nvSpPr>
        <p:spPr>
          <a:xfrm>
            <a:off x="4469853" y="2519925"/>
            <a:ext cx="3375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370" name="Google Shape;370;p29"/>
          <p:cNvPicPr preferRelativeResize="0"/>
          <p:nvPr/>
        </p:nvPicPr>
        <p:blipFill rotWithShape="1">
          <a:blip r:embed="rId5">
            <a:alphaModFix/>
          </a:blip>
          <a:srcRect b="11281" l="20956" r="20375" t="10435"/>
          <a:stretch/>
        </p:blipFill>
        <p:spPr>
          <a:xfrm>
            <a:off x="4453732" y="2558200"/>
            <a:ext cx="305406" cy="275843"/>
          </a:xfrm>
          <a:prstGeom prst="rect">
            <a:avLst/>
          </a:prstGeom>
          <a:noFill/>
          <a:ln>
            <a:noFill/>
          </a:ln>
        </p:spPr>
      </p:pic>
      <p:sp>
        <p:nvSpPr>
          <p:cNvPr id="371" name="Google Shape;371;p29"/>
          <p:cNvSpPr txBox="1"/>
          <p:nvPr/>
        </p:nvSpPr>
        <p:spPr>
          <a:xfrm>
            <a:off x="0" y="3129525"/>
            <a:ext cx="47046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Promising Market segment growth ; </a:t>
            </a:r>
            <a:r>
              <a:rPr b="1" lang="en" sz="1200">
                <a:solidFill>
                  <a:schemeClr val="lt1"/>
                </a:solidFill>
                <a:latin typeface="Open Sans"/>
                <a:ea typeface="Open Sans"/>
                <a:cs typeface="Open Sans"/>
                <a:sym typeface="Open Sans"/>
              </a:rPr>
              <a:t>Nascent w.r.t. EVs</a:t>
            </a:r>
            <a:endParaRPr sz="1200">
              <a:solidFill>
                <a:srgbClr val="FFFFFF"/>
              </a:solidFill>
              <a:latin typeface="Open Sans ExtraBold"/>
              <a:ea typeface="Open Sans ExtraBold"/>
              <a:cs typeface="Open Sans ExtraBold"/>
              <a:sym typeface="Open Sans ExtraBold"/>
            </a:endParaRPr>
          </a:p>
        </p:txBody>
      </p:sp>
      <p:sp>
        <p:nvSpPr>
          <p:cNvPr id="372" name="Google Shape;372;p29"/>
          <p:cNvSpPr/>
          <p:nvPr/>
        </p:nvSpPr>
        <p:spPr>
          <a:xfrm>
            <a:off x="4469853" y="3129525"/>
            <a:ext cx="3375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373" name="Google Shape;373;p29"/>
          <p:cNvPicPr preferRelativeResize="0"/>
          <p:nvPr/>
        </p:nvPicPr>
        <p:blipFill rotWithShape="1">
          <a:blip r:embed="rId5">
            <a:alphaModFix/>
          </a:blip>
          <a:srcRect b="11281" l="20956" r="20375" t="10435"/>
          <a:stretch/>
        </p:blipFill>
        <p:spPr>
          <a:xfrm>
            <a:off x="4453732" y="3167800"/>
            <a:ext cx="305406" cy="275843"/>
          </a:xfrm>
          <a:prstGeom prst="rect">
            <a:avLst/>
          </a:prstGeom>
          <a:noFill/>
          <a:ln>
            <a:noFill/>
          </a:ln>
        </p:spPr>
      </p:pic>
      <p:sp>
        <p:nvSpPr>
          <p:cNvPr id="374" name="Google Shape;374;p29"/>
          <p:cNvSpPr txBox="1"/>
          <p:nvPr/>
        </p:nvSpPr>
        <p:spPr>
          <a:xfrm>
            <a:off x="0" y="3739125"/>
            <a:ext cx="47046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Modest Charging and Service infrastructure need</a:t>
            </a:r>
            <a:endParaRPr sz="1200">
              <a:solidFill>
                <a:srgbClr val="FFFFFF"/>
              </a:solidFill>
              <a:latin typeface="Open Sans ExtraBold"/>
              <a:ea typeface="Open Sans ExtraBold"/>
              <a:cs typeface="Open Sans ExtraBold"/>
              <a:sym typeface="Open Sans ExtraBold"/>
            </a:endParaRPr>
          </a:p>
        </p:txBody>
      </p:sp>
      <p:sp>
        <p:nvSpPr>
          <p:cNvPr id="375" name="Google Shape;375;p29"/>
          <p:cNvSpPr/>
          <p:nvPr/>
        </p:nvSpPr>
        <p:spPr>
          <a:xfrm>
            <a:off x="4469853" y="3739125"/>
            <a:ext cx="3375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376" name="Google Shape;376;p29"/>
          <p:cNvPicPr preferRelativeResize="0"/>
          <p:nvPr/>
        </p:nvPicPr>
        <p:blipFill rotWithShape="1">
          <a:blip r:embed="rId5">
            <a:alphaModFix/>
          </a:blip>
          <a:srcRect b="11281" l="20956" r="20375" t="10435"/>
          <a:stretch/>
        </p:blipFill>
        <p:spPr>
          <a:xfrm>
            <a:off x="4453732" y="3777400"/>
            <a:ext cx="305406" cy="275843"/>
          </a:xfrm>
          <a:prstGeom prst="rect">
            <a:avLst/>
          </a:prstGeom>
          <a:noFill/>
          <a:ln>
            <a:noFill/>
          </a:ln>
        </p:spPr>
      </p:pic>
      <p:sp>
        <p:nvSpPr>
          <p:cNvPr id="377" name="Google Shape;377;p29"/>
          <p:cNvSpPr txBox="1"/>
          <p:nvPr/>
        </p:nvSpPr>
        <p:spPr>
          <a:xfrm>
            <a:off x="0" y="1910325"/>
            <a:ext cx="4704600" cy="352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FFFFFF"/>
                </a:solidFill>
                <a:latin typeface="Open Sans"/>
                <a:ea typeface="Open Sans"/>
                <a:cs typeface="Open Sans"/>
                <a:sym typeface="Open Sans"/>
              </a:rPr>
              <a:t>Economic Viability and durability</a:t>
            </a:r>
            <a:endParaRPr sz="1200">
              <a:solidFill>
                <a:srgbClr val="FFFFFF"/>
              </a:solidFill>
              <a:latin typeface="Open Sans ExtraBold"/>
              <a:ea typeface="Open Sans ExtraBold"/>
              <a:cs typeface="Open Sans ExtraBold"/>
              <a:sym typeface="Open Sans ExtraBold"/>
            </a:endParaRPr>
          </a:p>
        </p:txBody>
      </p:sp>
      <p:sp>
        <p:nvSpPr>
          <p:cNvPr id="378" name="Google Shape;378;p29"/>
          <p:cNvSpPr/>
          <p:nvPr/>
        </p:nvSpPr>
        <p:spPr>
          <a:xfrm>
            <a:off x="4469853" y="1910325"/>
            <a:ext cx="337500" cy="3525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379" name="Google Shape;379;p29"/>
          <p:cNvPicPr preferRelativeResize="0"/>
          <p:nvPr/>
        </p:nvPicPr>
        <p:blipFill rotWithShape="1">
          <a:blip r:embed="rId5">
            <a:alphaModFix/>
          </a:blip>
          <a:srcRect b="11281" l="20956" r="20375" t="10435"/>
          <a:stretch/>
        </p:blipFill>
        <p:spPr>
          <a:xfrm>
            <a:off x="4453732" y="1948600"/>
            <a:ext cx="305406" cy="275843"/>
          </a:xfrm>
          <a:prstGeom prst="rect">
            <a:avLst/>
          </a:prstGeom>
          <a:noFill/>
          <a:ln>
            <a:noFill/>
          </a:ln>
        </p:spPr>
      </p:pic>
      <p:pic>
        <p:nvPicPr>
          <p:cNvPr id="380" name="Google Shape;380;p29"/>
          <p:cNvPicPr preferRelativeResize="0"/>
          <p:nvPr/>
        </p:nvPicPr>
        <p:blipFill>
          <a:blip r:embed="rId6">
            <a:alphaModFix/>
          </a:blip>
          <a:stretch>
            <a:fillRect/>
          </a:stretch>
        </p:blipFill>
        <p:spPr>
          <a:xfrm>
            <a:off x="4978944" y="1510231"/>
            <a:ext cx="4079175" cy="2518501"/>
          </a:xfrm>
          <a:prstGeom prst="rect">
            <a:avLst/>
          </a:prstGeom>
          <a:noFill/>
          <a:ln cap="flat" cmpd="sng" w="9525">
            <a:solidFill>
              <a:srgbClr val="434343"/>
            </a:solidFill>
            <a:prstDash val="solid"/>
            <a:round/>
            <a:headEnd len="sm" w="sm" type="none"/>
            <a:tailEnd len="sm" w="sm" type="none"/>
          </a:ln>
        </p:spPr>
      </p:pic>
      <p:sp>
        <p:nvSpPr>
          <p:cNvPr id="381" name="Google Shape;381;p29"/>
          <p:cNvSpPr txBox="1"/>
          <p:nvPr/>
        </p:nvSpPr>
        <p:spPr>
          <a:xfrm>
            <a:off x="5635150" y="1212675"/>
            <a:ext cx="3195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Lato"/>
                <a:ea typeface="Lato"/>
                <a:cs typeface="Lato"/>
                <a:sym typeface="Lato"/>
              </a:rPr>
              <a:t>Charger Installation costs according to category</a:t>
            </a:r>
            <a:endParaRPr sz="1100">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FEFEF"/>
        </a:solidFill>
      </p:bgPr>
    </p:bg>
    <p:spTree>
      <p:nvGrpSpPr>
        <p:cNvPr id="385" name="Shape 385"/>
        <p:cNvGrpSpPr/>
        <p:nvPr/>
      </p:nvGrpSpPr>
      <p:grpSpPr>
        <a:xfrm>
          <a:off x="0" y="0"/>
          <a:ext cx="0" cy="0"/>
          <a:chOff x="0" y="0"/>
          <a:chExt cx="0" cy="0"/>
        </a:xfrm>
      </p:grpSpPr>
      <p:sp>
        <p:nvSpPr>
          <p:cNvPr id="386" name="Google Shape;386;p30"/>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lang="en" sz="2400">
                <a:solidFill>
                  <a:srgbClr val="F3F3F3"/>
                </a:solidFill>
                <a:latin typeface="Lato"/>
                <a:ea typeface="Lato"/>
                <a:cs typeface="Lato"/>
                <a:sym typeface="Lato"/>
              </a:rPr>
              <a:t>Performance</a:t>
            </a:r>
            <a:r>
              <a:rPr b="1" i="0" lang="en" sz="2400" u="none" cap="none" strike="noStrike">
                <a:solidFill>
                  <a:srgbClr val="F3F3F3"/>
                </a:solidFill>
                <a:latin typeface="Lato"/>
                <a:ea typeface="Lato"/>
                <a:cs typeface="Lato"/>
                <a:sym typeface="Lato"/>
              </a:rPr>
              <a:t> </a:t>
            </a:r>
            <a:r>
              <a:rPr lang="en" sz="2400">
                <a:solidFill>
                  <a:srgbClr val="48BACA"/>
                </a:solidFill>
                <a:latin typeface="Lato Black"/>
                <a:ea typeface="Lato Black"/>
                <a:cs typeface="Lato Black"/>
                <a:sym typeface="Lato Black"/>
              </a:rPr>
              <a:t>Baselining</a:t>
            </a:r>
            <a:endParaRPr i="0" sz="2400" u="none" cap="none" strike="noStrike">
              <a:solidFill>
                <a:srgbClr val="48BACA"/>
              </a:solidFill>
              <a:latin typeface="Lato Black"/>
              <a:ea typeface="Lato Black"/>
              <a:cs typeface="Lato Black"/>
              <a:sym typeface="Lato Black"/>
            </a:endParaRPr>
          </a:p>
        </p:txBody>
      </p:sp>
      <p:pic>
        <p:nvPicPr>
          <p:cNvPr id="387" name="Google Shape;387;p30"/>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388" name="Google Shape;388;p30"/>
          <p:cNvPicPr preferRelativeResize="0"/>
          <p:nvPr/>
        </p:nvPicPr>
        <p:blipFill>
          <a:blip r:embed="rId4">
            <a:alphaModFix amt="26000"/>
          </a:blip>
          <a:stretch>
            <a:fillRect/>
          </a:stretch>
        </p:blipFill>
        <p:spPr>
          <a:xfrm rot="9900000">
            <a:off x="5128900" y="2442475"/>
            <a:ext cx="4289526" cy="2716700"/>
          </a:xfrm>
          <a:prstGeom prst="rect">
            <a:avLst/>
          </a:prstGeom>
          <a:noFill/>
          <a:ln>
            <a:noFill/>
          </a:ln>
        </p:spPr>
      </p:pic>
      <p:sp>
        <p:nvSpPr>
          <p:cNvPr id="389" name="Google Shape;389;p30"/>
          <p:cNvSpPr txBox="1"/>
          <p:nvPr/>
        </p:nvSpPr>
        <p:spPr>
          <a:xfrm>
            <a:off x="294275" y="1634325"/>
            <a:ext cx="7088400" cy="111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90" name="Google Shape;390;p30"/>
          <p:cNvSpPr txBox="1"/>
          <p:nvPr/>
        </p:nvSpPr>
        <p:spPr>
          <a:xfrm>
            <a:off x="217500" y="1736675"/>
            <a:ext cx="5271600" cy="355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91" name="Google Shape;391;p30"/>
          <p:cNvSpPr txBox="1"/>
          <p:nvPr/>
        </p:nvSpPr>
        <p:spPr>
          <a:xfrm>
            <a:off x="217500" y="1595925"/>
            <a:ext cx="8239800" cy="144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rgbClr val="324B4F"/>
              </a:solidFill>
              <a:latin typeface="Lato"/>
              <a:ea typeface="Lato"/>
              <a:cs typeface="Lato"/>
              <a:sym typeface="Lato"/>
            </a:endParaRPr>
          </a:p>
          <a:p>
            <a:pPr indent="-304800" lvl="0" marL="457200" rtl="0" algn="l">
              <a:lnSpc>
                <a:spcPct val="115000"/>
              </a:lnSpc>
              <a:spcBef>
                <a:spcPts val="0"/>
              </a:spcBef>
              <a:spcAft>
                <a:spcPts val="0"/>
              </a:spcAft>
              <a:buClr>
                <a:srgbClr val="595959"/>
              </a:buClr>
              <a:buSzPts val="1200"/>
              <a:buFont typeface="Lato"/>
              <a:buChar char="●"/>
            </a:pPr>
            <a:r>
              <a:rPr b="1" lang="en" sz="1200">
                <a:solidFill>
                  <a:srgbClr val="595959"/>
                </a:solidFill>
                <a:latin typeface="Lato"/>
                <a:ea typeface="Lato"/>
                <a:cs typeface="Lato"/>
                <a:sym typeface="Lato"/>
              </a:rPr>
              <a:t>Loaded / unloaded equal distance of travel</a:t>
            </a:r>
            <a:endParaRPr b="1" sz="1200">
              <a:solidFill>
                <a:srgbClr val="595959"/>
              </a:solidFill>
              <a:latin typeface="Lato"/>
              <a:ea typeface="Lato"/>
              <a:cs typeface="Lato"/>
              <a:sym typeface="Lato"/>
            </a:endParaRPr>
          </a:p>
          <a:p>
            <a:pPr indent="-304800" lvl="0" marL="457200" rtl="0" algn="l">
              <a:lnSpc>
                <a:spcPct val="115000"/>
              </a:lnSpc>
              <a:spcBef>
                <a:spcPts val="0"/>
              </a:spcBef>
              <a:spcAft>
                <a:spcPts val="0"/>
              </a:spcAft>
              <a:buClr>
                <a:srgbClr val="595959"/>
              </a:buClr>
              <a:buSzPts val="1200"/>
              <a:buFont typeface="Lato"/>
              <a:buChar char="●"/>
            </a:pPr>
            <a:r>
              <a:rPr b="1" lang="en" sz="1200">
                <a:solidFill>
                  <a:srgbClr val="595959"/>
                </a:solidFill>
                <a:latin typeface="Lato"/>
                <a:ea typeface="Lato"/>
                <a:cs typeface="Lato"/>
                <a:sym typeface="Lato"/>
              </a:rPr>
              <a:t>Flyovers / gradient roads - part of travel, but say only 10%</a:t>
            </a:r>
            <a:endParaRPr b="1" sz="1200">
              <a:solidFill>
                <a:srgbClr val="595959"/>
              </a:solidFill>
              <a:latin typeface="Lato"/>
              <a:ea typeface="Lato"/>
              <a:cs typeface="Lato"/>
              <a:sym typeface="Lato"/>
            </a:endParaRPr>
          </a:p>
          <a:p>
            <a:pPr indent="-304800" lvl="0" marL="457200" rtl="0" algn="l">
              <a:lnSpc>
                <a:spcPct val="115000"/>
              </a:lnSpc>
              <a:spcBef>
                <a:spcPts val="0"/>
              </a:spcBef>
              <a:spcAft>
                <a:spcPts val="0"/>
              </a:spcAft>
              <a:buClr>
                <a:srgbClr val="595959"/>
              </a:buClr>
              <a:buSzPts val="1200"/>
              <a:buFont typeface="Lato"/>
              <a:buChar char="●"/>
            </a:pPr>
            <a:r>
              <a:rPr b="1" lang="en" sz="1200">
                <a:solidFill>
                  <a:srgbClr val="595959"/>
                </a:solidFill>
                <a:latin typeface="Lato"/>
                <a:ea typeface="Lato"/>
                <a:cs typeface="Lato"/>
                <a:sym typeface="Lato"/>
              </a:rPr>
              <a:t>High Traffic operation -60 % of the time</a:t>
            </a:r>
            <a:endParaRPr b="1" sz="1200">
              <a:solidFill>
                <a:srgbClr val="595959"/>
              </a:solidFill>
              <a:latin typeface="Lato"/>
              <a:ea typeface="Lato"/>
              <a:cs typeface="Lato"/>
              <a:sym typeface="Lato"/>
            </a:endParaRPr>
          </a:p>
          <a:p>
            <a:pPr indent="-304800" lvl="0" marL="457200" rtl="0" algn="l">
              <a:lnSpc>
                <a:spcPct val="115000"/>
              </a:lnSpc>
              <a:spcBef>
                <a:spcPts val="0"/>
              </a:spcBef>
              <a:spcAft>
                <a:spcPts val="0"/>
              </a:spcAft>
              <a:buClr>
                <a:srgbClr val="595959"/>
              </a:buClr>
              <a:buSzPts val="1200"/>
              <a:buFont typeface="Lato"/>
              <a:buChar char="●"/>
            </a:pPr>
            <a:r>
              <a:rPr b="1" lang="en" sz="1200">
                <a:solidFill>
                  <a:srgbClr val="595959"/>
                </a:solidFill>
                <a:latin typeface="Lato"/>
                <a:ea typeface="Lato"/>
                <a:cs typeface="Lato"/>
                <a:sym typeface="Lato"/>
              </a:rPr>
              <a:t>High speed/highway cruise operation - 30% of the time</a:t>
            </a:r>
            <a:endParaRPr b="1" sz="1200">
              <a:solidFill>
                <a:srgbClr val="595959"/>
              </a:solidFill>
              <a:latin typeface="Lato"/>
              <a:ea typeface="Lato"/>
              <a:cs typeface="Lato"/>
              <a:sym typeface="Lato"/>
            </a:endParaRPr>
          </a:p>
          <a:p>
            <a:pPr indent="0" lvl="0" marL="457200" rtl="0" algn="l">
              <a:lnSpc>
                <a:spcPct val="115000"/>
              </a:lnSpc>
              <a:spcBef>
                <a:spcPts val="0"/>
              </a:spcBef>
              <a:spcAft>
                <a:spcPts val="0"/>
              </a:spcAft>
              <a:buNone/>
            </a:pPr>
            <a:r>
              <a:t/>
            </a:r>
            <a:endParaRPr/>
          </a:p>
        </p:txBody>
      </p:sp>
      <p:sp>
        <p:nvSpPr>
          <p:cNvPr id="392" name="Google Shape;392;p30"/>
          <p:cNvSpPr txBox="1"/>
          <p:nvPr/>
        </p:nvSpPr>
        <p:spPr>
          <a:xfrm>
            <a:off x="0" y="1398425"/>
            <a:ext cx="4111500" cy="407100"/>
          </a:xfrm>
          <a:prstGeom prst="rect">
            <a:avLst/>
          </a:prstGeom>
          <a:solidFill>
            <a:srgbClr val="23656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700">
                <a:solidFill>
                  <a:srgbClr val="EFEFEF"/>
                </a:solidFill>
                <a:latin typeface="Open Sans ExtraBold"/>
                <a:ea typeface="Open Sans ExtraBold"/>
                <a:cs typeface="Open Sans ExtraBold"/>
                <a:sym typeface="Open Sans ExtraBold"/>
              </a:rPr>
              <a:t>USE CASE SCENARIOS OF A ULCV</a:t>
            </a:r>
            <a:endParaRPr sz="1700">
              <a:solidFill>
                <a:srgbClr val="EFEFEF"/>
              </a:solidFill>
              <a:latin typeface="Open Sans ExtraBold"/>
              <a:ea typeface="Open Sans ExtraBold"/>
              <a:cs typeface="Open Sans ExtraBold"/>
              <a:sym typeface="Open Sans ExtraBold"/>
            </a:endParaRPr>
          </a:p>
        </p:txBody>
      </p:sp>
      <p:sp>
        <p:nvSpPr>
          <p:cNvPr id="393" name="Google Shape;393;p30"/>
          <p:cNvSpPr/>
          <p:nvPr/>
        </p:nvSpPr>
        <p:spPr>
          <a:xfrm>
            <a:off x="3834275" y="1398425"/>
            <a:ext cx="399000" cy="4071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394" name="Google Shape;394;p30"/>
          <p:cNvPicPr preferRelativeResize="0"/>
          <p:nvPr/>
        </p:nvPicPr>
        <p:blipFill rotWithShape="1">
          <a:blip r:embed="rId5">
            <a:alphaModFix/>
          </a:blip>
          <a:srcRect b="11281" l="20956" r="20375" t="10435"/>
          <a:stretch/>
        </p:blipFill>
        <p:spPr>
          <a:xfrm>
            <a:off x="3815225" y="1442641"/>
            <a:ext cx="360900" cy="31866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398" name="Shape 398"/>
        <p:cNvGrpSpPr/>
        <p:nvPr/>
      </p:nvGrpSpPr>
      <p:grpSpPr>
        <a:xfrm>
          <a:off x="0" y="0"/>
          <a:ext cx="0" cy="0"/>
          <a:chOff x="0" y="0"/>
          <a:chExt cx="0" cy="0"/>
        </a:xfrm>
      </p:grpSpPr>
      <p:sp>
        <p:nvSpPr>
          <p:cNvPr id="399" name="Google Shape;399;p31"/>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lang="en" sz="2400">
                <a:solidFill>
                  <a:srgbClr val="F3F3F3"/>
                </a:solidFill>
                <a:latin typeface="Lato"/>
                <a:ea typeface="Lato"/>
                <a:cs typeface="Lato"/>
                <a:sym typeface="Lato"/>
              </a:rPr>
              <a:t>Performance</a:t>
            </a:r>
            <a:r>
              <a:rPr b="1" i="0" lang="en" sz="2400" u="none" cap="none" strike="noStrike">
                <a:solidFill>
                  <a:srgbClr val="F3F3F3"/>
                </a:solidFill>
                <a:latin typeface="Lato"/>
                <a:ea typeface="Lato"/>
                <a:cs typeface="Lato"/>
                <a:sym typeface="Lato"/>
              </a:rPr>
              <a:t> </a:t>
            </a:r>
            <a:r>
              <a:rPr lang="en" sz="2400">
                <a:solidFill>
                  <a:srgbClr val="48BACA"/>
                </a:solidFill>
                <a:latin typeface="Lato Black"/>
                <a:ea typeface="Lato Black"/>
                <a:cs typeface="Lato Black"/>
                <a:sym typeface="Lato Black"/>
              </a:rPr>
              <a:t>Baselining</a:t>
            </a:r>
            <a:endParaRPr i="0" sz="2400" u="none" cap="none" strike="noStrike">
              <a:solidFill>
                <a:srgbClr val="48BACA"/>
              </a:solidFill>
              <a:latin typeface="Lato Black"/>
              <a:ea typeface="Lato Black"/>
              <a:cs typeface="Lato Black"/>
              <a:sym typeface="Lato Black"/>
            </a:endParaRPr>
          </a:p>
        </p:txBody>
      </p:sp>
      <p:pic>
        <p:nvPicPr>
          <p:cNvPr id="400" name="Google Shape;400;p31"/>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401" name="Google Shape;401;p31"/>
          <p:cNvPicPr preferRelativeResize="0"/>
          <p:nvPr/>
        </p:nvPicPr>
        <p:blipFill>
          <a:blip r:embed="rId4">
            <a:alphaModFix amt="16000"/>
          </a:blip>
          <a:stretch>
            <a:fillRect/>
          </a:stretch>
        </p:blipFill>
        <p:spPr>
          <a:xfrm rot="9900000">
            <a:off x="5128900" y="2442475"/>
            <a:ext cx="4289526" cy="2716700"/>
          </a:xfrm>
          <a:prstGeom prst="rect">
            <a:avLst/>
          </a:prstGeom>
          <a:noFill/>
          <a:ln>
            <a:noFill/>
          </a:ln>
        </p:spPr>
      </p:pic>
      <p:graphicFrame>
        <p:nvGraphicFramePr>
          <p:cNvPr id="402" name="Google Shape;402;p31"/>
          <p:cNvGraphicFramePr/>
          <p:nvPr/>
        </p:nvGraphicFramePr>
        <p:xfrm>
          <a:off x="374225" y="1223525"/>
          <a:ext cx="3000000" cy="3000000"/>
        </p:xfrm>
        <a:graphic>
          <a:graphicData uri="http://schemas.openxmlformats.org/drawingml/2006/table">
            <a:tbl>
              <a:tblPr>
                <a:noFill/>
                <a:tableStyleId>{43AF8DD5-E6FA-4577-8082-F1EEE736C7BF}</a:tableStyleId>
              </a:tblPr>
              <a:tblGrid>
                <a:gridCol w="516850"/>
                <a:gridCol w="2173625"/>
                <a:gridCol w="1785725"/>
                <a:gridCol w="4007150"/>
              </a:tblGrid>
              <a:tr h="368225">
                <a:tc>
                  <a:txBody>
                    <a:bodyPr/>
                    <a:lstStyle/>
                    <a:p>
                      <a:pPr indent="0" lvl="0" marL="0" rtl="0" algn="ctr">
                        <a:spcBef>
                          <a:spcPts val="0"/>
                        </a:spcBef>
                        <a:spcAft>
                          <a:spcPts val="0"/>
                        </a:spcAft>
                        <a:buNone/>
                      </a:pPr>
                      <a:r>
                        <a:rPr b="1" lang="en" sz="1500">
                          <a:solidFill>
                            <a:srgbClr val="FFFFFF"/>
                          </a:solidFill>
                          <a:latin typeface="Lato"/>
                          <a:ea typeface="Lato"/>
                          <a:cs typeface="Lato"/>
                          <a:sym typeface="Lato"/>
                        </a:rPr>
                        <a:t>S/N</a:t>
                      </a:r>
                      <a:endParaRPr b="1" sz="1500">
                        <a:solidFill>
                          <a:srgbClr val="FFFFFF"/>
                        </a:solidFill>
                        <a:latin typeface="Lato"/>
                        <a:ea typeface="Lato"/>
                        <a:cs typeface="Lato"/>
                        <a:sym typeface="Lato"/>
                      </a:endParaRPr>
                    </a:p>
                  </a:txBody>
                  <a:tcPr marT="91425" marB="91425" marR="91425" marL="91425">
                    <a:solidFill>
                      <a:srgbClr val="23656F"/>
                    </a:solidFill>
                  </a:tcPr>
                </a:tc>
                <a:tc>
                  <a:txBody>
                    <a:bodyPr/>
                    <a:lstStyle/>
                    <a:p>
                      <a:pPr indent="0" lvl="0" marL="0" rtl="0" algn="ctr">
                        <a:spcBef>
                          <a:spcPts val="0"/>
                        </a:spcBef>
                        <a:spcAft>
                          <a:spcPts val="0"/>
                        </a:spcAft>
                        <a:buNone/>
                      </a:pPr>
                      <a:r>
                        <a:rPr b="1" lang="en" sz="1500">
                          <a:solidFill>
                            <a:srgbClr val="FFFFFF"/>
                          </a:solidFill>
                          <a:latin typeface="Lato"/>
                          <a:ea typeface="Lato"/>
                          <a:cs typeface="Lato"/>
                          <a:sym typeface="Lato"/>
                        </a:rPr>
                        <a:t>Parameter</a:t>
                      </a:r>
                      <a:endParaRPr b="1" sz="1500">
                        <a:solidFill>
                          <a:srgbClr val="FFFFFF"/>
                        </a:solidFill>
                        <a:latin typeface="Lato"/>
                        <a:ea typeface="Lato"/>
                        <a:cs typeface="Lato"/>
                        <a:sym typeface="Lato"/>
                      </a:endParaRPr>
                    </a:p>
                  </a:txBody>
                  <a:tcPr marT="91425" marB="91425" marR="91425" marL="91425">
                    <a:solidFill>
                      <a:srgbClr val="23656F"/>
                    </a:solidFill>
                  </a:tcPr>
                </a:tc>
                <a:tc>
                  <a:txBody>
                    <a:bodyPr/>
                    <a:lstStyle/>
                    <a:p>
                      <a:pPr indent="0" lvl="0" marL="0" rtl="0" algn="ctr">
                        <a:spcBef>
                          <a:spcPts val="0"/>
                        </a:spcBef>
                        <a:spcAft>
                          <a:spcPts val="0"/>
                        </a:spcAft>
                        <a:buNone/>
                      </a:pPr>
                      <a:r>
                        <a:rPr b="1" lang="en" sz="1500">
                          <a:solidFill>
                            <a:srgbClr val="FFFFFF"/>
                          </a:solidFill>
                          <a:latin typeface="Lato"/>
                          <a:ea typeface="Lato"/>
                          <a:cs typeface="Lato"/>
                          <a:sym typeface="Lato"/>
                        </a:rPr>
                        <a:t>Baseline</a:t>
                      </a:r>
                      <a:endParaRPr b="1" sz="1500">
                        <a:solidFill>
                          <a:srgbClr val="FFFFFF"/>
                        </a:solidFill>
                        <a:latin typeface="Lato"/>
                        <a:ea typeface="Lato"/>
                        <a:cs typeface="Lato"/>
                        <a:sym typeface="Lato"/>
                      </a:endParaRPr>
                    </a:p>
                  </a:txBody>
                  <a:tcPr marT="91425" marB="91425" marR="91425" marL="91425">
                    <a:solidFill>
                      <a:srgbClr val="23656F"/>
                    </a:solidFill>
                  </a:tcPr>
                </a:tc>
                <a:tc>
                  <a:txBody>
                    <a:bodyPr/>
                    <a:lstStyle/>
                    <a:p>
                      <a:pPr indent="0" lvl="0" marL="0" rtl="0" algn="ctr">
                        <a:spcBef>
                          <a:spcPts val="0"/>
                        </a:spcBef>
                        <a:spcAft>
                          <a:spcPts val="0"/>
                        </a:spcAft>
                        <a:buNone/>
                      </a:pPr>
                      <a:r>
                        <a:rPr b="1" lang="en" sz="1500">
                          <a:solidFill>
                            <a:srgbClr val="FFFFFF"/>
                          </a:solidFill>
                          <a:latin typeface="Lato"/>
                          <a:ea typeface="Lato"/>
                          <a:cs typeface="Lato"/>
                          <a:sym typeface="Lato"/>
                        </a:rPr>
                        <a:t>Reasoning</a:t>
                      </a:r>
                      <a:endParaRPr b="1" sz="1500">
                        <a:solidFill>
                          <a:srgbClr val="FFFFFF"/>
                        </a:solidFill>
                        <a:latin typeface="Lato"/>
                        <a:ea typeface="Lato"/>
                        <a:cs typeface="Lato"/>
                        <a:sym typeface="Lato"/>
                      </a:endParaRPr>
                    </a:p>
                  </a:txBody>
                  <a:tcPr marT="91425" marB="91425" marR="91425" marL="91425">
                    <a:solidFill>
                      <a:srgbClr val="23656F"/>
                    </a:solidFill>
                  </a:tcPr>
                </a:tc>
              </a:tr>
              <a:tr h="380975">
                <a:tc>
                  <a:txBody>
                    <a:bodyPr/>
                    <a:lstStyle/>
                    <a:p>
                      <a:pPr indent="0" lvl="0" marL="0" rtl="0" algn="ctr">
                        <a:spcBef>
                          <a:spcPts val="0"/>
                        </a:spcBef>
                        <a:spcAft>
                          <a:spcPts val="0"/>
                        </a:spcAft>
                        <a:buNone/>
                      </a:pPr>
                      <a:r>
                        <a:rPr lang="en" sz="1300">
                          <a:solidFill>
                            <a:srgbClr val="434343"/>
                          </a:solidFill>
                          <a:latin typeface="Lato"/>
                          <a:ea typeface="Lato"/>
                          <a:cs typeface="Lato"/>
                          <a:sym typeface="Lato"/>
                        </a:rPr>
                        <a:t>1.</a:t>
                      </a:r>
                      <a:endParaRPr sz="1300">
                        <a:solidFill>
                          <a:srgbClr val="434343"/>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sz="1300">
                          <a:solidFill>
                            <a:srgbClr val="434343"/>
                          </a:solidFill>
                          <a:latin typeface="Lato"/>
                          <a:ea typeface="Lato"/>
                          <a:cs typeface="Lato"/>
                          <a:sym typeface="Lato"/>
                        </a:rPr>
                        <a:t>Load Capacity</a:t>
                      </a:r>
                      <a:endParaRPr sz="1300">
                        <a:solidFill>
                          <a:srgbClr val="434343"/>
                        </a:solidFill>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b="1" lang="en" sz="1300">
                          <a:solidFill>
                            <a:srgbClr val="434343"/>
                          </a:solidFill>
                          <a:latin typeface="Lato"/>
                          <a:ea typeface="Lato"/>
                          <a:cs typeface="Lato"/>
                          <a:sym typeface="Lato"/>
                        </a:rPr>
                        <a:t>8</a:t>
                      </a:r>
                      <a:r>
                        <a:rPr b="1" lang="en" sz="1300">
                          <a:solidFill>
                            <a:srgbClr val="434343"/>
                          </a:solidFill>
                          <a:latin typeface="Lato"/>
                          <a:ea typeface="Lato"/>
                          <a:cs typeface="Lato"/>
                          <a:sym typeface="Lato"/>
                        </a:rPr>
                        <a:t>00 kg</a:t>
                      </a:r>
                      <a:endParaRPr b="1" sz="1300">
                        <a:solidFill>
                          <a:srgbClr val="434343"/>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sz="1300">
                          <a:solidFill>
                            <a:srgbClr val="434343"/>
                          </a:solidFill>
                          <a:latin typeface="Lato"/>
                          <a:ea typeface="Lato"/>
                          <a:cs typeface="Lato"/>
                          <a:sym typeface="Lato"/>
                        </a:rPr>
                        <a:t>Desired market segment ; from market comparison</a:t>
                      </a:r>
                      <a:endParaRPr sz="1300">
                        <a:solidFill>
                          <a:srgbClr val="434343"/>
                        </a:solidFill>
                        <a:latin typeface="Lato"/>
                        <a:ea typeface="Lato"/>
                        <a:cs typeface="Lato"/>
                        <a:sym typeface="Lato"/>
                      </a:endParaRPr>
                    </a:p>
                  </a:txBody>
                  <a:tcPr marT="91425" marB="91425" marR="91425" marL="91425"/>
                </a:tc>
              </a:tr>
              <a:tr h="579100">
                <a:tc>
                  <a:txBody>
                    <a:bodyPr/>
                    <a:lstStyle/>
                    <a:p>
                      <a:pPr indent="0" lvl="0" marL="0" rtl="0" algn="ctr">
                        <a:spcBef>
                          <a:spcPts val="0"/>
                        </a:spcBef>
                        <a:spcAft>
                          <a:spcPts val="0"/>
                        </a:spcAft>
                        <a:buNone/>
                      </a:pPr>
                      <a:r>
                        <a:rPr lang="en" sz="1300">
                          <a:solidFill>
                            <a:srgbClr val="434343"/>
                          </a:solidFill>
                          <a:latin typeface="Lato"/>
                          <a:ea typeface="Lato"/>
                          <a:cs typeface="Lato"/>
                          <a:sym typeface="Lato"/>
                        </a:rPr>
                        <a:t>2.</a:t>
                      </a:r>
                      <a:endParaRPr sz="1300">
                        <a:solidFill>
                          <a:srgbClr val="434343"/>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sz="1300">
                          <a:solidFill>
                            <a:srgbClr val="434343"/>
                          </a:solidFill>
                          <a:latin typeface="Lato"/>
                          <a:ea typeface="Lato"/>
                          <a:cs typeface="Lato"/>
                          <a:sym typeface="Lato"/>
                        </a:rPr>
                        <a:t>Top Speed</a:t>
                      </a:r>
                      <a:endParaRPr sz="1300">
                        <a:solidFill>
                          <a:srgbClr val="434343"/>
                        </a:solidFill>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b="1" lang="en" sz="1300">
                          <a:solidFill>
                            <a:srgbClr val="434343"/>
                          </a:solidFill>
                          <a:latin typeface="Lato"/>
                          <a:ea typeface="Lato"/>
                          <a:cs typeface="Lato"/>
                          <a:sym typeface="Lato"/>
                        </a:rPr>
                        <a:t>75</a:t>
                      </a:r>
                      <a:r>
                        <a:rPr b="1" lang="en" sz="1300">
                          <a:solidFill>
                            <a:srgbClr val="434343"/>
                          </a:solidFill>
                          <a:latin typeface="Lato"/>
                          <a:ea typeface="Lato"/>
                          <a:cs typeface="Lato"/>
                          <a:sym typeface="Lato"/>
                        </a:rPr>
                        <a:t> km/h *</a:t>
                      </a:r>
                      <a:endParaRPr b="1" sz="1300">
                        <a:solidFill>
                          <a:srgbClr val="434343"/>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sz="1300">
                          <a:solidFill>
                            <a:srgbClr val="434343"/>
                          </a:solidFill>
                          <a:latin typeface="Lato"/>
                          <a:ea typeface="Lato"/>
                          <a:cs typeface="Lato"/>
                          <a:sym typeface="Lato"/>
                        </a:rPr>
                        <a:t>Matches the speed limit in most urban and semi-urban areas, for occasional highway cruising</a:t>
                      </a:r>
                      <a:endParaRPr sz="1300">
                        <a:solidFill>
                          <a:srgbClr val="434343"/>
                        </a:solidFill>
                        <a:latin typeface="Lato"/>
                        <a:ea typeface="Lato"/>
                        <a:cs typeface="Lato"/>
                        <a:sym typeface="Lato"/>
                      </a:endParaRPr>
                    </a:p>
                  </a:txBody>
                  <a:tcPr marT="91425" marB="91425" marR="91425" marL="91425"/>
                </a:tc>
              </a:tr>
              <a:tr h="380975">
                <a:tc>
                  <a:txBody>
                    <a:bodyPr/>
                    <a:lstStyle/>
                    <a:p>
                      <a:pPr indent="0" lvl="0" marL="0" rtl="0" algn="ctr">
                        <a:spcBef>
                          <a:spcPts val="0"/>
                        </a:spcBef>
                        <a:spcAft>
                          <a:spcPts val="0"/>
                        </a:spcAft>
                        <a:buNone/>
                      </a:pPr>
                      <a:r>
                        <a:rPr lang="en" sz="1300">
                          <a:solidFill>
                            <a:srgbClr val="434343"/>
                          </a:solidFill>
                          <a:latin typeface="Lato"/>
                          <a:ea typeface="Lato"/>
                          <a:cs typeface="Lato"/>
                          <a:sym typeface="Lato"/>
                        </a:rPr>
                        <a:t>3.</a:t>
                      </a:r>
                      <a:endParaRPr sz="1300">
                        <a:solidFill>
                          <a:srgbClr val="434343"/>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sz="1300">
                          <a:solidFill>
                            <a:srgbClr val="434343"/>
                          </a:solidFill>
                          <a:latin typeface="Lato"/>
                          <a:ea typeface="Lato"/>
                          <a:cs typeface="Lato"/>
                          <a:sym typeface="Lato"/>
                        </a:rPr>
                        <a:t>Target Gradeability</a:t>
                      </a:r>
                      <a:endParaRPr sz="1300">
                        <a:solidFill>
                          <a:srgbClr val="434343"/>
                        </a:solidFill>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b="1" lang="en" sz="1300">
                          <a:solidFill>
                            <a:srgbClr val="434343"/>
                          </a:solidFill>
                          <a:latin typeface="Lato"/>
                          <a:ea typeface="Lato"/>
                          <a:cs typeface="Lato"/>
                          <a:sym typeface="Lato"/>
                        </a:rPr>
                        <a:t>21</a:t>
                      </a:r>
                      <a:r>
                        <a:rPr b="1" lang="en" sz="1300">
                          <a:solidFill>
                            <a:srgbClr val="434343"/>
                          </a:solidFill>
                          <a:latin typeface="Lato"/>
                          <a:ea typeface="Lato"/>
                          <a:cs typeface="Lato"/>
                          <a:sym typeface="Lato"/>
                        </a:rPr>
                        <a:t>% (12 deg) *</a:t>
                      </a:r>
                      <a:endParaRPr b="1" sz="1300">
                        <a:solidFill>
                          <a:srgbClr val="434343"/>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sz="1300">
                          <a:solidFill>
                            <a:srgbClr val="434343"/>
                          </a:solidFill>
                          <a:latin typeface="Lato"/>
                          <a:ea typeface="Lato"/>
                          <a:cs typeface="Lato"/>
                          <a:sym typeface="Lato"/>
                        </a:rPr>
                        <a:t>For commercial applications  and hilly roads</a:t>
                      </a:r>
                      <a:endParaRPr sz="1300">
                        <a:solidFill>
                          <a:srgbClr val="434343"/>
                        </a:solidFill>
                        <a:latin typeface="Lato"/>
                        <a:ea typeface="Lato"/>
                        <a:cs typeface="Lato"/>
                        <a:sym typeface="Lato"/>
                      </a:endParaRPr>
                    </a:p>
                  </a:txBody>
                  <a:tcPr marT="91425" marB="91425" marR="91425" marL="91425"/>
                </a:tc>
              </a:tr>
              <a:tr h="310550">
                <a:tc>
                  <a:txBody>
                    <a:bodyPr/>
                    <a:lstStyle/>
                    <a:p>
                      <a:pPr indent="0" lvl="0" marL="0" rtl="0" algn="ctr">
                        <a:spcBef>
                          <a:spcPts val="0"/>
                        </a:spcBef>
                        <a:spcAft>
                          <a:spcPts val="0"/>
                        </a:spcAft>
                        <a:buNone/>
                      </a:pPr>
                      <a:r>
                        <a:rPr lang="en" sz="1300">
                          <a:solidFill>
                            <a:srgbClr val="434343"/>
                          </a:solidFill>
                          <a:latin typeface="Lato"/>
                          <a:ea typeface="Lato"/>
                          <a:cs typeface="Lato"/>
                          <a:sym typeface="Lato"/>
                        </a:rPr>
                        <a:t>4.</a:t>
                      </a:r>
                      <a:endParaRPr sz="1300">
                        <a:solidFill>
                          <a:srgbClr val="434343"/>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sz="1300">
                          <a:solidFill>
                            <a:srgbClr val="434343"/>
                          </a:solidFill>
                          <a:latin typeface="Lato"/>
                          <a:ea typeface="Lato"/>
                          <a:cs typeface="Lato"/>
                          <a:sym typeface="Lato"/>
                        </a:rPr>
                        <a:t>Braking Distance</a:t>
                      </a:r>
                      <a:endParaRPr sz="1300">
                        <a:solidFill>
                          <a:srgbClr val="434343"/>
                        </a:solidFill>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b="1" lang="en" sz="1300">
                          <a:solidFill>
                            <a:srgbClr val="434343"/>
                          </a:solidFill>
                          <a:latin typeface="Lato"/>
                          <a:ea typeface="Lato"/>
                          <a:cs typeface="Lato"/>
                          <a:sym typeface="Lato"/>
                        </a:rPr>
                        <a:t>50-0 km/h in 15m *</a:t>
                      </a:r>
                      <a:endParaRPr b="1" sz="1300">
                        <a:solidFill>
                          <a:srgbClr val="434343"/>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sz="1300">
                          <a:solidFill>
                            <a:srgbClr val="434343"/>
                          </a:solidFill>
                          <a:latin typeface="Lato"/>
                          <a:ea typeface="Lato"/>
                          <a:cs typeface="Lato"/>
                          <a:sym typeface="Lato"/>
                        </a:rPr>
                        <a:t>Identical to small</a:t>
                      </a:r>
                      <a:r>
                        <a:rPr lang="en" sz="1300">
                          <a:solidFill>
                            <a:srgbClr val="434343"/>
                          </a:solidFill>
                          <a:latin typeface="Lato"/>
                          <a:ea typeface="Lato"/>
                          <a:cs typeface="Lato"/>
                          <a:sym typeface="Lato"/>
                        </a:rPr>
                        <a:t> passenger car braking distance</a:t>
                      </a:r>
                      <a:endParaRPr sz="1300">
                        <a:solidFill>
                          <a:srgbClr val="434343"/>
                        </a:solidFill>
                        <a:latin typeface="Lato"/>
                        <a:ea typeface="Lato"/>
                        <a:cs typeface="Lato"/>
                        <a:sym typeface="Lato"/>
                      </a:endParaRPr>
                    </a:p>
                  </a:txBody>
                  <a:tcPr marT="91425" marB="91425" marR="91425" marL="91425"/>
                </a:tc>
              </a:tr>
              <a:tr h="380975">
                <a:tc>
                  <a:txBody>
                    <a:bodyPr/>
                    <a:lstStyle/>
                    <a:p>
                      <a:pPr indent="0" lvl="0" marL="0" rtl="0" algn="ctr">
                        <a:spcBef>
                          <a:spcPts val="0"/>
                        </a:spcBef>
                        <a:spcAft>
                          <a:spcPts val="0"/>
                        </a:spcAft>
                        <a:buNone/>
                      </a:pPr>
                      <a:r>
                        <a:rPr lang="en" sz="1300">
                          <a:solidFill>
                            <a:srgbClr val="434343"/>
                          </a:solidFill>
                          <a:latin typeface="Lato"/>
                          <a:ea typeface="Lato"/>
                          <a:cs typeface="Lato"/>
                          <a:sym typeface="Lato"/>
                        </a:rPr>
                        <a:t>5.</a:t>
                      </a:r>
                      <a:endParaRPr sz="1300">
                        <a:solidFill>
                          <a:srgbClr val="434343"/>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sz="1300">
                          <a:solidFill>
                            <a:srgbClr val="434343"/>
                          </a:solidFill>
                          <a:latin typeface="Lato"/>
                          <a:ea typeface="Lato"/>
                          <a:cs typeface="Lato"/>
                          <a:sym typeface="Lato"/>
                        </a:rPr>
                        <a:t>Max Acceleration</a:t>
                      </a:r>
                      <a:endParaRPr sz="1300">
                        <a:solidFill>
                          <a:srgbClr val="434343"/>
                        </a:solidFill>
                        <a:latin typeface="Lato"/>
                        <a:ea typeface="Lato"/>
                        <a:cs typeface="Lato"/>
                        <a:sym typeface="Lato"/>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300">
                          <a:solidFill>
                            <a:srgbClr val="434343"/>
                          </a:solidFill>
                          <a:latin typeface="Lato"/>
                          <a:ea typeface="Lato"/>
                          <a:cs typeface="Lato"/>
                          <a:sym typeface="Lato"/>
                        </a:rPr>
                        <a:t>&gt; 1.5 m/</a:t>
                      </a:r>
                      <a:r>
                        <a:rPr b="1" lang="en" sz="1300">
                          <a:solidFill>
                            <a:srgbClr val="434343"/>
                          </a:solidFill>
                          <a:latin typeface="Lato"/>
                          <a:ea typeface="Lato"/>
                          <a:cs typeface="Lato"/>
                          <a:sym typeface="Lato"/>
                        </a:rPr>
                        <a:t>s</a:t>
                      </a:r>
                      <a:r>
                        <a:rPr b="1" lang="en" sz="1300">
                          <a:solidFill>
                            <a:srgbClr val="434343"/>
                          </a:solidFill>
                          <a:latin typeface="Lato"/>
                          <a:ea typeface="Lato"/>
                          <a:cs typeface="Lato"/>
                          <a:sym typeface="Lato"/>
                        </a:rPr>
                        <a:t>² *</a:t>
                      </a:r>
                      <a:endParaRPr b="1" sz="1300">
                        <a:solidFill>
                          <a:srgbClr val="434343"/>
                        </a:solidFill>
                        <a:latin typeface="Lato"/>
                        <a:ea typeface="Lato"/>
                        <a:cs typeface="Lato"/>
                        <a:sym typeface="Lato"/>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300">
                          <a:solidFill>
                            <a:srgbClr val="434343"/>
                          </a:solidFill>
                          <a:latin typeface="Lato"/>
                          <a:ea typeface="Lato"/>
                          <a:cs typeface="Lato"/>
                          <a:sym typeface="Lato"/>
                        </a:rPr>
                        <a:t>Does 0-30 kmph in 5 seconds</a:t>
                      </a:r>
                      <a:endParaRPr sz="1300">
                        <a:solidFill>
                          <a:srgbClr val="434343"/>
                        </a:solidFill>
                        <a:latin typeface="Lato"/>
                        <a:ea typeface="Lato"/>
                        <a:cs typeface="Lato"/>
                        <a:sym typeface="Lato"/>
                      </a:endParaRPr>
                    </a:p>
                  </a:txBody>
                  <a:tcPr marT="91425" marB="91425" marR="91425" marL="91425">
                    <a:lnB cap="flat" cmpd="sng" w="9525">
                      <a:solidFill>
                        <a:srgbClr val="9E9E9E"/>
                      </a:solidFill>
                      <a:prstDash val="solid"/>
                      <a:round/>
                      <a:headEnd len="sm" w="sm" type="none"/>
                      <a:tailEnd len="sm" w="sm" type="none"/>
                    </a:lnB>
                  </a:tcPr>
                </a:tc>
              </a:tr>
              <a:tr h="380975">
                <a:tc>
                  <a:txBody>
                    <a:bodyPr/>
                    <a:lstStyle/>
                    <a:p>
                      <a:pPr indent="0" lvl="0" marL="0" rtl="0" algn="ctr">
                        <a:spcBef>
                          <a:spcPts val="0"/>
                        </a:spcBef>
                        <a:spcAft>
                          <a:spcPts val="0"/>
                        </a:spcAft>
                        <a:buNone/>
                      </a:pPr>
                      <a:r>
                        <a:rPr lang="en" sz="1300">
                          <a:solidFill>
                            <a:srgbClr val="434343"/>
                          </a:solidFill>
                          <a:latin typeface="Lato"/>
                          <a:ea typeface="Lato"/>
                          <a:cs typeface="Lato"/>
                          <a:sym typeface="Lato"/>
                        </a:rPr>
                        <a:t>6.</a:t>
                      </a:r>
                      <a:endParaRPr sz="1300">
                        <a:solidFill>
                          <a:srgbClr val="434343"/>
                        </a:solidFill>
                        <a:latin typeface="Lato"/>
                        <a:ea typeface="Lato"/>
                        <a:cs typeface="Lato"/>
                        <a:sym typeface="Lato"/>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1300">
                          <a:solidFill>
                            <a:srgbClr val="434343"/>
                          </a:solidFill>
                          <a:latin typeface="Lato"/>
                          <a:ea typeface="Lato"/>
                          <a:cs typeface="Lato"/>
                          <a:sym typeface="Lato"/>
                        </a:rPr>
                        <a:t>Range </a:t>
                      </a:r>
                      <a:endParaRPr sz="1300">
                        <a:solidFill>
                          <a:srgbClr val="434343"/>
                        </a:solidFill>
                        <a:latin typeface="Lato"/>
                        <a:ea typeface="Lato"/>
                        <a:cs typeface="Lato"/>
                        <a:sym typeface="La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300">
                          <a:solidFill>
                            <a:srgbClr val="434343"/>
                          </a:solidFill>
                          <a:latin typeface="Lato"/>
                          <a:ea typeface="Lato"/>
                          <a:cs typeface="Lato"/>
                          <a:sym typeface="Lato"/>
                        </a:rPr>
                        <a:t>300 km *</a:t>
                      </a:r>
                      <a:endParaRPr b="1" sz="1300">
                        <a:solidFill>
                          <a:srgbClr val="434343"/>
                        </a:solidFill>
                        <a:latin typeface="Lato"/>
                        <a:ea typeface="Lato"/>
                        <a:cs typeface="Lato"/>
                        <a:sym typeface="La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300">
                          <a:solidFill>
                            <a:srgbClr val="434343"/>
                          </a:solidFill>
                          <a:latin typeface="Lato"/>
                          <a:ea typeface="Lato"/>
                          <a:cs typeface="Lato"/>
                          <a:sym typeface="Lato"/>
                        </a:rPr>
                        <a:t>For hassle-free complete day / shift operation</a:t>
                      </a:r>
                      <a:endParaRPr sz="1300">
                        <a:solidFill>
                          <a:srgbClr val="434343"/>
                        </a:solidFill>
                        <a:latin typeface="Lato"/>
                        <a:ea typeface="Lato"/>
                        <a:cs typeface="Lato"/>
                        <a:sym typeface="La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0975">
                <a:tc>
                  <a:txBody>
                    <a:bodyPr/>
                    <a:lstStyle/>
                    <a:p>
                      <a:pPr indent="0" lvl="0" marL="0" rtl="0" algn="ctr">
                        <a:spcBef>
                          <a:spcPts val="0"/>
                        </a:spcBef>
                        <a:spcAft>
                          <a:spcPts val="0"/>
                        </a:spcAft>
                        <a:buNone/>
                      </a:pPr>
                      <a:r>
                        <a:rPr lang="en" sz="1300">
                          <a:solidFill>
                            <a:srgbClr val="434343"/>
                          </a:solidFill>
                          <a:latin typeface="Lato"/>
                          <a:ea typeface="Lato"/>
                          <a:cs typeface="Lato"/>
                          <a:sym typeface="Lato"/>
                        </a:rPr>
                        <a:t>7.</a:t>
                      </a:r>
                      <a:endParaRPr sz="1300">
                        <a:solidFill>
                          <a:srgbClr val="434343"/>
                        </a:solidFill>
                        <a:latin typeface="Lato"/>
                        <a:ea typeface="Lato"/>
                        <a:cs typeface="Lato"/>
                        <a:sym typeface="Lato"/>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1300">
                          <a:solidFill>
                            <a:srgbClr val="434343"/>
                          </a:solidFill>
                          <a:latin typeface="Lato"/>
                          <a:ea typeface="Lato"/>
                          <a:cs typeface="Lato"/>
                          <a:sym typeface="Lato"/>
                        </a:rPr>
                        <a:t>HVAC &amp; Motorized Loads</a:t>
                      </a:r>
                      <a:endParaRPr sz="1300">
                        <a:solidFill>
                          <a:srgbClr val="434343"/>
                        </a:solidFill>
                        <a:latin typeface="Lato"/>
                        <a:ea typeface="Lato"/>
                        <a:cs typeface="Lato"/>
                        <a:sym typeface="La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300">
                          <a:solidFill>
                            <a:srgbClr val="434343"/>
                          </a:solidFill>
                          <a:latin typeface="Lato"/>
                          <a:ea typeface="Lato"/>
                          <a:cs typeface="Lato"/>
                          <a:sym typeface="Lato"/>
                        </a:rPr>
                        <a:t>1.5 kW</a:t>
                      </a:r>
                      <a:endParaRPr b="1" sz="1300">
                        <a:solidFill>
                          <a:srgbClr val="434343"/>
                        </a:solidFill>
                        <a:latin typeface="Lato"/>
                        <a:ea typeface="Lato"/>
                        <a:cs typeface="Lato"/>
                        <a:sym typeface="La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300">
                          <a:solidFill>
                            <a:srgbClr val="434343"/>
                          </a:solidFill>
                          <a:latin typeface="Lato"/>
                          <a:ea typeface="Lato"/>
                          <a:cs typeface="Lato"/>
                          <a:sym typeface="Lato"/>
                        </a:rPr>
                        <a:t>Recommended by the judges (Single cabin)</a:t>
                      </a:r>
                      <a:endParaRPr sz="1300">
                        <a:solidFill>
                          <a:srgbClr val="434343"/>
                        </a:solidFill>
                        <a:latin typeface="Lato"/>
                        <a:ea typeface="Lato"/>
                        <a:cs typeface="Lato"/>
                        <a:sym typeface="La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03" name="Google Shape;403;p31"/>
          <p:cNvSpPr txBox="1"/>
          <p:nvPr/>
        </p:nvSpPr>
        <p:spPr>
          <a:xfrm>
            <a:off x="374225" y="4546777"/>
            <a:ext cx="6310500" cy="52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latin typeface="Lato"/>
                <a:ea typeface="Lato"/>
                <a:cs typeface="Lato"/>
                <a:sym typeface="Lato"/>
              </a:rPr>
              <a:t>*  </a:t>
            </a:r>
            <a:r>
              <a:rPr lang="en" sz="1000">
                <a:latin typeface="Lato"/>
                <a:ea typeface="Lato"/>
                <a:cs typeface="Lato"/>
                <a:sym typeface="Lato"/>
              </a:rPr>
              <a:t>All the values at maximum payload condition ( GVW = 1712 kg)</a:t>
            </a:r>
            <a:endParaRPr sz="1000">
              <a:latin typeface="Lato"/>
              <a:ea typeface="Lato"/>
              <a:cs typeface="Lato"/>
              <a:sym typeface="Lato"/>
            </a:endParaRPr>
          </a:p>
          <a:p>
            <a:pPr indent="0" lvl="0" marL="0" rtl="0" algn="l">
              <a:spcBef>
                <a:spcPts val="0"/>
              </a:spcBef>
              <a:spcAft>
                <a:spcPts val="0"/>
              </a:spcAft>
              <a:buNone/>
            </a:pPr>
            <a:r>
              <a:t/>
            </a:r>
            <a:endParaRPr sz="100">
              <a:latin typeface="Lato"/>
              <a:ea typeface="Lato"/>
              <a:cs typeface="Lato"/>
              <a:sym typeface="Lato"/>
            </a:endParaRPr>
          </a:p>
          <a:p>
            <a:pPr indent="0" lvl="0" marL="0" rtl="0" algn="l">
              <a:spcBef>
                <a:spcPts val="0"/>
              </a:spcBef>
              <a:spcAft>
                <a:spcPts val="0"/>
              </a:spcAft>
              <a:buNone/>
            </a:pPr>
            <a:r>
              <a:rPr b="1" lang="en" sz="1000">
                <a:latin typeface="Lato"/>
                <a:ea typeface="Lato"/>
                <a:cs typeface="Lato"/>
                <a:sym typeface="Lato"/>
              </a:rPr>
              <a:t>    GVW :</a:t>
            </a:r>
            <a:r>
              <a:rPr lang="en" sz="1000">
                <a:latin typeface="Lato"/>
                <a:ea typeface="Lato"/>
                <a:cs typeface="Lato"/>
                <a:sym typeface="Lato"/>
              </a:rPr>
              <a:t> Gross Vehicle Weight = Car weight + Driver’s Weight + Max Payload Weight</a:t>
            </a:r>
            <a:endParaRPr sz="1000">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FEFEF"/>
        </a:solidFill>
      </p:bgPr>
    </p:bg>
    <p:spTree>
      <p:nvGrpSpPr>
        <p:cNvPr id="407" name="Shape 407"/>
        <p:cNvGrpSpPr/>
        <p:nvPr/>
      </p:nvGrpSpPr>
      <p:grpSpPr>
        <a:xfrm>
          <a:off x="0" y="0"/>
          <a:ext cx="0" cy="0"/>
          <a:chOff x="0" y="0"/>
          <a:chExt cx="0" cy="0"/>
        </a:xfrm>
      </p:grpSpPr>
      <p:sp>
        <p:nvSpPr>
          <p:cNvPr id="408" name="Google Shape;408;p32"/>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lang="en" sz="2400">
                <a:solidFill>
                  <a:srgbClr val="F3F3F3"/>
                </a:solidFill>
                <a:latin typeface="Lato"/>
                <a:ea typeface="Lato"/>
                <a:cs typeface="Lato"/>
                <a:sym typeface="Lato"/>
              </a:rPr>
              <a:t>Performance</a:t>
            </a:r>
            <a:r>
              <a:rPr b="1" i="0" lang="en" sz="2400" u="none" cap="none" strike="noStrike">
                <a:solidFill>
                  <a:srgbClr val="F3F3F3"/>
                </a:solidFill>
                <a:latin typeface="Lato"/>
                <a:ea typeface="Lato"/>
                <a:cs typeface="Lato"/>
                <a:sym typeface="Lato"/>
              </a:rPr>
              <a:t> </a:t>
            </a:r>
            <a:r>
              <a:rPr lang="en" sz="2400">
                <a:solidFill>
                  <a:srgbClr val="48BACA"/>
                </a:solidFill>
                <a:latin typeface="Lato Black"/>
                <a:ea typeface="Lato Black"/>
                <a:cs typeface="Lato Black"/>
                <a:sym typeface="Lato Black"/>
              </a:rPr>
              <a:t>Baselining</a:t>
            </a:r>
            <a:endParaRPr i="0" sz="2400" u="none" cap="none" strike="noStrike">
              <a:solidFill>
                <a:srgbClr val="48BACA"/>
              </a:solidFill>
              <a:latin typeface="Lato Black"/>
              <a:ea typeface="Lato Black"/>
              <a:cs typeface="Lato Black"/>
              <a:sym typeface="Lato Black"/>
            </a:endParaRPr>
          </a:p>
        </p:txBody>
      </p:sp>
      <p:pic>
        <p:nvPicPr>
          <p:cNvPr id="409" name="Google Shape;409;p32"/>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410" name="Google Shape;410;p32"/>
          <p:cNvPicPr preferRelativeResize="0"/>
          <p:nvPr/>
        </p:nvPicPr>
        <p:blipFill>
          <a:blip r:embed="rId4">
            <a:alphaModFix amt="26000"/>
          </a:blip>
          <a:stretch>
            <a:fillRect/>
          </a:stretch>
        </p:blipFill>
        <p:spPr>
          <a:xfrm rot="9900000">
            <a:off x="5128900" y="2442475"/>
            <a:ext cx="4289526" cy="2716700"/>
          </a:xfrm>
          <a:prstGeom prst="rect">
            <a:avLst/>
          </a:prstGeom>
          <a:noFill/>
          <a:ln>
            <a:noFill/>
          </a:ln>
        </p:spPr>
      </p:pic>
      <p:sp>
        <p:nvSpPr>
          <p:cNvPr id="411" name="Google Shape;411;p32"/>
          <p:cNvSpPr txBox="1"/>
          <p:nvPr/>
        </p:nvSpPr>
        <p:spPr>
          <a:xfrm>
            <a:off x="179125" y="1113150"/>
            <a:ext cx="5041200" cy="880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500">
                <a:solidFill>
                  <a:srgbClr val="23656F"/>
                </a:solidFill>
                <a:latin typeface="Open Sans"/>
                <a:ea typeface="Open Sans"/>
                <a:cs typeface="Open Sans"/>
                <a:sym typeface="Open Sans"/>
              </a:rPr>
              <a:t>Top speed</a:t>
            </a:r>
            <a:r>
              <a:rPr lang="en"/>
              <a:t> </a:t>
            </a:r>
            <a:endParaRPr/>
          </a:p>
          <a:p>
            <a:pPr indent="0" lvl="0" marL="0" rtl="0" algn="l">
              <a:lnSpc>
                <a:spcPct val="115000"/>
              </a:lnSpc>
              <a:spcBef>
                <a:spcPts val="0"/>
              </a:spcBef>
              <a:spcAft>
                <a:spcPts val="0"/>
              </a:spcAft>
              <a:buNone/>
            </a:pPr>
            <a:r>
              <a:rPr lang="en" sz="1300">
                <a:solidFill>
                  <a:srgbClr val="595959"/>
                </a:solidFill>
                <a:latin typeface="Lato"/>
                <a:ea typeface="Lato"/>
                <a:cs typeface="Lato"/>
                <a:sym typeface="Lato"/>
              </a:rPr>
              <a:t>Baselined at 60 kmph for highway/open road cruising</a:t>
            </a:r>
            <a:endParaRPr sz="1300">
              <a:solidFill>
                <a:srgbClr val="595959"/>
              </a:solidFill>
              <a:latin typeface="Lato"/>
              <a:ea typeface="Lato"/>
              <a:cs typeface="Lato"/>
              <a:sym typeface="Lato"/>
            </a:endParaRPr>
          </a:p>
          <a:p>
            <a:pPr indent="0" lvl="0" marL="0" rtl="0" algn="l">
              <a:lnSpc>
                <a:spcPct val="115000"/>
              </a:lnSpc>
              <a:spcBef>
                <a:spcPts val="0"/>
              </a:spcBef>
              <a:spcAft>
                <a:spcPts val="0"/>
              </a:spcAft>
              <a:buNone/>
            </a:pPr>
            <a:r>
              <a:rPr lang="en" sz="1300">
                <a:solidFill>
                  <a:srgbClr val="595959"/>
                </a:solidFill>
                <a:latin typeface="Lato"/>
                <a:ea typeface="Lato"/>
                <a:cs typeface="Lato"/>
                <a:sym typeface="Lato"/>
              </a:rPr>
              <a:t>Speed limit is usually 60 kmph in most city regions across India</a:t>
            </a:r>
            <a:endParaRPr sz="1300">
              <a:solidFill>
                <a:srgbClr val="595959"/>
              </a:solidFill>
              <a:latin typeface="Lato"/>
              <a:ea typeface="Lato"/>
              <a:cs typeface="Lato"/>
              <a:sym typeface="Lato"/>
            </a:endParaRPr>
          </a:p>
        </p:txBody>
      </p:sp>
      <p:sp>
        <p:nvSpPr>
          <p:cNvPr id="412" name="Google Shape;412;p32"/>
          <p:cNvSpPr txBox="1"/>
          <p:nvPr/>
        </p:nvSpPr>
        <p:spPr>
          <a:xfrm>
            <a:off x="217525" y="3070725"/>
            <a:ext cx="5290800" cy="203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500">
                <a:solidFill>
                  <a:srgbClr val="23656F"/>
                </a:solidFill>
                <a:latin typeface="Open Sans"/>
                <a:ea typeface="Open Sans"/>
                <a:cs typeface="Open Sans"/>
                <a:sym typeface="Open Sans"/>
              </a:rPr>
              <a:t>Gradeability</a:t>
            </a:r>
            <a:r>
              <a:rPr lang="en"/>
              <a:t> </a:t>
            </a:r>
            <a:endParaRPr/>
          </a:p>
          <a:p>
            <a:pPr indent="0" lvl="0" marL="0" rtl="0" algn="l">
              <a:lnSpc>
                <a:spcPct val="115000"/>
              </a:lnSpc>
              <a:spcBef>
                <a:spcPts val="0"/>
              </a:spcBef>
              <a:spcAft>
                <a:spcPts val="0"/>
              </a:spcAft>
              <a:buNone/>
            </a:pPr>
            <a:r>
              <a:rPr lang="en" sz="1300">
                <a:solidFill>
                  <a:srgbClr val="595959"/>
                </a:solidFill>
                <a:latin typeface="Lato"/>
                <a:ea typeface="Lato"/>
                <a:cs typeface="Lato"/>
                <a:sym typeface="Lato"/>
              </a:rPr>
              <a:t>Use case - in hilly regions, hilly patches in cities </a:t>
            </a:r>
            <a:endParaRPr sz="1300">
              <a:solidFill>
                <a:srgbClr val="595959"/>
              </a:solidFill>
              <a:latin typeface="Lato"/>
              <a:ea typeface="Lato"/>
              <a:cs typeface="Lato"/>
              <a:sym typeface="Lato"/>
            </a:endParaRPr>
          </a:p>
          <a:p>
            <a:pPr indent="0" lvl="0" marL="0" rtl="0" algn="l">
              <a:lnSpc>
                <a:spcPct val="115000"/>
              </a:lnSpc>
              <a:spcBef>
                <a:spcPts val="0"/>
              </a:spcBef>
              <a:spcAft>
                <a:spcPts val="0"/>
              </a:spcAft>
              <a:buNone/>
            </a:pPr>
            <a:r>
              <a:rPr lang="en" sz="1300">
                <a:solidFill>
                  <a:srgbClr val="595959"/>
                </a:solidFill>
                <a:latin typeface="Lato"/>
                <a:ea typeface="Lato"/>
                <a:cs typeface="Lato"/>
                <a:sym typeface="Lato"/>
              </a:rPr>
              <a:t>Highways : 3-5 degrees is standard</a:t>
            </a:r>
            <a:endParaRPr sz="1300">
              <a:solidFill>
                <a:srgbClr val="595959"/>
              </a:solidFill>
              <a:latin typeface="Lato"/>
              <a:ea typeface="Lato"/>
              <a:cs typeface="Lato"/>
              <a:sym typeface="Lato"/>
            </a:endParaRPr>
          </a:p>
          <a:p>
            <a:pPr indent="0" lvl="0" marL="0" rtl="0" algn="l">
              <a:lnSpc>
                <a:spcPct val="115000"/>
              </a:lnSpc>
              <a:spcBef>
                <a:spcPts val="0"/>
              </a:spcBef>
              <a:spcAft>
                <a:spcPts val="0"/>
              </a:spcAft>
              <a:buNone/>
            </a:pPr>
            <a:r>
              <a:rPr lang="en" sz="1300">
                <a:solidFill>
                  <a:srgbClr val="595959"/>
                </a:solidFill>
                <a:latin typeface="Lato"/>
                <a:ea typeface="Lato"/>
                <a:cs typeface="Lato"/>
                <a:sym typeface="Lato"/>
              </a:rPr>
              <a:t>City Flyovers : 5-7 degrees is standard</a:t>
            </a:r>
            <a:endParaRPr sz="1300">
              <a:solidFill>
                <a:srgbClr val="595959"/>
              </a:solidFill>
              <a:latin typeface="Lato"/>
              <a:ea typeface="Lato"/>
              <a:cs typeface="Lato"/>
              <a:sym typeface="Lato"/>
            </a:endParaRPr>
          </a:p>
          <a:p>
            <a:pPr indent="0" lvl="0" marL="0" rtl="0" algn="l">
              <a:lnSpc>
                <a:spcPct val="115000"/>
              </a:lnSpc>
              <a:spcBef>
                <a:spcPts val="0"/>
              </a:spcBef>
              <a:spcAft>
                <a:spcPts val="0"/>
              </a:spcAft>
              <a:buNone/>
            </a:pPr>
            <a:r>
              <a:rPr lang="en" sz="1300">
                <a:solidFill>
                  <a:srgbClr val="595959"/>
                </a:solidFill>
                <a:latin typeface="Lato"/>
                <a:ea typeface="Lato"/>
                <a:cs typeface="Lato"/>
                <a:sym typeface="Lato"/>
              </a:rPr>
              <a:t>Requires high torque =&gt; bigger motor =&gt;  translates into high acceleration - not relevant for ULCVs  =&gt; compromise</a:t>
            </a:r>
            <a:endParaRPr sz="1300">
              <a:solidFill>
                <a:srgbClr val="595959"/>
              </a:solidFill>
              <a:latin typeface="Lato"/>
              <a:ea typeface="Lato"/>
              <a:cs typeface="Lato"/>
              <a:sym typeface="Lato"/>
            </a:endParaRPr>
          </a:p>
          <a:p>
            <a:pPr indent="0" lvl="0" marL="0" rtl="0" algn="l">
              <a:lnSpc>
                <a:spcPct val="115000"/>
              </a:lnSpc>
              <a:spcBef>
                <a:spcPts val="0"/>
              </a:spcBef>
              <a:spcAft>
                <a:spcPts val="0"/>
              </a:spcAft>
              <a:buNone/>
            </a:pPr>
            <a:r>
              <a:rPr lang="en" sz="1300">
                <a:solidFill>
                  <a:srgbClr val="595959"/>
                </a:solidFill>
                <a:latin typeface="Lato"/>
                <a:ea typeface="Lato"/>
                <a:cs typeface="Lato"/>
                <a:sym typeface="Lato"/>
              </a:rPr>
              <a:t>Starting gradeability =&gt; 10 degrees at full load capacity</a:t>
            </a:r>
            <a:endParaRPr sz="1300">
              <a:solidFill>
                <a:srgbClr val="595959"/>
              </a:solidFill>
              <a:latin typeface="Lato"/>
              <a:ea typeface="Lato"/>
              <a:cs typeface="Lato"/>
              <a:sym typeface="Lato"/>
            </a:endParaRPr>
          </a:p>
          <a:p>
            <a:pPr indent="0" lvl="0" marL="0" rtl="0" algn="l">
              <a:lnSpc>
                <a:spcPct val="115000"/>
              </a:lnSpc>
              <a:spcBef>
                <a:spcPts val="0"/>
              </a:spcBef>
              <a:spcAft>
                <a:spcPts val="0"/>
              </a:spcAft>
              <a:buClr>
                <a:schemeClr val="dk1"/>
              </a:buClr>
              <a:buSzPts val="1100"/>
              <a:buFont typeface="Arial"/>
              <a:buNone/>
            </a:pPr>
            <a:r>
              <a:t/>
            </a:r>
            <a:endParaRPr sz="1300">
              <a:solidFill>
                <a:srgbClr val="595959"/>
              </a:solidFill>
              <a:latin typeface="Lato"/>
              <a:ea typeface="Lato"/>
              <a:cs typeface="Lato"/>
              <a:sym typeface="Lato"/>
            </a:endParaRPr>
          </a:p>
        </p:txBody>
      </p:sp>
      <p:sp>
        <p:nvSpPr>
          <p:cNvPr id="413" name="Google Shape;413;p32"/>
          <p:cNvSpPr txBox="1"/>
          <p:nvPr/>
        </p:nvSpPr>
        <p:spPr>
          <a:xfrm>
            <a:off x="217525" y="2123438"/>
            <a:ext cx="5105100" cy="880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500">
                <a:solidFill>
                  <a:srgbClr val="23656F"/>
                </a:solidFill>
                <a:latin typeface="Open Sans"/>
                <a:ea typeface="Open Sans"/>
                <a:cs typeface="Open Sans"/>
                <a:sym typeface="Open Sans"/>
              </a:rPr>
              <a:t>Load Capacity</a:t>
            </a:r>
            <a:r>
              <a:rPr lang="en"/>
              <a:t> </a:t>
            </a:r>
            <a:endParaRPr/>
          </a:p>
          <a:p>
            <a:pPr indent="0" lvl="0" marL="0" rtl="0" algn="l">
              <a:lnSpc>
                <a:spcPct val="115000"/>
              </a:lnSpc>
              <a:spcBef>
                <a:spcPts val="0"/>
              </a:spcBef>
              <a:spcAft>
                <a:spcPts val="0"/>
              </a:spcAft>
              <a:buNone/>
            </a:pPr>
            <a:r>
              <a:rPr lang="en" sz="1300">
                <a:solidFill>
                  <a:srgbClr val="595959"/>
                </a:solidFill>
                <a:latin typeface="Lato"/>
                <a:ea typeface="Lato"/>
                <a:cs typeface="Lato"/>
                <a:sym typeface="Lato"/>
              </a:rPr>
              <a:t>Current market segment comparison = 1000kg - what competitors are offering</a:t>
            </a:r>
            <a:endParaRPr sz="1300">
              <a:solidFill>
                <a:srgbClr val="595959"/>
              </a:solidFill>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FEFEF"/>
        </a:solidFill>
      </p:bgPr>
    </p:bg>
    <p:spTree>
      <p:nvGrpSpPr>
        <p:cNvPr id="417" name="Shape 417"/>
        <p:cNvGrpSpPr/>
        <p:nvPr/>
      </p:nvGrpSpPr>
      <p:grpSpPr>
        <a:xfrm>
          <a:off x="0" y="0"/>
          <a:ext cx="0" cy="0"/>
          <a:chOff x="0" y="0"/>
          <a:chExt cx="0" cy="0"/>
        </a:xfrm>
      </p:grpSpPr>
      <p:sp>
        <p:nvSpPr>
          <p:cNvPr id="418" name="Google Shape;418;p33"/>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lang="en" sz="2400">
                <a:solidFill>
                  <a:srgbClr val="F3F3F3"/>
                </a:solidFill>
                <a:latin typeface="Lato"/>
                <a:ea typeface="Lato"/>
                <a:cs typeface="Lato"/>
                <a:sym typeface="Lato"/>
              </a:rPr>
              <a:t>Performance</a:t>
            </a:r>
            <a:r>
              <a:rPr b="1" i="0" lang="en" sz="2400" u="none" cap="none" strike="noStrike">
                <a:solidFill>
                  <a:srgbClr val="F3F3F3"/>
                </a:solidFill>
                <a:latin typeface="Lato"/>
                <a:ea typeface="Lato"/>
                <a:cs typeface="Lato"/>
                <a:sym typeface="Lato"/>
              </a:rPr>
              <a:t> </a:t>
            </a:r>
            <a:r>
              <a:rPr lang="en" sz="2400">
                <a:solidFill>
                  <a:srgbClr val="48BACA"/>
                </a:solidFill>
                <a:latin typeface="Lato Black"/>
                <a:ea typeface="Lato Black"/>
                <a:cs typeface="Lato Black"/>
                <a:sym typeface="Lato Black"/>
              </a:rPr>
              <a:t>Baselining</a:t>
            </a:r>
            <a:endParaRPr i="0" sz="2400" u="none" cap="none" strike="noStrike">
              <a:solidFill>
                <a:srgbClr val="48BACA"/>
              </a:solidFill>
              <a:latin typeface="Lato Black"/>
              <a:ea typeface="Lato Black"/>
              <a:cs typeface="Lato Black"/>
              <a:sym typeface="Lato Black"/>
            </a:endParaRPr>
          </a:p>
        </p:txBody>
      </p:sp>
      <p:pic>
        <p:nvPicPr>
          <p:cNvPr id="419" name="Google Shape;419;p33"/>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420" name="Google Shape;420;p33"/>
          <p:cNvPicPr preferRelativeResize="0"/>
          <p:nvPr/>
        </p:nvPicPr>
        <p:blipFill>
          <a:blip r:embed="rId4">
            <a:alphaModFix amt="26000"/>
          </a:blip>
          <a:stretch>
            <a:fillRect/>
          </a:stretch>
        </p:blipFill>
        <p:spPr>
          <a:xfrm rot="9900000">
            <a:off x="5128900" y="2442475"/>
            <a:ext cx="4289526" cy="2716700"/>
          </a:xfrm>
          <a:prstGeom prst="rect">
            <a:avLst/>
          </a:prstGeom>
          <a:noFill/>
          <a:ln>
            <a:noFill/>
          </a:ln>
        </p:spPr>
      </p:pic>
      <p:sp>
        <p:nvSpPr>
          <p:cNvPr id="421" name="Google Shape;421;p33"/>
          <p:cNvSpPr txBox="1"/>
          <p:nvPr/>
        </p:nvSpPr>
        <p:spPr>
          <a:xfrm>
            <a:off x="179125" y="1189350"/>
            <a:ext cx="5041200" cy="65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500">
                <a:solidFill>
                  <a:srgbClr val="23656F"/>
                </a:solidFill>
                <a:latin typeface="Open Sans"/>
                <a:ea typeface="Open Sans"/>
                <a:cs typeface="Open Sans"/>
                <a:sym typeface="Open Sans"/>
              </a:rPr>
              <a:t>Braking Distance </a:t>
            </a:r>
            <a:endParaRPr b="1" sz="1500">
              <a:solidFill>
                <a:srgbClr val="23656F"/>
              </a:solidFill>
              <a:latin typeface="Open Sans"/>
              <a:ea typeface="Open Sans"/>
              <a:cs typeface="Open Sans"/>
              <a:sym typeface="Open Sans"/>
            </a:endParaRPr>
          </a:p>
          <a:p>
            <a:pPr indent="0" lvl="0" marL="0" rtl="0" algn="l">
              <a:lnSpc>
                <a:spcPct val="115000"/>
              </a:lnSpc>
              <a:spcBef>
                <a:spcPts val="0"/>
              </a:spcBef>
              <a:spcAft>
                <a:spcPts val="0"/>
              </a:spcAft>
              <a:buNone/>
            </a:pPr>
            <a:r>
              <a:rPr lang="en" sz="1300">
                <a:solidFill>
                  <a:srgbClr val="595959"/>
                </a:solidFill>
                <a:latin typeface="Lato"/>
                <a:ea typeface="Lato"/>
                <a:cs typeface="Lato"/>
                <a:sym typeface="Lato"/>
              </a:rPr>
              <a:t> 60 mph to 0  - 120 ft - convert in km, m</a:t>
            </a:r>
            <a:endParaRPr sz="1300">
              <a:solidFill>
                <a:srgbClr val="595959"/>
              </a:solidFill>
              <a:latin typeface="Lato"/>
              <a:ea typeface="Lato"/>
              <a:cs typeface="Lato"/>
              <a:sym typeface="Lato"/>
            </a:endParaRPr>
          </a:p>
        </p:txBody>
      </p:sp>
      <p:sp>
        <p:nvSpPr>
          <p:cNvPr id="422" name="Google Shape;422;p33"/>
          <p:cNvSpPr txBox="1"/>
          <p:nvPr/>
        </p:nvSpPr>
        <p:spPr>
          <a:xfrm>
            <a:off x="217525" y="3070725"/>
            <a:ext cx="4964400" cy="176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300">
                <a:solidFill>
                  <a:srgbClr val="595959"/>
                </a:solidFill>
                <a:latin typeface="Lato"/>
                <a:ea typeface="Lato"/>
                <a:cs typeface="Lato"/>
                <a:sym typeface="Lato"/>
              </a:rPr>
              <a:t>Gradability - use case - in hilly regions, hilly patches in cities </a:t>
            </a:r>
            <a:endParaRPr sz="1300">
              <a:solidFill>
                <a:srgbClr val="595959"/>
              </a:solidFill>
              <a:latin typeface="Lato"/>
              <a:ea typeface="Lato"/>
              <a:cs typeface="Lato"/>
              <a:sym typeface="Lato"/>
            </a:endParaRPr>
          </a:p>
          <a:p>
            <a:pPr indent="0" lvl="0" marL="0" rtl="0" algn="l">
              <a:lnSpc>
                <a:spcPct val="115000"/>
              </a:lnSpc>
              <a:spcBef>
                <a:spcPts val="0"/>
              </a:spcBef>
              <a:spcAft>
                <a:spcPts val="0"/>
              </a:spcAft>
              <a:buNone/>
            </a:pPr>
            <a:r>
              <a:rPr lang="en" sz="1300">
                <a:solidFill>
                  <a:srgbClr val="595959"/>
                </a:solidFill>
                <a:latin typeface="Lato"/>
                <a:ea typeface="Lato"/>
                <a:cs typeface="Lato"/>
                <a:sym typeface="Lato"/>
              </a:rPr>
              <a:t>Highways - 3-5 degrees is standard</a:t>
            </a:r>
            <a:endParaRPr sz="1300">
              <a:solidFill>
                <a:srgbClr val="595959"/>
              </a:solidFill>
              <a:latin typeface="Lato"/>
              <a:ea typeface="Lato"/>
              <a:cs typeface="Lato"/>
              <a:sym typeface="Lato"/>
            </a:endParaRPr>
          </a:p>
          <a:p>
            <a:pPr indent="0" lvl="0" marL="0" rtl="0" algn="l">
              <a:lnSpc>
                <a:spcPct val="115000"/>
              </a:lnSpc>
              <a:spcBef>
                <a:spcPts val="0"/>
              </a:spcBef>
              <a:spcAft>
                <a:spcPts val="0"/>
              </a:spcAft>
              <a:buNone/>
            </a:pPr>
            <a:r>
              <a:rPr lang="en" sz="1300">
                <a:solidFill>
                  <a:srgbClr val="595959"/>
                </a:solidFill>
                <a:latin typeface="Lato"/>
                <a:ea typeface="Lato"/>
                <a:cs typeface="Lato"/>
                <a:sym typeface="Lato"/>
              </a:rPr>
              <a:t>City Flyovers - 5-7 degrees is standard</a:t>
            </a:r>
            <a:endParaRPr sz="1300">
              <a:solidFill>
                <a:srgbClr val="595959"/>
              </a:solidFill>
              <a:latin typeface="Lato"/>
              <a:ea typeface="Lato"/>
              <a:cs typeface="Lato"/>
              <a:sym typeface="Lato"/>
            </a:endParaRPr>
          </a:p>
          <a:p>
            <a:pPr indent="0" lvl="0" marL="0" rtl="0" algn="l">
              <a:lnSpc>
                <a:spcPct val="115000"/>
              </a:lnSpc>
              <a:spcBef>
                <a:spcPts val="0"/>
              </a:spcBef>
              <a:spcAft>
                <a:spcPts val="0"/>
              </a:spcAft>
              <a:buNone/>
            </a:pPr>
            <a:r>
              <a:rPr lang="en" sz="1300">
                <a:solidFill>
                  <a:srgbClr val="595959"/>
                </a:solidFill>
                <a:latin typeface="Lato"/>
                <a:ea typeface="Lato"/>
                <a:cs typeface="Lato"/>
                <a:sym typeface="Lato"/>
              </a:rPr>
              <a:t>Requires high Torque =&gt;bigger motor -  translates into high acceleration - not relevant for ULCVs - &gt; compromise</a:t>
            </a:r>
            <a:endParaRPr sz="1300">
              <a:solidFill>
                <a:srgbClr val="595959"/>
              </a:solidFill>
              <a:latin typeface="Lato"/>
              <a:ea typeface="Lato"/>
              <a:cs typeface="Lato"/>
              <a:sym typeface="Lato"/>
            </a:endParaRPr>
          </a:p>
          <a:p>
            <a:pPr indent="0" lvl="0" marL="0" rtl="0" algn="l">
              <a:lnSpc>
                <a:spcPct val="115000"/>
              </a:lnSpc>
              <a:spcBef>
                <a:spcPts val="0"/>
              </a:spcBef>
              <a:spcAft>
                <a:spcPts val="0"/>
              </a:spcAft>
              <a:buNone/>
            </a:pPr>
            <a:r>
              <a:rPr lang="en" sz="1300">
                <a:solidFill>
                  <a:srgbClr val="595959"/>
                </a:solidFill>
                <a:latin typeface="Lato"/>
                <a:ea typeface="Lato"/>
                <a:cs typeface="Lato"/>
                <a:sym typeface="Lato"/>
              </a:rPr>
              <a:t>Starting gradability &gt;= 10 degrees at full load capacity</a:t>
            </a:r>
            <a:endParaRPr sz="1300">
              <a:solidFill>
                <a:srgbClr val="595959"/>
              </a:solidFill>
              <a:latin typeface="Lato"/>
              <a:ea typeface="Lato"/>
              <a:cs typeface="Lato"/>
              <a:sym typeface="Lato"/>
            </a:endParaRPr>
          </a:p>
          <a:p>
            <a:pPr indent="0" lvl="0" marL="0" rtl="0" algn="l">
              <a:lnSpc>
                <a:spcPct val="115000"/>
              </a:lnSpc>
              <a:spcBef>
                <a:spcPts val="0"/>
              </a:spcBef>
              <a:spcAft>
                <a:spcPts val="0"/>
              </a:spcAft>
              <a:buNone/>
            </a:pPr>
            <a:r>
              <a:t/>
            </a:r>
            <a:endParaRPr sz="1300">
              <a:solidFill>
                <a:srgbClr val="595959"/>
              </a:solidFill>
              <a:latin typeface="Lato"/>
              <a:ea typeface="Lato"/>
              <a:cs typeface="Lato"/>
              <a:sym typeface="Lato"/>
            </a:endParaRPr>
          </a:p>
        </p:txBody>
      </p:sp>
      <p:sp>
        <p:nvSpPr>
          <p:cNvPr id="423" name="Google Shape;423;p33"/>
          <p:cNvSpPr txBox="1"/>
          <p:nvPr/>
        </p:nvSpPr>
        <p:spPr>
          <a:xfrm>
            <a:off x="204725" y="2251875"/>
            <a:ext cx="5105100" cy="65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500">
                <a:solidFill>
                  <a:srgbClr val="23656F"/>
                </a:solidFill>
                <a:latin typeface="Open Sans"/>
                <a:ea typeface="Open Sans"/>
                <a:cs typeface="Open Sans"/>
                <a:sym typeface="Open Sans"/>
              </a:rPr>
              <a:t>Load Capacity</a:t>
            </a:r>
            <a:r>
              <a:rPr lang="en" sz="1300">
                <a:solidFill>
                  <a:srgbClr val="595959"/>
                </a:solidFill>
                <a:latin typeface="Lato"/>
                <a:ea typeface="Lato"/>
                <a:cs typeface="Lato"/>
                <a:sym typeface="Lato"/>
              </a:rPr>
              <a:t>  </a:t>
            </a:r>
            <a:endParaRPr sz="1300">
              <a:solidFill>
                <a:srgbClr val="595959"/>
              </a:solidFill>
              <a:latin typeface="Lato"/>
              <a:ea typeface="Lato"/>
              <a:cs typeface="Lato"/>
              <a:sym typeface="Lato"/>
            </a:endParaRPr>
          </a:p>
          <a:p>
            <a:pPr indent="0" lvl="0" marL="0" rtl="0" algn="l">
              <a:lnSpc>
                <a:spcPct val="115000"/>
              </a:lnSpc>
              <a:spcBef>
                <a:spcPts val="0"/>
              </a:spcBef>
              <a:spcAft>
                <a:spcPts val="0"/>
              </a:spcAft>
              <a:buNone/>
            </a:pPr>
            <a:r>
              <a:rPr lang="en" sz="1300">
                <a:solidFill>
                  <a:srgbClr val="595959"/>
                </a:solidFill>
                <a:latin typeface="Lato"/>
                <a:ea typeface="Lato"/>
                <a:cs typeface="Lato"/>
                <a:sym typeface="Lato"/>
              </a:rPr>
              <a:t>Current market segment comparison = 1000kg</a:t>
            </a:r>
            <a:endParaRPr sz="1300">
              <a:solidFill>
                <a:srgbClr val="595959"/>
              </a:solidFill>
              <a:latin typeface="Lato"/>
              <a:ea typeface="Lato"/>
              <a:cs typeface="Lato"/>
              <a:sym typeface="La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427" name="Shape 427"/>
        <p:cNvGrpSpPr/>
        <p:nvPr/>
      </p:nvGrpSpPr>
      <p:grpSpPr>
        <a:xfrm>
          <a:off x="0" y="0"/>
          <a:ext cx="0" cy="0"/>
          <a:chOff x="0" y="0"/>
          <a:chExt cx="0" cy="0"/>
        </a:xfrm>
      </p:grpSpPr>
      <p:sp>
        <p:nvSpPr>
          <p:cNvPr id="428" name="Google Shape;428;p34"/>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200"/>
              <a:buFont typeface="Arial"/>
              <a:buNone/>
            </a:pPr>
            <a:r>
              <a:rPr lang="en" sz="2400">
                <a:solidFill>
                  <a:srgbClr val="F3F3F3"/>
                </a:solidFill>
                <a:latin typeface="Lato"/>
                <a:ea typeface="Lato"/>
                <a:cs typeface="Lato"/>
                <a:sym typeface="Lato"/>
              </a:rPr>
              <a:t>Mathematical</a:t>
            </a:r>
            <a:r>
              <a:rPr lang="en" sz="2400">
                <a:solidFill>
                  <a:srgbClr val="48BACA"/>
                </a:solidFill>
                <a:latin typeface="Lato Black"/>
                <a:ea typeface="Lato Black"/>
                <a:cs typeface="Lato Black"/>
                <a:sym typeface="Lato Black"/>
              </a:rPr>
              <a:t> Modeling &amp; Analysis</a:t>
            </a:r>
            <a:endParaRPr i="0" sz="2400" u="none" cap="none" strike="noStrike">
              <a:solidFill>
                <a:srgbClr val="48BACA"/>
              </a:solidFill>
              <a:latin typeface="Lato Black"/>
              <a:ea typeface="Lato Black"/>
              <a:cs typeface="Lato Black"/>
              <a:sym typeface="Lato Black"/>
            </a:endParaRPr>
          </a:p>
        </p:txBody>
      </p:sp>
      <p:pic>
        <p:nvPicPr>
          <p:cNvPr id="429" name="Google Shape;429;p34"/>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430" name="Google Shape;430;p34"/>
          <p:cNvPicPr preferRelativeResize="0"/>
          <p:nvPr/>
        </p:nvPicPr>
        <p:blipFill>
          <a:blip r:embed="rId4">
            <a:alphaModFix amt="10000"/>
          </a:blip>
          <a:stretch>
            <a:fillRect/>
          </a:stretch>
        </p:blipFill>
        <p:spPr>
          <a:xfrm rot="9900000">
            <a:off x="5128900" y="2442475"/>
            <a:ext cx="4289526" cy="2716700"/>
          </a:xfrm>
          <a:prstGeom prst="rect">
            <a:avLst/>
          </a:prstGeom>
          <a:noFill/>
          <a:ln>
            <a:noFill/>
          </a:ln>
        </p:spPr>
      </p:pic>
      <p:sp>
        <p:nvSpPr>
          <p:cNvPr id="431" name="Google Shape;431;p34"/>
          <p:cNvSpPr txBox="1"/>
          <p:nvPr/>
        </p:nvSpPr>
        <p:spPr>
          <a:xfrm>
            <a:off x="0" y="941225"/>
            <a:ext cx="4111500" cy="407100"/>
          </a:xfrm>
          <a:prstGeom prst="rect">
            <a:avLst/>
          </a:prstGeom>
          <a:solidFill>
            <a:srgbClr val="23656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700">
                <a:solidFill>
                  <a:srgbClr val="EFEFEF"/>
                </a:solidFill>
                <a:latin typeface="Open Sans ExtraBold"/>
                <a:ea typeface="Open Sans ExtraBold"/>
                <a:cs typeface="Open Sans ExtraBold"/>
                <a:sym typeface="Open Sans ExtraBold"/>
              </a:rPr>
              <a:t>PRELIMINARY MODELING</a:t>
            </a:r>
            <a:endParaRPr sz="1700">
              <a:solidFill>
                <a:srgbClr val="EFEFEF"/>
              </a:solidFill>
              <a:latin typeface="Open Sans ExtraBold"/>
              <a:ea typeface="Open Sans ExtraBold"/>
              <a:cs typeface="Open Sans ExtraBold"/>
              <a:sym typeface="Open Sans ExtraBold"/>
            </a:endParaRPr>
          </a:p>
        </p:txBody>
      </p:sp>
      <p:sp>
        <p:nvSpPr>
          <p:cNvPr id="432" name="Google Shape;432;p34"/>
          <p:cNvSpPr/>
          <p:nvPr/>
        </p:nvSpPr>
        <p:spPr>
          <a:xfrm>
            <a:off x="3834275" y="941225"/>
            <a:ext cx="399000" cy="4071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433" name="Google Shape;433;p34"/>
          <p:cNvPicPr preferRelativeResize="0"/>
          <p:nvPr/>
        </p:nvPicPr>
        <p:blipFill rotWithShape="1">
          <a:blip r:embed="rId5">
            <a:alphaModFix/>
          </a:blip>
          <a:srcRect b="11281" l="20956" r="20375" t="10435"/>
          <a:stretch/>
        </p:blipFill>
        <p:spPr>
          <a:xfrm>
            <a:off x="3815225" y="985441"/>
            <a:ext cx="360900" cy="318660"/>
          </a:xfrm>
          <a:prstGeom prst="rect">
            <a:avLst/>
          </a:prstGeom>
          <a:noFill/>
          <a:ln>
            <a:noFill/>
          </a:ln>
        </p:spPr>
      </p:pic>
      <p:pic>
        <p:nvPicPr>
          <p:cNvPr id="434" name="Google Shape;434;p34"/>
          <p:cNvPicPr preferRelativeResize="0"/>
          <p:nvPr/>
        </p:nvPicPr>
        <p:blipFill rotWithShape="1">
          <a:blip r:embed="rId6">
            <a:alphaModFix/>
          </a:blip>
          <a:srcRect b="0" l="0" r="5276" t="0"/>
          <a:stretch/>
        </p:blipFill>
        <p:spPr>
          <a:xfrm>
            <a:off x="255600" y="1590363"/>
            <a:ext cx="4211800" cy="1962775"/>
          </a:xfrm>
          <a:prstGeom prst="rect">
            <a:avLst/>
          </a:prstGeom>
          <a:noFill/>
          <a:ln cap="flat" cmpd="sng" w="9525">
            <a:solidFill>
              <a:srgbClr val="434343"/>
            </a:solidFill>
            <a:prstDash val="solid"/>
            <a:round/>
            <a:headEnd len="sm" w="sm" type="none"/>
            <a:tailEnd len="sm" w="sm" type="none"/>
          </a:ln>
        </p:spPr>
      </p:pic>
      <p:pic>
        <p:nvPicPr>
          <p:cNvPr id="435" name="Google Shape;435;p34"/>
          <p:cNvPicPr preferRelativeResize="0"/>
          <p:nvPr/>
        </p:nvPicPr>
        <p:blipFill rotWithShape="1">
          <a:blip r:embed="rId7">
            <a:alphaModFix/>
          </a:blip>
          <a:srcRect b="0" l="0" r="5213" t="0"/>
          <a:stretch/>
        </p:blipFill>
        <p:spPr>
          <a:xfrm>
            <a:off x="4688650" y="1590375"/>
            <a:ext cx="4161800" cy="1962774"/>
          </a:xfrm>
          <a:prstGeom prst="rect">
            <a:avLst/>
          </a:prstGeom>
          <a:noFill/>
          <a:ln cap="flat" cmpd="sng" w="9525">
            <a:solidFill>
              <a:srgbClr val="434343"/>
            </a:solidFill>
            <a:prstDash val="solid"/>
            <a:round/>
            <a:headEnd len="sm" w="sm" type="none"/>
            <a:tailEnd len="sm" w="sm" type="none"/>
          </a:ln>
        </p:spPr>
      </p:pic>
      <p:sp>
        <p:nvSpPr>
          <p:cNvPr id="436" name="Google Shape;436;p34"/>
          <p:cNvSpPr txBox="1"/>
          <p:nvPr/>
        </p:nvSpPr>
        <p:spPr>
          <a:xfrm>
            <a:off x="114600" y="3557275"/>
            <a:ext cx="4457400" cy="1416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300">
                <a:solidFill>
                  <a:srgbClr val="23656F"/>
                </a:solidFill>
                <a:latin typeface="Open Sans"/>
                <a:ea typeface="Open Sans"/>
                <a:cs typeface="Open Sans"/>
                <a:sym typeface="Open Sans"/>
              </a:rPr>
              <a:t>Torque &amp; Power Calculator</a:t>
            </a:r>
            <a:endParaRPr b="1" sz="1300">
              <a:solidFill>
                <a:srgbClr val="23656F"/>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b="1" sz="200">
              <a:latin typeface="Open Sans"/>
              <a:ea typeface="Open Sans"/>
              <a:cs typeface="Open Sans"/>
              <a:sym typeface="Open Sans"/>
            </a:endParaRPr>
          </a:p>
          <a:p>
            <a:pPr indent="0" lvl="0" marL="0" rtl="0" algn="ctr">
              <a:lnSpc>
                <a:spcPct val="125000"/>
              </a:lnSpc>
              <a:spcBef>
                <a:spcPts val="0"/>
              </a:spcBef>
              <a:spcAft>
                <a:spcPts val="0"/>
              </a:spcAft>
              <a:buNone/>
            </a:pPr>
            <a:r>
              <a:rPr b="1" lang="en" sz="1000">
                <a:solidFill>
                  <a:srgbClr val="595959"/>
                </a:solidFill>
                <a:latin typeface="Lato"/>
                <a:ea typeface="Lato"/>
                <a:cs typeface="Lato"/>
                <a:sym typeface="Lato"/>
              </a:rPr>
              <a:t>This dynamic Google Sheet was made to perform preliminary motor sizing calculations.  Any state can be defined by </a:t>
            </a:r>
            <a:r>
              <a:rPr lang="en" sz="1100">
                <a:solidFill>
                  <a:srgbClr val="23656F"/>
                </a:solidFill>
                <a:latin typeface="Lato Black"/>
                <a:ea typeface="Lato Black"/>
                <a:cs typeface="Lato Black"/>
                <a:sym typeface="Lato Black"/>
              </a:rPr>
              <a:t>Acceleration, Velocity</a:t>
            </a:r>
            <a:r>
              <a:rPr lang="en" sz="1000">
                <a:solidFill>
                  <a:srgbClr val="595959"/>
                </a:solidFill>
                <a:latin typeface="Lato Black"/>
                <a:ea typeface="Lato Black"/>
                <a:cs typeface="Lato Black"/>
                <a:sym typeface="Lato Black"/>
              </a:rPr>
              <a:t>,</a:t>
            </a:r>
            <a:r>
              <a:rPr b="1" lang="en" sz="1000">
                <a:solidFill>
                  <a:srgbClr val="595959"/>
                </a:solidFill>
                <a:latin typeface="Lato"/>
                <a:ea typeface="Lato"/>
                <a:cs typeface="Lato"/>
                <a:sym typeface="Lato"/>
              </a:rPr>
              <a:t> &amp; </a:t>
            </a:r>
            <a:r>
              <a:rPr lang="en" sz="1100">
                <a:solidFill>
                  <a:srgbClr val="23656F"/>
                </a:solidFill>
                <a:latin typeface="Lato Black"/>
                <a:ea typeface="Lato Black"/>
                <a:cs typeface="Lato Black"/>
                <a:sym typeface="Lato Black"/>
              </a:rPr>
              <a:t>Gradient Angle</a:t>
            </a:r>
            <a:r>
              <a:rPr b="1" lang="en" sz="1000">
                <a:solidFill>
                  <a:srgbClr val="595959"/>
                </a:solidFill>
                <a:latin typeface="Lato"/>
                <a:ea typeface="Lato"/>
                <a:cs typeface="Lato"/>
                <a:sym typeface="Lato"/>
              </a:rPr>
              <a:t>, and the corresponding Torque &amp; Power requirements can be calculated.</a:t>
            </a:r>
            <a:endParaRPr b="1" sz="1000">
              <a:solidFill>
                <a:srgbClr val="595959"/>
              </a:solidFill>
              <a:latin typeface="Lato"/>
              <a:ea typeface="Lato"/>
              <a:cs typeface="Lato"/>
              <a:sym typeface="Lato"/>
            </a:endParaRPr>
          </a:p>
          <a:p>
            <a:pPr indent="0" lvl="0" marL="0" rtl="0" algn="l">
              <a:lnSpc>
                <a:spcPct val="125000"/>
              </a:lnSpc>
              <a:spcBef>
                <a:spcPts val="0"/>
              </a:spcBef>
              <a:spcAft>
                <a:spcPts val="0"/>
              </a:spcAft>
              <a:buNone/>
            </a:pPr>
            <a:r>
              <a:t/>
            </a:r>
            <a:endParaRPr sz="1000">
              <a:solidFill>
                <a:srgbClr val="23656F"/>
              </a:solidFill>
              <a:latin typeface="Lato Black"/>
              <a:ea typeface="Lato Black"/>
              <a:cs typeface="Lato Black"/>
              <a:sym typeface="Lato Black"/>
            </a:endParaRPr>
          </a:p>
        </p:txBody>
      </p:sp>
      <p:sp>
        <p:nvSpPr>
          <p:cNvPr id="437" name="Google Shape;437;p34"/>
          <p:cNvSpPr txBox="1"/>
          <p:nvPr/>
        </p:nvSpPr>
        <p:spPr>
          <a:xfrm>
            <a:off x="4688650" y="3557275"/>
            <a:ext cx="4211700" cy="1378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300">
                <a:solidFill>
                  <a:srgbClr val="23656F"/>
                </a:solidFill>
                <a:latin typeface="Open Sans"/>
                <a:ea typeface="Open Sans"/>
                <a:cs typeface="Open Sans"/>
                <a:sym typeface="Open Sans"/>
              </a:rPr>
              <a:t>Mass &amp; CG Estimation </a:t>
            </a:r>
            <a:endParaRPr b="1" sz="1300">
              <a:solidFill>
                <a:srgbClr val="23656F"/>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b="1" sz="200">
              <a:latin typeface="Open Sans"/>
              <a:ea typeface="Open Sans"/>
              <a:cs typeface="Open Sans"/>
              <a:sym typeface="Open Sans"/>
            </a:endParaRPr>
          </a:p>
          <a:p>
            <a:pPr indent="0" lvl="0" marL="0" rtl="0" algn="ctr">
              <a:lnSpc>
                <a:spcPct val="125000"/>
              </a:lnSpc>
              <a:spcBef>
                <a:spcPts val="0"/>
              </a:spcBef>
              <a:spcAft>
                <a:spcPts val="0"/>
              </a:spcAft>
              <a:buNone/>
            </a:pPr>
            <a:r>
              <a:rPr b="1" lang="en" sz="1000">
                <a:solidFill>
                  <a:srgbClr val="595959"/>
                </a:solidFill>
                <a:latin typeface="Lato"/>
                <a:ea typeface="Lato"/>
                <a:cs typeface="Lato"/>
                <a:sym typeface="Lato"/>
              </a:rPr>
              <a:t>This dynamic Google Sheet was made to perform preliminary mass &amp; CG </a:t>
            </a:r>
            <a:r>
              <a:rPr b="1" lang="en" sz="1000">
                <a:solidFill>
                  <a:srgbClr val="595959"/>
                </a:solidFill>
                <a:latin typeface="Lato"/>
                <a:ea typeface="Lato"/>
                <a:cs typeface="Lato"/>
                <a:sym typeface="Lato"/>
              </a:rPr>
              <a:t>estimation for the proposed vehicle. Mass of components was approximated on Subsystem level to predict the final mass &amp; CG location.</a:t>
            </a:r>
            <a:endParaRPr b="1" sz="1000">
              <a:solidFill>
                <a:srgbClr val="595959"/>
              </a:solidFill>
              <a:latin typeface="Lato"/>
              <a:ea typeface="Lato"/>
              <a:cs typeface="Lato"/>
              <a:sym typeface="Lato"/>
            </a:endParaRPr>
          </a:p>
          <a:p>
            <a:pPr indent="0" lvl="0" marL="0" rtl="0" algn="l">
              <a:lnSpc>
                <a:spcPct val="125000"/>
              </a:lnSpc>
              <a:spcBef>
                <a:spcPts val="0"/>
              </a:spcBef>
              <a:spcAft>
                <a:spcPts val="0"/>
              </a:spcAft>
              <a:buNone/>
            </a:pPr>
            <a:r>
              <a:t/>
            </a:r>
            <a:endParaRPr sz="1000">
              <a:solidFill>
                <a:srgbClr val="23656F"/>
              </a:solidFill>
              <a:latin typeface="Lato Black"/>
              <a:ea typeface="Lato Black"/>
              <a:cs typeface="Lato Black"/>
              <a:sym typeface="Lato Black"/>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441" name="Shape 441"/>
        <p:cNvGrpSpPr/>
        <p:nvPr/>
      </p:nvGrpSpPr>
      <p:grpSpPr>
        <a:xfrm>
          <a:off x="0" y="0"/>
          <a:ext cx="0" cy="0"/>
          <a:chOff x="0" y="0"/>
          <a:chExt cx="0" cy="0"/>
        </a:xfrm>
      </p:grpSpPr>
      <p:sp>
        <p:nvSpPr>
          <p:cNvPr id="442" name="Google Shape;442;p35"/>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200"/>
              <a:buFont typeface="Arial"/>
              <a:buNone/>
            </a:pPr>
            <a:r>
              <a:rPr lang="en" sz="2400">
                <a:solidFill>
                  <a:srgbClr val="F3F3F3"/>
                </a:solidFill>
                <a:latin typeface="Lato"/>
                <a:ea typeface="Lato"/>
                <a:cs typeface="Lato"/>
                <a:sym typeface="Lato"/>
              </a:rPr>
              <a:t>Mathematical</a:t>
            </a:r>
            <a:r>
              <a:rPr lang="en" sz="2400">
                <a:solidFill>
                  <a:srgbClr val="48BACA"/>
                </a:solidFill>
                <a:latin typeface="Lato Black"/>
                <a:ea typeface="Lato Black"/>
                <a:cs typeface="Lato Black"/>
                <a:sym typeface="Lato Black"/>
              </a:rPr>
              <a:t> Modeling &amp; Analysis</a:t>
            </a:r>
            <a:endParaRPr i="0" sz="2400" u="none" cap="none" strike="noStrike">
              <a:solidFill>
                <a:srgbClr val="48BACA"/>
              </a:solidFill>
              <a:latin typeface="Lato Black"/>
              <a:ea typeface="Lato Black"/>
              <a:cs typeface="Lato Black"/>
              <a:sym typeface="Lato Black"/>
            </a:endParaRPr>
          </a:p>
        </p:txBody>
      </p:sp>
      <p:pic>
        <p:nvPicPr>
          <p:cNvPr id="443" name="Google Shape;443;p35"/>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444" name="Google Shape;444;p35"/>
          <p:cNvPicPr preferRelativeResize="0"/>
          <p:nvPr/>
        </p:nvPicPr>
        <p:blipFill>
          <a:blip r:embed="rId4">
            <a:alphaModFix amt="8000"/>
          </a:blip>
          <a:stretch>
            <a:fillRect/>
          </a:stretch>
        </p:blipFill>
        <p:spPr>
          <a:xfrm rot="9900000">
            <a:off x="5128900" y="2442475"/>
            <a:ext cx="4289526" cy="2716700"/>
          </a:xfrm>
          <a:prstGeom prst="rect">
            <a:avLst/>
          </a:prstGeom>
          <a:noFill/>
          <a:ln>
            <a:noFill/>
          </a:ln>
        </p:spPr>
      </p:pic>
      <p:sp>
        <p:nvSpPr>
          <p:cNvPr id="445" name="Google Shape;445;p35"/>
          <p:cNvSpPr txBox="1"/>
          <p:nvPr/>
        </p:nvSpPr>
        <p:spPr>
          <a:xfrm>
            <a:off x="0" y="941225"/>
            <a:ext cx="4111500" cy="407100"/>
          </a:xfrm>
          <a:prstGeom prst="rect">
            <a:avLst/>
          </a:prstGeom>
          <a:solidFill>
            <a:srgbClr val="23656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700">
                <a:solidFill>
                  <a:srgbClr val="EFEFEF"/>
                </a:solidFill>
                <a:latin typeface="Open Sans ExtraBold"/>
                <a:ea typeface="Open Sans ExtraBold"/>
                <a:cs typeface="Open Sans ExtraBold"/>
                <a:sym typeface="Open Sans ExtraBold"/>
              </a:rPr>
              <a:t>PRELIMINARY MODELING</a:t>
            </a:r>
            <a:endParaRPr sz="1700">
              <a:solidFill>
                <a:srgbClr val="EFEFEF"/>
              </a:solidFill>
              <a:latin typeface="Open Sans ExtraBold"/>
              <a:ea typeface="Open Sans ExtraBold"/>
              <a:cs typeface="Open Sans ExtraBold"/>
              <a:sym typeface="Open Sans ExtraBold"/>
            </a:endParaRPr>
          </a:p>
        </p:txBody>
      </p:sp>
      <p:sp>
        <p:nvSpPr>
          <p:cNvPr id="446" name="Google Shape;446;p35"/>
          <p:cNvSpPr/>
          <p:nvPr/>
        </p:nvSpPr>
        <p:spPr>
          <a:xfrm>
            <a:off x="3834275" y="941225"/>
            <a:ext cx="399000" cy="4071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447" name="Google Shape;447;p35"/>
          <p:cNvPicPr preferRelativeResize="0"/>
          <p:nvPr/>
        </p:nvPicPr>
        <p:blipFill rotWithShape="1">
          <a:blip r:embed="rId5">
            <a:alphaModFix/>
          </a:blip>
          <a:srcRect b="11281" l="20956" r="20375" t="10435"/>
          <a:stretch/>
        </p:blipFill>
        <p:spPr>
          <a:xfrm>
            <a:off x="3815225" y="985441"/>
            <a:ext cx="360900" cy="318660"/>
          </a:xfrm>
          <a:prstGeom prst="rect">
            <a:avLst/>
          </a:prstGeom>
          <a:noFill/>
          <a:ln>
            <a:noFill/>
          </a:ln>
        </p:spPr>
      </p:pic>
      <p:sp>
        <p:nvSpPr>
          <p:cNvPr id="448" name="Google Shape;448;p35"/>
          <p:cNvSpPr txBox="1"/>
          <p:nvPr/>
        </p:nvSpPr>
        <p:spPr>
          <a:xfrm>
            <a:off x="4572000" y="3538275"/>
            <a:ext cx="4457400" cy="1570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300">
                <a:solidFill>
                  <a:srgbClr val="23656F"/>
                </a:solidFill>
                <a:latin typeface="Open Sans"/>
                <a:ea typeface="Open Sans"/>
                <a:cs typeface="Open Sans"/>
                <a:sym typeface="Open Sans"/>
              </a:rPr>
              <a:t>Full Throttle &amp; Full Braking Simulations</a:t>
            </a:r>
            <a:endParaRPr b="1" sz="1300">
              <a:solidFill>
                <a:srgbClr val="23656F"/>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b="1" sz="200">
              <a:latin typeface="Open Sans"/>
              <a:ea typeface="Open Sans"/>
              <a:cs typeface="Open Sans"/>
              <a:sym typeface="Open Sans"/>
            </a:endParaRPr>
          </a:p>
          <a:p>
            <a:pPr indent="0" lvl="0" marL="0" rtl="0" algn="ctr">
              <a:lnSpc>
                <a:spcPct val="125000"/>
              </a:lnSpc>
              <a:spcBef>
                <a:spcPts val="0"/>
              </a:spcBef>
              <a:spcAft>
                <a:spcPts val="0"/>
              </a:spcAft>
              <a:buNone/>
            </a:pPr>
            <a:r>
              <a:rPr b="1" lang="en" sz="1000">
                <a:solidFill>
                  <a:srgbClr val="595959"/>
                </a:solidFill>
                <a:latin typeface="Lato"/>
                <a:ea typeface="Lato"/>
                <a:cs typeface="Lato"/>
                <a:sym typeface="Lato"/>
              </a:rPr>
              <a:t>MATLAB scripts were used to numerically solve the Longitudinal Differential Equation, as shown in the figure. </a:t>
            </a:r>
            <a:endParaRPr b="1" sz="1000">
              <a:solidFill>
                <a:srgbClr val="595959"/>
              </a:solidFill>
              <a:latin typeface="Lato"/>
              <a:ea typeface="Lato"/>
              <a:cs typeface="Lato"/>
              <a:sym typeface="Lato"/>
            </a:endParaRPr>
          </a:p>
          <a:p>
            <a:pPr indent="0" lvl="0" marL="0" rtl="0" algn="ctr">
              <a:lnSpc>
                <a:spcPct val="125000"/>
              </a:lnSpc>
              <a:spcBef>
                <a:spcPts val="0"/>
              </a:spcBef>
              <a:spcAft>
                <a:spcPts val="0"/>
              </a:spcAft>
              <a:buNone/>
            </a:pPr>
            <a:r>
              <a:rPr b="1" lang="en" sz="1000">
                <a:solidFill>
                  <a:srgbClr val="595959"/>
                </a:solidFill>
                <a:latin typeface="Lato"/>
                <a:ea typeface="Lato"/>
                <a:cs typeface="Lato"/>
                <a:sym typeface="Lato"/>
              </a:rPr>
              <a:t>The values of acceleration time, overtaking time, and the braking distance were calculated using these scripts and the corresponding Drive Cycles were generated.</a:t>
            </a:r>
            <a:endParaRPr b="1" sz="1000">
              <a:solidFill>
                <a:srgbClr val="595959"/>
              </a:solidFill>
              <a:latin typeface="Lato"/>
              <a:ea typeface="Lato"/>
              <a:cs typeface="Lato"/>
              <a:sym typeface="Lato"/>
            </a:endParaRPr>
          </a:p>
          <a:p>
            <a:pPr indent="0" lvl="0" marL="0" rtl="0" algn="l">
              <a:lnSpc>
                <a:spcPct val="125000"/>
              </a:lnSpc>
              <a:spcBef>
                <a:spcPts val="0"/>
              </a:spcBef>
              <a:spcAft>
                <a:spcPts val="0"/>
              </a:spcAft>
              <a:buNone/>
            </a:pPr>
            <a:r>
              <a:t/>
            </a:r>
            <a:endParaRPr sz="1000">
              <a:solidFill>
                <a:srgbClr val="23656F"/>
              </a:solidFill>
              <a:latin typeface="Lato Black"/>
              <a:ea typeface="Lato Black"/>
              <a:cs typeface="Lato Black"/>
              <a:sym typeface="Lato Black"/>
            </a:endParaRPr>
          </a:p>
        </p:txBody>
      </p:sp>
      <p:sp>
        <p:nvSpPr>
          <p:cNvPr id="449" name="Google Shape;449;p35"/>
          <p:cNvSpPr txBox="1"/>
          <p:nvPr/>
        </p:nvSpPr>
        <p:spPr>
          <a:xfrm>
            <a:off x="228600" y="3538275"/>
            <a:ext cx="4457400" cy="1570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300">
                <a:solidFill>
                  <a:srgbClr val="23656F"/>
                </a:solidFill>
                <a:latin typeface="Open Sans"/>
                <a:ea typeface="Open Sans"/>
                <a:cs typeface="Open Sans"/>
                <a:sym typeface="Open Sans"/>
              </a:rPr>
              <a:t>WLTP/WLTC Class 1 Low</a:t>
            </a:r>
            <a:endParaRPr b="1" sz="1300">
              <a:solidFill>
                <a:srgbClr val="23656F"/>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b="1" sz="200">
              <a:latin typeface="Open Sans"/>
              <a:ea typeface="Open Sans"/>
              <a:cs typeface="Open Sans"/>
              <a:sym typeface="Open Sans"/>
            </a:endParaRPr>
          </a:p>
          <a:p>
            <a:pPr indent="0" lvl="0" marL="0" rtl="0" algn="ctr">
              <a:lnSpc>
                <a:spcPct val="125000"/>
              </a:lnSpc>
              <a:spcBef>
                <a:spcPts val="0"/>
              </a:spcBef>
              <a:spcAft>
                <a:spcPts val="0"/>
              </a:spcAft>
              <a:buNone/>
            </a:pPr>
            <a:r>
              <a:rPr b="1" lang="en" sz="1000">
                <a:solidFill>
                  <a:srgbClr val="595959"/>
                </a:solidFill>
                <a:latin typeface="Lato"/>
                <a:ea typeface="Lato"/>
                <a:cs typeface="Lato"/>
                <a:sym typeface="Lato"/>
              </a:rPr>
              <a:t>WLTP is a global harmonized standard for determining the levels of pollutants, fuel consumption of IC cars, as well as the range of EVs. It offers different classes based on the Energy to Mass ratio.</a:t>
            </a:r>
            <a:br>
              <a:rPr b="1" lang="en" sz="1000">
                <a:solidFill>
                  <a:srgbClr val="595959"/>
                </a:solidFill>
                <a:latin typeface="Lato"/>
                <a:ea typeface="Lato"/>
                <a:cs typeface="Lato"/>
                <a:sym typeface="Lato"/>
              </a:rPr>
            </a:br>
            <a:r>
              <a:rPr b="1" lang="en" sz="1000">
                <a:solidFill>
                  <a:srgbClr val="595959"/>
                </a:solidFill>
                <a:latin typeface="Lato"/>
                <a:ea typeface="Lato"/>
                <a:cs typeface="Lato"/>
                <a:sym typeface="Lato"/>
              </a:rPr>
              <a:t>We have used the WLTP Class 1 Low drive cycle for the consequent Integrated &amp; Powertrain Sizing simulations </a:t>
            </a:r>
            <a:endParaRPr b="1" sz="1000">
              <a:solidFill>
                <a:srgbClr val="595959"/>
              </a:solidFill>
              <a:latin typeface="Lato"/>
              <a:ea typeface="Lato"/>
              <a:cs typeface="Lato"/>
              <a:sym typeface="Lato"/>
            </a:endParaRPr>
          </a:p>
          <a:p>
            <a:pPr indent="0" lvl="0" marL="0" rtl="0" algn="l">
              <a:lnSpc>
                <a:spcPct val="125000"/>
              </a:lnSpc>
              <a:spcBef>
                <a:spcPts val="0"/>
              </a:spcBef>
              <a:spcAft>
                <a:spcPts val="0"/>
              </a:spcAft>
              <a:buNone/>
            </a:pPr>
            <a:r>
              <a:t/>
            </a:r>
            <a:endParaRPr sz="1000">
              <a:solidFill>
                <a:srgbClr val="23656F"/>
              </a:solidFill>
              <a:latin typeface="Lato Black"/>
              <a:ea typeface="Lato Black"/>
              <a:cs typeface="Lato Black"/>
              <a:sym typeface="Lato Black"/>
            </a:endParaRPr>
          </a:p>
        </p:txBody>
      </p:sp>
      <p:pic>
        <p:nvPicPr>
          <p:cNvPr id="450" name="Google Shape;450;p35"/>
          <p:cNvPicPr preferRelativeResize="0"/>
          <p:nvPr/>
        </p:nvPicPr>
        <p:blipFill>
          <a:blip r:embed="rId6">
            <a:alphaModFix/>
          </a:blip>
          <a:stretch>
            <a:fillRect/>
          </a:stretch>
        </p:blipFill>
        <p:spPr>
          <a:xfrm>
            <a:off x="959513" y="1548550"/>
            <a:ext cx="2995574" cy="1960000"/>
          </a:xfrm>
          <a:prstGeom prst="rect">
            <a:avLst/>
          </a:prstGeom>
          <a:noFill/>
          <a:ln cap="flat" cmpd="sng" w="9525">
            <a:solidFill>
              <a:srgbClr val="434343"/>
            </a:solidFill>
            <a:prstDash val="solid"/>
            <a:round/>
            <a:headEnd len="sm" w="sm" type="none"/>
            <a:tailEnd len="sm" w="sm" type="none"/>
          </a:ln>
        </p:spPr>
      </p:pic>
      <p:pic>
        <p:nvPicPr>
          <p:cNvPr id="451" name="Google Shape;451;p35"/>
          <p:cNvPicPr preferRelativeResize="0"/>
          <p:nvPr/>
        </p:nvPicPr>
        <p:blipFill rotWithShape="1">
          <a:blip r:embed="rId7">
            <a:alphaModFix/>
          </a:blip>
          <a:srcRect b="0" l="527" r="0" t="5553"/>
          <a:stretch/>
        </p:blipFill>
        <p:spPr>
          <a:xfrm>
            <a:off x="4648800" y="1396150"/>
            <a:ext cx="4282876" cy="474825"/>
          </a:xfrm>
          <a:prstGeom prst="rect">
            <a:avLst/>
          </a:prstGeom>
          <a:noFill/>
          <a:ln cap="flat" cmpd="sng" w="9525">
            <a:solidFill>
              <a:srgbClr val="434343"/>
            </a:solidFill>
            <a:prstDash val="solid"/>
            <a:round/>
            <a:headEnd len="sm" w="sm" type="none"/>
            <a:tailEnd len="sm" w="sm" type="none"/>
          </a:ln>
        </p:spPr>
      </p:pic>
      <p:sp>
        <p:nvSpPr>
          <p:cNvPr id="452" name="Google Shape;452;p35"/>
          <p:cNvSpPr txBox="1"/>
          <p:nvPr/>
        </p:nvSpPr>
        <p:spPr>
          <a:xfrm>
            <a:off x="4648800" y="1640750"/>
            <a:ext cx="42591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800">
                <a:latin typeface="Lato"/>
                <a:ea typeface="Lato"/>
                <a:cs typeface="Lato"/>
                <a:sym typeface="Lato"/>
              </a:rPr>
              <a:t>Longitudinal VD Differential Equation</a:t>
            </a:r>
            <a:endParaRPr b="1" sz="800">
              <a:latin typeface="Lato"/>
              <a:ea typeface="Lato"/>
              <a:cs typeface="Lato"/>
              <a:sym typeface="Lato"/>
            </a:endParaRPr>
          </a:p>
        </p:txBody>
      </p:sp>
      <p:pic>
        <p:nvPicPr>
          <p:cNvPr id="453" name="Google Shape;453;p35"/>
          <p:cNvPicPr preferRelativeResize="0"/>
          <p:nvPr/>
        </p:nvPicPr>
        <p:blipFill rotWithShape="1">
          <a:blip r:embed="rId8">
            <a:alphaModFix/>
          </a:blip>
          <a:srcRect b="0" l="3218" r="2682" t="0"/>
          <a:stretch/>
        </p:blipFill>
        <p:spPr>
          <a:xfrm>
            <a:off x="4648800" y="1947175"/>
            <a:ext cx="1953010" cy="1570500"/>
          </a:xfrm>
          <a:prstGeom prst="rect">
            <a:avLst/>
          </a:prstGeom>
          <a:noFill/>
          <a:ln cap="flat" cmpd="sng" w="9525">
            <a:solidFill>
              <a:srgbClr val="434343"/>
            </a:solidFill>
            <a:prstDash val="solid"/>
            <a:round/>
            <a:headEnd len="sm" w="sm" type="none"/>
            <a:tailEnd len="sm" w="sm" type="none"/>
          </a:ln>
        </p:spPr>
      </p:pic>
      <p:pic>
        <p:nvPicPr>
          <p:cNvPr id="454" name="Google Shape;454;p35"/>
          <p:cNvPicPr preferRelativeResize="0"/>
          <p:nvPr/>
        </p:nvPicPr>
        <p:blipFill rotWithShape="1">
          <a:blip r:embed="rId9">
            <a:alphaModFix/>
          </a:blip>
          <a:srcRect b="3466" l="3531" r="0" t="0"/>
          <a:stretch/>
        </p:blipFill>
        <p:spPr>
          <a:xfrm>
            <a:off x="6679650" y="1933650"/>
            <a:ext cx="2175800" cy="1585400"/>
          </a:xfrm>
          <a:prstGeom prst="rect">
            <a:avLst/>
          </a:prstGeom>
          <a:noFill/>
          <a:ln cap="flat" cmpd="sng" w="9525">
            <a:solidFill>
              <a:srgbClr val="434343"/>
            </a:solidFill>
            <a:prstDash val="solid"/>
            <a:round/>
            <a:headEnd len="sm" w="sm" type="none"/>
            <a:tailEnd len="sm" w="sm" type="none"/>
          </a:ln>
        </p:spPr>
      </p:pic>
      <p:sp>
        <p:nvSpPr>
          <p:cNvPr id="455" name="Google Shape;455;p35"/>
          <p:cNvSpPr txBox="1"/>
          <p:nvPr/>
        </p:nvSpPr>
        <p:spPr>
          <a:xfrm>
            <a:off x="6679600" y="3124550"/>
            <a:ext cx="21759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800">
                <a:latin typeface="Lato"/>
                <a:ea typeface="Lato"/>
                <a:cs typeface="Lato"/>
                <a:sym typeface="Lato"/>
              </a:rPr>
              <a:t>Braking Distance Calculation</a:t>
            </a:r>
            <a:endParaRPr b="1" sz="800">
              <a:latin typeface="Lato"/>
              <a:ea typeface="Lato"/>
              <a:cs typeface="Lato"/>
              <a:sym typeface="Lato"/>
            </a:endParaRPr>
          </a:p>
        </p:txBody>
      </p:sp>
      <p:sp>
        <p:nvSpPr>
          <p:cNvPr id="456" name="Google Shape;456;p35"/>
          <p:cNvSpPr txBox="1"/>
          <p:nvPr/>
        </p:nvSpPr>
        <p:spPr>
          <a:xfrm>
            <a:off x="4698400" y="3112525"/>
            <a:ext cx="19797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800">
                <a:latin typeface="Lato"/>
                <a:ea typeface="Lato"/>
                <a:cs typeface="Lato"/>
                <a:sym typeface="Lato"/>
              </a:rPr>
              <a:t>Acceleration Time Calculation</a:t>
            </a:r>
            <a:endParaRPr b="1" sz="800">
              <a:latin typeface="Lato"/>
              <a:ea typeface="Lato"/>
              <a:cs typeface="Lato"/>
              <a:sym typeface="La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460" name="Shape 460"/>
        <p:cNvGrpSpPr/>
        <p:nvPr/>
      </p:nvGrpSpPr>
      <p:grpSpPr>
        <a:xfrm>
          <a:off x="0" y="0"/>
          <a:ext cx="0" cy="0"/>
          <a:chOff x="0" y="0"/>
          <a:chExt cx="0" cy="0"/>
        </a:xfrm>
      </p:grpSpPr>
      <p:sp>
        <p:nvSpPr>
          <p:cNvPr id="461" name="Google Shape;461;p36"/>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200"/>
              <a:buFont typeface="Arial"/>
              <a:buNone/>
            </a:pPr>
            <a:r>
              <a:rPr lang="en" sz="2400">
                <a:solidFill>
                  <a:srgbClr val="F3F3F3"/>
                </a:solidFill>
                <a:latin typeface="Lato"/>
                <a:ea typeface="Lato"/>
                <a:cs typeface="Lato"/>
                <a:sym typeface="Lato"/>
              </a:rPr>
              <a:t>Mathematical</a:t>
            </a:r>
            <a:r>
              <a:rPr lang="en" sz="2400">
                <a:solidFill>
                  <a:srgbClr val="48BACA"/>
                </a:solidFill>
                <a:latin typeface="Lato Black"/>
                <a:ea typeface="Lato Black"/>
                <a:cs typeface="Lato Black"/>
                <a:sym typeface="Lato Black"/>
              </a:rPr>
              <a:t> Modeling &amp; Analysis</a:t>
            </a:r>
            <a:endParaRPr i="0" sz="2400" u="none" cap="none" strike="noStrike">
              <a:solidFill>
                <a:srgbClr val="48BACA"/>
              </a:solidFill>
              <a:latin typeface="Lato Black"/>
              <a:ea typeface="Lato Black"/>
              <a:cs typeface="Lato Black"/>
              <a:sym typeface="Lato Black"/>
            </a:endParaRPr>
          </a:p>
        </p:txBody>
      </p:sp>
      <p:pic>
        <p:nvPicPr>
          <p:cNvPr id="462" name="Google Shape;462;p36"/>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463" name="Google Shape;463;p36"/>
          <p:cNvPicPr preferRelativeResize="0"/>
          <p:nvPr/>
        </p:nvPicPr>
        <p:blipFill>
          <a:blip r:embed="rId4">
            <a:alphaModFix amt="26000"/>
          </a:blip>
          <a:stretch>
            <a:fillRect/>
          </a:stretch>
        </p:blipFill>
        <p:spPr>
          <a:xfrm rot="9900000">
            <a:off x="5204825" y="2442475"/>
            <a:ext cx="4289526" cy="2716700"/>
          </a:xfrm>
          <a:prstGeom prst="rect">
            <a:avLst/>
          </a:prstGeom>
          <a:noFill/>
          <a:ln>
            <a:noFill/>
          </a:ln>
        </p:spPr>
      </p:pic>
      <p:sp>
        <p:nvSpPr>
          <p:cNvPr id="464" name="Google Shape;464;p36"/>
          <p:cNvSpPr txBox="1"/>
          <p:nvPr/>
        </p:nvSpPr>
        <p:spPr>
          <a:xfrm>
            <a:off x="0" y="941225"/>
            <a:ext cx="4111500" cy="407100"/>
          </a:xfrm>
          <a:prstGeom prst="rect">
            <a:avLst/>
          </a:prstGeom>
          <a:solidFill>
            <a:srgbClr val="23656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700">
                <a:solidFill>
                  <a:srgbClr val="EFEFEF"/>
                </a:solidFill>
                <a:latin typeface="Open Sans ExtraBold"/>
                <a:ea typeface="Open Sans ExtraBold"/>
                <a:cs typeface="Open Sans ExtraBold"/>
                <a:sym typeface="Open Sans ExtraBold"/>
              </a:rPr>
              <a:t>SUBSYSTEM</a:t>
            </a:r>
            <a:r>
              <a:rPr lang="en" sz="1700">
                <a:solidFill>
                  <a:srgbClr val="EFEFEF"/>
                </a:solidFill>
                <a:latin typeface="Open Sans ExtraBold"/>
                <a:ea typeface="Open Sans ExtraBold"/>
                <a:cs typeface="Open Sans ExtraBold"/>
                <a:sym typeface="Open Sans ExtraBold"/>
              </a:rPr>
              <a:t> MODELING</a:t>
            </a:r>
            <a:endParaRPr sz="1700">
              <a:solidFill>
                <a:srgbClr val="EFEFEF"/>
              </a:solidFill>
              <a:latin typeface="Open Sans ExtraBold"/>
              <a:ea typeface="Open Sans ExtraBold"/>
              <a:cs typeface="Open Sans ExtraBold"/>
              <a:sym typeface="Open Sans ExtraBold"/>
            </a:endParaRPr>
          </a:p>
        </p:txBody>
      </p:sp>
      <p:sp>
        <p:nvSpPr>
          <p:cNvPr id="465" name="Google Shape;465;p36"/>
          <p:cNvSpPr/>
          <p:nvPr/>
        </p:nvSpPr>
        <p:spPr>
          <a:xfrm>
            <a:off x="3834275" y="941225"/>
            <a:ext cx="399000" cy="4071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466" name="Google Shape;466;p36"/>
          <p:cNvPicPr preferRelativeResize="0"/>
          <p:nvPr/>
        </p:nvPicPr>
        <p:blipFill rotWithShape="1">
          <a:blip r:embed="rId5">
            <a:alphaModFix/>
          </a:blip>
          <a:srcRect b="11281" l="20956" r="20375" t="10435"/>
          <a:stretch/>
        </p:blipFill>
        <p:spPr>
          <a:xfrm>
            <a:off x="3815225" y="985441"/>
            <a:ext cx="360900" cy="318660"/>
          </a:xfrm>
          <a:prstGeom prst="rect">
            <a:avLst/>
          </a:prstGeom>
          <a:noFill/>
          <a:ln>
            <a:noFill/>
          </a:ln>
        </p:spPr>
      </p:pic>
      <p:pic>
        <p:nvPicPr>
          <p:cNvPr id="467" name="Google Shape;467;p36"/>
          <p:cNvPicPr preferRelativeResize="0"/>
          <p:nvPr/>
        </p:nvPicPr>
        <p:blipFill rotWithShape="1">
          <a:blip r:embed="rId6">
            <a:alphaModFix/>
          </a:blip>
          <a:srcRect b="10764" l="2463" r="2425" t="3539"/>
          <a:stretch/>
        </p:blipFill>
        <p:spPr>
          <a:xfrm>
            <a:off x="2830375" y="1494225"/>
            <a:ext cx="6313624" cy="2050525"/>
          </a:xfrm>
          <a:prstGeom prst="rect">
            <a:avLst/>
          </a:prstGeom>
          <a:noFill/>
          <a:ln cap="flat" cmpd="sng" w="9525">
            <a:solidFill>
              <a:srgbClr val="434343"/>
            </a:solidFill>
            <a:prstDash val="solid"/>
            <a:round/>
            <a:headEnd len="sm" w="sm" type="none"/>
            <a:tailEnd len="sm" w="sm" type="none"/>
          </a:ln>
        </p:spPr>
      </p:pic>
      <p:pic>
        <p:nvPicPr>
          <p:cNvPr id="468" name="Google Shape;468;p36"/>
          <p:cNvPicPr preferRelativeResize="0"/>
          <p:nvPr/>
        </p:nvPicPr>
        <p:blipFill rotWithShape="1">
          <a:blip r:embed="rId7">
            <a:alphaModFix/>
          </a:blip>
          <a:srcRect b="0" l="1926" r="2242" t="0"/>
          <a:stretch/>
        </p:blipFill>
        <p:spPr>
          <a:xfrm>
            <a:off x="5884325" y="3638575"/>
            <a:ext cx="3259675" cy="1427726"/>
          </a:xfrm>
          <a:prstGeom prst="rect">
            <a:avLst/>
          </a:prstGeom>
          <a:noFill/>
          <a:ln cap="flat" cmpd="sng" w="9525">
            <a:solidFill>
              <a:srgbClr val="434343"/>
            </a:solidFill>
            <a:prstDash val="solid"/>
            <a:round/>
            <a:headEnd len="sm" w="sm" type="none"/>
            <a:tailEnd len="sm" w="sm" type="none"/>
          </a:ln>
        </p:spPr>
      </p:pic>
      <p:pic>
        <p:nvPicPr>
          <p:cNvPr id="469" name="Google Shape;469;p36"/>
          <p:cNvPicPr preferRelativeResize="0"/>
          <p:nvPr/>
        </p:nvPicPr>
        <p:blipFill rotWithShape="1">
          <a:blip r:embed="rId8">
            <a:alphaModFix/>
          </a:blip>
          <a:srcRect b="5105" l="2181" r="0" t="0"/>
          <a:stretch/>
        </p:blipFill>
        <p:spPr>
          <a:xfrm>
            <a:off x="75250" y="3668000"/>
            <a:ext cx="5760725" cy="1398300"/>
          </a:xfrm>
          <a:prstGeom prst="rect">
            <a:avLst/>
          </a:prstGeom>
          <a:noFill/>
          <a:ln cap="flat" cmpd="sng" w="9525">
            <a:solidFill>
              <a:srgbClr val="434343"/>
            </a:solidFill>
            <a:prstDash val="solid"/>
            <a:round/>
            <a:headEnd len="sm" w="sm" type="none"/>
            <a:tailEnd len="sm" w="sm" type="none"/>
          </a:ln>
        </p:spPr>
      </p:pic>
      <p:pic>
        <p:nvPicPr>
          <p:cNvPr id="470" name="Google Shape;470;p36"/>
          <p:cNvPicPr preferRelativeResize="0"/>
          <p:nvPr/>
        </p:nvPicPr>
        <p:blipFill>
          <a:blip r:embed="rId9">
            <a:alphaModFix/>
          </a:blip>
          <a:stretch>
            <a:fillRect/>
          </a:stretch>
        </p:blipFill>
        <p:spPr>
          <a:xfrm>
            <a:off x="175925" y="1547825"/>
            <a:ext cx="2525575" cy="1996924"/>
          </a:xfrm>
          <a:prstGeom prst="rect">
            <a:avLst/>
          </a:prstGeom>
          <a:noFill/>
          <a:ln cap="flat" cmpd="sng" w="9525">
            <a:solidFill>
              <a:srgbClr val="434343"/>
            </a:solidFill>
            <a:prstDash val="solid"/>
            <a:round/>
            <a:headEnd len="sm" w="sm" type="none"/>
            <a:tailEnd len="sm" w="sm" type="none"/>
          </a:ln>
        </p:spPr>
      </p:pic>
      <p:sp>
        <p:nvSpPr>
          <p:cNvPr id="471" name="Google Shape;471;p36"/>
          <p:cNvSpPr txBox="1"/>
          <p:nvPr/>
        </p:nvSpPr>
        <p:spPr>
          <a:xfrm>
            <a:off x="175863" y="1605600"/>
            <a:ext cx="2525700" cy="2616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None/>
            </a:pPr>
            <a:r>
              <a:rPr lang="en" sz="1100">
                <a:solidFill>
                  <a:srgbClr val="274E13"/>
                </a:solidFill>
                <a:latin typeface="Lato Black"/>
                <a:ea typeface="Lato Black"/>
                <a:cs typeface="Lato Black"/>
                <a:sym typeface="Lato Black"/>
              </a:rPr>
              <a:t>Battery Subsystem</a:t>
            </a:r>
            <a:endParaRPr b="1" sz="1100">
              <a:solidFill>
                <a:srgbClr val="274E13"/>
              </a:solidFill>
              <a:latin typeface="Lato"/>
              <a:ea typeface="Lato"/>
              <a:cs typeface="Lato"/>
              <a:sym typeface="Lato"/>
            </a:endParaRPr>
          </a:p>
        </p:txBody>
      </p:sp>
      <p:sp>
        <p:nvSpPr>
          <p:cNvPr id="472" name="Google Shape;472;p36"/>
          <p:cNvSpPr txBox="1"/>
          <p:nvPr/>
        </p:nvSpPr>
        <p:spPr>
          <a:xfrm>
            <a:off x="2830374" y="1510175"/>
            <a:ext cx="6313500" cy="2616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None/>
            </a:pPr>
            <a:r>
              <a:rPr lang="en" sz="1100">
                <a:solidFill>
                  <a:srgbClr val="23656F"/>
                </a:solidFill>
                <a:latin typeface="Lato Black"/>
                <a:ea typeface="Lato Black"/>
                <a:cs typeface="Lato Black"/>
                <a:sym typeface="Lato Black"/>
              </a:rPr>
              <a:t>Motor &amp; Motor Controller Subsystem</a:t>
            </a:r>
            <a:endParaRPr b="1" sz="1100">
              <a:solidFill>
                <a:srgbClr val="23656F"/>
              </a:solidFill>
              <a:latin typeface="Lato"/>
              <a:ea typeface="Lato"/>
              <a:cs typeface="Lato"/>
              <a:sym typeface="Lato"/>
            </a:endParaRPr>
          </a:p>
        </p:txBody>
      </p:sp>
      <p:sp>
        <p:nvSpPr>
          <p:cNvPr id="473" name="Google Shape;473;p36"/>
          <p:cNvSpPr txBox="1"/>
          <p:nvPr/>
        </p:nvSpPr>
        <p:spPr>
          <a:xfrm>
            <a:off x="75313" y="3638575"/>
            <a:ext cx="5760600" cy="2616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None/>
            </a:pPr>
            <a:r>
              <a:rPr lang="en" sz="1100">
                <a:solidFill>
                  <a:srgbClr val="23656F"/>
                </a:solidFill>
                <a:latin typeface="Lato Black"/>
                <a:ea typeface="Lato Black"/>
                <a:cs typeface="Lato Black"/>
                <a:sym typeface="Lato Black"/>
              </a:rPr>
              <a:t>Transmission &amp; Road Load Forces Subsystem</a:t>
            </a:r>
            <a:endParaRPr b="1" sz="1100">
              <a:solidFill>
                <a:srgbClr val="23656F"/>
              </a:solidFill>
              <a:latin typeface="Lato"/>
              <a:ea typeface="Lato"/>
              <a:cs typeface="Lato"/>
              <a:sym typeface="Lato"/>
            </a:endParaRPr>
          </a:p>
        </p:txBody>
      </p:sp>
      <p:sp>
        <p:nvSpPr>
          <p:cNvPr id="474" name="Google Shape;474;p36"/>
          <p:cNvSpPr txBox="1"/>
          <p:nvPr/>
        </p:nvSpPr>
        <p:spPr>
          <a:xfrm>
            <a:off x="5835924" y="3591050"/>
            <a:ext cx="3259800" cy="2616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None/>
            </a:pPr>
            <a:r>
              <a:rPr lang="en" sz="1100">
                <a:solidFill>
                  <a:srgbClr val="23656F"/>
                </a:solidFill>
                <a:latin typeface="Lato Black"/>
                <a:ea typeface="Lato Black"/>
                <a:cs typeface="Lato Black"/>
                <a:sym typeface="Lato Black"/>
              </a:rPr>
              <a:t>Longitudinal Driver (PI) Subsystem</a:t>
            </a:r>
            <a:endParaRPr b="1" sz="1100">
              <a:solidFill>
                <a:srgbClr val="23656F"/>
              </a:solidFill>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478" name="Shape 478"/>
        <p:cNvGrpSpPr/>
        <p:nvPr/>
      </p:nvGrpSpPr>
      <p:grpSpPr>
        <a:xfrm>
          <a:off x="0" y="0"/>
          <a:ext cx="0" cy="0"/>
          <a:chOff x="0" y="0"/>
          <a:chExt cx="0" cy="0"/>
        </a:xfrm>
      </p:grpSpPr>
      <p:sp>
        <p:nvSpPr>
          <p:cNvPr id="479" name="Google Shape;479;p37"/>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200"/>
              <a:buFont typeface="Arial"/>
              <a:buNone/>
            </a:pPr>
            <a:r>
              <a:rPr lang="en" sz="2400">
                <a:solidFill>
                  <a:srgbClr val="F3F3F3"/>
                </a:solidFill>
                <a:latin typeface="Lato"/>
                <a:ea typeface="Lato"/>
                <a:cs typeface="Lato"/>
                <a:sym typeface="Lato"/>
              </a:rPr>
              <a:t>Mathematical</a:t>
            </a:r>
            <a:r>
              <a:rPr lang="en" sz="2400">
                <a:solidFill>
                  <a:srgbClr val="48BACA"/>
                </a:solidFill>
                <a:latin typeface="Lato Black"/>
                <a:ea typeface="Lato Black"/>
                <a:cs typeface="Lato Black"/>
                <a:sym typeface="Lato Black"/>
              </a:rPr>
              <a:t> Modeling &amp; Analysis</a:t>
            </a:r>
            <a:endParaRPr i="0" sz="2400" u="none" cap="none" strike="noStrike">
              <a:solidFill>
                <a:srgbClr val="48BACA"/>
              </a:solidFill>
              <a:latin typeface="Lato Black"/>
              <a:ea typeface="Lato Black"/>
              <a:cs typeface="Lato Black"/>
              <a:sym typeface="Lato Black"/>
            </a:endParaRPr>
          </a:p>
        </p:txBody>
      </p:sp>
      <p:pic>
        <p:nvPicPr>
          <p:cNvPr id="480" name="Google Shape;480;p37"/>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481" name="Google Shape;481;p37"/>
          <p:cNvPicPr preferRelativeResize="0"/>
          <p:nvPr/>
        </p:nvPicPr>
        <p:blipFill>
          <a:blip r:embed="rId4">
            <a:alphaModFix amt="18000"/>
          </a:blip>
          <a:stretch>
            <a:fillRect/>
          </a:stretch>
        </p:blipFill>
        <p:spPr>
          <a:xfrm rot="9900000">
            <a:off x="5024900" y="2499200"/>
            <a:ext cx="4289526" cy="2716700"/>
          </a:xfrm>
          <a:prstGeom prst="rect">
            <a:avLst/>
          </a:prstGeom>
          <a:noFill/>
          <a:ln>
            <a:noFill/>
          </a:ln>
        </p:spPr>
      </p:pic>
      <p:sp>
        <p:nvSpPr>
          <p:cNvPr id="482" name="Google Shape;482;p37"/>
          <p:cNvSpPr txBox="1"/>
          <p:nvPr/>
        </p:nvSpPr>
        <p:spPr>
          <a:xfrm>
            <a:off x="0" y="941225"/>
            <a:ext cx="4111500" cy="407100"/>
          </a:xfrm>
          <a:prstGeom prst="rect">
            <a:avLst/>
          </a:prstGeom>
          <a:solidFill>
            <a:srgbClr val="23656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700">
                <a:solidFill>
                  <a:srgbClr val="EFEFEF"/>
                </a:solidFill>
                <a:latin typeface="Open Sans ExtraBold"/>
                <a:ea typeface="Open Sans ExtraBold"/>
                <a:cs typeface="Open Sans ExtraBold"/>
                <a:sym typeface="Open Sans ExtraBold"/>
              </a:rPr>
              <a:t>INTEGRATED VEHICLE</a:t>
            </a:r>
            <a:r>
              <a:rPr lang="en" sz="1700">
                <a:solidFill>
                  <a:srgbClr val="EFEFEF"/>
                </a:solidFill>
                <a:latin typeface="Open Sans ExtraBold"/>
                <a:ea typeface="Open Sans ExtraBold"/>
                <a:cs typeface="Open Sans ExtraBold"/>
                <a:sym typeface="Open Sans ExtraBold"/>
              </a:rPr>
              <a:t> MODEL</a:t>
            </a:r>
            <a:endParaRPr sz="1700">
              <a:solidFill>
                <a:srgbClr val="EFEFEF"/>
              </a:solidFill>
              <a:latin typeface="Open Sans ExtraBold"/>
              <a:ea typeface="Open Sans ExtraBold"/>
              <a:cs typeface="Open Sans ExtraBold"/>
              <a:sym typeface="Open Sans ExtraBold"/>
            </a:endParaRPr>
          </a:p>
        </p:txBody>
      </p:sp>
      <p:sp>
        <p:nvSpPr>
          <p:cNvPr id="483" name="Google Shape;483;p37"/>
          <p:cNvSpPr/>
          <p:nvPr/>
        </p:nvSpPr>
        <p:spPr>
          <a:xfrm>
            <a:off x="3834275" y="941225"/>
            <a:ext cx="399000" cy="4071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484" name="Google Shape;484;p37"/>
          <p:cNvPicPr preferRelativeResize="0"/>
          <p:nvPr/>
        </p:nvPicPr>
        <p:blipFill rotWithShape="1">
          <a:blip r:embed="rId5">
            <a:alphaModFix/>
          </a:blip>
          <a:srcRect b="11281" l="20956" r="20375" t="10435"/>
          <a:stretch/>
        </p:blipFill>
        <p:spPr>
          <a:xfrm>
            <a:off x="3815225" y="985441"/>
            <a:ext cx="360900" cy="318660"/>
          </a:xfrm>
          <a:prstGeom prst="rect">
            <a:avLst/>
          </a:prstGeom>
          <a:noFill/>
          <a:ln>
            <a:noFill/>
          </a:ln>
        </p:spPr>
      </p:pic>
      <p:sp>
        <p:nvSpPr>
          <p:cNvPr id="485" name="Google Shape;485;p37"/>
          <p:cNvSpPr txBox="1"/>
          <p:nvPr/>
        </p:nvSpPr>
        <p:spPr>
          <a:xfrm>
            <a:off x="2507800" y="4070275"/>
            <a:ext cx="3722100" cy="100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b="1" sz="1300">
              <a:latin typeface="Open Sans"/>
              <a:ea typeface="Open Sans"/>
              <a:cs typeface="Open Sans"/>
              <a:sym typeface="Open Sans"/>
            </a:endParaRPr>
          </a:p>
          <a:p>
            <a:pPr indent="0" lvl="0" marL="0" rtl="0" algn="l">
              <a:lnSpc>
                <a:spcPct val="115000"/>
              </a:lnSpc>
              <a:spcBef>
                <a:spcPts val="0"/>
              </a:spcBef>
              <a:spcAft>
                <a:spcPts val="0"/>
              </a:spcAft>
              <a:buNone/>
            </a:pPr>
            <a:r>
              <a:t/>
            </a:r>
            <a:endParaRPr b="1" sz="200">
              <a:latin typeface="Open Sans"/>
              <a:ea typeface="Open Sans"/>
              <a:cs typeface="Open Sans"/>
              <a:sym typeface="Open Sans"/>
            </a:endParaRPr>
          </a:p>
          <a:p>
            <a:pPr indent="-292100" lvl="0" marL="457200" rtl="0" algn="l">
              <a:lnSpc>
                <a:spcPct val="125000"/>
              </a:lnSpc>
              <a:spcBef>
                <a:spcPts val="0"/>
              </a:spcBef>
              <a:spcAft>
                <a:spcPts val="0"/>
              </a:spcAft>
              <a:buClr>
                <a:srgbClr val="434343"/>
              </a:buClr>
              <a:buSzPts val="1000"/>
              <a:buFont typeface="Open Sans SemiBold"/>
              <a:buChar char="●"/>
            </a:pPr>
            <a:r>
              <a:rPr lang="en" sz="1000">
                <a:solidFill>
                  <a:schemeClr val="dk1"/>
                </a:solidFill>
                <a:latin typeface="Lato"/>
                <a:ea typeface="Lato"/>
                <a:cs typeface="Lato"/>
                <a:sym typeface="Lato"/>
              </a:rPr>
              <a:t>Tractive &amp; Regenerative Current Profiles</a:t>
            </a:r>
            <a:endParaRPr sz="1000">
              <a:solidFill>
                <a:schemeClr val="dk1"/>
              </a:solidFill>
              <a:latin typeface="Lato"/>
              <a:ea typeface="Lato"/>
              <a:cs typeface="Lato"/>
              <a:sym typeface="Lato"/>
            </a:endParaRPr>
          </a:p>
          <a:p>
            <a:pPr indent="-292100" lvl="0" marL="457200" rtl="0" algn="l">
              <a:lnSpc>
                <a:spcPct val="125000"/>
              </a:lnSpc>
              <a:spcBef>
                <a:spcPts val="0"/>
              </a:spcBef>
              <a:spcAft>
                <a:spcPts val="0"/>
              </a:spcAft>
              <a:buClr>
                <a:srgbClr val="434343"/>
              </a:buClr>
              <a:buSzPts val="1000"/>
              <a:buFont typeface="Open Sans SemiBold"/>
              <a:buChar char="●"/>
            </a:pPr>
            <a:r>
              <a:rPr lang="en" sz="1000">
                <a:solidFill>
                  <a:schemeClr val="dk1"/>
                </a:solidFill>
                <a:latin typeface="Lato"/>
                <a:ea typeface="Lato"/>
                <a:cs typeface="Lato"/>
                <a:sym typeface="Lato"/>
              </a:rPr>
              <a:t>Powertrain Losses (Motor, Motor Controller, Batteries)</a:t>
            </a:r>
            <a:endParaRPr sz="1000">
              <a:solidFill>
                <a:schemeClr val="dk1"/>
              </a:solidFill>
              <a:latin typeface="Lato"/>
              <a:ea typeface="Lato"/>
              <a:cs typeface="Lato"/>
              <a:sym typeface="Lato"/>
            </a:endParaRPr>
          </a:p>
          <a:p>
            <a:pPr indent="-292100" lvl="0" marL="457200" rtl="0" algn="l">
              <a:lnSpc>
                <a:spcPct val="125000"/>
              </a:lnSpc>
              <a:spcBef>
                <a:spcPts val="0"/>
              </a:spcBef>
              <a:spcAft>
                <a:spcPts val="0"/>
              </a:spcAft>
              <a:buClr>
                <a:schemeClr val="dk1"/>
              </a:buClr>
              <a:buSzPts val="1000"/>
              <a:buFont typeface="Lato"/>
              <a:buChar char="●"/>
            </a:pPr>
            <a:r>
              <a:rPr lang="en" sz="1100">
                <a:latin typeface="Lato"/>
                <a:ea typeface="Lato"/>
                <a:cs typeface="Lato"/>
                <a:sym typeface="Lato"/>
              </a:rPr>
              <a:t>Battery SOC Profile</a:t>
            </a:r>
            <a:endParaRPr sz="1100">
              <a:latin typeface="Lato"/>
              <a:ea typeface="Lato"/>
              <a:cs typeface="Lato"/>
              <a:sym typeface="Lato"/>
            </a:endParaRPr>
          </a:p>
        </p:txBody>
      </p:sp>
      <p:sp>
        <p:nvSpPr>
          <p:cNvPr id="486" name="Google Shape;486;p37"/>
          <p:cNvSpPr txBox="1"/>
          <p:nvPr/>
        </p:nvSpPr>
        <p:spPr>
          <a:xfrm>
            <a:off x="114725" y="4077925"/>
            <a:ext cx="2692500" cy="99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23656F"/>
                </a:solidFill>
                <a:latin typeface="Open Sans"/>
                <a:ea typeface="Open Sans"/>
                <a:cs typeface="Open Sans"/>
                <a:sym typeface="Open Sans"/>
              </a:rPr>
              <a:t>Useful Results:</a:t>
            </a:r>
            <a:endParaRPr b="1" sz="1300">
              <a:solidFill>
                <a:srgbClr val="23656F"/>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b="1" sz="200">
              <a:latin typeface="Open Sans"/>
              <a:ea typeface="Open Sans"/>
              <a:cs typeface="Open Sans"/>
              <a:sym typeface="Open Sans"/>
            </a:endParaRPr>
          </a:p>
          <a:p>
            <a:pPr indent="-292100" lvl="0" marL="457200" rtl="0" algn="l">
              <a:lnSpc>
                <a:spcPct val="125000"/>
              </a:lnSpc>
              <a:spcBef>
                <a:spcPts val="0"/>
              </a:spcBef>
              <a:spcAft>
                <a:spcPts val="0"/>
              </a:spcAft>
              <a:buClr>
                <a:srgbClr val="434343"/>
              </a:buClr>
              <a:buSzPts val="1000"/>
              <a:buFont typeface="Open Sans SemiBold"/>
              <a:buChar char="●"/>
            </a:pPr>
            <a:r>
              <a:rPr lang="en" sz="1000">
                <a:solidFill>
                  <a:schemeClr val="dk1"/>
                </a:solidFill>
                <a:latin typeface="Lato"/>
                <a:ea typeface="Lato"/>
                <a:cs typeface="Lato"/>
                <a:sym typeface="Lato"/>
              </a:rPr>
              <a:t>Motor Torque Profile</a:t>
            </a:r>
            <a:endParaRPr sz="1000">
              <a:solidFill>
                <a:schemeClr val="dk1"/>
              </a:solidFill>
              <a:latin typeface="Lato"/>
              <a:ea typeface="Lato"/>
              <a:cs typeface="Lato"/>
              <a:sym typeface="Lato"/>
            </a:endParaRPr>
          </a:p>
          <a:p>
            <a:pPr indent="-292100" lvl="0" marL="457200" rtl="0" algn="l">
              <a:lnSpc>
                <a:spcPct val="125000"/>
              </a:lnSpc>
              <a:spcBef>
                <a:spcPts val="0"/>
              </a:spcBef>
              <a:spcAft>
                <a:spcPts val="0"/>
              </a:spcAft>
              <a:buClr>
                <a:schemeClr val="dk1"/>
              </a:buClr>
              <a:buSzPts val="1000"/>
              <a:buFont typeface="Lato"/>
              <a:buChar char="●"/>
            </a:pPr>
            <a:r>
              <a:rPr lang="en" sz="1000">
                <a:solidFill>
                  <a:schemeClr val="dk1"/>
                </a:solidFill>
                <a:latin typeface="Lato"/>
                <a:ea typeface="Lato"/>
                <a:cs typeface="Lato"/>
                <a:sym typeface="Lato"/>
              </a:rPr>
              <a:t>Motor </a:t>
            </a:r>
            <a:r>
              <a:rPr lang="en" sz="1000">
                <a:solidFill>
                  <a:schemeClr val="dk1"/>
                </a:solidFill>
                <a:latin typeface="Lato"/>
                <a:ea typeface="Lato"/>
                <a:cs typeface="Lato"/>
                <a:sym typeface="Lato"/>
              </a:rPr>
              <a:t>Speed (RPM) Profile</a:t>
            </a:r>
            <a:endParaRPr sz="1000">
              <a:solidFill>
                <a:schemeClr val="dk1"/>
              </a:solidFill>
              <a:latin typeface="Lato"/>
              <a:ea typeface="Lato"/>
              <a:cs typeface="Lato"/>
              <a:sym typeface="Lato"/>
            </a:endParaRPr>
          </a:p>
          <a:p>
            <a:pPr indent="-292100" lvl="0" marL="457200" rtl="0" algn="l">
              <a:lnSpc>
                <a:spcPct val="125000"/>
              </a:lnSpc>
              <a:spcBef>
                <a:spcPts val="0"/>
              </a:spcBef>
              <a:spcAft>
                <a:spcPts val="0"/>
              </a:spcAft>
              <a:buClr>
                <a:schemeClr val="dk1"/>
              </a:buClr>
              <a:buSzPts val="1000"/>
              <a:buFont typeface="Lato"/>
              <a:buChar char="●"/>
            </a:pPr>
            <a:r>
              <a:rPr lang="en" sz="1000">
                <a:solidFill>
                  <a:schemeClr val="dk1"/>
                </a:solidFill>
                <a:latin typeface="Lato"/>
                <a:ea typeface="Lato"/>
                <a:cs typeface="Lato"/>
                <a:sym typeface="Lato"/>
              </a:rPr>
              <a:t>Power Consumption Profile</a:t>
            </a:r>
            <a:endParaRPr sz="1000">
              <a:solidFill>
                <a:schemeClr val="dk1"/>
              </a:solidFill>
              <a:latin typeface="Lato"/>
              <a:ea typeface="Lato"/>
              <a:cs typeface="Lato"/>
              <a:sym typeface="Lato"/>
            </a:endParaRPr>
          </a:p>
        </p:txBody>
      </p:sp>
      <p:pic>
        <p:nvPicPr>
          <p:cNvPr id="487" name="Google Shape;487;p37"/>
          <p:cNvPicPr preferRelativeResize="0"/>
          <p:nvPr/>
        </p:nvPicPr>
        <p:blipFill rotWithShape="1">
          <a:blip r:embed="rId6">
            <a:alphaModFix/>
          </a:blip>
          <a:srcRect b="4439" l="0" r="0" t="6068"/>
          <a:stretch/>
        </p:blipFill>
        <p:spPr>
          <a:xfrm>
            <a:off x="441038" y="1503400"/>
            <a:ext cx="8261924" cy="2490675"/>
          </a:xfrm>
          <a:prstGeom prst="rect">
            <a:avLst/>
          </a:prstGeom>
          <a:noFill/>
          <a:ln cap="flat" cmpd="sng" w="9525">
            <a:solidFill>
              <a:srgbClr val="434343"/>
            </a:solidFill>
            <a:prstDash val="solid"/>
            <a:round/>
            <a:headEnd len="sm" w="sm" type="none"/>
            <a:tailEnd len="sm" w="sm" type="none"/>
          </a:ln>
        </p:spPr>
      </p:pic>
      <p:sp>
        <p:nvSpPr>
          <p:cNvPr id="488" name="Google Shape;488;p37"/>
          <p:cNvSpPr txBox="1"/>
          <p:nvPr/>
        </p:nvSpPr>
        <p:spPr>
          <a:xfrm>
            <a:off x="2561500" y="1516438"/>
            <a:ext cx="3614700" cy="2616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None/>
            </a:pPr>
            <a:r>
              <a:rPr lang="en" sz="1100">
                <a:solidFill>
                  <a:srgbClr val="23656F"/>
                </a:solidFill>
                <a:latin typeface="Lato Black"/>
                <a:ea typeface="Lato Black"/>
                <a:cs typeface="Lato Black"/>
                <a:sym typeface="Lato Black"/>
              </a:rPr>
              <a:t>Integrated Vehicle Model</a:t>
            </a:r>
            <a:endParaRPr b="1" sz="1100">
              <a:solidFill>
                <a:srgbClr val="23656F"/>
              </a:solidFill>
              <a:latin typeface="Lato"/>
              <a:ea typeface="Lato"/>
              <a:cs typeface="Lato"/>
              <a:sym typeface="La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492" name="Shape 492"/>
        <p:cNvGrpSpPr/>
        <p:nvPr/>
      </p:nvGrpSpPr>
      <p:grpSpPr>
        <a:xfrm>
          <a:off x="0" y="0"/>
          <a:ext cx="0" cy="0"/>
          <a:chOff x="0" y="0"/>
          <a:chExt cx="0" cy="0"/>
        </a:xfrm>
      </p:grpSpPr>
      <p:sp>
        <p:nvSpPr>
          <p:cNvPr id="493" name="Google Shape;493;p38"/>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200"/>
              <a:buFont typeface="Arial"/>
              <a:buNone/>
            </a:pPr>
            <a:r>
              <a:rPr lang="en" sz="2400">
                <a:solidFill>
                  <a:srgbClr val="F3F3F3"/>
                </a:solidFill>
                <a:latin typeface="Lato"/>
                <a:ea typeface="Lato"/>
                <a:cs typeface="Lato"/>
                <a:sym typeface="Lato"/>
              </a:rPr>
              <a:t>Mathematical</a:t>
            </a:r>
            <a:r>
              <a:rPr lang="en" sz="2400">
                <a:solidFill>
                  <a:srgbClr val="48BACA"/>
                </a:solidFill>
                <a:latin typeface="Lato Black"/>
                <a:ea typeface="Lato Black"/>
                <a:cs typeface="Lato Black"/>
                <a:sym typeface="Lato Black"/>
              </a:rPr>
              <a:t> Modeling &amp; Analysis</a:t>
            </a:r>
            <a:endParaRPr i="0" sz="2400" u="none" cap="none" strike="noStrike">
              <a:solidFill>
                <a:srgbClr val="48BACA"/>
              </a:solidFill>
              <a:latin typeface="Lato Black"/>
              <a:ea typeface="Lato Black"/>
              <a:cs typeface="Lato Black"/>
              <a:sym typeface="Lato Black"/>
            </a:endParaRPr>
          </a:p>
        </p:txBody>
      </p:sp>
      <p:pic>
        <p:nvPicPr>
          <p:cNvPr id="494" name="Google Shape;494;p38"/>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495" name="Google Shape;495;p38"/>
          <p:cNvPicPr preferRelativeResize="0"/>
          <p:nvPr/>
        </p:nvPicPr>
        <p:blipFill>
          <a:blip r:embed="rId4">
            <a:alphaModFix amt="18000"/>
          </a:blip>
          <a:stretch>
            <a:fillRect/>
          </a:stretch>
        </p:blipFill>
        <p:spPr>
          <a:xfrm rot="9900000">
            <a:off x="5024900" y="2499200"/>
            <a:ext cx="4289526" cy="2716700"/>
          </a:xfrm>
          <a:prstGeom prst="rect">
            <a:avLst/>
          </a:prstGeom>
          <a:noFill/>
          <a:ln>
            <a:noFill/>
          </a:ln>
        </p:spPr>
      </p:pic>
      <p:sp>
        <p:nvSpPr>
          <p:cNvPr id="496" name="Google Shape;496;p38"/>
          <p:cNvSpPr txBox="1"/>
          <p:nvPr/>
        </p:nvSpPr>
        <p:spPr>
          <a:xfrm>
            <a:off x="0" y="941225"/>
            <a:ext cx="4111500" cy="407100"/>
          </a:xfrm>
          <a:prstGeom prst="rect">
            <a:avLst/>
          </a:prstGeom>
          <a:solidFill>
            <a:srgbClr val="23656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700">
                <a:solidFill>
                  <a:srgbClr val="EFEFEF"/>
                </a:solidFill>
                <a:latin typeface="Open Sans ExtraBold"/>
                <a:ea typeface="Open Sans ExtraBold"/>
                <a:cs typeface="Open Sans ExtraBold"/>
                <a:sym typeface="Open Sans ExtraBold"/>
              </a:rPr>
              <a:t>VEHICLE MODEL - RESULTS</a:t>
            </a:r>
            <a:endParaRPr sz="1700">
              <a:solidFill>
                <a:srgbClr val="EFEFEF"/>
              </a:solidFill>
              <a:latin typeface="Open Sans ExtraBold"/>
              <a:ea typeface="Open Sans ExtraBold"/>
              <a:cs typeface="Open Sans ExtraBold"/>
              <a:sym typeface="Open Sans ExtraBold"/>
            </a:endParaRPr>
          </a:p>
        </p:txBody>
      </p:sp>
      <p:sp>
        <p:nvSpPr>
          <p:cNvPr id="497" name="Google Shape;497;p38"/>
          <p:cNvSpPr/>
          <p:nvPr/>
        </p:nvSpPr>
        <p:spPr>
          <a:xfrm>
            <a:off x="3834275" y="941225"/>
            <a:ext cx="399000" cy="4071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498" name="Google Shape;498;p38"/>
          <p:cNvPicPr preferRelativeResize="0"/>
          <p:nvPr/>
        </p:nvPicPr>
        <p:blipFill rotWithShape="1">
          <a:blip r:embed="rId5">
            <a:alphaModFix/>
          </a:blip>
          <a:srcRect b="11281" l="20956" r="20375" t="10435"/>
          <a:stretch/>
        </p:blipFill>
        <p:spPr>
          <a:xfrm>
            <a:off x="3815225" y="985441"/>
            <a:ext cx="360900" cy="318660"/>
          </a:xfrm>
          <a:prstGeom prst="rect">
            <a:avLst/>
          </a:prstGeom>
          <a:noFill/>
          <a:ln>
            <a:noFill/>
          </a:ln>
        </p:spPr>
      </p:pic>
      <p:sp>
        <p:nvSpPr>
          <p:cNvPr id="499" name="Google Shape;499;p38"/>
          <p:cNvSpPr txBox="1"/>
          <p:nvPr/>
        </p:nvSpPr>
        <p:spPr>
          <a:xfrm>
            <a:off x="2507800" y="3994075"/>
            <a:ext cx="3722100" cy="100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b="1" sz="1300">
              <a:latin typeface="Open Sans"/>
              <a:ea typeface="Open Sans"/>
              <a:cs typeface="Open Sans"/>
              <a:sym typeface="Open Sans"/>
            </a:endParaRPr>
          </a:p>
          <a:p>
            <a:pPr indent="0" lvl="0" marL="0" rtl="0" algn="l">
              <a:lnSpc>
                <a:spcPct val="115000"/>
              </a:lnSpc>
              <a:spcBef>
                <a:spcPts val="0"/>
              </a:spcBef>
              <a:spcAft>
                <a:spcPts val="0"/>
              </a:spcAft>
              <a:buNone/>
            </a:pPr>
            <a:r>
              <a:t/>
            </a:r>
            <a:endParaRPr b="1" sz="200">
              <a:latin typeface="Open Sans"/>
              <a:ea typeface="Open Sans"/>
              <a:cs typeface="Open Sans"/>
              <a:sym typeface="Open Sans"/>
            </a:endParaRPr>
          </a:p>
          <a:p>
            <a:pPr indent="-292100" lvl="0" marL="457200" rtl="0" algn="l">
              <a:lnSpc>
                <a:spcPct val="125000"/>
              </a:lnSpc>
              <a:spcBef>
                <a:spcPts val="0"/>
              </a:spcBef>
              <a:spcAft>
                <a:spcPts val="0"/>
              </a:spcAft>
              <a:buClr>
                <a:srgbClr val="434343"/>
              </a:buClr>
              <a:buSzPts val="1000"/>
              <a:buFont typeface="Open Sans SemiBold"/>
              <a:buChar char="●"/>
            </a:pPr>
            <a:r>
              <a:rPr lang="en" sz="1000">
                <a:solidFill>
                  <a:schemeClr val="dk1"/>
                </a:solidFill>
                <a:latin typeface="Lato"/>
                <a:ea typeface="Lato"/>
                <a:cs typeface="Lato"/>
                <a:sym typeface="Lato"/>
              </a:rPr>
              <a:t>Tractive &amp; Regenerative Current Profiles</a:t>
            </a:r>
            <a:endParaRPr sz="1000">
              <a:solidFill>
                <a:schemeClr val="dk1"/>
              </a:solidFill>
              <a:latin typeface="Lato"/>
              <a:ea typeface="Lato"/>
              <a:cs typeface="Lato"/>
              <a:sym typeface="Lato"/>
            </a:endParaRPr>
          </a:p>
          <a:p>
            <a:pPr indent="-292100" lvl="0" marL="457200" rtl="0" algn="l">
              <a:lnSpc>
                <a:spcPct val="125000"/>
              </a:lnSpc>
              <a:spcBef>
                <a:spcPts val="0"/>
              </a:spcBef>
              <a:spcAft>
                <a:spcPts val="0"/>
              </a:spcAft>
              <a:buClr>
                <a:srgbClr val="434343"/>
              </a:buClr>
              <a:buSzPts val="1000"/>
              <a:buFont typeface="Open Sans SemiBold"/>
              <a:buChar char="●"/>
            </a:pPr>
            <a:r>
              <a:rPr lang="en" sz="1000">
                <a:solidFill>
                  <a:schemeClr val="dk1"/>
                </a:solidFill>
                <a:latin typeface="Lato"/>
                <a:ea typeface="Lato"/>
                <a:cs typeface="Lato"/>
                <a:sym typeface="Lato"/>
              </a:rPr>
              <a:t>Powertrain Losses (Motor, Motor Controller, Batteries)</a:t>
            </a:r>
            <a:endParaRPr sz="1000">
              <a:solidFill>
                <a:schemeClr val="dk1"/>
              </a:solidFill>
              <a:latin typeface="Lato"/>
              <a:ea typeface="Lato"/>
              <a:cs typeface="Lato"/>
              <a:sym typeface="Lato"/>
            </a:endParaRPr>
          </a:p>
          <a:p>
            <a:pPr indent="-292100" lvl="0" marL="457200" rtl="0" algn="l">
              <a:lnSpc>
                <a:spcPct val="125000"/>
              </a:lnSpc>
              <a:spcBef>
                <a:spcPts val="0"/>
              </a:spcBef>
              <a:spcAft>
                <a:spcPts val="0"/>
              </a:spcAft>
              <a:buClr>
                <a:schemeClr val="dk1"/>
              </a:buClr>
              <a:buSzPts val="1000"/>
              <a:buFont typeface="Lato"/>
              <a:buChar char="●"/>
            </a:pPr>
            <a:r>
              <a:rPr lang="en" sz="1100">
                <a:latin typeface="Lato"/>
                <a:ea typeface="Lato"/>
                <a:cs typeface="Lato"/>
                <a:sym typeface="Lato"/>
              </a:rPr>
              <a:t>Battery SOC Profile</a:t>
            </a:r>
            <a:endParaRPr sz="1100">
              <a:latin typeface="Lato"/>
              <a:ea typeface="Lato"/>
              <a:cs typeface="Lato"/>
              <a:sym typeface="Lato"/>
            </a:endParaRPr>
          </a:p>
        </p:txBody>
      </p:sp>
      <p:pic>
        <p:nvPicPr>
          <p:cNvPr id="500" name="Google Shape;500;p38"/>
          <p:cNvPicPr preferRelativeResize="0"/>
          <p:nvPr/>
        </p:nvPicPr>
        <p:blipFill rotWithShape="1">
          <a:blip r:embed="rId6">
            <a:alphaModFix/>
          </a:blip>
          <a:srcRect b="2988" l="0" r="0" t="0"/>
          <a:stretch/>
        </p:blipFill>
        <p:spPr>
          <a:xfrm>
            <a:off x="499292" y="1409150"/>
            <a:ext cx="8145407" cy="3734350"/>
          </a:xfrm>
          <a:prstGeom prst="rect">
            <a:avLst/>
          </a:prstGeom>
          <a:noFill/>
          <a:ln cap="flat" cmpd="sng" w="9525">
            <a:solidFill>
              <a:srgbClr val="434343"/>
            </a:solidFill>
            <a:prstDash val="solid"/>
            <a:round/>
            <a:headEnd len="sm" w="sm" type="none"/>
            <a:tailEnd len="sm" w="sm" type="none"/>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504" name="Shape 504"/>
        <p:cNvGrpSpPr/>
        <p:nvPr/>
      </p:nvGrpSpPr>
      <p:grpSpPr>
        <a:xfrm>
          <a:off x="0" y="0"/>
          <a:ext cx="0" cy="0"/>
          <a:chOff x="0" y="0"/>
          <a:chExt cx="0" cy="0"/>
        </a:xfrm>
      </p:grpSpPr>
      <p:sp>
        <p:nvSpPr>
          <p:cNvPr id="505" name="Google Shape;505;p39"/>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200"/>
              <a:buFont typeface="Arial"/>
              <a:buNone/>
            </a:pPr>
            <a:r>
              <a:rPr lang="en" sz="2400">
                <a:solidFill>
                  <a:srgbClr val="F3F3F3"/>
                </a:solidFill>
                <a:latin typeface="Lato"/>
                <a:ea typeface="Lato"/>
                <a:cs typeface="Lato"/>
                <a:sym typeface="Lato"/>
              </a:rPr>
              <a:t>Electric</a:t>
            </a:r>
            <a:r>
              <a:rPr lang="en" sz="2400">
                <a:solidFill>
                  <a:srgbClr val="48BACA"/>
                </a:solidFill>
                <a:latin typeface="Lato Black"/>
                <a:ea typeface="Lato Black"/>
                <a:cs typeface="Lato Black"/>
                <a:sym typeface="Lato Black"/>
              </a:rPr>
              <a:t> Drive Dimensioning</a:t>
            </a:r>
            <a:endParaRPr i="0" sz="2400" u="none" cap="none" strike="noStrike">
              <a:solidFill>
                <a:srgbClr val="48BACA"/>
              </a:solidFill>
              <a:latin typeface="Lato Black"/>
              <a:ea typeface="Lato Black"/>
              <a:cs typeface="Lato Black"/>
              <a:sym typeface="Lato Black"/>
            </a:endParaRPr>
          </a:p>
        </p:txBody>
      </p:sp>
      <p:pic>
        <p:nvPicPr>
          <p:cNvPr id="506" name="Google Shape;506;p39"/>
          <p:cNvPicPr preferRelativeResize="0"/>
          <p:nvPr/>
        </p:nvPicPr>
        <p:blipFill>
          <a:blip r:embed="rId3">
            <a:alphaModFix/>
          </a:blip>
          <a:stretch>
            <a:fillRect/>
          </a:stretch>
        </p:blipFill>
        <p:spPr>
          <a:xfrm>
            <a:off x="175925" y="133088"/>
            <a:ext cx="567225" cy="474824"/>
          </a:xfrm>
          <a:prstGeom prst="rect">
            <a:avLst/>
          </a:prstGeom>
          <a:noFill/>
          <a:ln>
            <a:noFill/>
          </a:ln>
        </p:spPr>
      </p:pic>
      <p:sp>
        <p:nvSpPr>
          <p:cNvPr id="507" name="Google Shape;507;p39"/>
          <p:cNvSpPr txBox="1"/>
          <p:nvPr/>
        </p:nvSpPr>
        <p:spPr>
          <a:xfrm>
            <a:off x="0" y="941225"/>
            <a:ext cx="4111500" cy="407100"/>
          </a:xfrm>
          <a:prstGeom prst="rect">
            <a:avLst/>
          </a:prstGeom>
          <a:solidFill>
            <a:srgbClr val="23656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700">
                <a:solidFill>
                  <a:srgbClr val="EFEFEF"/>
                </a:solidFill>
                <a:latin typeface="Open Sans ExtraBold"/>
                <a:ea typeface="Open Sans ExtraBold"/>
                <a:cs typeface="Open Sans ExtraBold"/>
                <a:sym typeface="Open Sans ExtraBold"/>
              </a:rPr>
              <a:t>MOTOR SIZING</a:t>
            </a:r>
            <a:endParaRPr sz="1700">
              <a:solidFill>
                <a:srgbClr val="EFEFEF"/>
              </a:solidFill>
              <a:latin typeface="Open Sans ExtraBold"/>
              <a:ea typeface="Open Sans ExtraBold"/>
              <a:cs typeface="Open Sans ExtraBold"/>
              <a:sym typeface="Open Sans ExtraBold"/>
            </a:endParaRPr>
          </a:p>
        </p:txBody>
      </p:sp>
      <p:sp>
        <p:nvSpPr>
          <p:cNvPr id="508" name="Google Shape;508;p39"/>
          <p:cNvSpPr/>
          <p:nvPr/>
        </p:nvSpPr>
        <p:spPr>
          <a:xfrm>
            <a:off x="3834275" y="941225"/>
            <a:ext cx="399000" cy="4071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509" name="Google Shape;509;p39"/>
          <p:cNvPicPr preferRelativeResize="0"/>
          <p:nvPr/>
        </p:nvPicPr>
        <p:blipFill rotWithShape="1">
          <a:blip r:embed="rId4">
            <a:alphaModFix/>
          </a:blip>
          <a:srcRect b="11281" l="20956" r="20375" t="10435"/>
          <a:stretch/>
        </p:blipFill>
        <p:spPr>
          <a:xfrm>
            <a:off x="3815225" y="985441"/>
            <a:ext cx="360900" cy="318660"/>
          </a:xfrm>
          <a:prstGeom prst="rect">
            <a:avLst/>
          </a:prstGeom>
          <a:noFill/>
          <a:ln>
            <a:noFill/>
          </a:ln>
        </p:spPr>
      </p:pic>
      <p:sp>
        <p:nvSpPr>
          <p:cNvPr id="510" name="Google Shape;510;p39"/>
          <p:cNvSpPr txBox="1"/>
          <p:nvPr/>
        </p:nvSpPr>
        <p:spPr>
          <a:xfrm>
            <a:off x="438350" y="1447075"/>
            <a:ext cx="3990600" cy="61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latin typeface="Open Sans"/>
                <a:ea typeface="Open Sans"/>
                <a:cs typeface="Open Sans"/>
                <a:sym typeface="Open Sans"/>
              </a:rPr>
              <a:t>Motor Sizing/Dimensioning Process:</a:t>
            </a:r>
            <a:endParaRPr sz="1100">
              <a:latin typeface="Lato"/>
              <a:ea typeface="Lato"/>
              <a:cs typeface="Lato"/>
              <a:sym typeface="Lato"/>
            </a:endParaRPr>
          </a:p>
          <a:p>
            <a:pPr indent="0" lvl="0" marL="0" rtl="0" algn="l">
              <a:lnSpc>
                <a:spcPct val="115000"/>
              </a:lnSpc>
              <a:spcBef>
                <a:spcPts val="0"/>
              </a:spcBef>
              <a:spcAft>
                <a:spcPts val="0"/>
              </a:spcAft>
              <a:buNone/>
            </a:pPr>
            <a:r>
              <a:t/>
            </a:r>
            <a:endParaRPr sz="1300">
              <a:latin typeface="Lato"/>
              <a:ea typeface="Lato"/>
              <a:cs typeface="Lato"/>
              <a:sym typeface="Lato"/>
            </a:endParaRPr>
          </a:p>
        </p:txBody>
      </p:sp>
      <p:sp>
        <p:nvSpPr>
          <p:cNvPr id="511" name="Google Shape;511;p39"/>
          <p:cNvSpPr/>
          <p:nvPr/>
        </p:nvSpPr>
        <p:spPr>
          <a:xfrm>
            <a:off x="1086175" y="1926925"/>
            <a:ext cx="1781100" cy="781200"/>
          </a:xfrm>
          <a:prstGeom prst="roundRect">
            <a:avLst>
              <a:gd fmla="val 16667" name="adj"/>
            </a:avLst>
          </a:prstGeom>
          <a:solidFill>
            <a:srgbClr val="A2C4C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C343D"/>
                </a:solidFill>
                <a:latin typeface="Lato"/>
                <a:ea typeface="Lato"/>
                <a:cs typeface="Lato"/>
                <a:sym typeface="Lato"/>
              </a:rPr>
              <a:t>Performance Baselining</a:t>
            </a:r>
            <a:endParaRPr b="1">
              <a:solidFill>
                <a:srgbClr val="0C343D"/>
              </a:solidFill>
              <a:latin typeface="Lato"/>
              <a:ea typeface="Lato"/>
              <a:cs typeface="Lato"/>
              <a:sym typeface="Lato"/>
            </a:endParaRPr>
          </a:p>
        </p:txBody>
      </p:sp>
      <p:sp>
        <p:nvSpPr>
          <p:cNvPr id="512" name="Google Shape;512;p39"/>
          <p:cNvSpPr/>
          <p:nvPr/>
        </p:nvSpPr>
        <p:spPr>
          <a:xfrm>
            <a:off x="3745025" y="1926925"/>
            <a:ext cx="1921200" cy="781200"/>
          </a:xfrm>
          <a:prstGeom prst="roundRect">
            <a:avLst>
              <a:gd fmla="val 16667" name="adj"/>
            </a:avLst>
          </a:prstGeom>
          <a:solidFill>
            <a:srgbClr val="A2C4C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C343D"/>
                </a:solidFill>
                <a:latin typeface="Lato"/>
                <a:ea typeface="Lato"/>
                <a:cs typeface="Lato"/>
                <a:sym typeface="Lato"/>
              </a:rPr>
              <a:t>Preliminary Modelling</a:t>
            </a:r>
            <a:endParaRPr b="1">
              <a:solidFill>
                <a:srgbClr val="0C343D"/>
              </a:solidFill>
              <a:latin typeface="Lato"/>
              <a:ea typeface="Lato"/>
              <a:cs typeface="Lato"/>
              <a:sym typeface="Lato"/>
            </a:endParaRPr>
          </a:p>
        </p:txBody>
      </p:sp>
      <p:sp>
        <p:nvSpPr>
          <p:cNvPr id="513" name="Google Shape;513;p39"/>
          <p:cNvSpPr/>
          <p:nvPr/>
        </p:nvSpPr>
        <p:spPr>
          <a:xfrm>
            <a:off x="6543975" y="1884725"/>
            <a:ext cx="1870800" cy="781200"/>
          </a:xfrm>
          <a:prstGeom prst="roundRect">
            <a:avLst>
              <a:gd fmla="val 16667" name="adj"/>
            </a:avLst>
          </a:prstGeom>
          <a:solidFill>
            <a:srgbClr val="A2C4C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C343D"/>
                </a:solidFill>
                <a:latin typeface="Lato"/>
                <a:ea typeface="Lato"/>
                <a:cs typeface="Lato"/>
                <a:sym typeface="Lato"/>
              </a:rPr>
              <a:t>Required Parameters</a:t>
            </a:r>
            <a:endParaRPr b="1">
              <a:solidFill>
                <a:srgbClr val="0C343D"/>
              </a:solidFill>
              <a:latin typeface="Lato"/>
              <a:ea typeface="Lato"/>
              <a:cs typeface="Lato"/>
              <a:sym typeface="Lato"/>
            </a:endParaRPr>
          </a:p>
        </p:txBody>
      </p:sp>
      <p:pic>
        <p:nvPicPr>
          <p:cNvPr id="514" name="Google Shape;514;p39"/>
          <p:cNvPicPr preferRelativeResize="0"/>
          <p:nvPr/>
        </p:nvPicPr>
        <p:blipFill rotWithShape="1">
          <a:blip r:embed="rId5">
            <a:alphaModFix/>
          </a:blip>
          <a:srcRect b="0" l="0" r="1970" t="0"/>
          <a:stretch/>
        </p:blipFill>
        <p:spPr>
          <a:xfrm>
            <a:off x="175925" y="3134325"/>
            <a:ext cx="3912325" cy="1803125"/>
          </a:xfrm>
          <a:prstGeom prst="rect">
            <a:avLst/>
          </a:prstGeom>
          <a:noFill/>
          <a:ln cap="flat" cmpd="sng" w="9525">
            <a:solidFill>
              <a:srgbClr val="434343"/>
            </a:solidFill>
            <a:prstDash val="solid"/>
            <a:round/>
            <a:headEnd len="sm" w="sm" type="none"/>
            <a:tailEnd len="sm" w="sm" type="none"/>
          </a:ln>
        </p:spPr>
      </p:pic>
      <p:graphicFrame>
        <p:nvGraphicFramePr>
          <p:cNvPr id="515" name="Google Shape;515;p39"/>
          <p:cNvGraphicFramePr/>
          <p:nvPr/>
        </p:nvGraphicFramePr>
        <p:xfrm>
          <a:off x="4372013" y="3250023"/>
          <a:ext cx="3000000" cy="3000000"/>
        </p:xfrm>
        <a:graphic>
          <a:graphicData uri="http://schemas.openxmlformats.org/drawingml/2006/table">
            <a:tbl>
              <a:tblPr>
                <a:noFill/>
                <a:tableStyleId>{43AF8DD5-E6FA-4577-8082-F1EEE736C7BF}</a:tableStyleId>
              </a:tblPr>
              <a:tblGrid>
                <a:gridCol w="382850"/>
                <a:gridCol w="842700"/>
                <a:gridCol w="789725"/>
                <a:gridCol w="738550"/>
                <a:gridCol w="983900"/>
                <a:gridCol w="915400"/>
              </a:tblGrid>
              <a:tr h="190675">
                <a:tc>
                  <a:txBody>
                    <a:bodyPr/>
                    <a:lstStyle/>
                    <a:p>
                      <a:pPr indent="0" lvl="0" marL="0" rtl="0" algn="ctr">
                        <a:spcBef>
                          <a:spcPts val="0"/>
                        </a:spcBef>
                        <a:spcAft>
                          <a:spcPts val="0"/>
                        </a:spcAft>
                        <a:buNone/>
                      </a:pPr>
                      <a:r>
                        <a:rPr b="1" lang="en" sz="800">
                          <a:solidFill>
                            <a:srgbClr val="0C343D"/>
                          </a:solidFill>
                          <a:latin typeface="Lato"/>
                          <a:ea typeface="Lato"/>
                          <a:cs typeface="Lato"/>
                          <a:sym typeface="Lato"/>
                        </a:rPr>
                        <a:t>S/N</a:t>
                      </a:r>
                      <a:endParaRPr b="1" sz="800">
                        <a:solidFill>
                          <a:srgbClr val="0C343D"/>
                        </a:solidFill>
                        <a:latin typeface="Lato"/>
                        <a:ea typeface="Lato"/>
                        <a:cs typeface="Lato"/>
                        <a:sym typeface="Lato"/>
                      </a:endParaRPr>
                    </a:p>
                  </a:txBody>
                  <a:tcPr marT="45700" marB="45700" marR="91425" marL="91425">
                    <a:solidFill>
                      <a:srgbClr val="C9DAF8"/>
                    </a:solidFill>
                  </a:tcPr>
                </a:tc>
                <a:tc>
                  <a:txBody>
                    <a:bodyPr/>
                    <a:lstStyle/>
                    <a:p>
                      <a:pPr indent="0" lvl="0" marL="0" rtl="0" algn="ctr">
                        <a:lnSpc>
                          <a:spcPct val="80000"/>
                        </a:lnSpc>
                        <a:spcBef>
                          <a:spcPts val="0"/>
                        </a:spcBef>
                        <a:spcAft>
                          <a:spcPts val="0"/>
                        </a:spcAft>
                        <a:buNone/>
                      </a:pPr>
                      <a:r>
                        <a:rPr b="1" lang="en" sz="800">
                          <a:solidFill>
                            <a:srgbClr val="0C343D"/>
                          </a:solidFill>
                          <a:latin typeface="Lato"/>
                          <a:ea typeface="Lato"/>
                          <a:cs typeface="Lato"/>
                          <a:sym typeface="Lato"/>
                        </a:rPr>
                        <a:t>Velocity (km/h)</a:t>
                      </a:r>
                      <a:endParaRPr b="1" sz="800">
                        <a:solidFill>
                          <a:srgbClr val="0C343D"/>
                        </a:solidFill>
                        <a:latin typeface="Lato"/>
                        <a:ea typeface="Lato"/>
                        <a:cs typeface="Lato"/>
                        <a:sym typeface="Lato"/>
                      </a:endParaRPr>
                    </a:p>
                  </a:txBody>
                  <a:tcPr marT="45700" marB="45700" marR="91425" marL="91425" anchor="ctr">
                    <a:solidFill>
                      <a:srgbClr val="C9DAF8"/>
                    </a:solidFill>
                  </a:tcPr>
                </a:tc>
                <a:tc>
                  <a:txBody>
                    <a:bodyPr/>
                    <a:lstStyle/>
                    <a:p>
                      <a:pPr indent="0" lvl="0" marL="0" rtl="0" algn="ctr">
                        <a:spcBef>
                          <a:spcPts val="0"/>
                        </a:spcBef>
                        <a:spcAft>
                          <a:spcPts val="0"/>
                        </a:spcAft>
                        <a:buNone/>
                      </a:pPr>
                      <a:r>
                        <a:rPr b="1" lang="en" sz="800">
                          <a:solidFill>
                            <a:srgbClr val="0C343D"/>
                          </a:solidFill>
                          <a:latin typeface="Lato"/>
                          <a:ea typeface="Lato"/>
                          <a:cs typeface="Lato"/>
                          <a:sym typeface="Lato"/>
                        </a:rPr>
                        <a:t>Acceleration (m/s</a:t>
                      </a:r>
                      <a:r>
                        <a:rPr b="1" baseline="30000" lang="en" sz="800">
                          <a:solidFill>
                            <a:srgbClr val="0C343D"/>
                          </a:solidFill>
                          <a:latin typeface="Lato"/>
                          <a:ea typeface="Lato"/>
                          <a:cs typeface="Lato"/>
                          <a:sym typeface="Lato"/>
                        </a:rPr>
                        <a:t>2</a:t>
                      </a:r>
                      <a:r>
                        <a:rPr b="1" lang="en" sz="800">
                          <a:solidFill>
                            <a:srgbClr val="0C343D"/>
                          </a:solidFill>
                          <a:latin typeface="Lato"/>
                          <a:ea typeface="Lato"/>
                          <a:cs typeface="Lato"/>
                          <a:sym typeface="Lato"/>
                        </a:rPr>
                        <a:t>)</a:t>
                      </a:r>
                      <a:endParaRPr b="1" sz="800">
                        <a:solidFill>
                          <a:srgbClr val="0C343D"/>
                        </a:solidFill>
                        <a:latin typeface="Lato"/>
                        <a:ea typeface="Lato"/>
                        <a:cs typeface="Lato"/>
                        <a:sym typeface="Lato"/>
                      </a:endParaRPr>
                    </a:p>
                  </a:txBody>
                  <a:tcPr marT="45700" marB="45700" marR="91425" marL="91425">
                    <a:solidFill>
                      <a:srgbClr val="C9DAF8"/>
                    </a:solidFill>
                  </a:tcPr>
                </a:tc>
                <a:tc>
                  <a:txBody>
                    <a:bodyPr/>
                    <a:lstStyle/>
                    <a:p>
                      <a:pPr indent="0" lvl="0" marL="0" rtl="0" algn="ctr">
                        <a:spcBef>
                          <a:spcPts val="0"/>
                        </a:spcBef>
                        <a:spcAft>
                          <a:spcPts val="0"/>
                        </a:spcAft>
                        <a:buNone/>
                      </a:pPr>
                      <a:r>
                        <a:rPr b="1" lang="en" sz="800">
                          <a:solidFill>
                            <a:srgbClr val="0C343D"/>
                          </a:solidFill>
                          <a:latin typeface="Lato"/>
                          <a:ea typeface="Lato"/>
                          <a:cs typeface="Lato"/>
                          <a:sym typeface="Lato"/>
                        </a:rPr>
                        <a:t>Gradient (degree) </a:t>
                      </a:r>
                      <a:endParaRPr b="1" sz="800">
                        <a:solidFill>
                          <a:srgbClr val="0C343D"/>
                        </a:solidFill>
                        <a:latin typeface="Lato"/>
                        <a:ea typeface="Lato"/>
                        <a:cs typeface="Lato"/>
                        <a:sym typeface="Lato"/>
                      </a:endParaRPr>
                    </a:p>
                  </a:txBody>
                  <a:tcPr marT="45700" marB="45700" marR="91425" marL="91425">
                    <a:solidFill>
                      <a:srgbClr val="C9DAF8"/>
                    </a:solidFill>
                  </a:tcPr>
                </a:tc>
                <a:tc>
                  <a:txBody>
                    <a:bodyPr/>
                    <a:lstStyle/>
                    <a:p>
                      <a:pPr indent="0" lvl="0" marL="0" rtl="0" algn="ctr">
                        <a:spcBef>
                          <a:spcPts val="0"/>
                        </a:spcBef>
                        <a:spcAft>
                          <a:spcPts val="0"/>
                        </a:spcAft>
                        <a:buNone/>
                      </a:pPr>
                      <a:r>
                        <a:rPr b="1" lang="en" sz="800">
                          <a:solidFill>
                            <a:srgbClr val="0C343D"/>
                          </a:solidFill>
                          <a:latin typeface="Lato"/>
                          <a:ea typeface="Lato"/>
                          <a:cs typeface="Lato"/>
                          <a:sym typeface="Lato"/>
                        </a:rPr>
                        <a:t>Required Torque (Nm)</a:t>
                      </a:r>
                      <a:endParaRPr b="1" sz="800">
                        <a:solidFill>
                          <a:srgbClr val="0C343D"/>
                        </a:solidFill>
                        <a:latin typeface="Lato"/>
                        <a:ea typeface="Lato"/>
                        <a:cs typeface="Lato"/>
                        <a:sym typeface="Lato"/>
                      </a:endParaRPr>
                    </a:p>
                  </a:txBody>
                  <a:tcPr marT="45700" marB="45700" marR="91425" marL="91425">
                    <a:solidFill>
                      <a:srgbClr val="C9DAF8"/>
                    </a:solidFill>
                  </a:tcPr>
                </a:tc>
                <a:tc>
                  <a:txBody>
                    <a:bodyPr/>
                    <a:lstStyle/>
                    <a:p>
                      <a:pPr indent="0" lvl="0" marL="0" rtl="0" algn="ctr">
                        <a:spcBef>
                          <a:spcPts val="0"/>
                        </a:spcBef>
                        <a:spcAft>
                          <a:spcPts val="0"/>
                        </a:spcAft>
                        <a:buNone/>
                      </a:pPr>
                      <a:r>
                        <a:rPr b="1" lang="en" sz="800">
                          <a:solidFill>
                            <a:srgbClr val="0C343D"/>
                          </a:solidFill>
                          <a:latin typeface="Lato"/>
                          <a:ea typeface="Lato"/>
                          <a:cs typeface="Lato"/>
                          <a:sym typeface="Lato"/>
                        </a:rPr>
                        <a:t>Motor Power (kW)</a:t>
                      </a:r>
                      <a:endParaRPr b="1" sz="800">
                        <a:solidFill>
                          <a:srgbClr val="0C343D"/>
                        </a:solidFill>
                        <a:latin typeface="Lato"/>
                        <a:ea typeface="Lato"/>
                        <a:cs typeface="Lato"/>
                        <a:sym typeface="Lato"/>
                      </a:endParaRPr>
                    </a:p>
                  </a:txBody>
                  <a:tcPr marT="45700" marB="45700" marR="91425" marL="91425">
                    <a:solidFill>
                      <a:srgbClr val="C9DAF8"/>
                    </a:solidFill>
                  </a:tcPr>
                </a:tc>
              </a:tr>
              <a:tr h="190675">
                <a:tc>
                  <a:txBody>
                    <a:bodyPr/>
                    <a:lstStyle/>
                    <a:p>
                      <a:pPr indent="0" lvl="0" marL="0" rtl="0" algn="ctr">
                        <a:spcBef>
                          <a:spcPts val="0"/>
                        </a:spcBef>
                        <a:spcAft>
                          <a:spcPts val="0"/>
                        </a:spcAft>
                        <a:buNone/>
                      </a:pPr>
                      <a:r>
                        <a:rPr b="1" lang="en" sz="800">
                          <a:solidFill>
                            <a:srgbClr val="0C343D"/>
                          </a:solidFill>
                          <a:latin typeface="Lato"/>
                          <a:ea typeface="Lato"/>
                          <a:cs typeface="Lato"/>
                          <a:sym typeface="Lato"/>
                        </a:rPr>
                        <a:t>1.</a:t>
                      </a:r>
                      <a:endParaRPr b="1" sz="800">
                        <a:solidFill>
                          <a:srgbClr val="0C343D"/>
                        </a:solidFill>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b="1" lang="en" sz="800">
                          <a:solidFill>
                            <a:srgbClr val="0C343D"/>
                          </a:solidFill>
                          <a:latin typeface="Lato"/>
                          <a:ea typeface="Lato"/>
                          <a:cs typeface="Lato"/>
                          <a:sym typeface="Lato"/>
                        </a:rPr>
                        <a:t>80</a:t>
                      </a:r>
                      <a:endParaRPr b="1" sz="800">
                        <a:solidFill>
                          <a:srgbClr val="0C343D"/>
                        </a:solidFill>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b="1" lang="en" sz="800">
                          <a:solidFill>
                            <a:srgbClr val="0C343D"/>
                          </a:solidFill>
                          <a:latin typeface="Lato"/>
                          <a:ea typeface="Lato"/>
                          <a:cs typeface="Lato"/>
                          <a:sym typeface="Lato"/>
                        </a:rPr>
                        <a:t>0</a:t>
                      </a:r>
                      <a:endParaRPr b="1" sz="800">
                        <a:solidFill>
                          <a:srgbClr val="0C343D"/>
                        </a:solidFill>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b="1" lang="en" sz="800">
                          <a:solidFill>
                            <a:srgbClr val="0C343D"/>
                          </a:solidFill>
                          <a:latin typeface="Lato"/>
                          <a:ea typeface="Lato"/>
                          <a:cs typeface="Lato"/>
                          <a:sym typeface="Lato"/>
                        </a:rPr>
                        <a:t>0</a:t>
                      </a:r>
                      <a:endParaRPr b="1" sz="800">
                        <a:solidFill>
                          <a:srgbClr val="0C343D"/>
                        </a:solidFill>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b="1" lang="en" sz="1000">
                          <a:solidFill>
                            <a:srgbClr val="0C343D"/>
                          </a:solidFill>
                          <a:latin typeface="Lato"/>
                          <a:ea typeface="Lato"/>
                          <a:cs typeface="Lato"/>
                          <a:sym typeface="Lato"/>
                        </a:rPr>
                        <a:t>156</a:t>
                      </a:r>
                      <a:endParaRPr b="1" sz="1000">
                        <a:solidFill>
                          <a:srgbClr val="0C343D"/>
                        </a:solidFill>
                        <a:latin typeface="Lato"/>
                        <a:ea typeface="Lato"/>
                        <a:cs typeface="Lato"/>
                        <a:sym typeface="Lato"/>
                      </a:endParaRPr>
                    </a:p>
                  </a:txBody>
                  <a:tcPr marT="45700" marB="45700" marR="91425" marL="91425">
                    <a:solidFill>
                      <a:srgbClr val="D0E0E3"/>
                    </a:solidFill>
                  </a:tcPr>
                </a:tc>
                <a:tc>
                  <a:txBody>
                    <a:bodyPr/>
                    <a:lstStyle/>
                    <a:p>
                      <a:pPr indent="0" lvl="0" marL="0" rtl="0" algn="ctr">
                        <a:spcBef>
                          <a:spcPts val="0"/>
                        </a:spcBef>
                        <a:spcAft>
                          <a:spcPts val="0"/>
                        </a:spcAft>
                        <a:buNone/>
                      </a:pPr>
                      <a:r>
                        <a:rPr b="1" lang="en" sz="1000">
                          <a:solidFill>
                            <a:srgbClr val="0C343D"/>
                          </a:solidFill>
                          <a:latin typeface="Lato"/>
                          <a:ea typeface="Lato"/>
                          <a:cs typeface="Lato"/>
                          <a:sym typeface="Lato"/>
                        </a:rPr>
                        <a:t>13.7</a:t>
                      </a:r>
                      <a:endParaRPr b="1" sz="1000">
                        <a:solidFill>
                          <a:srgbClr val="0C343D"/>
                        </a:solidFill>
                        <a:latin typeface="Lato"/>
                        <a:ea typeface="Lato"/>
                        <a:cs typeface="Lato"/>
                        <a:sym typeface="Lato"/>
                      </a:endParaRPr>
                    </a:p>
                  </a:txBody>
                  <a:tcPr marT="45700" marB="45700" marR="91425" marL="91425">
                    <a:solidFill>
                      <a:srgbClr val="D0E0E3"/>
                    </a:solidFill>
                  </a:tcPr>
                </a:tc>
              </a:tr>
              <a:tr h="190675">
                <a:tc>
                  <a:txBody>
                    <a:bodyPr/>
                    <a:lstStyle/>
                    <a:p>
                      <a:pPr indent="0" lvl="0" marL="0" rtl="0" algn="ctr">
                        <a:spcBef>
                          <a:spcPts val="0"/>
                        </a:spcBef>
                        <a:spcAft>
                          <a:spcPts val="0"/>
                        </a:spcAft>
                        <a:buNone/>
                      </a:pPr>
                      <a:r>
                        <a:rPr b="1" lang="en" sz="800">
                          <a:solidFill>
                            <a:srgbClr val="0C343D"/>
                          </a:solidFill>
                          <a:latin typeface="Lato"/>
                          <a:ea typeface="Lato"/>
                          <a:cs typeface="Lato"/>
                          <a:sym typeface="Lato"/>
                        </a:rPr>
                        <a:t>2.</a:t>
                      </a:r>
                      <a:endParaRPr b="1" sz="800">
                        <a:solidFill>
                          <a:srgbClr val="0C343D"/>
                        </a:solidFill>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800">
                          <a:solidFill>
                            <a:srgbClr val="0C343D"/>
                          </a:solidFill>
                          <a:latin typeface="Lato"/>
                          <a:ea typeface="Lato"/>
                          <a:cs typeface="Lato"/>
                          <a:sym typeface="Lato"/>
                        </a:rPr>
                        <a:t>30</a:t>
                      </a:r>
                      <a:endParaRPr sz="800">
                        <a:solidFill>
                          <a:srgbClr val="0C343D"/>
                        </a:solidFill>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800">
                          <a:solidFill>
                            <a:srgbClr val="0C343D"/>
                          </a:solidFill>
                          <a:latin typeface="Lato"/>
                          <a:ea typeface="Lato"/>
                          <a:cs typeface="Lato"/>
                          <a:sym typeface="Lato"/>
                        </a:rPr>
                        <a:t>0.6</a:t>
                      </a:r>
                      <a:endParaRPr sz="800">
                        <a:solidFill>
                          <a:srgbClr val="0C343D"/>
                        </a:solidFill>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800">
                          <a:solidFill>
                            <a:srgbClr val="0C343D"/>
                          </a:solidFill>
                          <a:latin typeface="Lato"/>
                          <a:ea typeface="Lato"/>
                          <a:cs typeface="Lato"/>
                          <a:sym typeface="Lato"/>
                        </a:rPr>
                        <a:t>0</a:t>
                      </a:r>
                      <a:endParaRPr sz="800">
                        <a:solidFill>
                          <a:srgbClr val="0C343D"/>
                        </a:solidFill>
                        <a:latin typeface="Lato"/>
                        <a:ea typeface="Lato"/>
                        <a:cs typeface="Lato"/>
                        <a:sym typeface="Lato"/>
                      </a:endParaRPr>
                    </a:p>
                  </a:txBody>
                  <a:tcPr marT="45700" marB="45700" marR="91425" marL="91425"/>
                </a:tc>
                <a:tc>
                  <a:txBody>
                    <a:bodyPr/>
                    <a:lstStyle/>
                    <a:p>
                      <a:pPr indent="0" lvl="0" marL="0" rtl="0" algn="ctr">
                        <a:spcBef>
                          <a:spcPts val="0"/>
                        </a:spcBef>
                        <a:spcAft>
                          <a:spcPts val="0"/>
                        </a:spcAft>
                        <a:buClr>
                          <a:schemeClr val="dk1"/>
                        </a:buClr>
                        <a:buSzPts val="1100"/>
                        <a:buFont typeface="Arial"/>
                        <a:buNone/>
                      </a:pPr>
                      <a:r>
                        <a:rPr b="1" lang="en" sz="1000">
                          <a:solidFill>
                            <a:srgbClr val="0C343D"/>
                          </a:solidFill>
                          <a:latin typeface="Lato"/>
                          <a:ea typeface="Lato"/>
                          <a:cs typeface="Lato"/>
                          <a:sym typeface="Lato"/>
                        </a:rPr>
                        <a:t>332</a:t>
                      </a:r>
                      <a:endParaRPr b="1" sz="1000">
                        <a:solidFill>
                          <a:srgbClr val="0C343D"/>
                        </a:solidFill>
                        <a:latin typeface="Lato"/>
                        <a:ea typeface="Lato"/>
                        <a:cs typeface="Lato"/>
                        <a:sym typeface="Lato"/>
                      </a:endParaRPr>
                    </a:p>
                  </a:txBody>
                  <a:tcPr marT="45700" marB="45700" marR="91425" marL="91425">
                    <a:solidFill>
                      <a:srgbClr val="D0E0E3"/>
                    </a:solidFill>
                  </a:tcPr>
                </a:tc>
                <a:tc>
                  <a:txBody>
                    <a:bodyPr/>
                    <a:lstStyle/>
                    <a:p>
                      <a:pPr indent="0" lvl="0" marL="0" rtl="0" algn="ctr">
                        <a:spcBef>
                          <a:spcPts val="0"/>
                        </a:spcBef>
                        <a:spcAft>
                          <a:spcPts val="0"/>
                        </a:spcAft>
                        <a:buNone/>
                      </a:pPr>
                      <a:r>
                        <a:rPr b="1" lang="en" sz="1000">
                          <a:solidFill>
                            <a:srgbClr val="0C343D"/>
                          </a:solidFill>
                          <a:latin typeface="Lato"/>
                          <a:ea typeface="Lato"/>
                          <a:cs typeface="Lato"/>
                          <a:sym typeface="Lato"/>
                        </a:rPr>
                        <a:t>10.6</a:t>
                      </a:r>
                      <a:endParaRPr b="1" sz="1000">
                        <a:solidFill>
                          <a:srgbClr val="0C343D"/>
                        </a:solidFill>
                        <a:latin typeface="Lato"/>
                        <a:ea typeface="Lato"/>
                        <a:cs typeface="Lato"/>
                        <a:sym typeface="Lato"/>
                      </a:endParaRPr>
                    </a:p>
                  </a:txBody>
                  <a:tcPr marT="45700" marB="45700" marR="91425" marL="91425">
                    <a:solidFill>
                      <a:srgbClr val="D0E0E3"/>
                    </a:solidFill>
                  </a:tcPr>
                </a:tc>
              </a:tr>
              <a:tr h="190675">
                <a:tc>
                  <a:txBody>
                    <a:bodyPr/>
                    <a:lstStyle/>
                    <a:p>
                      <a:pPr indent="0" lvl="0" marL="0" rtl="0" algn="ctr">
                        <a:spcBef>
                          <a:spcPts val="0"/>
                        </a:spcBef>
                        <a:spcAft>
                          <a:spcPts val="0"/>
                        </a:spcAft>
                        <a:buNone/>
                      </a:pPr>
                      <a:r>
                        <a:rPr b="1" lang="en" sz="800">
                          <a:solidFill>
                            <a:srgbClr val="0C343D"/>
                          </a:solidFill>
                          <a:latin typeface="Lato"/>
                          <a:ea typeface="Lato"/>
                          <a:cs typeface="Lato"/>
                          <a:sym typeface="Lato"/>
                        </a:rPr>
                        <a:t>3.</a:t>
                      </a:r>
                      <a:endParaRPr b="1" sz="800">
                        <a:solidFill>
                          <a:srgbClr val="0C343D"/>
                        </a:solidFill>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800">
                          <a:solidFill>
                            <a:srgbClr val="0C343D"/>
                          </a:solidFill>
                          <a:latin typeface="Lato"/>
                          <a:ea typeface="Lato"/>
                          <a:cs typeface="Lato"/>
                          <a:sym typeface="Lato"/>
                        </a:rPr>
                        <a:t>10</a:t>
                      </a:r>
                      <a:endParaRPr sz="800">
                        <a:solidFill>
                          <a:srgbClr val="0C343D"/>
                        </a:solidFill>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800">
                          <a:solidFill>
                            <a:srgbClr val="0C343D"/>
                          </a:solidFill>
                          <a:latin typeface="Lato"/>
                          <a:ea typeface="Lato"/>
                          <a:cs typeface="Lato"/>
                          <a:sym typeface="Lato"/>
                        </a:rPr>
                        <a:t>1</a:t>
                      </a:r>
                      <a:endParaRPr sz="800">
                        <a:solidFill>
                          <a:srgbClr val="0C343D"/>
                        </a:solidFill>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800">
                          <a:solidFill>
                            <a:srgbClr val="0C343D"/>
                          </a:solidFill>
                          <a:latin typeface="Lato"/>
                          <a:ea typeface="Lato"/>
                          <a:cs typeface="Lato"/>
                          <a:sym typeface="Lato"/>
                        </a:rPr>
                        <a:t>6</a:t>
                      </a:r>
                      <a:endParaRPr sz="800">
                        <a:solidFill>
                          <a:srgbClr val="0C343D"/>
                        </a:solidFill>
                        <a:latin typeface="Lato"/>
                        <a:ea typeface="Lato"/>
                        <a:cs typeface="Lato"/>
                        <a:sym typeface="Lato"/>
                      </a:endParaRPr>
                    </a:p>
                  </a:txBody>
                  <a:tcPr marT="45700" marB="45700" marR="91425" marL="91425"/>
                </a:tc>
                <a:tc>
                  <a:txBody>
                    <a:bodyPr/>
                    <a:lstStyle/>
                    <a:p>
                      <a:pPr indent="0" lvl="0" marL="0" rtl="0" algn="ctr">
                        <a:spcBef>
                          <a:spcPts val="0"/>
                        </a:spcBef>
                        <a:spcAft>
                          <a:spcPts val="0"/>
                        </a:spcAft>
                        <a:buClr>
                          <a:schemeClr val="dk1"/>
                        </a:buClr>
                        <a:buSzPts val="1100"/>
                        <a:buFont typeface="Arial"/>
                        <a:buNone/>
                      </a:pPr>
                      <a:r>
                        <a:rPr lang="en" sz="1000">
                          <a:solidFill>
                            <a:srgbClr val="0C343D"/>
                          </a:solidFill>
                          <a:latin typeface="Lato Black"/>
                          <a:ea typeface="Lato Black"/>
                          <a:cs typeface="Lato Black"/>
                          <a:sym typeface="Lato Black"/>
                        </a:rPr>
                        <a:t>954</a:t>
                      </a:r>
                      <a:endParaRPr sz="1000">
                        <a:solidFill>
                          <a:srgbClr val="0C343D"/>
                        </a:solidFill>
                        <a:latin typeface="Lato Black"/>
                        <a:ea typeface="Lato Black"/>
                        <a:cs typeface="Lato Black"/>
                        <a:sym typeface="Lato Black"/>
                      </a:endParaRPr>
                    </a:p>
                  </a:txBody>
                  <a:tcPr marT="45700" marB="45700" marR="91425" marL="91425">
                    <a:solidFill>
                      <a:srgbClr val="F4CCCC"/>
                    </a:solidFill>
                  </a:tcPr>
                </a:tc>
                <a:tc>
                  <a:txBody>
                    <a:bodyPr/>
                    <a:lstStyle/>
                    <a:p>
                      <a:pPr indent="0" lvl="0" marL="0" rtl="0" algn="ctr">
                        <a:spcBef>
                          <a:spcPts val="0"/>
                        </a:spcBef>
                        <a:spcAft>
                          <a:spcPts val="0"/>
                        </a:spcAft>
                        <a:buNone/>
                      </a:pPr>
                      <a:r>
                        <a:rPr b="1" lang="en" sz="1000">
                          <a:solidFill>
                            <a:srgbClr val="0C343D"/>
                          </a:solidFill>
                          <a:latin typeface="Lato"/>
                          <a:ea typeface="Lato"/>
                          <a:cs typeface="Lato"/>
                          <a:sym typeface="Lato"/>
                        </a:rPr>
                        <a:t>10.2</a:t>
                      </a:r>
                      <a:endParaRPr b="1" sz="1000">
                        <a:solidFill>
                          <a:srgbClr val="0C343D"/>
                        </a:solidFill>
                        <a:latin typeface="Lato"/>
                        <a:ea typeface="Lato"/>
                        <a:cs typeface="Lato"/>
                        <a:sym typeface="Lato"/>
                      </a:endParaRPr>
                    </a:p>
                  </a:txBody>
                  <a:tcPr marT="45700" marB="45700" marR="91425" marL="91425">
                    <a:solidFill>
                      <a:srgbClr val="D0E0E3"/>
                    </a:solidFill>
                  </a:tcPr>
                </a:tc>
              </a:tr>
              <a:tr h="190675">
                <a:tc>
                  <a:txBody>
                    <a:bodyPr/>
                    <a:lstStyle/>
                    <a:p>
                      <a:pPr indent="0" lvl="0" marL="0" rtl="0" algn="ctr">
                        <a:spcBef>
                          <a:spcPts val="0"/>
                        </a:spcBef>
                        <a:spcAft>
                          <a:spcPts val="0"/>
                        </a:spcAft>
                        <a:buNone/>
                      </a:pPr>
                      <a:r>
                        <a:rPr b="1" lang="en" sz="800">
                          <a:solidFill>
                            <a:srgbClr val="0C343D"/>
                          </a:solidFill>
                          <a:latin typeface="Lato"/>
                          <a:ea typeface="Lato"/>
                          <a:cs typeface="Lato"/>
                          <a:sym typeface="Lato"/>
                        </a:rPr>
                        <a:t>4.</a:t>
                      </a:r>
                      <a:endParaRPr b="1" sz="800">
                        <a:solidFill>
                          <a:srgbClr val="0C343D"/>
                        </a:solidFill>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800">
                          <a:solidFill>
                            <a:srgbClr val="0C343D"/>
                          </a:solidFill>
                          <a:latin typeface="Lato"/>
                          <a:ea typeface="Lato"/>
                          <a:cs typeface="Lato"/>
                          <a:sym typeface="Lato"/>
                        </a:rPr>
                        <a:t>35</a:t>
                      </a:r>
                      <a:endParaRPr sz="800">
                        <a:solidFill>
                          <a:srgbClr val="0C343D"/>
                        </a:solidFill>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800">
                          <a:solidFill>
                            <a:srgbClr val="0C343D"/>
                          </a:solidFill>
                          <a:latin typeface="Lato"/>
                          <a:ea typeface="Lato"/>
                          <a:cs typeface="Lato"/>
                          <a:sym typeface="Lato"/>
                        </a:rPr>
                        <a:t>0</a:t>
                      </a:r>
                      <a:endParaRPr sz="800">
                        <a:solidFill>
                          <a:srgbClr val="0C343D"/>
                        </a:solidFill>
                        <a:latin typeface="Lato"/>
                        <a:ea typeface="Lato"/>
                        <a:cs typeface="Lato"/>
                        <a:sym typeface="Lato"/>
                      </a:endParaRPr>
                    </a:p>
                  </a:txBody>
                  <a:tcPr marT="27425" marB="27425" marR="91425" marL="91425"/>
                </a:tc>
                <a:tc>
                  <a:txBody>
                    <a:bodyPr/>
                    <a:lstStyle/>
                    <a:p>
                      <a:pPr indent="0" lvl="0" marL="0" rtl="0" algn="ctr">
                        <a:spcBef>
                          <a:spcPts val="0"/>
                        </a:spcBef>
                        <a:spcAft>
                          <a:spcPts val="0"/>
                        </a:spcAft>
                        <a:buNone/>
                      </a:pPr>
                      <a:r>
                        <a:rPr lang="en" sz="800">
                          <a:solidFill>
                            <a:srgbClr val="0C343D"/>
                          </a:solidFill>
                          <a:latin typeface="Lato"/>
                          <a:ea typeface="Lato"/>
                          <a:cs typeface="Lato"/>
                          <a:sym typeface="Lato"/>
                        </a:rPr>
                        <a:t>8</a:t>
                      </a:r>
                      <a:endParaRPr sz="800">
                        <a:solidFill>
                          <a:srgbClr val="0C343D"/>
                        </a:solidFill>
                        <a:latin typeface="Lato"/>
                        <a:ea typeface="Lato"/>
                        <a:cs typeface="Lato"/>
                        <a:sym typeface="Lato"/>
                      </a:endParaRPr>
                    </a:p>
                  </a:txBody>
                  <a:tcPr marT="27425" marB="27425" marR="91425" marL="91425"/>
                </a:tc>
                <a:tc>
                  <a:txBody>
                    <a:bodyPr/>
                    <a:lstStyle/>
                    <a:p>
                      <a:pPr indent="0" lvl="0" marL="0" rtl="0" algn="ctr">
                        <a:spcBef>
                          <a:spcPts val="0"/>
                        </a:spcBef>
                        <a:spcAft>
                          <a:spcPts val="0"/>
                        </a:spcAft>
                        <a:buNone/>
                      </a:pPr>
                      <a:r>
                        <a:rPr b="1" lang="en" sz="1000">
                          <a:solidFill>
                            <a:srgbClr val="0C343D"/>
                          </a:solidFill>
                          <a:latin typeface="Lato"/>
                          <a:ea typeface="Lato"/>
                          <a:cs typeface="Lato"/>
                          <a:sym typeface="Lato"/>
                        </a:rPr>
                        <a:t>676</a:t>
                      </a:r>
                      <a:endParaRPr b="1" sz="1000">
                        <a:solidFill>
                          <a:srgbClr val="0C343D"/>
                        </a:solidFill>
                        <a:latin typeface="Lato"/>
                        <a:ea typeface="Lato"/>
                        <a:cs typeface="Lato"/>
                        <a:sym typeface="Lato"/>
                      </a:endParaRPr>
                    </a:p>
                  </a:txBody>
                  <a:tcPr marT="27425" marB="27425" marR="91425" marL="91425">
                    <a:solidFill>
                      <a:srgbClr val="D0E0E3"/>
                    </a:solidFill>
                  </a:tcPr>
                </a:tc>
                <a:tc>
                  <a:txBody>
                    <a:bodyPr/>
                    <a:lstStyle/>
                    <a:p>
                      <a:pPr indent="0" lvl="0" marL="0" rtl="0" algn="ctr">
                        <a:spcBef>
                          <a:spcPts val="0"/>
                        </a:spcBef>
                        <a:spcAft>
                          <a:spcPts val="0"/>
                        </a:spcAft>
                        <a:buNone/>
                      </a:pPr>
                      <a:r>
                        <a:rPr lang="en" sz="1000">
                          <a:solidFill>
                            <a:srgbClr val="0C343D"/>
                          </a:solidFill>
                          <a:latin typeface="Lato Black"/>
                          <a:ea typeface="Lato Black"/>
                          <a:cs typeface="Lato Black"/>
                          <a:sym typeface="Lato Black"/>
                        </a:rPr>
                        <a:t>25.3</a:t>
                      </a:r>
                      <a:endParaRPr sz="1000">
                        <a:solidFill>
                          <a:srgbClr val="0C343D"/>
                        </a:solidFill>
                        <a:latin typeface="Lato Black"/>
                        <a:ea typeface="Lato Black"/>
                        <a:cs typeface="Lato Black"/>
                        <a:sym typeface="Lato Black"/>
                      </a:endParaRPr>
                    </a:p>
                  </a:txBody>
                  <a:tcPr marT="27425" marB="27425" marR="91425" marL="91425">
                    <a:solidFill>
                      <a:srgbClr val="F4CCCC"/>
                    </a:solidFill>
                  </a:tcPr>
                </a:tc>
              </a:tr>
              <a:tr h="190675">
                <a:tc>
                  <a:txBody>
                    <a:bodyPr/>
                    <a:lstStyle/>
                    <a:p>
                      <a:pPr indent="0" lvl="0" marL="0" rtl="0" algn="ctr">
                        <a:spcBef>
                          <a:spcPts val="0"/>
                        </a:spcBef>
                        <a:spcAft>
                          <a:spcPts val="0"/>
                        </a:spcAft>
                        <a:buNone/>
                      </a:pPr>
                      <a:r>
                        <a:rPr b="1" lang="en" sz="800">
                          <a:solidFill>
                            <a:srgbClr val="0C343D"/>
                          </a:solidFill>
                          <a:latin typeface="Lato"/>
                          <a:ea typeface="Lato"/>
                          <a:cs typeface="Lato"/>
                          <a:sym typeface="Lato"/>
                        </a:rPr>
                        <a:t>5.</a:t>
                      </a:r>
                      <a:endParaRPr b="1" sz="800">
                        <a:solidFill>
                          <a:srgbClr val="0C343D"/>
                        </a:solidFill>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b="1" lang="en" sz="800">
                          <a:solidFill>
                            <a:srgbClr val="0C343D"/>
                          </a:solidFill>
                          <a:latin typeface="Lato"/>
                          <a:ea typeface="Lato"/>
                          <a:cs typeface="Lato"/>
                          <a:sym typeface="Lato"/>
                        </a:rPr>
                        <a:t>25</a:t>
                      </a:r>
                      <a:endParaRPr b="1" sz="800">
                        <a:solidFill>
                          <a:srgbClr val="0C343D"/>
                        </a:solidFill>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b="1" lang="en" sz="800">
                          <a:solidFill>
                            <a:srgbClr val="0C343D"/>
                          </a:solidFill>
                          <a:latin typeface="Lato"/>
                          <a:ea typeface="Lato"/>
                          <a:cs typeface="Lato"/>
                          <a:sym typeface="Lato"/>
                        </a:rPr>
                        <a:t>0</a:t>
                      </a:r>
                      <a:endParaRPr b="1" sz="800">
                        <a:solidFill>
                          <a:srgbClr val="0C343D"/>
                        </a:solidFill>
                        <a:latin typeface="Lato"/>
                        <a:ea typeface="Lato"/>
                        <a:cs typeface="Lato"/>
                        <a:sym typeface="Lato"/>
                      </a:endParaRPr>
                    </a:p>
                  </a:txBody>
                  <a:tcPr marT="27425" marB="27425" marR="91425" marL="91425"/>
                </a:tc>
                <a:tc>
                  <a:txBody>
                    <a:bodyPr/>
                    <a:lstStyle/>
                    <a:p>
                      <a:pPr indent="0" lvl="0" marL="0" rtl="0" algn="ctr">
                        <a:spcBef>
                          <a:spcPts val="0"/>
                        </a:spcBef>
                        <a:spcAft>
                          <a:spcPts val="0"/>
                        </a:spcAft>
                        <a:buNone/>
                      </a:pPr>
                      <a:r>
                        <a:rPr b="1" lang="en" sz="800">
                          <a:solidFill>
                            <a:srgbClr val="0C343D"/>
                          </a:solidFill>
                          <a:latin typeface="Lato"/>
                          <a:ea typeface="Lato"/>
                          <a:cs typeface="Lato"/>
                          <a:sym typeface="Lato"/>
                        </a:rPr>
                        <a:t>12</a:t>
                      </a:r>
                      <a:endParaRPr b="1" sz="800">
                        <a:solidFill>
                          <a:srgbClr val="0C343D"/>
                        </a:solidFill>
                        <a:latin typeface="Lato"/>
                        <a:ea typeface="Lato"/>
                        <a:cs typeface="Lato"/>
                        <a:sym typeface="Lato"/>
                      </a:endParaRPr>
                    </a:p>
                  </a:txBody>
                  <a:tcPr marT="27425" marB="27425" marR="91425" marL="91425"/>
                </a:tc>
                <a:tc>
                  <a:txBody>
                    <a:bodyPr/>
                    <a:lstStyle/>
                    <a:p>
                      <a:pPr indent="0" lvl="0" marL="0" rtl="0" algn="ctr">
                        <a:spcBef>
                          <a:spcPts val="0"/>
                        </a:spcBef>
                        <a:spcAft>
                          <a:spcPts val="0"/>
                        </a:spcAft>
                        <a:buNone/>
                      </a:pPr>
                      <a:r>
                        <a:rPr lang="en" sz="1000">
                          <a:solidFill>
                            <a:srgbClr val="0C343D"/>
                          </a:solidFill>
                          <a:latin typeface="Lato Black"/>
                          <a:ea typeface="Lato Black"/>
                          <a:cs typeface="Lato Black"/>
                          <a:sym typeface="Lato Black"/>
                        </a:rPr>
                        <a:t>965</a:t>
                      </a:r>
                      <a:endParaRPr sz="1000">
                        <a:solidFill>
                          <a:srgbClr val="0C343D"/>
                        </a:solidFill>
                        <a:latin typeface="Lato Black"/>
                        <a:ea typeface="Lato Black"/>
                        <a:cs typeface="Lato Black"/>
                        <a:sym typeface="Lato Black"/>
                      </a:endParaRPr>
                    </a:p>
                  </a:txBody>
                  <a:tcPr marT="27425" marB="27425" marR="91425" marL="91425">
                    <a:solidFill>
                      <a:srgbClr val="F4CCCC"/>
                    </a:solidFill>
                  </a:tcPr>
                </a:tc>
                <a:tc>
                  <a:txBody>
                    <a:bodyPr/>
                    <a:lstStyle/>
                    <a:p>
                      <a:pPr indent="0" lvl="0" marL="0" rtl="0" algn="ctr">
                        <a:spcBef>
                          <a:spcPts val="0"/>
                        </a:spcBef>
                        <a:spcAft>
                          <a:spcPts val="0"/>
                        </a:spcAft>
                        <a:buNone/>
                      </a:pPr>
                      <a:r>
                        <a:rPr lang="en" sz="1000">
                          <a:solidFill>
                            <a:srgbClr val="0C343D"/>
                          </a:solidFill>
                          <a:latin typeface="Lato Black"/>
                          <a:ea typeface="Lato Black"/>
                          <a:cs typeface="Lato Black"/>
                          <a:sym typeface="Lato Black"/>
                        </a:rPr>
                        <a:t>25.8</a:t>
                      </a:r>
                      <a:endParaRPr sz="1000">
                        <a:solidFill>
                          <a:srgbClr val="0C343D"/>
                        </a:solidFill>
                        <a:latin typeface="Lato Black"/>
                        <a:ea typeface="Lato Black"/>
                        <a:cs typeface="Lato Black"/>
                        <a:sym typeface="Lato Black"/>
                      </a:endParaRPr>
                    </a:p>
                  </a:txBody>
                  <a:tcPr marT="27425" marB="27425" marR="91425" marL="91425">
                    <a:solidFill>
                      <a:srgbClr val="F4CCCC"/>
                    </a:solidFill>
                  </a:tcPr>
                </a:tc>
              </a:tr>
            </a:tbl>
          </a:graphicData>
        </a:graphic>
      </p:graphicFrame>
      <p:sp>
        <p:nvSpPr>
          <p:cNvPr id="516" name="Google Shape;516;p39"/>
          <p:cNvSpPr/>
          <p:nvPr/>
        </p:nvSpPr>
        <p:spPr>
          <a:xfrm>
            <a:off x="2867275" y="2240425"/>
            <a:ext cx="877500" cy="180000"/>
          </a:xfrm>
          <a:prstGeom prst="rightArrow">
            <a:avLst>
              <a:gd fmla="val 50000" name="adj1"/>
              <a:gd fmla="val 50000" name="adj2"/>
            </a:avLst>
          </a:prstGeom>
          <a:solidFill>
            <a:srgbClr val="0C34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39"/>
          <p:cNvSpPr/>
          <p:nvPr/>
        </p:nvSpPr>
        <p:spPr>
          <a:xfrm>
            <a:off x="5666475" y="2227525"/>
            <a:ext cx="877500" cy="180000"/>
          </a:xfrm>
          <a:prstGeom prst="rightArrow">
            <a:avLst>
              <a:gd fmla="val 50000" name="adj1"/>
              <a:gd fmla="val 50000" name="adj2"/>
            </a:avLst>
          </a:prstGeom>
          <a:solidFill>
            <a:srgbClr val="0C34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521" name="Shape 521"/>
        <p:cNvGrpSpPr/>
        <p:nvPr/>
      </p:nvGrpSpPr>
      <p:grpSpPr>
        <a:xfrm>
          <a:off x="0" y="0"/>
          <a:ext cx="0" cy="0"/>
          <a:chOff x="0" y="0"/>
          <a:chExt cx="0" cy="0"/>
        </a:xfrm>
      </p:grpSpPr>
      <p:sp>
        <p:nvSpPr>
          <p:cNvPr id="522" name="Google Shape;522;p40"/>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200"/>
              <a:buFont typeface="Arial"/>
              <a:buNone/>
            </a:pPr>
            <a:r>
              <a:rPr lang="en" sz="2400">
                <a:solidFill>
                  <a:srgbClr val="F3F3F3"/>
                </a:solidFill>
                <a:latin typeface="Lato"/>
                <a:ea typeface="Lato"/>
                <a:cs typeface="Lato"/>
                <a:sym typeface="Lato"/>
              </a:rPr>
              <a:t>Electric</a:t>
            </a:r>
            <a:r>
              <a:rPr lang="en" sz="2400">
                <a:solidFill>
                  <a:srgbClr val="48BACA"/>
                </a:solidFill>
                <a:latin typeface="Lato Black"/>
                <a:ea typeface="Lato Black"/>
                <a:cs typeface="Lato Black"/>
                <a:sym typeface="Lato Black"/>
              </a:rPr>
              <a:t> Drive Dimensioning</a:t>
            </a:r>
            <a:endParaRPr i="0" sz="2400" u="none" cap="none" strike="noStrike">
              <a:solidFill>
                <a:srgbClr val="48BACA"/>
              </a:solidFill>
              <a:latin typeface="Lato Black"/>
              <a:ea typeface="Lato Black"/>
              <a:cs typeface="Lato Black"/>
              <a:sym typeface="Lato Black"/>
            </a:endParaRPr>
          </a:p>
        </p:txBody>
      </p:sp>
      <p:pic>
        <p:nvPicPr>
          <p:cNvPr id="523" name="Google Shape;523;p40"/>
          <p:cNvPicPr preferRelativeResize="0"/>
          <p:nvPr/>
        </p:nvPicPr>
        <p:blipFill>
          <a:blip r:embed="rId3">
            <a:alphaModFix/>
          </a:blip>
          <a:stretch>
            <a:fillRect/>
          </a:stretch>
        </p:blipFill>
        <p:spPr>
          <a:xfrm>
            <a:off x="175925" y="133088"/>
            <a:ext cx="567225" cy="474824"/>
          </a:xfrm>
          <a:prstGeom prst="rect">
            <a:avLst/>
          </a:prstGeom>
          <a:noFill/>
          <a:ln>
            <a:noFill/>
          </a:ln>
        </p:spPr>
      </p:pic>
      <p:sp>
        <p:nvSpPr>
          <p:cNvPr id="524" name="Google Shape;524;p40"/>
          <p:cNvSpPr txBox="1"/>
          <p:nvPr/>
        </p:nvSpPr>
        <p:spPr>
          <a:xfrm>
            <a:off x="0" y="941225"/>
            <a:ext cx="4111500" cy="407100"/>
          </a:xfrm>
          <a:prstGeom prst="rect">
            <a:avLst/>
          </a:prstGeom>
          <a:solidFill>
            <a:srgbClr val="23656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700">
                <a:solidFill>
                  <a:srgbClr val="EFEFEF"/>
                </a:solidFill>
                <a:latin typeface="Open Sans ExtraBold"/>
                <a:ea typeface="Open Sans ExtraBold"/>
                <a:cs typeface="Open Sans ExtraBold"/>
                <a:sym typeface="Open Sans ExtraBold"/>
              </a:rPr>
              <a:t>MOTOR SELECTION</a:t>
            </a:r>
            <a:endParaRPr sz="1700">
              <a:solidFill>
                <a:srgbClr val="EFEFEF"/>
              </a:solidFill>
              <a:latin typeface="Open Sans ExtraBold"/>
              <a:ea typeface="Open Sans ExtraBold"/>
              <a:cs typeface="Open Sans ExtraBold"/>
              <a:sym typeface="Open Sans ExtraBold"/>
            </a:endParaRPr>
          </a:p>
        </p:txBody>
      </p:sp>
      <p:sp>
        <p:nvSpPr>
          <p:cNvPr id="525" name="Google Shape;525;p40"/>
          <p:cNvSpPr/>
          <p:nvPr/>
        </p:nvSpPr>
        <p:spPr>
          <a:xfrm>
            <a:off x="3834275" y="941225"/>
            <a:ext cx="399000" cy="4071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526" name="Google Shape;526;p40"/>
          <p:cNvPicPr preferRelativeResize="0"/>
          <p:nvPr/>
        </p:nvPicPr>
        <p:blipFill rotWithShape="1">
          <a:blip r:embed="rId4">
            <a:alphaModFix/>
          </a:blip>
          <a:srcRect b="11281" l="20956" r="20375" t="10435"/>
          <a:stretch/>
        </p:blipFill>
        <p:spPr>
          <a:xfrm>
            <a:off x="3815225" y="985441"/>
            <a:ext cx="360900" cy="318660"/>
          </a:xfrm>
          <a:prstGeom prst="rect">
            <a:avLst/>
          </a:prstGeom>
          <a:noFill/>
          <a:ln>
            <a:noFill/>
          </a:ln>
        </p:spPr>
      </p:pic>
      <p:sp>
        <p:nvSpPr>
          <p:cNvPr id="527" name="Google Shape;527;p40"/>
          <p:cNvSpPr txBox="1"/>
          <p:nvPr/>
        </p:nvSpPr>
        <p:spPr>
          <a:xfrm>
            <a:off x="416900" y="1483275"/>
            <a:ext cx="4014000" cy="178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latin typeface="Open Sans"/>
                <a:ea typeface="Open Sans"/>
                <a:cs typeface="Open Sans"/>
                <a:sym typeface="Open Sans"/>
              </a:rPr>
              <a:t>GVM 210-100D PMSM Traction Motor</a:t>
            </a:r>
            <a:endParaRPr b="1" sz="1300">
              <a:solidFill>
                <a:srgbClr val="23656F"/>
              </a:solidFill>
              <a:latin typeface="Open Sans"/>
              <a:ea typeface="Open Sans"/>
              <a:cs typeface="Open Sans"/>
              <a:sym typeface="Open Sans"/>
            </a:endParaRPr>
          </a:p>
          <a:p>
            <a:pPr indent="-298450" lvl="0" marL="457200" rtl="0" algn="l">
              <a:lnSpc>
                <a:spcPct val="115000"/>
              </a:lnSpc>
              <a:spcBef>
                <a:spcPts val="0"/>
              </a:spcBef>
              <a:spcAft>
                <a:spcPts val="0"/>
              </a:spcAft>
              <a:buClr>
                <a:srgbClr val="434343"/>
              </a:buClr>
              <a:buSzPts val="1100"/>
              <a:buFont typeface="Open Sans SemiBold"/>
              <a:buChar char="●"/>
            </a:pPr>
            <a:r>
              <a:rPr lang="en" sz="1100">
                <a:solidFill>
                  <a:srgbClr val="324B4F"/>
                </a:solidFill>
                <a:latin typeface="Lato"/>
                <a:ea typeface="Lato"/>
                <a:cs typeface="Lato"/>
                <a:sym typeface="Lato"/>
              </a:rPr>
              <a:t>High Efficiency (~96%)</a:t>
            </a:r>
            <a:endParaRPr sz="1100">
              <a:solidFill>
                <a:srgbClr val="324B4F"/>
              </a:solidFill>
              <a:latin typeface="Lato"/>
              <a:ea typeface="Lato"/>
              <a:cs typeface="Lato"/>
              <a:sym typeface="Lato"/>
            </a:endParaRPr>
          </a:p>
          <a:p>
            <a:pPr indent="-298450" lvl="0" marL="457200" rtl="0" algn="l">
              <a:lnSpc>
                <a:spcPct val="115000"/>
              </a:lnSpc>
              <a:spcBef>
                <a:spcPts val="0"/>
              </a:spcBef>
              <a:spcAft>
                <a:spcPts val="0"/>
              </a:spcAft>
              <a:buClr>
                <a:srgbClr val="434343"/>
              </a:buClr>
              <a:buSzPts val="1100"/>
              <a:buFont typeface="Open Sans SemiBold"/>
              <a:buChar char="●"/>
            </a:pPr>
            <a:r>
              <a:rPr lang="en" sz="1100">
                <a:solidFill>
                  <a:srgbClr val="434343"/>
                </a:solidFill>
                <a:latin typeface="Lato"/>
                <a:ea typeface="Lato"/>
                <a:cs typeface="Lato"/>
                <a:sym typeface="Lato"/>
              </a:rPr>
              <a:t>Highly Reliable Vendor - </a:t>
            </a:r>
            <a:r>
              <a:rPr lang="en" sz="1100">
                <a:solidFill>
                  <a:srgbClr val="434343"/>
                </a:solidFill>
                <a:latin typeface="Lato Black"/>
                <a:ea typeface="Lato Black"/>
                <a:cs typeface="Lato Black"/>
                <a:sym typeface="Lato Black"/>
              </a:rPr>
              <a:t>Parker’s GVM</a:t>
            </a:r>
            <a:endParaRPr sz="1100">
              <a:solidFill>
                <a:srgbClr val="434343"/>
              </a:solidFill>
              <a:latin typeface="Lato Black"/>
              <a:ea typeface="Lato Black"/>
              <a:cs typeface="Lato Black"/>
              <a:sym typeface="Lato Black"/>
            </a:endParaRPr>
          </a:p>
          <a:p>
            <a:pPr indent="-298450" lvl="0" marL="457200" rtl="0" algn="l">
              <a:lnSpc>
                <a:spcPct val="115000"/>
              </a:lnSpc>
              <a:spcBef>
                <a:spcPts val="0"/>
              </a:spcBef>
              <a:spcAft>
                <a:spcPts val="0"/>
              </a:spcAft>
              <a:buClr>
                <a:srgbClr val="434343"/>
              </a:buClr>
              <a:buSzPts val="1100"/>
              <a:buFont typeface="Lato"/>
              <a:buChar char="●"/>
            </a:pPr>
            <a:r>
              <a:rPr lang="en" sz="1100">
                <a:solidFill>
                  <a:srgbClr val="434343"/>
                </a:solidFill>
                <a:latin typeface="Lato"/>
                <a:ea typeface="Lato"/>
                <a:cs typeface="Lato"/>
                <a:sym typeface="Lato"/>
              </a:rPr>
              <a:t>Detailed Datasheets with experimental data</a:t>
            </a:r>
            <a:endParaRPr sz="1100">
              <a:solidFill>
                <a:srgbClr val="434343"/>
              </a:solidFill>
              <a:latin typeface="Lato"/>
              <a:ea typeface="Lato"/>
              <a:cs typeface="Lato"/>
              <a:sym typeface="Lato"/>
            </a:endParaRPr>
          </a:p>
          <a:p>
            <a:pPr indent="-298450" lvl="0" marL="457200" rtl="0" algn="l">
              <a:lnSpc>
                <a:spcPct val="115000"/>
              </a:lnSpc>
              <a:spcBef>
                <a:spcPts val="0"/>
              </a:spcBef>
              <a:spcAft>
                <a:spcPts val="0"/>
              </a:spcAft>
              <a:buClr>
                <a:srgbClr val="434343"/>
              </a:buClr>
              <a:buSzPts val="1100"/>
              <a:buFont typeface="Lato"/>
              <a:buChar char="●"/>
            </a:pPr>
            <a:r>
              <a:rPr lang="en" sz="1100">
                <a:solidFill>
                  <a:srgbClr val="434343"/>
                </a:solidFill>
                <a:latin typeface="Lato"/>
                <a:ea typeface="Lato"/>
                <a:cs typeface="Lato"/>
                <a:sym typeface="Lato"/>
              </a:rPr>
              <a:t>Well-drawn efficiency curves for both generator and motor mode</a:t>
            </a:r>
            <a:endParaRPr sz="1100">
              <a:solidFill>
                <a:srgbClr val="434343"/>
              </a:solidFill>
              <a:latin typeface="Lato"/>
              <a:ea typeface="Lato"/>
              <a:cs typeface="Lato"/>
              <a:sym typeface="Lato"/>
            </a:endParaRPr>
          </a:p>
          <a:p>
            <a:pPr indent="0" lvl="0" marL="0" rtl="0" algn="l">
              <a:lnSpc>
                <a:spcPct val="115000"/>
              </a:lnSpc>
              <a:spcBef>
                <a:spcPts val="0"/>
              </a:spcBef>
              <a:spcAft>
                <a:spcPts val="0"/>
              </a:spcAft>
              <a:buNone/>
            </a:pPr>
            <a:r>
              <a:t/>
            </a:r>
            <a:endParaRPr sz="1100">
              <a:solidFill>
                <a:srgbClr val="434343"/>
              </a:solidFill>
              <a:latin typeface="Lato"/>
              <a:ea typeface="Lato"/>
              <a:cs typeface="Lato"/>
              <a:sym typeface="Lato"/>
            </a:endParaRPr>
          </a:p>
          <a:p>
            <a:pPr indent="0" lvl="0" marL="0" rtl="0" algn="l">
              <a:lnSpc>
                <a:spcPct val="115000"/>
              </a:lnSpc>
              <a:spcBef>
                <a:spcPts val="0"/>
              </a:spcBef>
              <a:spcAft>
                <a:spcPts val="0"/>
              </a:spcAft>
              <a:buNone/>
            </a:pPr>
            <a:r>
              <a:t/>
            </a:r>
            <a:endParaRPr sz="1300">
              <a:latin typeface="Lato"/>
              <a:ea typeface="Lato"/>
              <a:cs typeface="Lato"/>
              <a:sym typeface="Lato"/>
            </a:endParaRPr>
          </a:p>
        </p:txBody>
      </p:sp>
      <p:graphicFrame>
        <p:nvGraphicFramePr>
          <p:cNvPr id="528" name="Google Shape;528;p40"/>
          <p:cNvGraphicFramePr/>
          <p:nvPr/>
        </p:nvGraphicFramePr>
        <p:xfrm>
          <a:off x="4737788" y="1164822"/>
          <a:ext cx="3000000" cy="3000000"/>
        </p:xfrm>
        <a:graphic>
          <a:graphicData uri="http://schemas.openxmlformats.org/drawingml/2006/table">
            <a:tbl>
              <a:tblPr>
                <a:noFill/>
                <a:tableStyleId>{43AF8DD5-E6FA-4577-8082-F1EEE736C7BF}</a:tableStyleId>
              </a:tblPr>
              <a:tblGrid>
                <a:gridCol w="1587300"/>
                <a:gridCol w="1271150"/>
                <a:gridCol w="1296650"/>
              </a:tblGrid>
              <a:tr h="190675">
                <a:tc>
                  <a:txBody>
                    <a:bodyPr/>
                    <a:lstStyle/>
                    <a:p>
                      <a:pPr indent="0" lvl="0" marL="0" rtl="0" algn="ctr">
                        <a:spcBef>
                          <a:spcPts val="0"/>
                        </a:spcBef>
                        <a:spcAft>
                          <a:spcPts val="0"/>
                        </a:spcAft>
                        <a:buNone/>
                      </a:pPr>
                      <a:r>
                        <a:rPr b="1" lang="en" sz="800">
                          <a:solidFill>
                            <a:srgbClr val="FFFFFF"/>
                          </a:solidFill>
                          <a:latin typeface="Lato"/>
                          <a:ea typeface="Lato"/>
                          <a:cs typeface="Lato"/>
                          <a:sym typeface="Lato"/>
                        </a:rPr>
                        <a:t>Metrics (@ 350V)</a:t>
                      </a:r>
                      <a:endParaRPr b="1" sz="800">
                        <a:solidFill>
                          <a:srgbClr val="FFFFFF"/>
                        </a:solidFill>
                        <a:latin typeface="Lato"/>
                        <a:ea typeface="Lato"/>
                        <a:cs typeface="Lato"/>
                        <a:sym typeface="Lato"/>
                      </a:endParaRPr>
                    </a:p>
                  </a:txBody>
                  <a:tcPr marT="45700" marB="45700" marR="91425" marL="91425">
                    <a:solidFill>
                      <a:srgbClr val="23656F"/>
                    </a:solidFill>
                  </a:tcPr>
                </a:tc>
                <a:tc>
                  <a:txBody>
                    <a:bodyPr/>
                    <a:lstStyle/>
                    <a:p>
                      <a:pPr indent="0" lvl="0" marL="0" rtl="0" algn="ctr">
                        <a:lnSpc>
                          <a:spcPct val="80000"/>
                        </a:lnSpc>
                        <a:spcBef>
                          <a:spcPts val="0"/>
                        </a:spcBef>
                        <a:spcAft>
                          <a:spcPts val="0"/>
                        </a:spcAft>
                        <a:buNone/>
                      </a:pPr>
                      <a:r>
                        <a:rPr b="1" lang="en" sz="800">
                          <a:solidFill>
                            <a:srgbClr val="FFFFFF"/>
                          </a:solidFill>
                          <a:latin typeface="Lato"/>
                          <a:ea typeface="Lato"/>
                          <a:cs typeface="Lato"/>
                          <a:sym typeface="Lato"/>
                        </a:rPr>
                        <a:t>Peak</a:t>
                      </a:r>
                      <a:endParaRPr b="1" sz="800">
                        <a:solidFill>
                          <a:srgbClr val="FFFFFF"/>
                        </a:solidFill>
                        <a:latin typeface="Lato"/>
                        <a:ea typeface="Lato"/>
                        <a:cs typeface="Lato"/>
                        <a:sym typeface="Lato"/>
                      </a:endParaRPr>
                    </a:p>
                  </a:txBody>
                  <a:tcPr marT="45700" marB="45700" marR="91425" marL="91425" anchor="ctr">
                    <a:solidFill>
                      <a:srgbClr val="23656F"/>
                    </a:solidFill>
                  </a:tcPr>
                </a:tc>
                <a:tc>
                  <a:txBody>
                    <a:bodyPr/>
                    <a:lstStyle/>
                    <a:p>
                      <a:pPr indent="0" lvl="0" marL="0" rtl="0" algn="ctr">
                        <a:spcBef>
                          <a:spcPts val="0"/>
                        </a:spcBef>
                        <a:spcAft>
                          <a:spcPts val="0"/>
                        </a:spcAft>
                        <a:buNone/>
                      </a:pPr>
                      <a:r>
                        <a:rPr b="1" lang="en" sz="800">
                          <a:solidFill>
                            <a:srgbClr val="FFFFFF"/>
                          </a:solidFill>
                          <a:latin typeface="Lato"/>
                          <a:ea typeface="Lato"/>
                          <a:cs typeface="Lato"/>
                          <a:sym typeface="Lato"/>
                        </a:rPr>
                        <a:t>Rated</a:t>
                      </a:r>
                      <a:endParaRPr b="1" sz="800">
                        <a:solidFill>
                          <a:srgbClr val="FFFFFF"/>
                        </a:solidFill>
                        <a:latin typeface="Lato"/>
                        <a:ea typeface="Lato"/>
                        <a:cs typeface="Lato"/>
                        <a:sym typeface="Lato"/>
                      </a:endParaRPr>
                    </a:p>
                  </a:txBody>
                  <a:tcPr marT="45700" marB="45700" marR="91425" marL="91425">
                    <a:solidFill>
                      <a:srgbClr val="23656F"/>
                    </a:solidFill>
                  </a:tcPr>
                </a:tc>
              </a:tr>
              <a:tr h="190675">
                <a:tc>
                  <a:txBody>
                    <a:bodyPr/>
                    <a:lstStyle/>
                    <a:p>
                      <a:pPr indent="0" lvl="0" marL="0" rtl="0" algn="ctr">
                        <a:spcBef>
                          <a:spcPts val="0"/>
                        </a:spcBef>
                        <a:spcAft>
                          <a:spcPts val="0"/>
                        </a:spcAft>
                        <a:buNone/>
                      </a:pPr>
                      <a:r>
                        <a:rPr b="1" lang="en" sz="800">
                          <a:latin typeface="Lato"/>
                          <a:ea typeface="Lato"/>
                          <a:cs typeface="Lato"/>
                          <a:sym typeface="Lato"/>
                        </a:rPr>
                        <a:t>Motor </a:t>
                      </a:r>
                      <a:r>
                        <a:rPr b="1" lang="en" sz="800">
                          <a:latin typeface="Lato"/>
                          <a:ea typeface="Lato"/>
                          <a:cs typeface="Lato"/>
                          <a:sym typeface="Lato"/>
                        </a:rPr>
                        <a:t>Torque</a:t>
                      </a:r>
                      <a:endParaRPr b="1" sz="800">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800">
                          <a:latin typeface="Lato"/>
                          <a:ea typeface="Lato"/>
                          <a:cs typeface="Lato"/>
                          <a:sym typeface="Lato"/>
                        </a:rPr>
                        <a:t>165 Nm</a:t>
                      </a:r>
                      <a:endParaRPr sz="800">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800">
                          <a:latin typeface="Lato"/>
                          <a:ea typeface="Lato"/>
                          <a:cs typeface="Lato"/>
                          <a:sym typeface="Lato"/>
                        </a:rPr>
                        <a:t>77</a:t>
                      </a:r>
                      <a:r>
                        <a:rPr lang="en" sz="800">
                          <a:latin typeface="Lato"/>
                          <a:ea typeface="Lato"/>
                          <a:cs typeface="Lato"/>
                          <a:sym typeface="Lato"/>
                        </a:rPr>
                        <a:t> Nm</a:t>
                      </a:r>
                      <a:endParaRPr sz="800">
                        <a:latin typeface="Lato"/>
                        <a:ea typeface="Lato"/>
                        <a:cs typeface="Lato"/>
                        <a:sym typeface="Lato"/>
                      </a:endParaRPr>
                    </a:p>
                  </a:txBody>
                  <a:tcPr marT="45700" marB="45700" marR="91425" marL="91425"/>
                </a:tc>
              </a:tr>
              <a:tr h="190675">
                <a:tc>
                  <a:txBody>
                    <a:bodyPr/>
                    <a:lstStyle/>
                    <a:p>
                      <a:pPr indent="0" lvl="0" marL="0" rtl="0" algn="ctr">
                        <a:spcBef>
                          <a:spcPts val="0"/>
                        </a:spcBef>
                        <a:spcAft>
                          <a:spcPts val="0"/>
                        </a:spcAft>
                        <a:buNone/>
                      </a:pPr>
                      <a:r>
                        <a:rPr b="1" lang="en" sz="800">
                          <a:latin typeface="Lato"/>
                          <a:ea typeface="Lato"/>
                          <a:cs typeface="Lato"/>
                          <a:sym typeface="Lato"/>
                        </a:rPr>
                        <a:t>Shaft </a:t>
                      </a:r>
                      <a:r>
                        <a:rPr b="1" lang="en" sz="800">
                          <a:latin typeface="Lato"/>
                          <a:ea typeface="Lato"/>
                          <a:cs typeface="Lato"/>
                          <a:sym typeface="Lato"/>
                        </a:rPr>
                        <a:t>Power</a:t>
                      </a:r>
                      <a:endParaRPr b="1" sz="800">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800">
                          <a:latin typeface="Lato"/>
                          <a:ea typeface="Lato"/>
                          <a:cs typeface="Lato"/>
                          <a:sym typeface="Lato"/>
                        </a:rPr>
                        <a:t>26 kW</a:t>
                      </a:r>
                      <a:endParaRPr sz="800">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800">
                          <a:latin typeface="Lato"/>
                          <a:ea typeface="Lato"/>
                          <a:cs typeface="Lato"/>
                          <a:sym typeface="Lato"/>
                        </a:rPr>
                        <a:t>18</a:t>
                      </a:r>
                      <a:r>
                        <a:rPr lang="en" sz="800">
                          <a:latin typeface="Lato"/>
                          <a:ea typeface="Lato"/>
                          <a:cs typeface="Lato"/>
                          <a:sym typeface="Lato"/>
                        </a:rPr>
                        <a:t> kW</a:t>
                      </a:r>
                      <a:endParaRPr sz="800">
                        <a:latin typeface="Lato"/>
                        <a:ea typeface="Lato"/>
                        <a:cs typeface="Lato"/>
                        <a:sym typeface="Lato"/>
                      </a:endParaRPr>
                    </a:p>
                  </a:txBody>
                  <a:tcPr marT="45700" marB="45700" marR="91425" marL="91425"/>
                </a:tc>
              </a:tr>
              <a:tr h="190675">
                <a:tc>
                  <a:txBody>
                    <a:bodyPr/>
                    <a:lstStyle/>
                    <a:p>
                      <a:pPr indent="0" lvl="0" marL="0" rtl="0" algn="ctr">
                        <a:spcBef>
                          <a:spcPts val="0"/>
                        </a:spcBef>
                        <a:spcAft>
                          <a:spcPts val="0"/>
                        </a:spcAft>
                        <a:buNone/>
                      </a:pPr>
                      <a:r>
                        <a:rPr b="1" lang="en" sz="800">
                          <a:latin typeface="Lato"/>
                          <a:ea typeface="Lato"/>
                          <a:cs typeface="Lato"/>
                          <a:sym typeface="Lato"/>
                        </a:rPr>
                        <a:t>Motor </a:t>
                      </a:r>
                      <a:r>
                        <a:rPr b="1" lang="en" sz="800">
                          <a:latin typeface="Lato"/>
                          <a:ea typeface="Lato"/>
                          <a:cs typeface="Lato"/>
                          <a:sym typeface="Lato"/>
                        </a:rPr>
                        <a:t>Speed</a:t>
                      </a:r>
                      <a:endParaRPr b="1" sz="800">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800">
                          <a:latin typeface="Lato"/>
                          <a:ea typeface="Lato"/>
                          <a:cs typeface="Lato"/>
                          <a:sym typeface="Lato"/>
                        </a:rPr>
                        <a:t>2964 RPM</a:t>
                      </a:r>
                      <a:endParaRPr sz="800">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800">
                          <a:latin typeface="Lato"/>
                          <a:ea typeface="Lato"/>
                          <a:cs typeface="Lato"/>
                          <a:sym typeface="Lato"/>
                        </a:rPr>
                        <a:t>2248</a:t>
                      </a:r>
                      <a:r>
                        <a:rPr lang="en" sz="800">
                          <a:latin typeface="Lato"/>
                          <a:ea typeface="Lato"/>
                          <a:cs typeface="Lato"/>
                          <a:sym typeface="Lato"/>
                        </a:rPr>
                        <a:t> RPM</a:t>
                      </a:r>
                      <a:endParaRPr sz="800">
                        <a:latin typeface="Lato"/>
                        <a:ea typeface="Lato"/>
                        <a:cs typeface="Lato"/>
                        <a:sym typeface="Lato"/>
                      </a:endParaRPr>
                    </a:p>
                  </a:txBody>
                  <a:tcPr marT="45700" marB="45700" marR="91425" marL="91425"/>
                </a:tc>
              </a:tr>
              <a:tr h="190675">
                <a:tc>
                  <a:txBody>
                    <a:bodyPr/>
                    <a:lstStyle/>
                    <a:p>
                      <a:pPr indent="0" lvl="0" marL="0" rtl="0" algn="ctr">
                        <a:spcBef>
                          <a:spcPts val="0"/>
                        </a:spcBef>
                        <a:spcAft>
                          <a:spcPts val="0"/>
                        </a:spcAft>
                        <a:buNone/>
                      </a:pPr>
                      <a:r>
                        <a:rPr b="1" lang="en" sz="800">
                          <a:latin typeface="Lato"/>
                          <a:ea typeface="Lato"/>
                          <a:cs typeface="Lato"/>
                          <a:sym typeface="Lato"/>
                        </a:rPr>
                        <a:t>Stall Current</a:t>
                      </a:r>
                      <a:endParaRPr b="1" sz="800">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800">
                          <a:latin typeface="Lato"/>
                          <a:ea typeface="Lato"/>
                          <a:cs typeface="Lato"/>
                          <a:sym typeface="Lato"/>
                        </a:rPr>
                        <a:t>97</a:t>
                      </a:r>
                      <a:r>
                        <a:rPr lang="en" sz="800">
                          <a:latin typeface="Lato"/>
                          <a:ea typeface="Lato"/>
                          <a:cs typeface="Lato"/>
                          <a:sym typeface="Lato"/>
                        </a:rPr>
                        <a:t> Amp RMS</a:t>
                      </a:r>
                      <a:endParaRPr sz="800">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800">
                          <a:latin typeface="Lato"/>
                          <a:ea typeface="Lato"/>
                          <a:cs typeface="Lato"/>
                          <a:sym typeface="Lato"/>
                        </a:rPr>
                        <a:t>48</a:t>
                      </a:r>
                      <a:r>
                        <a:rPr lang="en" sz="800">
                          <a:latin typeface="Lato"/>
                          <a:ea typeface="Lato"/>
                          <a:cs typeface="Lato"/>
                          <a:sym typeface="Lato"/>
                        </a:rPr>
                        <a:t>  Amp RMS</a:t>
                      </a:r>
                      <a:endParaRPr sz="800">
                        <a:latin typeface="Lato"/>
                        <a:ea typeface="Lato"/>
                        <a:cs typeface="Lato"/>
                        <a:sym typeface="Lato"/>
                      </a:endParaRPr>
                    </a:p>
                  </a:txBody>
                  <a:tcPr marT="27425" marB="27425" marR="91425" marL="91425"/>
                </a:tc>
              </a:tr>
              <a:tr h="190675">
                <a:tc>
                  <a:txBody>
                    <a:bodyPr/>
                    <a:lstStyle/>
                    <a:p>
                      <a:pPr indent="0" lvl="0" marL="0" rtl="0" algn="ctr">
                        <a:spcBef>
                          <a:spcPts val="0"/>
                        </a:spcBef>
                        <a:spcAft>
                          <a:spcPts val="0"/>
                        </a:spcAft>
                        <a:buNone/>
                      </a:pPr>
                      <a:r>
                        <a:rPr b="1" lang="en" sz="800">
                          <a:latin typeface="Lato"/>
                          <a:ea typeface="Lato"/>
                          <a:cs typeface="Lato"/>
                          <a:sym typeface="Lato"/>
                        </a:rPr>
                        <a:t>Thermal Management</a:t>
                      </a:r>
                      <a:endParaRPr b="1" sz="800">
                        <a:latin typeface="Lato"/>
                        <a:ea typeface="Lato"/>
                        <a:cs typeface="Lato"/>
                        <a:sym typeface="Lato"/>
                      </a:endParaRPr>
                    </a:p>
                  </a:txBody>
                  <a:tcPr marT="45700" marB="45700" marR="91425" marL="91425"/>
                </a:tc>
                <a:tc gridSpan="2">
                  <a:txBody>
                    <a:bodyPr/>
                    <a:lstStyle/>
                    <a:p>
                      <a:pPr indent="0" lvl="0" marL="0" rtl="0" algn="ctr">
                        <a:spcBef>
                          <a:spcPts val="0"/>
                        </a:spcBef>
                        <a:spcAft>
                          <a:spcPts val="0"/>
                        </a:spcAft>
                        <a:buNone/>
                      </a:pPr>
                      <a:r>
                        <a:rPr lang="en" sz="800">
                          <a:latin typeface="Lato"/>
                          <a:ea typeface="Lato"/>
                          <a:cs typeface="Lato"/>
                          <a:sym typeface="Lato"/>
                        </a:rPr>
                        <a:t>Liquid-Cooled</a:t>
                      </a:r>
                      <a:endParaRPr sz="800">
                        <a:latin typeface="Lato"/>
                        <a:ea typeface="Lato"/>
                        <a:cs typeface="Lato"/>
                        <a:sym typeface="Lato"/>
                      </a:endParaRPr>
                    </a:p>
                  </a:txBody>
                  <a:tcPr marT="45700" marB="45700" marR="91425" marL="91425"/>
                </a:tc>
                <a:tc hMerge="1"/>
              </a:tr>
            </a:tbl>
          </a:graphicData>
        </a:graphic>
      </p:graphicFrame>
      <p:pic>
        <p:nvPicPr>
          <p:cNvPr id="529" name="Google Shape;529;p40"/>
          <p:cNvPicPr preferRelativeResize="0"/>
          <p:nvPr/>
        </p:nvPicPr>
        <p:blipFill rotWithShape="1">
          <a:blip r:embed="rId5">
            <a:alphaModFix/>
          </a:blip>
          <a:srcRect b="0" l="2292" r="3785" t="0"/>
          <a:stretch/>
        </p:blipFill>
        <p:spPr>
          <a:xfrm>
            <a:off x="6801300" y="3023675"/>
            <a:ext cx="2205000" cy="2020304"/>
          </a:xfrm>
          <a:prstGeom prst="rect">
            <a:avLst/>
          </a:prstGeom>
          <a:noFill/>
          <a:ln cap="flat" cmpd="sng" w="9525">
            <a:solidFill>
              <a:srgbClr val="434343"/>
            </a:solidFill>
            <a:prstDash val="solid"/>
            <a:round/>
            <a:headEnd len="sm" w="sm" type="none"/>
            <a:tailEnd len="sm" w="sm" type="none"/>
          </a:ln>
        </p:spPr>
      </p:pic>
      <p:pic>
        <p:nvPicPr>
          <p:cNvPr id="530" name="Google Shape;530;p40"/>
          <p:cNvPicPr preferRelativeResize="0"/>
          <p:nvPr/>
        </p:nvPicPr>
        <p:blipFill>
          <a:blip r:embed="rId6">
            <a:alphaModFix/>
          </a:blip>
          <a:stretch>
            <a:fillRect/>
          </a:stretch>
        </p:blipFill>
        <p:spPr>
          <a:xfrm>
            <a:off x="687012" y="2876125"/>
            <a:ext cx="2737475" cy="2167851"/>
          </a:xfrm>
          <a:prstGeom prst="rect">
            <a:avLst/>
          </a:prstGeom>
          <a:noFill/>
          <a:ln>
            <a:noFill/>
          </a:ln>
        </p:spPr>
      </p:pic>
      <p:pic>
        <p:nvPicPr>
          <p:cNvPr id="531" name="Google Shape;531;p40"/>
          <p:cNvPicPr preferRelativeResize="0"/>
          <p:nvPr/>
        </p:nvPicPr>
        <p:blipFill>
          <a:blip r:embed="rId7">
            <a:alphaModFix/>
          </a:blip>
          <a:stretch>
            <a:fillRect/>
          </a:stretch>
        </p:blipFill>
        <p:spPr>
          <a:xfrm>
            <a:off x="4062900" y="3023675"/>
            <a:ext cx="2205000" cy="2020305"/>
          </a:xfrm>
          <a:prstGeom prst="rect">
            <a:avLst/>
          </a:prstGeom>
          <a:noFill/>
          <a:ln cap="flat" cmpd="sng" w="9525">
            <a:solidFill>
              <a:srgbClr val="434343"/>
            </a:solidFill>
            <a:prstDash val="solid"/>
            <a:round/>
            <a:headEnd len="sm" w="sm" type="none"/>
            <a:tailEnd len="sm" w="sm" type="none"/>
          </a:ln>
        </p:spPr>
      </p:pic>
      <p:sp>
        <p:nvSpPr>
          <p:cNvPr id="532" name="Google Shape;532;p40"/>
          <p:cNvSpPr txBox="1"/>
          <p:nvPr/>
        </p:nvSpPr>
        <p:spPr>
          <a:xfrm>
            <a:off x="4062900" y="2771600"/>
            <a:ext cx="2205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Open Sans"/>
                <a:ea typeface="Open Sans"/>
                <a:cs typeface="Open Sans"/>
                <a:sym typeface="Open Sans"/>
              </a:rPr>
              <a:t>Efficiency in generator operation mode</a:t>
            </a:r>
            <a:endParaRPr b="1" sz="800">
              <a:latin typeface="Open Sans"/>
              <a:ea typeface="Open Sans"/>
              <a:cs typeface="Open Sans"/>
              <a:sym typeface="Open Sans"/>
            </a:endParaRPr>
          </a:p>
        </p:txBody>
      </p:sp>
      <p:sp>
        <p:nvSpPr>
          <p:cNvPr id="533" name="Google Shape;533;p40"/>
          <p:cNvSpPr txBox="1"/>
          <p:nvPr/>
        </p:nvSpPr>
        <p:spPr>
          <a:xfrm>
            <a:off x="6849900" y="2771600"/>
            <a:ext cx="21564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Open Sans"/>
                <a:ea typeface="Open Sans"/>
                <a:cs typeface="Open Sans"/>
                <a:sym typeface="Open Sans"/>
              </a:rPr>
              <a:t>Efficiency in motor operation mode</a:t>
            </a:r>
            <a:endParaRPr b="1" sz="800">
              <a:latin typeface="Open Sans"/>
              <a:ea typeface="Open Sans"/>
              <a:cs typeface="Open Sans"/>
              <a:sym typeface="Open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537" name="Shape 537"/>
        <p:cNvGrpSpPr/>
        <p:nvPr/>
      </p:nvGrpSpPr>
      <p:grpSpPr>
        <a:xfrm>
          <a:off x="0" y="0"/>
          <a:ext cx="0" cy="0"/>
          <a:chOff x="0" y="0"/>
          <a:chExt cx="0" cy="0"/>
        </a:xfrm>
      </p:grpSpPr>
      <p:sp>
        <p:nvSpPr>
          <p:cNvPr id="538" name="Google Shape;538;p41"/>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200"/>
              <a:buFont typeface="Arial"/>
              <a:buNone/>
            </a:pPr>
            <a:r>
              <a:rPr lang="en" sz="2400">
                <a:solidFill>
                  <a:srgbClr val="F3F3F3"/>
                </a:solidFill>
                <a:latin typeface="Lato"/>
                <a:ea typeface="Lato"/>
                <a:cs typeface="Lato"/>
                <a:sym typeface="Lato"/>
              </a:rPr>
              <a:t>Electric</a:t>
            </a:r>
            <a:r>
              <a:rPr lang="en" sz="2400">
                <a:solidFill>
                  <a:srgbClr val="48BACA"/>
                </a:solidFill>
                <a:latin typeface="Lato Black"/>
                <a:ea typeface="Lato Black"/>
                <a:cs typeface="Lato Black"/>
                <a:sym typeface="Lato Black"/>
              </a:rPr>
              <a:t> Drive Dimensioning</a:t>
            </a:r>
            <a:endParaRPr i="0" sz="2400" u="none" cap="none" strike="noStrike">
              <a:solidFill>
                <a:srgbClr val="48BACA"/>
              </a:solidFill>
              <a:latin typeface="Lato Black"/>
              <a:ea typeface="Lato Black"/>
              <a:cs typeface="Lato Black"/>
              <a:sym typeface="Lato Black"/>
            </a:endParaRPr>
          </a:p>
        </p:txBody>
      </p:sp>
      <p:pic>
        <p:nvPicPr>
          <p:cNvPr id="539" name="Google Shape;539;p41"/>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540" name="Google Shape;540;p41"/>
          <p:cNvPicPr preferRelativeResize="0"/>
          <p:nvPr/>
        </p:nvPicPr>
        <p:blipFill>
          <a:blip r:embed="rId4">
            <a:alphaModFix amt="26000"/>
          </a:blip>
          <a:stretch>
            <a:fillRect/>
          </a:stretch>
        </p:blipFill>
        <p:spPr>
          <a:xfrm rot="9900000">
            <a:off x="5128900" y="2442475"/>
            <a:ext cx="4289526" cy="2716700"/>
          </a:xfrm>
          <a:prstGeom prst="rect">
            <a:avLst/>
          </a:prstGeom>
          <a:noFill/>
          <a:ln>
            <a:noFill/>
          </a:ln>
        </p:spPr>
      </p:pic>
      <p:sp>
        <p:nvSpPr>
          <p:cNvPr id="541" name="Google Shape;541;p41"/>
          <p:cNvSpPr txBox="1"/>
          <p:nvPr/>
        </p:nvSpPr>
        <p:spPr>
          <a:xfrm>
            <a:off x="0" y="941225"/>
            <a:ext cx="4111500" cy="407100"/>
          </a:xfrm>
          <a:prstGeom prst="rect">
            <a:avLst/>
          </a:prstGeom>
          <a:solidFill>
            <a:srgbClr val="23656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700">
                <a:solidFill>
                  <a:srgbClr val="EFEFEF"/>
                </a:solidFill>
                <a:latin typeface="Open Sans ExtraBold"/>
                <a:ea typeface="Open Sans ExtraBold"/>
                <a:cs typeface="Open Sans ExtraBold"/>
                <a:sym typeface="Open Sans ExtraBold"/>
              </a:rPr>
              <a:t>MOTOR CONTROLLER DESIGN</a:t>
            </a:r>
            <a:endParaRPr sz="1700">
              <a:solidFill>
                <a:srgbClr val="EFEFEF"/>
              </a:solidFill>
              <a:latin typeface="Open Sans ExtraBold"/>
              <a:ea typeface="Open Sans ExtraBold"/>
              <a:cs typeface="Open Sans ExtraBold"/>
              <a:sym typeface="Open Sans ExtraBold"/>
            </a:endParaRPr>
          </a:p>
        </p:txBody>
      </p:sp>
      <p:sp>
        <p:nvSpPr>
          <p:cNvPr id="542" name="Google Shape;542;p41"/>
          <p:cNvSpPr/>
          <p:nvPr/>
        </p:nvSpPr>
        <p:spPr>
          <a:xfrm>
            <a:off x="3834275" y="941225"/>
            <a:ext cx="399000" cy="4071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543" name="Google Shape;543;p41"/>
          <p:cNvPicPr preferRelativeResize="0"/>
          <p:nvPr/>
        </p:nvPicPr>
        <p:blipFill rotWithShape="1">
          <a:blip r:embed="rId5">
            <a:alphaModFix/>
          </a:blip>
          <a:srcRect b="11281" l="20956" r="20375" t="10435"/>
          <a:stretch/>
        </p:blipFill>
        <p:spPr>
          <a:xfrm>
            <a:off x="3815225" y="985441"/>
            <a:ext cx="360900" cy="318660"/>
          </a:xfrm>
          <a:prstGeom prst="rect">
            <a:avLst/>
          </a:prstGeom>
          <a:noFill/>
          <a:ln>
            <a:noFill/>
          </a:ln>
        </p:spPr>
      </p:pic>
      <p:sp>
        <p:nvSpPr>
          <p:cNvPr id="544" name="Google Shape;544;p41"/>
          <p:cNvSpPr txBox="1"/>
          <p:nvPr/>
        </p:nvSpPr>
        <p:spPr>
          <a:xfrm>
            <a:off x="743150" y="1751875"/>
            <a:ext cx="8450700" cy="250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500">
                <a:latin typeface="Open Sans"/>
                <a:ea typeface="Open Sans"/>
                <a:cs typeface="Open Sans"/>
                <a:sym typeface="Open Sans"/>
              </a:rPr>
              <a:t>- </a:t>
            </a:r>
            <a:r>
              <a:rPr b="1" lang="en" sz="1500">
                <a:latin typeface="Open Sans"/>
                <a:ea typeface="Open Sans"/>
                <a:cs typeface="Open Sans"/>
                <a:sym typeface="Open Sans"/>
              </a:rPr>
              <a:t>FoC of Motor</a:t>
            </a:r>
            <a:r>
              <a:rPr b="1" lang="en" sz="1500">
                <a:solidFill>
                  <a:srgbClr val="23656F"/>
                </a:solidFill>
                <a:latin typeface="Open Sans"/>
                <a:ea typeface="Open Sans"/>
                <a:cs typeface="Open Sans"/>
                <a:sym typeface="Open Sans"/>
              </a:rPr>
              <a:t> </a:t>
            </a:r>
            <a:endParaRPr b="1" sz="1500">
              <a:solidFill>
                <a:srgbClr val="23656F"/>
              </a:solidFill>
              <a:latin typeface="Open Sans"/>
              <a:ea typeface="Open Sans"/>
              <a:cs typeface="Open Sans"/>
              <a:sym typeface="Open Sans"/>
            </a:endParaRPr>
          </a:p>
          <a:p>
            <a:pPr indent="-311150" lvl="0" marL="457200" rtl="0" algn="l">
              <a:lnSpc>
                <a:spcPct val="115000"/>
              </a:lnSpc>
              <a:spcBef>
                <a:spcPts val="0"/>
              </a:spcBef>
              <a:spcAft>
                <a:spcPts val="0"/>
              </a:spcAft>
              <a:buClr>
                <a:srgbClr val="434343"/>
              </a:buClr>
              <a:buSzPts val="1300"/>
              <a:buFont typeface="Lato"/>
              <a:buChar char="●"/>
            </a:pPr>
            <a:r>
              <a:rPr lang="en" sz="1300">
                <a:latin typeface="Lato"/>
                <a:ea typeface="Lato"/>
                <a:cs typeface="Lato"/>
                <a:sym typeface="Lato"/>
              </a:rPr>
              <a:t>Less </a:t>
            </a:r>
            <a:r>
              <a:rPr lang="en">
                <a:solidFill>
                  <a:srgbClr val="23656F"/>
                </a:solidFill>
                <a:latin typeface="Lato Black"/>
                <a:ea typeface="Lato Black"/>
                <a:cs typeface="Lato Black"/>
                <a:sym typeface="Lato Black"/>
              </a:rPr>
              <a:t>Noise</a:t>
            </a:r>
            <a:endParaRPr>
              <a:solidFill>
                <a:srgbClr val="23656F"/>
              </a:solidFill>
              <a:latin typeface="Lato Black"/>
              <a:ea typeface="Lato Black"/>
              <a:cs typeface="Lato Black"/>
              <a:sym typeface="Lato Black"/>
            </a:endParaRPr>
          </a:p>
          <a:p>
            <a:pPr indent="-311150" lvl="0" marL="457200" rtl="0" algn="l">
              <a:lnSpc>
                <a:spcPct val="115000"/>
              </a:lnSpc>
              <a:spcBef>
                <a:spcPts val="0"/>
              </a:spcBef>
              <a:spcAft>
                <a:spcPts val="0"/>
              </a:spcAft>
              <a:buClr>
                <a:srgbClr val="434343"/>
              </a:buClr>
              <a:buSzPts val="1300"/>
              <a:buFont typeface="Lato"/>
              <a:buChar char="●"/>
            </a:pPr>
            <a:r>
              <a:rPr lang="en" sz="1300">
                <a:solidFill>
                  <a:srgbClr val="434343"/>
                </a:solidFill>
                <a:latin typeface="Lato"/>
                <a:ea typeface="Lato"/>
                <a:cs typeface="Lato"/>
                <a:sym typeface="Lato"/>
              </a:rPr>
              <a:t>Less</a:t>
            </a:r>
            <a:r>
              <a:rPr lang="en" sz="1300">
                <a:solidFill>
                  <a:srgbClr val="23656F"/>
                </a:solidFill>
                <a:latin typeface="Lato Black"/>
                <a:ea typeface="Lato Black"/>
                <a:cs typeface="Lato Black"/>
                <a:sym typeface="Lato Black"/>
              </a:rPr>
              <a:t> Harmonics</a:t>
            </a:r>
            <a:r>
              <a:rPr lang="en" sz="1300">
                <a:latin typeface="Lato"/>
                <a:ea typeface="Lato"/>
                <a:cs typeface="Lato"/>
                <a:sym typeface="Lato"/>
              </a:rPr>
              <a:t> in current</a:t>
            </a:r>
            <a:r>
              <a:rPr lang="en" sz="1300">
                <a:solidFill>
                  <a:srgbClr val="434343"/>
                </a:solidFill>
                <a:latin typeface="Lato"/>
                <a:ea typeface="Lato"/>
                <a:cs typeface="Lato"/>
                <a:sym typeface="Lato"/>
              </a:rPr>
              <a:t> </a:t>
            </a:r>
            <a:endParaRPr sz="1300">
              <a:solidFill>
                <a:srgbClr val="434343"/>
              </a:solidFill>
              <a:latin typeface="Lato"/>
              <a:ea typeface="Lato"/>
              <a:cs typeface="Lato"/>
              <a:sym typeface="Lato"/>
            </a:endParaRPr>
          </a:p>
          <a:p>
            <a:pPr indent="-311150" lvl="0" marL="457200" rtl="0" algn="l">
              <a:lnSpc>
                <a:spcPct val="115000"/>
              </a:lnSpc>
              <a:spcBef>
                <a:spcPts val="0"/>
              </a:spcBef>
              <a:spcAft>
                <a:spcPts val="0"/>
              </a:spcAft>
              <a:buClr>
                <a:srgbClr val="434343"/>
              </a:buClr>
              <a:buSzPts val="1300"/>
              <a:buFont typeface="Lato"/>
              <a:buChar char="●"/>
            </a:pPr>
            <a:r>
              <a:rPr lang="en" sz="1300">
                <a:solidFill>
                  <a:srgbClr val="434343"/>
                </a:solidFill>
                <a:latin typeface="Lato"/>
                <a:ea typeface="Lato"/>
                <a:cs typeface="Lato"/>
                <a:sym typeface="Lato"/>
              </a:rPr>
              <a:t>Better </a:t>
            </a:r>
            <a:r>
              <a:rPr lang="en" sz="1300">
                <a:solidFill>
                  <a:srgbClr val="23656F"/>
                </a:solidFill>
                <a:latin typeface="Lato Black"/>
                <a:ea typeface="Lato Black"/>
                <a:cs typeface="Lato Black"/>
                <a:sym typeface="Lato Black"/>
              </a:rPr>
              <a:t>Efficiency</a:t>
            </a:r>
            <a:endParaRPr sz="1300">
              <a:solidFill>
                <a:srgbClr val="23656F"/>
              </a:solidFill>
              <a:latin typeface="Lato Black"/>
              <a:ea typeface="Lato Black"/>
              <a:cs typeface="Lato Black"/>
              <a:sym typeface="Lato Black"/>
            </a:endParaRPr>
          </a:p>
          <a:p>
            <a:pPr indent="0" lvl="0" marL="0" rtl="0" algn="l">
              <a:lnSpc>
                <a:spcPct val="115000"/>
              </a:lnSpc>
              <a:spcBef>
                <a:spcPts val="0"/>
              </a:spcBef>
              <a:spcAft>
                <a:spcPts val="0"/>
              </a:spcAft>
              <a:buNone/>
            </a:pPr>
            <a:r>
              <a:t/>
            </a:r>
            <a:endParaRPr sz="1300">
              <a:solidFill>
                <a:srgbClr val="434343"/>
              </a:solidFill>
              <a:latin typeface="Lato"/>
              <a:ea typeface="Lato"/>
              <a:cs typeface="Lato"/>
              <a:sym typeface="Lato"/>
            </a:endParaRPr>
          </a:p>
          <a:p>
            <a:pPr indent="0" lvl="0" marL="0" rtl="0" algn="l">
              <a:lnSpc>
                <a:spcPct val="115000"/>
              </a:lnSpc>
              <a:spcBef>
                <a:spcPts val="0"/>
              </a:spcBef>
              <a:spcAft>
                <a:spcPts val="0"/>
              </a:spcAft>
              <a:buNone/>
            </a:pPr>
            <a:r>
              <a:rPr b="1" lang="en" sz="1500">
                <a:solidFill>
                  <a:schemeClr val="dk1"/>
                </a:solidFill>
                <a:latin typeface="Open Sans"/>
                <a:ea typeface="Open Sans"/>
                <a:cs typeface="Open Sans"/>
                <a:sym typeface="Open Sans"/>
              </a:rPr>
              <a:t>- Constant switching frequency</a:t>
            </a:r>
            <a:endParaRPr b="1" sz="15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b="1" sz="9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rPr b="1" lang="en" sz="1500">
                <a:solidFill>
                  <a:schemeClr val="dk1"/>
                </a:solidFill>
                <a:latin typeface="Open Sans"/>
                <a:ea typeface="Open Sans"/>
                <a:cs typeface="Open Sans"/>
                <a:sym typeface="Open Sans"/>
              </a:rPr>
              <a:t>- Sinusoidal PWM</a:t>
            </a:r>
            <a:endParaRPr b="1" sz="15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b="1" sz="11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rPr b="1" lang="en" sz="1500">
                <a:solidFill>
                  <a:schemeClr val="dk1"/>
                </a:solidFill>
                <a:latin typeface="Open Sans"/>
                <a:ea typeface="Open Sans"/>
                <a:cs typeface="Open Sans"/>
                <a:sym typeface="Open Sans"/>
              </a:rPr>
              <a:t>- Modelled switching and conduction losses</a:t>
            </a:r>
            <a:endParaRPr sz="1300">
              <a:latin typeface="Lato"/>
              <a:ea typeface="Lato"/>
              <a:cs typeface="Lato"/>
              <a:sym typeface="La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548" name="Shape 548"/>
        <p:cNvGrpSpPr/>
        <p:nvPr/>
      </p:nvGrpSpPr>
      <p:grpSpPr>
        <a:xfrm>
          <a:off x="0" y="0"/>
          <a:ext cx="0" cy="0"/>
          <a:chOff x="0" y="0"/>
          <a:chExt cx="0" cy="0"/>
        </a:xfrm>
      </p:grpSpPr>
      <p:pic>
        <p:nvPicPr>
          <p:cNvPr id="549" name="Google Shape;549;p42"/>
          <p:cNvPicPr preferRelativeResize="0"/>
          <p:nvPr/>
        </p:nvPicPr>
        <p:blipFill>
          <a:blip r:embed="rId3">
            <a:alphaModFix/>
          </a:blip>
          <a:stretch>
            <a:fillRect/>
          </a:stretch>
        </p:blipFill>
        <p:spPr>
          <a:xfrm>
            <a:off x="1374709" y="985450"/>
            <a:ext cx="7484340" cy="4158049"/>
          </a:xfrm>
          <a:prstGeom prst="rect">
            <a:avLst/>
          </a:prstGeom>
          <a:noFill/>
          <a:ln>
            <a:noFill/>
          </a:ln>
        </p:spPr>
      </p:pic>
      <p:sp>
        <p:nvSpPr>
          <p:cNvPr id="550" name="Google Shape;550;p42"/>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200"/>
              <a:buFont typeface="Arial"/>
              <a:buNone/>
            </a:pPr>
            <a:r>
              <a:rPr lang="en" sz="2400">
                <a:solidFill>
                  <a:srgbClr val="F3F3F3"/>
                </a:solidFill>
                <a:latin typeface="Lato"/>
                <a:ea typeface="Lato"/>
                <a:cs typeface="Lato"/>
                <a:sym typeface="Lato"/>
              </a:rPr>
              <a:t>Electric</a:t>
            </a:r>
            <a:r>
              <a:rPr lang="en" sz="2400">
                <a:solidFill>
                  <a:srgbClr val="48BACA"/>
                </a:solidFill>
                <a:latin typeface="Lato Black"/>
                <a:ea typeface="Lato Black"/>
                <a:cs typeface="Lato Black"/>
                <a:sym typeface="Lato Black"/>
              </a:rPr>
              <a:t> Drive Dimensioning</a:t>
            </a:r>
            <a:endParaRPr i="0" sz="2400" u="none" cap="none" strike="noStrike">
              <a:solidFill>
                <a:srgbClr val="48BACA"/>
              </a:solidFill>
              <a:latin typeface="Lato Black"/>
              <a:ea typeface="Lato Black"/>
              <a:cs typeface="Lato Black"/>
              <a:sym typeface="Lato Black"/>
            </a:endParaRPr>
          </a:p>
        </p:txBody>
      </p:sp>
      <p:pic>
        <p:nvPicPr>
          <p:cNvPr id="551" name="Google Shape;551;p42"/>
          <p:cNvPicPr preferRelativeResize="0"/>
          <p:nvPr/>
        </p:nvPicPr>
        <p:blipFill>
          <a:blip r:embed="rId4">
            <a:alphaModFix/>
          </a:blip>
          <a:stretch>
            <a:fillRect/>
          </a:stretch>
        </p:blipFill>
        <p:spPr>
          <a:xfrm>
            <a:off x="175925" y="133088"/>
            <a:ext cx="567225" cy="474824"/>
          </a:xfrm>
          <a:prstGeom prst="rect">
            <a:avLst/>
          </a:prstGeom>
          <a:noFill/>
          <a:ln>
            <a:noFill/>
          </a:ln>
        </p:spPr>
      </p:pic>
      <p:sp>
        <p:nvSpPr>
          <p:cNvPr id="552" name="Google Shape;552;p42"/>
          <p:cNvSpPr txBox="1"/>
          <p:nvPr/>
        </p:nvSpPr>
        <p:spPr>
          <a:xfrm>
            <a:off x="942400" y="1828050"/>
            <a:ext cx="7141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553" name="Google Shape;553;p42"/>
          <p:cNvSpPr txBox="1"/>
          <p:nvPr/>
        </p:nvSpPr>
        <p:spPr>
          <a:xfrm>
            <a:off x="0" y="941225"/>
            <a:ext cx="4111500" cy="407100"/>
          </a:xfrm>
          <a:prstGeom prst="rect">
            <a:avLst/>
          </a:prstGeom>
          <a:solidFill>
            <a:srgbClr val="23656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700">
                <a:solidFill>
                  <a:srgbClr val="EFEFEF"/>
                </a:solidFill>
                <a:latin typeface="Open Sans ExtraBold"/>
                <a:ea typeface="Open Sans ExtraBold"/>
                <a:cs typeface="Open Sans ExtraBold"/>
                <a:sym typeface="Open Sans ExtraBold"/>
              </a:rPr>
              <a:t>MOTOR CONTROLLER DESIGN</a:t>
            </a:r>
            <a:endParaRPr sz="1700">
              <a:solidFill>
                <a:srgbClr val="EFEFEF"/>
              </a:solidFill>
              <a:latin typeface="Open Sans ExtraBold"/>
              <a:ea typeface="Open Sans ExtraBold"/>
              <a:cs typeface="Open Sans ExtraBold"/>
              <a:sym typeface="Open Sans ExtraBold"/>
            </a:endParaRPr>
          </a:p>
        </p:txBody>
      </p:sp>
      <p:sp>
        <p:nvSpPr>
          <p:cNvPr id="554" name="Google Shape;554;p42"/>
          <p:cNvSpPr/>
          <p:nvPr/>
        </p:nvSpPr>
        <p:spPr>
          <a:xfrm>
            <a:off x="3834275" y="941225"/>
            <a:ext cx="399000" cy="4071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555" name="Google Shape;555;p42"/>
          <p:cNvPicPr preferRelativeResize="0"/>
          <p:nvPr/>
        </p:nvPicPr>
        <p:blipFill rotWithShape="1">
          <a:blip r:embed="rId5">
            <a:alphaModFix/>
          </a:blip>
          <a:srcRect b="11281" l="20956" r="20375" t="10435"/>
          <a:stretch/>
        </p:blipFill>
        <p:spPr>
          <a:xfrm>
            <a:off x="3815225" y="985441"/>
            <a:ext cx="360900" cy="31866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559" name="Shape 559"/>
        <p:cNvGrpSpPr/>
        <p:nvPr/>
      </p:nvGrpSpPr>
      <p:grpSpPr>
        <a:xfrm>
          <a:off x="0" y="0"/>
          <a:ext cx="0" cy="0"/>
          <a:chOff x="0" y="0"/>
          <a:chExt cx="0" cy="0"/>
        </a:xfrm>
      </p:grpSpPr>
      <p:sp>
        <p:nvSpPr>
          <p:cNvPr id="560" name="Google Shape;560;p43"/>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200"/>
              <a:buFont typeface="Arial"/>
              <a:buNone/>
            </a:pPr>
            <a:r>
              <a:rPr lang="en" sz="2400">
                <a:solidFill>
                  <a:srgbClr val="F3F3F3"/>
                </a:solidFill>
                <a:latin typeface="Lato"/>
                <a:ea typeface="Lato"/>
                <a:cs typeface="Lato"/>
                <a:sym typeface="Lato"/>
              </a:rPr>
              <a:t>Electric</a:t>
            </a:r>
            <a:r>
              <a:rPr lang="en" sz="2400">
                <a:solidFill>
                  <a:srgbClr val="48BACA"/>
                </a:solidFill>
                <a:latin typeface="Lato Black"/>
                <a:ea typeface="Lato Black"/>
                <a:cs typeface="Lato Black"/>
                <a:sym typeface="Lato Black"/>
              </a:rPr>
              <a:t> Drive Dimensioning</a:t>
            </a:r>
            <a:endParaRPr i="0" sz="2400" u="none" cap="none" strike="noStrike">
              <a:solidFill>
                <a:srgbClr val="48BACA"/>
              </a:solidFill>
              <a:latin typeface="Lato Black"/>
              <a:ea typeface="Lato Black"/>
              <a:cs typeface="Lato Black"/>
              <a:sym typeface="Lato Black"/>
            </a:endParaRPr>
          </a:p>
        </p:txBody>
      </p:sp>
      <p:pic>
        <p:nvPicPr>
          <p:cNvPr id="561" name="Google Shape;561;p43"/>
          <p:cNvPicPr preferRelativeResize="0"/>
          <p:nvPr/>
        </p:nvPicPr>
        <p:blipFill>
          <a:blip r:embed="rId3">
            <a:alphaModFix/>
          </a:blip>
          <a:stretch>
            <a:fillRect/>
          </a:stretch>
        </p:blipFill>
        <p:spPr>
          <a:xfrm>
            <a:off x="175925" y="133088"/>
            <a:ext cx="567225" cy="474824"/>
          </a:xfrm>
          <a:prstGeom prst="rect">
            <a:avLst/>
          </a:prstGeom>
          <a:noFill/>
          <a:ln>
            <a:noFill/>
          </a:ln>
        </p:spPr>
      </p:pic>
      <p:sp>
        <p:nvSpPr>
          <p:cNvPr id="562" name="Google Shape;562;p43"/>
          <p:cNvSpPr txBox="1"/>
          <p:nvPr/>
        </p:nvSpPr>
        <p:spPr>
          <a:xfrm>
            <a:off x="0" y="941225"/>
            <a:ext cx="4111500" cy="407100"/>
          </a:xfrm>
          <a:prstGeom prst="rect">
            <a:avLst/>
          </a:prstGeom>
          <a:solidFill>
            <a:srgbClr val="23656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700">
                <a:solidFill>
                  <a:srgbClr val="EFEFEF"/>
                </a:solidFill>
                <a:latin typeface="Open Sans ExtraBold"/>
                <a:ea typeface="Open Sans ExtraBold"/>
                <a:cs typeface="Open Sans ExtraBold"/>
                <a:sym typeface="Open Sans ExtraBold"/>
              </a:rPr>
              <a:t>MOTOR CONTROLLER RESULTS</a:t>
            </a:r>
            <a:endParaRPr sz="1700">
              <a:solidFill>
                <a:srgbClr val="EFEFEF"/>
              </a:solidFill>
              <a:latin typeface="Open Sans ExtraBold"/>
              <a:ea typeface="Open Sans ExtraBold"/>
              <a:cs typeface="Open Sans ExtraBold"/>
              <a:sym typeface="Open Sans ExtraBold"/>
            </a:endParaRPr>
          </a:p>
        </p:txBody>
      </p:sp>
      <p:sp>
        <p:nvSpPr>
          <p:cNvPr id="563" name="Google Shape;563;p43"/>
          <p:cNvSpPr/>
          <p:nvPr/>
        </p:nvSpPr>
        <p:spPr>
          <a:xfrm>
            <a:off x="3834275" y="941225"/>
            <a:ext cx="399000" cy="4071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564" name="Google Shape;564;p43"/>
          <p:cNvPicPr preferRelativeResize="0"/>
          <p:nvPr/>
        </p:nvPicPr>
        <p:blipFill rotWithShape="1">
          <a:blip r:embed="rId4">
            <a:alphaModFix/>
          </a:blip>
          <a:srcRect b="11281" l="20956" r="20375" t="10435"/>
          <a:stretch/>
        </p:blipFill>
        <p:spPr>
          <a:xfrm>
            <a:off x="3815225" y="985441"/>
            <a:ext cx="360900" cy="318660"/>
          </a:xfrm>
          <a:prstGeom prst="rect">
            <a:avLst/>
          </a:prstGeom>
          <a:noFill/>
          <a:ln>
            <a:noFill/>
          </a:ln>
        </p:spPr>
      </p:pic>
      <p:pic>
        <p:nvPicPr>
          <p:cNvPr id="565" name="Google Shape;565;p43"/>
          <p:cNvPicPr preferRelativeResize="0"/>
          <p:nvPr/>
        </p:nvPicPr>
        <p:blipFill>
          <a:blip r:embed="rId5">
            <a:alphaModFix/>
          </a:blip>
          <a:stretch>
            <a:fillRect/>
          </a:stretch>
        </p:blipFill>
        <p:spPr>
          <a:xfrm>
            <a:off x="398225" y="1445700"/>
            <a:ext cx="8347549" cy="3591224"/>
          </a:xfrm>
          <a:prstGeom prst="rect">
            <a:avLst/>
          </a:prstGeom>
          <a:noFill/>
          <a:ln>
            <a:noFill/>
          </a:ln>
        </p:spPr>
      </p:pic>
      <p:pic>
        <p:nvPicPr>
          <p:cNvPr id="566" name="Google Shape;566;p43"/>
          <p:cNvPicPr preferRelativeResize="0"/>
          <p:nvPr/>
        </p:nvPicPr>
        <p:blipFill>
          <a:blip r:embed="rId6">
            <a:alphaModFix/>
          </a:blip>
          <a:stretch>
            <a:fillRect/>
          </a:stretch>
        </p:blipFill>
        <p:spPr>
          <a:xfrm>
            <a:off x="398225" y="1445700"/>
            <a:ext cx="8347550" cy="174677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570" name="Shape 570"/>
        <p:cNvGrpSpPr/>
        <p:nvPr/>
      </p:nvGrpSpPr>
      <p:grpSpPr>
        <a:xfrm>
          <a:off x="0" y="0"/>
          <a:ext cx="0" cy="0"/>
          <a:chOff x="0" y="0"/>
          <a:chExt cx="0" cy="0"/>
        </a:xfrm>
      </p:grpSpPr>
      <p:sp>
        <p:nvSpPr>
          <p:cNvPr id="571" name="Google Shape;571;p44"/>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200"/>
              <a:buFont typeface="Arial"/>
              <a:buNone/>
            </a:pPr>
            <a:r>
              <a:rPr lang="en" sz="2400">
                <a:solidFill>
                  <a:srgbClr val="F3F3F3"/>
                </a:solidFill>
                <a:latin typeface="Lato"/>
                <a:ea typeface="Lato"/>
                <a:cs typeface="Lato"/>
                <a:sym typeface="Lato"/>
              </a:rPr>
              <a:t>Electric</a:t>
            </a:r>
            <a:r>
              <a:rPr lang="en" sz="2400">
                <a:solidFill>
                  <a:srgbClr val="48BACA"/>
                </a:solidFill>
                <a:latin typeface="Lato Black"/>
                <a:ea typeface="Lato Black"/>
                <a:cs typeface="Lato Black"/>
                <a:sym typeface="Lato Black"/>
              </a:rPr>
              <a:t> Drive Dimensioning</a:t>
            </a:r>
            <a:endParaRPr i="0" sz="2400" u="none" cap="none" strike="noStrike">
              <a:solidFill>
                <a:srgbClr val="48BACA"/>
              </a:solidFill>
              <a:latin typeface="Lato Black"/>
              <a:ea typeface="Lato Black"/>
              <a:cs typeface="Lato Black"/>
              <a:sym typeface="Lato Black"/>
            </a:endParaRPr>
          </a:p>
        </p:txBody>
      </p:sp>
      <p:pic>
        <p:nvPicPr>
          <p:cNvPr id="572" name="Google Shape;572;p44"/>
          <p:cNvPicPr preferRelativeResize="0"/>
          <p:nvPr/>
        </p:nvPicPr>
        <p:blipFill>
          <a:blip r:embed="rId3">
            <a:alphaModFix/>
          </a:blip>
          <a:stretch>
            <a:fillRect/>
          </a:stretch>
        </p:blipFill>
        <p:spPr>
          <a:xfrm>
            <a:off x="175925" y="133088"/>
            <a:ext cx="567225" cy="474824"/>
          </a:xfrm>
          <a:prstGeom prst="rect">
            <a:avLst/>
          </a:prstGeom>
          <a:noFill/>
          <a:ln>
            <a:noFill/>
          </a:ln>
        </p:spPr>
      </p:pic>
      <p:sp>
        <p:nvSpPr>
          <p:cNvPr id="573" name="Google Shape;573;p44"/>
          <p:cNvSpPr txBox="1"/>
          <p:nvPr/>
        </p:nvSpPr>
        <p:spPr>
          <a:xfrm>
            <a:off x="0" y="941225"/>
            <a:ext cx="4111500" cy="407100"/>
          </a:xfrm>
          <a:prstGeom prst="rect">
            <a:avLst/>
          </a:prstGeom>
          <a:solidFill>
            <a:srgbClr val="23656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700">
                <a:solidFill>
                  <a:srgbClr val="EFEFEF"/>
                </a:solidFill>
                <a:latin typeface="Open Sans ExtraBold"/>
                <a:ea typeface="Open Sans ExtraBold"/>
                <a:cs typeface="Open Sans ExtraBold"/>
                <a:sym typeface="Open Sans ExtraBold"/>
              </a:rPr>
              <a:t>MOTOR CONTROLLER RESULTS</a:t>
            </a:r>
            <a:endParaRPr sz="1700">
              <a:solidFill>
                <a:srgbClr val="EFEFEF"/>
              </a:solidFill>
              <a:latin typeface="Open Sans ExtraBold"/>
              <a:ea typeface="Open Sans ExtraBold"/>
              <a:cs typeface="Open Sans ExtraBold"/>
              <a:sym typeface="Open Sans ExtraBold"/>
            </a:endParaRPr>
          </a:p>
        </p:txBody>
      </p:sp>
      <p:sp>
        <p:nvSpPr>
          <p:cNvPr id="574" name="Google Shape;574;p44"/>
          <p:cNvSpPr/>
          <p:nvPr/>
        </p:nvSpPr>
        <p:spPr>
          <a:xfrm>
            <a:off x="3834275" y="941225"/>
            <a:ext cx="399000" cy="4071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575" name="Google Shape;575;p44"/>
          <p:cNvPicPr preferRelativeResize="0"/>
          <p:nvPr/>
        </p:nvPicPr>
        <p:blipFill rotWithShape="1">
          <a:blip r:embed="rId4">
            <a:alphaModFix/>
          </a:blip>
          <a:srcRect b="11281" l="20956" r="20375" t="10435"/>
          <a:stretch/>
        </p:blipFill>
        <p:spPr>
          <a:xfrm>
            <a:off x="3815225" y="985441"/>
            <a:ext cx="360900" cy="318660"/>
          </a:xfrm>
          <a:prstGeom prst="rect">
            <a:avLst/>
          </a:prstGeom>
          <a:noFill/>
          <a:ln>
            <a:noFill/>
          </a:ln>
        </p:spPr>
      </p:pic>
      <p:pic>
        <p:nvPicPr>
          <p:cNvPr id="576" name="Google Shape;576;p44"/>
          <p:cNvPicPr preferRelativeResize="0"/>
          <p:nvPr/>
        </p:nvPicPr>
        <p:blipFill>
          <a:blip r:embed="rId5">
            <a:alphaModFix/>
          </a:blip>
          <a:stretch>
            <a:fillRect/>
          </a:stretch>
        </p:blipFill>
        <p:spPr>
          <a:xfrm>
            <a:off x="687325" y="1397575"/>
            <a:ext cx="7574851" cy="3700100"/>
          </a:xfrm>
          <a:prstGeom prst="rect">
            <a:avLst/>
          </a:prstGeom>
          <a:noFill/>
          <a:ln cap="flat" cmpd="sng" w="9525">
            <a:solidFill>
              <a:srgbClr val="434343"/>
            </a:solidFill>
            <a:prstDash val="solid"/>
            <a:round/>
            <a:headEnd len="sm" w="sm" type="none"/>
            <a:tailEnd len="sm" w="sm" type="none"/>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580" name="Shape 580"/>
        <p:cNvGrpSpPr/>
        <p:nvPr/>
      </p:nvGrpSpPr>
      <p:grpSpPr>
        <a:xfrm>
          <a:off x="0" y="0"/>
          <a:ext cx="0" cy="0"/>
          <a:chOff x="0" y="0"/>
          <a:chExt cx="0" cy="0"/>
        </a:xfrm>
      </p:grpSpPr>
      <p:sp>
        <p:nvSpPr>
          <p:cNvPr id="581" name="Google Shape;581;p45"/>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200"/>
              <a:buFont typeface="Arial"/>
              <a:buNone/>
            </a:pPr>
            <a:r>
              <a:rPr lang="en" sz="2400">
                <a:solidFill>
                  <a:srgbClr val="F3F3F3"/>
                </a:solidFill>
                <a:latin typeface="Lato"/>
                <a:ea typeface="Lato"/>
                <a:cs typeface="Lato"/>
                <a:sym typeface="Lato"/>
              </a:rPr>
              <a:t>Battery</a:t>
            </a:r>
            <a:r>
              <a:rPr lang="en" sz="2400">
                <a:solidFill>
                  <a:srgbClr val="48BACA"/>
                </a:solidFill>
                <a:latin typeface="Lato Black"/>
                <a:ea typeface="Lato Black"/>
                <a:cs typeface="Lato Black"/>
                <a:sym typeface="Lato Black"/>
              </a:rPr>
              <a:t> Dimensioning</a:t>
            </a:r>
            <a:endParaRPr i="0" sz="2400" u="none" cap="none" strike="noStrike">
              <a:solidFill>
                <a:srgbClr val="48BACA"/>
              </a:solidFill>
              <a:latin typeface="Lato Black"/>
              <a:ea typeface="Lato Black"/>
              <a:cs typeface="Lato Black"/>
              <a:sym typeface="Lato Black"/>
            </a:endParaRPr>
          </a:p>
        </p:txBody>
      </p:sp>
      <p:pic>
        <p:nvPicPr>
          <p:cNvPr id="582" name="Google Shape;582;p45"/>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583" name="Google Shape;583;p45"/>
          <p:cNvPicPr preferRelativeResize="0"/>
          <p:nvPr/>
        </p:nvPicPr>
        <p:blipFill>
          <a:blip r:embed="rId4">
            <a:alphaModFix amt="26000"/>
          </a:blip>
          <a:stretch>
            <a:fillRect/>
          </a:stretch>
        </p:blipFill>
        <p:spPr>
          <a:xfrm rot="9900000">
            <a:off x="5128900" y="2442475"/>
            <a:ext cx="4289526" cy="2716700"/>
          </a:xfrm>
          <a:prstGeom prst="rect">
            <a:avLst/>
          </a:prstGeom>
          <a:noFill/>
          <a:ln>
            <a:noFill/>
          </a:ln>
        </p:spPr>
      </p:pic>
      <p:sp>
        <p:nvSpPr>
          <p:cNvPr id="584" name="Google Shape;584;p45"/>
          <p:cNvSpPr txBox="1"/>
          <p:nvPr/>
        </p:nvSpPr>
        <p:spPr>
          <a:xfrm>
            <a:off x="0" y="941225"/>
            <a:ext cx="4111500" cy="407100"/>
          </a:xfrm>
          <a:prstGeom prst="rect">
            <a:avLst/>
          </a:prstGeom>
          <a:solidFill>
            <a:srgbClr val="23656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700">
                <a:solidFill>
                  <a:srgbClr val="EFEFEF"/>
                </a:solidFill>
                <a:latin typeface="Open Sans ExtraBold"/>
                <a:ea typeface="Open Sans ExtraBold"/>
                <a:cs typeface="Open Sans ExtraBold"/>
                <a:sym typeface="Open Sans ExtraBold"/>
              </a:rPr>
              <a:t>POWERTRAIN SIZING MODEL</a:t>
            </a:r>
            <a:endParaRPr sz="1700">
              <a:solidFill>
                <a:srgbClr val="EFEFEF"/>
              </a:solidFill>
              <a:latin typeface="Open Sans ExtraBold"/>
              <a:ea typeface="Open Sans ExtraBold"/>
              <a:cs typeface="Open Sans ExtraBold"/>
              <a:sym typeface="Open Sans ExtraBold"/>
            </a:endParaRPr>
          </a:p>
        </p:txBody>
      </p:sp>
      <p:sp>
        <p:nvSpPr>
          <p:cNvPr id="585" name="Google Shape;585;p45"/>
          <p:cNvSpPr/>
          <p:nvPr/>
        </p:nvSpPr>
        <p:spPr>
          <a:xfrm>
            <a:off x="3834275" y="941225"/>
            <a:ext cx="399000" cy="4071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586" name="Google Shape;586;p45"/>
          <p:cNvPicPr preferRelativeResize="0"/>
          <p:nvPr/>
        </p:nvPicPr>
        <p:blipFill rotWithShape="1">
          <a:blip r:embed="rId5">
            <a:alphaModFix/>
          </a:blip>
          <a:srcRect b="11281" l="20956" r="20375" t="10435"/>
          <a:stretch/>
        </p:blipFill>
        <p:spPr>
          <a:xfrm>
            <a:off x="3815225" y="985441"/>
            <a:ext cx="360900" cy="318660"/>
          </a:xfrm>
          <a:prstGeom prst="rect">
            <a:avLst/>
          </a:prstGeom>
          <a:noFill/>
          <a:ln>
            <a:noFill/>
          </a:ln>
        </p:spPr>
      </p:pic>
      <p:pic>
        <p:nvPicPr>
          <p:cNvPr id="587" name="Google Shape;587;p45"/>
          <p:cNvPicPr preferRelativeResize="0"/>
          <p:nvPr/>
        </p:nvPicPr>
        <p:blipFill rotWithShape="1">
          <a:blip r:embed="rId6">
            <a:alphaModFix/>
          </a:blip>
          <a:srcRect b="9404" l="2263" r="1435" t="0"/>
          <a:stretch/>
        </p:blipFill>
        <p:spPr>
          <a:xfrm>
            <a:off x="369275" y="1872025"/>
            <a:ext cx="8405449" cy="3137075"/>
          </a:xfrm>
          <a:prstGeom prst="rect">
            <a:avLst/>
          </a:prstGeom>
          <a:noFill/>
          <a:ln cap="flat" cmpd="sng" w="9525">
            <a:solidFill>
              <a:srgbClr val="434343"/>
            </a:solidFill>
            <a:prstDash val="solid"/>
            <a:round/>
            <a:headEnd len="sm" w="sm" type="none"/>
            <a:tailEnd len="sm" w="sm" type="none"/>
          </a:ln>
        </p:spPr>
      </p:pic>
      <p:sp>
        <p:nvSpPr>
          <p:cNvPr id="588" name="Google Shape;588;p45"/>
          <p:cNvSpPr txBox="1"/>
          <p:nvPr/>
        </p:nvSpPr>
        <p:spPr>
          <a:xfrm>
            <a:off x="114725" y="1487125"/>
            <a:ext cx="41115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23656F"/>
                </a:solidFill>
                <a:latin typeface="Open Sans"/>
                <a:ea typeface="Open Sans"/>
                <a:cs typeface="Open Sans"/>
                <a:sym typeface="Open Sans"/>
              </a:rPr>
              <a:t>Subsystem Level Models:</a:t>
            </a:r>
            <a:endParaRPr sz="1000">
              <a:solidFill>
                <a:schemeClr val="dk1"/>
              </a:solidFill>
              <a:latin typeface="Lato"/>
              <a:ea typeface="Lato"/>
              <a:cs typeface="Lato"/>
              <a:sym typeface="Lato"/>
            </a:endParaRPr>
          </a:p>
        </p:txBody>
      </p:sp>
      <p:sp>
        <p:nvSpPr>
          <p:cNvPr id="589" name="Google Shape;589;p45"/>
          <p:cNvSpPr txBox="1"/>
          <p:nvPr/>
        </p:nvSpPr>
        <p:spPr>
          <a:xfrm>
            <a:off x="2764650" y="4809125"/>
            <a:ext cx="3614700" cy="2616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None/>
            </a:pPr>
            <a:r>
              <a:rPr lang="en" sz="1100">
                <a:solidFill>
                  <a:srgbClr val="23656F"/>
                </a:solidFill>
                <a:latin typeface="Lato Black"/>
                <a:ea typeface="Lato Black"/>
                <a:cs typeface="Lato Black"/>
                <a:sym typeface="Lato Black"/>
              </a:rPr>
              <a:t>Motor &amp; Motor Controller Subsystem</a:t>
            </a:r>
            <a:endParaRPr b="1" sz="1100">
              <a:solidFill>
                <a:srgbClr val="23656F"/>
              </a:solidFill>
              <a:latin typeface="Lato"/>
              <a:ea typeface="Lato"/>
              <a:cs typeface="Lato"/>
              <a:sym typeface="La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593" name="Shape 593"/>
        <p:cNvGrpSpPr/>
        <p:nvPr/>
      </p:nvGrpSpPr>
      <p:grpSpPr>
        <a:xfrm>
          <a:off x="0" y="0"/>
          <a:ext cx="0" cy="0"/>
          <a:chOff x="0" y="0"/>
          <a:chExt cx="0" cy="0"/>
        </a:xfrm>
      </p:grpSpPr>
      <p:sp>
        <p:nvSpPr>
          <p:cNvPr id="594" name="Google Shape;594;p46"/>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200"/>
              <a:buFont typeface="Arial"/>
              <a:buNone/>
            </a:pPr>
            <a:r>
              <a:rPr lang="en" sz="2400">
                <a:solidFill>
                  <a:srgbClr val="F3F3F3"/>
                </a:solidFill>
                <a:latin typeface="Lato"/>
                <a:ea typeface="Lato"/>
                <a:cs typeface="Lato"/>
                <a:sym typeface="Lato"/>
              </a:rPr>
              <a:t>Battery</a:t>
            </a:r>
            <a:r>
              <a:rPr lang="en" sz="2400">
                <a:solidFill>
                  <a:srgbClr val="48BACA"/>
                </a:solidFill>
                <a:latin typeface="Lato Black"/>
                <a:ea typeface="Lato Black"/>
                <a:cs typeface="Lato Black"/>
                <a:sym typeface="Lato Black"/>
              </a:rPr>
              <a:t> Dimensioning</a:t>
            </a:r>
            <a:endParaRPr i="0" sz="2400" u="none" cap="none" strike="noStrike">
              <a:solidFill>
                <a:srgbClr val="48BACA"/>
              </a:solidFill>
              <a:latin typeface="Lato Black"/>
              <a:ea typeface="Lato Black"/>
              <a:cs typeface="Lato Black"/>
              <a:sym typeface="Lato Black"/>
            </a:endParaRPr>
          </a:p>
        </p:txBody>
      </p:sp>
      <p:pic>
        <p:nvPicPr>
          <p:cNvPr id="595" name="Google Shape;595;p46"/>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596" name="Google Shape;596;p46"/>
          <p:cNvPicPr preferRelativeResize="0"/>
          <p:nvPr/>
        </p:nvPicPr>
        <p:blipFill>
          <a:blip r:embed="rId4">
            <a:alphaModFix amt="26000"/>
          </a:blip>
          <a:stretch>
            <a:fillRect/>
          </a:stretch>
        </p:blipFill>
        <p:spPr>
          <a:xfrm rot="9900000">
            <a:off x="5128900" y="2442475"/>
            <a:ext cx="4289526" cy="2716700"/>
          </a:xfrm>
          <a:prstGeom prst="rect">
            <a:avLst/>
          </a:prstGeom>
          <a:noFill/>
          <a:ln>
            <a:noFill/>
          </a:ln>
        </p:spPr>
      </p:pic>
      <p:sp>
        <p:nvSpPr>
          <p:cNvPr id="597" name="Google Shape;597;p46"/>
          <p:cNvSpPr txBox="1"/>
          <p:nvPr/>
        </p:nvSpPr>
        <p:spPr>
          <a:xfrm>
            <a:off x="0" y="941225"/>
            <a:ext cx="4111500" cy="407100"/>
          </a:xfrm>
          <a:prstGeom prst="rect">
            <a:avLst/>
          </a:prstGeom>
          <a:solidFill>
            <a:srgbClr val="23656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700">
                <a:solidFill>
                  <a:srgbClr val="EFEFEF"/>
                </a:solidFill>
                <a:latin typeface="Open Sans ExtraBold"/>
                <a:ea typeface="Open Sans ExtraBold"/>
                <a:cs typeface="Open Sans ExtraBold"/>
                <a:sym typeface="Open Sans ExtraBold"/>
              </a:rPr>
              <a:t>POWERTRAIN SIZING MODEL</a:t>
            </a:r>
            <a:endParaRPr sz="1700">
              <a:solidFill>
                <a:srgbClr val="EFEFEF"/>
              </a:solidFill>
              <a:latin typeface="Open Sans ExtraBold"/>
              <a:ea typeface="Open Sans ExtraBold"/>
              <a:cs typeface="Open Sans ExtraBold"/>
              <a:sym typeface="Open Sans ExtraBold"/>
            </a:endParaRPr>
          </a:p>
        </p:txBody>
      </p:sp>
      <p:sp>
        <p:nvSpPr>
          <p:cNvPr id="598" name="Google Shape;598;p46"/>
          <p:cNvSpPr/>
          <p:nvPr/>
        </p:nvSpPr>
        <p:spPr>
          <a:xfrm>
            <a:off x="3834275" y="941225"/>
            <a:ext cx="399000" cy="4071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599" name="Google Shape;599;p46"/>
          <p:cNvPicPr preferRelativeResize="0"/>
          <p:nvPr/>
        </p:nvPicPr>
        <p:blipFill rotWithShape="1">
          <a:blip r:embed="rId5">
            <a:alphaModFix/>
          </a:blip>
          <a:srcRect b="11281" l="20956" r="20375" t="10435"/>
          <a:stretch/>
        </p:blipFill>
        <p:spPr>
          <a:xfrm>
            <a:off x="3815225" y="985441"/>
            <a:ext cx="360900" cy="318660"/>
          </a:xfrm>
          <a:prstGeom prst="rect">
            <a:avLst/>
          </a:prstGeom>
          <a:noFill/>
          <a:ln>
            <a:noFill/>
          </a:ln>
        </p:spPr>
      </p:pic>
      <p:pic>
        <p:nvPicPr>
          <p:cNvPr id="600" name="Google Shape;600;p46"/>
          <p:cNvPicPr preferRelativeResize="0"/>
          <p:nvPr/>
        </p:nvPicPr>
        <p:blipFill rotWithShape="1">
          <a:blip r:embed="rId6">
            <a:alphaModFix/>
          </a:blip>
          <a:srcRect b="11209" l="933" r="1885" t="8727"/>
          <a:stretch/>
        </p:blipFill>
        <p:spPr>
          <a:xfrm>
            <a:off x="1148913" y="4130025"/>
            <a:ext cx="6846175" cy="981075"/>
          </a:xfrm>
          <a:prstGeom prst="rect">
            <a:avLst/>
          </a:prstGeom>
          <a:noFill/>
          <a:ln cap="flat" cmpd="sng" w="9525">
            <a:solidFill>
              <a:srgbClr val="434343"/>
            </a:solidFill>
            <a:prstDash val="solid"/>
            <a:round/>
            <a:headEnd len="sm" w="sm" type="none"/>
            <a:tailEnd len="sm" w="sm" type="none"/>
          </a:ln>
        </p:spPr>
      </p:pic>
      <p:pic>
        <p:nvPicPr>
          <p:cNvPr id="601" name="Google Shape;601;p46"/>
          <p:cNvPicPr preferRelativeResize="0"/>
          <p:nvPr/>
        </p:nvPicPr>
        <p:blipFill rotWithShape="1">
          <a:blip r:embed="rId7">
            <a:alphaModFix/>
          </a:blip>
          <a:srcRect b="4095" l="0" r="0" t="0"/>
          <a:stretch/>
        </p:blipFill>
        <p:spPr>
          <a:xfrm>
            <a:off x="1939999" y="1811824"/>
            <a:ext cx="5264001" cy="2269801"/>
          </a:xfrm>
          <a:prstGeom prst="rect">
            <a:avLst/>
          </a:prstGeom>
          <a:noFill/>
          <a:ln cap="flat" cmpd="sng" w="9525">
            <a:solidFill>
              <a:srgbClr val="434343"/>
            </a:solidFill>
            <a:prstDash val="solid"/>
            <a:round/>
            <a:headEnd len="sm" w="sm" type="none"/>
            <a:tailEnd len="sm" w="sm" type="none"/>
          </a:ln>
        </p:spPr>
      </p:pic>
      <p:sp>
        <p:nvSpPr>
          <p:cNvPr id="602" name="Google Shape;602;p46"/>
          <p:cNvSpPr txBox="1"/>
          <p:nvPr/>
        </p:nvSpPr>
        <p:spPr>
          <a:xfrm>
            <a:off x="114725" y="1487125"/>
            <a:ext cx="41115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23656F"/>
                </a:solidFill>
                <a:latin typeface="Open Sans"/>
                <a:ea typeface="Open Sans"/>
                <a:cs typeface="Open Sans"/>
                <a:sym typeface="Open Sans"/>
              </a:rPr>
              <a:t>Subsystem Level Models:</a:t>
            </a:r>
            <a:endParaRPr sz="1000">
              <a:solidFill>
                <a:schemeClr val="dk1"/>
              </a:solidFill>
              <a:latin typeface="Lato"/>
              <a:ea typeface="Lato"/>
              <a:cs typeface="Lato"/>
              <a:sym typeface="Lato"/>
            </a:endParaRPr>
          </a:p>
        </p:txBody>
      </p:sp>
      <p:sp>
        <p:nvSpPr>
          <p:cNvPr id="603" name="Google Shape;603;p46"/>
          <p:cNvSpPr txBox="1"/>
          <p:nvPr/>
        </p:nvSpPr>
        <p:spPr>
          <a:xfrm>
            <a:off x="4226225" y="3835325"/>
            <a:ext cx="2145600" cy="2463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None/>
            </a:pPr>
            <a:r>
              <a:rPr lang="en" sz="1000">
                <a:solidFill>
                  <a:srgbClr val="23656F"/>
                </a:solidFill>
                <a:latin typeface="Lato Black"/>
                <a:ea typeface="Lato Black"/>
                <a:cs typeface="Lato Black"/>
                <a:sym typeface="Lato Black"/>
              </a:rPr>
              <a:t>Transmission &amp; Drivetrain Losses</a:t>
            </a:r>
            <a:endParaRPr sz="1000">
              <a:solidFill>
                <a:srgbClr val="23656F"/>
              </a:solidFill>
              <a:latin typeface="Lato Black"/>
              <a:ea typeface="Lato Black"/>
              <a:cs typeface="Lato Black"/>
              <a:sym typeface="Lato Black"/>
            </a:endParaRPr>
          </a:p>
        </p:txBody>
      </p:sp>
      <p:sp>
        <p:nvSpPr>
          <p:cNvPr id="604" name="Google Shape;604;p46"/>
          <p:cNvSpPr txBox="1"/>
          <p:nvPr/>
        </p:nvSpPr>
        <p:spPr>
          <a:xfrm>
            <a:off x="4226225" y="4902125"/>
            <a:ext cx="2145600" cy="2463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None/>
            </a:pPr>
            <a:r>
              <a:rPr lang="en" sz="1000">
                <a:solidFill>
                  <a:srgbClr val="7F6000"/>
                </a:solidFill>
                <a:latin typeface="Lato Black"/>
                <a:ea typeface="Lato Black"/>
                <a:cs typeface="Lato Black"/>
                <a:sym typeface="Lato Black"/>
              </a:rPr>
              <a:t>Regenerative Power Calculations</a:t>
            </a:r>
            <a:endParaRPr b="1" sz="1000">
              <a:solidFill>
                <a:srgbClr val="7F6000"/>
              </a:solidFill>
              <a:latin typeface="Lato"/>
              <a:ea typeface="Lato"/>
              <a:cs typeface="Lato"/>
              <a:sym typeface="La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608" name="Shape 608"/>
        <p:cNvGrpSpPr/>
        <p:nvPr/>
      </p:nvGrpSpPr>
      <p:grpSpPr>
        <a:xfrm>
          <a:off x="0" y="0"/>
          <a:ext cx="0" cy="0"/>
          <a:chOff x="0" y="0"/>
          <a:chExt cx="0" cy="0"/>
        </a:xfrm>
      </p:grpSpPr>
      <p:sp>
        <p:nvSpPr>
          <p:cNvPr id="609" name="Google Shape;609;p47"/>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200"/>
              <a:buFont typeface="Arial"/>
              <a:buNone/>
            </a:pPr>
            <a:r>
              <a:rPr lang="en" sz="2400">
                <a:solidFill>
                  <a:srgbClr val="F3F3F3"/>
                </a:solidFill>
                <a:latin typeface="Lato"/>
                <a:ea typeface="Lato"/>
                <a:cs typeface="Lato"/>
                <a:sym typeface="Lato"/>
              </a:rPr>
              <a:t>Battery</a:t>
            </a:r>
            <a:r>
              <a:rPr lang="en" sz="2400">
                <a:solidFill>
                  <a:srgbClr val="48BACA"/>
                </a:solidFill>
                <a:latin typeface="Lato Black"/>
                <a:ea typeface="Lato Black"/>
                <a:cs typeface="Lato Black"/>
                <a:sym typeface="Lato Black"/>
              </a:rPr>
              <a:t> Dimensioning</a:t>
            </a:r>
            <a:endParaRPr i="0" sz="2400" u="none" cap="none" strike="noStrike">
              <a:solidFill>
                <a:srgbClr val="48BACA"/>
              </a:solidFill>
              <a:latin typeface="Lato Black"/>
              <a:ea typeface="Lato Black"/>
              <a:cs typeface="Lato Black"/>
              <a:sym typeface="Lato Black"/>
            </a:endParaRPr>
          </a:p>
        </p:txBody>
      </p:sp>
      <p:pic>
        <p:nvPicPr>
          <p:cNvPr id="610" name="Google Shape;610;p47"/>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611" name="Google Shape;611;p47"/>
          <p:cNvPicPr preferRelativeResize="0"/>
          <p:nvPr/>
        </p:nvPicPr>
        <p:blipFill>
          <a:blip r:embed="rId4">
            <a:alphaModFix amt="21000"/>
          </a:blip>
          <a:stretch>
            <a:fillRect/>
          </a:stretch>
        </p:blipFill>
        <p:spPr>
          <a:xfrm rot="9900000">
            <a:off x="5128900" y="2442475"/>
            <a:ext cx="4289526" cy="2716700"/>
          </a:xfrm>
          <a:prstGeom prst="rect">
            <a:avLst/>
          </a:prstGeom>
          <a:noFill/>
          <a:ln>
            <a:noFill/>
          </a:ln>
        </p:spPr>
      </p:pic>
      <p:sp>
        <p:nvSpPr>
          <p:cNvPr id="612" name="Google Shape;612;p47"/>
          <p:cNvSpPr txBox="1"/>
          <p:nvPr/>
        </p:nvSpPr>
        <p:spPr>
          <a:xfrm>
            <a:off x="0" y="941225"/>
            <a:ext cx="4111500" cy="407100"/>
          </a:xfrm>
          <a:prstGeom prst="rect">
            <a:avLst/>
          </a:prstGeom>
          <a:solidFill>
            <a:srgbClr val="23656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700">
                <a:solidFill>
                  <a:srgbClr val="EFEFEF"/>
                </a:solidFill>
                <a:latin typeface="Open Sans ExtraBold"/>
                <a:ea typeface="Open Sans ExtraBold"/>
                <a:cs typeface="Open Sans ExtraBold"/>
                <a:sym typeface="Open Sans ExtraBold"/>
              </a:rPr>
              <a:t>POWERTRAIN SIZING MODEL</a:t>
            </a:r>
            <a:endParaRPr sz="1700">
              <a:solidFill>
                <a:srgbClr val="EFEFEF"/>
              </a:solidFill>
              <a:latin typeface="Open Sans ExtraBold"/>
              <a:ea typeface="Open Sans ExtraBold"/>
              <a:cs typeface="Open Sans ExtraBold"/>
              <a:sym typeface="Open Sans ExtraBold"/>
            </a:endParaRPr>
          </a:p>
        </p:txBody>
      </p:sp>
      <p:sp>
        <p:nvSpPr>
          <p:cNvPr id="613" name="Google Shape;613;p47"/>
          <p:cNvSpPr/>
          <p:nvPr/>
        </p:nvSpPr>
        <p:spPr>
          <a:xfrm>
            <a:off x="3834275" y="941225"/>
            <a:ext cx="399000" cy="4071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614" name="Google Shape;614;p47"/>
          <p:cNvPicPr preferRelativeResize="0"/>
          <p:nvPr/>
        </p:nvPicPr>
        <p:blipFill rotWithShape="1">
          <a:blip r:embed="rId5">
            <a:alphaModFix/>
          </a:blip>
          <a:srcRect b="11281" l="20956" r="20375" t="10435"/>
          <a:stretch/>
        </p:blipFill>
        <p:spPr>
          <a:xfrm>
            <a:off x="3815225" y="985441"/>
            <a:ext cx="360900" cy="318660"/>
          </a:xfrm>
          <a:prstGeom prst="rect">
            <a:avLst/>
          </a:prstGeom>
          <a:noFill/>
          <a:ln>
            <a:noFill/>
          </a:ln>
        </p:spPr>
      </p:pic>
      <p:pic>
        <p:nvPicPr>
          <p:cNvPr id="615" name="Google Shape;615;p47"/>
          <p:cNvPicPr preferRelativeResize="0"/>
          <p:nvPr/>
        </p:nvPicPr>
        <p:blipFill rotWithShape="1">
          <a:blip r:embed="rId6">
            <a:alphaModFix/>
          </a:blip>
          <a:srcRect b="0" l="0" r="970" t="5509"/>
          <a:stretch/>
        </p:blipFill>
        <p:spPr>
          <a:xfrm>
            <a:off x="0" y="1851275"/>
            <a:ext cx="9144000" cy="2950275"/>
          </a:xfrm>
          <a:prstGeom prst="rect">
            <a:avLst/>
          </a:prstGeom>
          <a:noFill/>
          <a:ln cap="flat" cmpd="sng" w="9525">
            <a:solidFill>
              <a:srgbClr val="434343"/>
            </a:solidFill>
            <a:prstDash val="solid"/>
            <a:round/>
            <a:headEnd len="sm" w="sm" type="none"/>
            <a:tailEnd len="sm" w="sm" type="none"/>
          </a:ln>
        </p:spPr>
      </p:pic>
      <p:sp>
        <p:nvSpPr>
          <p:cNvPr id="616" name="Google Shape;616;p47"/>
          <p:cNvSpPr txBox="1"/>
          <p:nvPr/>
        </p:nvSpPr>
        <p:spPr>
          <a:xfrm>
            <a:off x="114725" y="1487125"/>
            <a:ext cx="41115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23656F"/>
                </a:solidFill>
                <a:latin typeface="Open Sans"/>
                <a:ea typeface="Open Sans"/>
                <a:cs typeface="Open Sans"/>
                <a:sym typeface="Open Sans"/>
              </a:rPr>
              <a:t>Fully-Integrated Powertrain Sizing Model:</a:t>
            </a:r>
            <a:endParaRPr sz="1000">
              <a:solidFill>
                <a:schemeClr val="dk1"/>
              </a:solidFill>
              <a:latin typeface="Lato"/>
              <a:ea typeface="Lato"/>
              <a:cs typeface="Lato"/>
              <a:sym typeface="La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620" name="Shape 620"/>
        <p:cNvGrpSpPr/>
        <p:nvPr/>
      </p:nvGrpSpPr>
      <p:grpSpPr>
        <a:xfrm>
          <a:off x="0" y="0"/>
          <a:ext cx="0" cy="0"/>
          <a:chOff x="0" y="0"/>
          <a:chExt cx="0" cy="0"/>
        </a:xfrm>
      </p:grpSpPr>
      <p:sp>
        <p:nvSpPr>
          <p:cNvPr id="621" name="Google Shape;621;p48"/>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200"/>
              <a:buFont typeface="Arial"/>
              <a:buNone/>
            </a:pPr>
            <a:r>
              <a:rPr lang="en" sz="2400">
                <a:solidFill>
                  <a:srgbClr val="F3F3F3"/>
                </a:solidFill>
                <a:latin typeface="Lato"/>
                <a:ea typeface="Lato"/>
                <a:cs typeface="Lato"/>
                <a:sym typeface="Lato"/>
              </a:rPr>
              <a:t>Battery</a:t>
            </a:r>
            <a:r>
              <a:rPr lang="en" sz="2400">
                <a:solidFill>
                  <a:srgbClr val="48BACA"/>
                </a:solidFill>
                <a:latin typeface="Lato Black"/>
                <a:ea typeface="Lato Black"/>
                <a:cs typeface="Lato Black"/>
                <a:sym typeface="Lato Black"/>
              </a:rPr>
              <a:t> Dimensioning</a:t>
            </a:r>
            <a:endParaRPr i="0" sz="2400" u="none" cap="none" strike="noStrike">
              <a:solidFill>
                <a:srgbClr val="48BACA"/>
              </a:solidFill>
              <a:latin typeface="Lato Black"/>
              <a:ea typeface="Lato Black"/>
              <a:cs typeface="Lato Black"/>
              <a:sym typeface="Lato Black"/>
            </a:endParaRPr>
          </a:p>
        </p:txBody>
      </p:sp>
      <p:pic>
        <p:nvPicPr>
          <p:cNvPr id="622" name="Google Shape;622;p48"/>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623" name="Google Shape;623;p48"/>
          <p:cNvPicPr preferRelativeResize="0"/>
          <p:nvPr/>
        </p:nvPicPr>
        <p:blipFill>
          <a:blip r:embed="rId4">
            <a:alphaModFix amt="12000"/>
          </a:blip>
          <a:stretch>
            <a:fillRect/>
          </a:stretch>
        </p:blipFill>
        <p:spPr>
          <a:xfrm rot="9900000">
            <a:off x="5128900" y="2442475"/>
            <a:ext cx="4289526" cy="2716700"/>
          </a:xfrm>
          <a:prstGeom prst="rect">
            <a:avLst/>
          </a:prstGeom>
          <a:noFill/>
          <a:ln>
            <a:noFill/>
          </a:ln>
        </p:spPr>
      </p:pic>
      <p:sp>
        <p:nvSpPr>
          <p:cNvPr id="624" name="Google Shape;624;p48"/>
          <p:cNvSpPr txBox="1"/>
          <p:nvPr/>
        </p:nvSpPr>
        <p:spPr>
          <a:xfrm>
            <a:off x="0" y="941225"/>
            <a:ext cx="4111500" cy="407100"/>
          </a:xfrm>
          <a:prstGeom prst="rect">
            <a:avLst/>
          </a:prstGeom>
          <a:solidFill>
            <a:srgbClr val="23656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700">
                <a:solidFill>
                  <a:srgbClr val="EFEFEF"/>
                </a:solidFill>
                <a:latin typeface="Open Sans ExtraBold"/>
                <a:ea typeface="Open Sans ExtraBold"/>
                <a:cs typeface="Open Sans ExtraBold"/>
                <a:sym typeface="Open Sans ExtraBold"/>
              </a:rPr>
              <a:t>POWERTRAIN SIZING MODEL</a:t>
            </a:r>
            <a:endParaRPr sz="1700">
              <a:solidFill>
                <a:srgbClr val="EFEFEF"/>
              </a:solidFill>
              <a:latin typeface="Open Sans ExtraBold"/>
              <a:ea typeface="Open Sans ExtraBold"/>
              <a:cs typeface="Open Sans ExtraBold"/>
              <a:sym typeface="Open Sans ExtraBold"/>
            </a:endParaRPr>
          </a:p>
        </p:txBody>
      </p:sp>
      <p:sp>
        <p:nvSpPr>
          <p:cNvPr id="625" name="Google Shape;625;p48"/>
          <p:cNvSpPr/>
          <p:nvPr/>
        </p:nvSpPr>
        <p:spPr>
          <a:xfrm>
            <a:off x="3834275" y="941225"/>
            <a:ext cx="399000" cy="4071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626" name="Google Shape;626;p48"/>
          <p:cNvPicPr preferRelativeResize="0"/>
          <p:nvPr/>
        </p:nvPicPr>
        <p:blipFill rotWithShape="1">
          <a:blip r:embed="rId5">
            <a:alphaModFix/>
          </a:blip>
          <a:srcRect b="11281" l="20956" r="20375" t="10435"/>
          <a:stretch/>
        </p:blipFill>
        <p:spPr>
          <a:xfrm>
            <a:off x="3815225" y="985441"/>
            <a:ext cx="360900" cy="318660"/>
          </a:xfrm>
          <a:prstGeom prst="rect">
            <a:avLst/>
          </a:prstGeom>
          <a:noFill/>
          <a:ln>
            <a:noFill/>
          </a:ln>
        </p:spPr>
      </p:pic>
      <p:sp>
        <p:nvSpPr>
          <p:cNvPr id="627" name="Google Shape;627;p48"/>
          <p:cNvSpPr txBox="1"/>
          <p:nvPr/>
        </p:nvSpPr>
        <p:spPr>
          <a:xfrm>
            <a:off x="6073600" y="2314650"/>
            <a:ext cx="2692500" cy="189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23656F"/>
                </a:solidFill>
                <a:latin typeface="Open Sans"/>
                <a:ea typeface="Open Sans"/>
                <a:cs typeface="Open Sans"/>
                <a:sym typeface="Open Sans"/>
              </a:rPr>
              <a:t>Some </a:t>
            </a:r>
            <a:r>
              <a:rPr b="1" lang="en" sz="1300">
                <a:solidFill>
                  <a:srgbClr val="23656F"/>
                </a:solidFill>
                <a:latin typeface="Open Sans"/>
                <a:ea typeface="Open Sans"/>
                <a:cs typeface="Open Sans"/>
                <a:sym typeface="Open Sans"/>
              </a:rPr>
              <a:t>Useful Results:</a:t>
            </a:r>
            <a:endParaRPr b="1" sz="1300">
              <a:solidFill>
                <a:srgbClr val="23656F"/>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b="1" sz="200">
              <a:latin typeface="Open Sans"/>
              <a:ea typeface="Open Sans"/>
              <a:cs typeface="Open Sans"/>
              <a:sym typeface="Open Sans"/>
            </a:endParaRPr>
          </a:p>
          <a:p>
            <a:pPr indent="-298450" lvl="0" marL="457200" rtl="0" algn="l">
              <a:lnSpc>
                <a:spcPct val="125000"/>
              </a:lnSpc>
              <a:spcBef>
                <a:spcPts val="0"/>
              </a:spcBef>
              <a:spcAft>
                <a:spcPts val="0"/>
              </a:spcAft>
              <a:buClr>
                <a:srgbClr val="595959"/>
              </a:buClr>
              <a:buSzPts val="1100"/>
              <a:buFont typeface="Open Sans"/>
              <a:buChar char="●"/>
            </a:pPr>
            <a:r>
              <a:rPr b="1" lang="en" sz="1100">
                <a:solidFill>
                  <a:srgbClr val="595959"/>
                </a:solidFill>
                <a:latin typeface="Lato"/>
                <a:ea typeface="Lato"/>
                <a:cs typeface="Lato"/>
                <a:sym typeface="Lato"/>
              </a:rPr>
              <a:t>Total Battery Energy (kWh)</a:t>
            </a:r>
            <a:endParaRPr b="1" sz="1100">
              <a:solidFill>
                <a:srgbClr val="595959"/>
              </a:solidFill>
              <a:latin typeface="Lato"/>
              <a:ea typeface="Lato"/>
              <a:cs typeface="Lato"/>
              <a:sym typeface="Lato"/>
            </a:endParaRPr>
          </a:p>
          <a:p>
            <a:pPr indent="-298450" lvl="0" marL="457200" rtl="0" algn="l">
              <a:lnSpc>
                <a:spcPct val="125000"/>
              </a:lnSpc>
              <a:spcBef>
                <a:spcPts val="0"/>
              </a:spcBef>
              <a:spcAft>
                <a:spcPts val="0"/>
              </a:spcAft>
              <a:buClr>
                <a:srgbClr val="595959"/>
              </a:buClr>
              <a:buSzPts val="1100"/>
              <a:buFont typeface="Lato"/>
              <a:buChar char="●"/>
            </a:pPr>
            <a:r>
              <a:rPr b="1" lang="en" sz="1100">
                <a:solidFill>
                  <a:srgbClr val="595959"/>
                </a:solidFill>
                <a:latin typeface="Lato"/>
                <a:ea typeface="Lato"/>
                <a:cs typeface="Lato"/>
                <a:sym typeface="Lato"/>
              </a:rPr>
              <a:t>Total Regen Energy (kWh)</a:t>
            </a:r>
            <a:endParaRPr b="1" sz="1100">
              <a:solidFill>
                <a:srgbClr val="595959"/>
              </a:solidFill>
              <a:latin typeface="Lato"/>
              <a:ea typeface="Lato"/>
              <a:cs typeface="Lato"/>
              <a:sym typeface="Lato"/>
            </a:endParaRPr>
          </a:p>
          <a:p>
            <a:pPr indent="-298450" lvl="0" marL="457200" rtl="0" algn="l">
              <a:lnSpc>
                <a:spcPct val="125000"/>
              </a:lnSpc>
              <a:spcBef>
                <a:spcPts val="0"/>
              </a:spcBef>
              <a:spcAft>
                <a:spcPts val="0"/>
              </a:spcAft>
              <a:buClr>
                <a:srgbClr val="595959"/>
              </a:buClr>
              <a:buSzPts val="1100"/>
              <a:buFont typeface="Lato"/>
              <a:buChar char="●"/>
            </a:pPr>
            <a:r>
              <a:rPr b="1" lang="en" sz="1100">
                <a:solidFill>
                  <a:srgbClr val="595959"/>
                </a:solidFill>
                <a:latin typeface="Lato"/>
                <a:ea typeface="Lato"/>
                <a:cs typeface="Lato"/>
                <a:sym typeface="Lato"/>
              </a:rPr>
              <a:t>Power Consumption Profile</a:t>
            </a:r>
            <a:endParaRPr b="1" sz="1100">
              <a:solidFill>
                <a:srgbClr val="595959"/>
              </a:solidFill>
              <a:latin typeface="Lato"/>
              <a:ea typeface="Lato"/>
              <a:cs typeface="Lato"/>
              <a:sym typeface="Lato"/>
            </a:endParaRPr>
          </a:p>
          <a:p>
            <a:pPr indent="-298450" lvl="0" marL="457200" rtl="0" algn="l">
              <a:lnSpc>
                <a:spcPct val="125000"/>
              </a:lnSpc>
              <a:spcBef>
                <a:spcPts val="0"/>
              </a:spcBef>
              <a:spcAft>
                <a:spcPts val="0"/>
              </a:spcAft>
              <a:buClr>
                <a:srgbClr val="595959"/>
              </a:buClr>
              <a:buSzPts val="1100"/>
              <a:buFont typeface="Open Sans"/>
              <a:buChar char="●"/>
            </a:pPr>
            <a:r>
              <a:rPr b="1" lang="en" sz="1100">
                <a:solidFill>
                  <a:srgbClr val="595959"/>
                </a:solidFill>
                <a:latin typeface="Lato"/>
                <a:ea typeface="Lato"/>
                <a:cs typeface="Lato"/>
                <a:sym typeface="Lato"/>
              </a:rPr>
              <a:t>Powertrain Heat Losses</a:t>
            </a:r>
            <a:endParaRPr b="1" sz="1100">
              <a:solidFill>
                <a:srgbClr val="595959"/>
              </a:solidFill>
              <a:latin typeface="Lato"/>
              <a:ea typeface="Lato"/>
              <a:cs typeface="Lato"/>
              <a:sym typeface="Lato"/>
            </a:endParaRPr>
          </a:p>
          <a:p>
            <a:pPr indent="-298450" lvl="0" marL="457200" rtl="0" algn="l">
              <a:lnSpc>
                <a:spcPct val="125000"/>
              </a:lnSpc>
              <a:spcBef>
                <a:spcPts val="0"/>
              </a:spcBef>
              <a:spcAft>
                <a:spcPts val="0"/>
              </a:spcAft>
              <a:buClr>
                <a:srgbClr val="595959"/>
              </a:buClr>
              <a:buSzPts val="1100"/>
              <a:buFont typeface="Open Sans"/>
              <a:buChar char="●"/>
            </a:pPr>
            <a:r>
              <a:rPr b="1" lang="en" sz="1100">
                <a:solidFill>
                  <a:srgbClr val="595959"/>
                </a:solidFill>
                <a:latin typeface="Lato"/>
                <a:ea typeface="Lato"/>
                <a:cs typeface="Lato"/>
                <a:sym typeface="Lato"/>
              </a:rPr>
              <a:t>Average Motor Torque</a:t>
            </a:r>
            <a:endParaRPr b="1" sz="1100">
              <a:solidFill>
                <a:srgbClr val="595959"/>
              </a:solidFill>
              <a:latin typeface="Lato"/>
              <a:ea typeface="Lato"/>
              <a:cs typeface="Lato"/>
              <a:sym typeface="Lato"/>
            </a:endParaRPr>
          </a:p>
          <a:p>
            <a:pPr indent="-298450" lvl="0" marL="457200" rtl="0" algn="l">
              <a:lnSpc>
                <a:spcPct val="125000"/>
              </a:lnSpc>
              <a:spcBef>
                <a:spcPts val="0"/>
              </a:spcBef>
              <a:spcAft>
                <a:spcPts val="0"/>
              </a:spcAft>
              <a:buClr>
                <a:srgbClr val="595959"/>
              </a:buClr>
              <a:buSzPts val="1100"/>
              <a:buFont typeface="Lato"/>
              <a:buChar char="●"/>
            </a:pPr>
            <a:r>
              <a:rPr b="1" lang="en" sz="1100">
                <a:solidFill>
                  <a:srgbClr val="595959"/>
                </a:solidFill>
                <a:latin typeface="Lato"/>
                <a:ea typeface="Lato"/>
                <a:cs typeface="Lato"/>
                <a:sym typeface="Lato"/>
              </a:rPr>
              <a:t>Average Discharge Current</a:t>
            </a:r>
            <a:endParaRPr b="1" sz="1100">
              <a:solidFill>
                <a:srgbClr val="595959"/>
              </a:solidFill>
              <a:latin typeface="Lato"/>
              <a:ea typeface="Lato"/>
              <a:cs typeface="Lato"/>
              <a:sym typeface="Lato"/>
            </a:endParaRPr>
          </a:p>
          <a:p>
            <a:pPr indent="-292100" lvl="0" marL="457200" rtl="0" algn="l">
              <a:lnSpc>
                <a:spcPct val="125000"/>
              </a:lnSpc>
              <a:spcBef>
                <a:spcPts val="0"/>
              </a:spcBef>
              <a:spcAft>
                <a:spcPts val="0"/>
              </a:spcAft>
              <a:buClr>
                <a:srgbClr val="595959"/>
              </a:buClr>
              <a:buSzPts val="1000"/>
              <a:buFont typeface="Lato"/>
              <a:buChar char="●"/>
            </a:pPr>
            <a:r>
              <a:rPr b="1" lang="en" sz="1100">
                <a:solidFill>
                  <a:srgbClr val="595959"/>
                </a:solidFill>
                <a:latin typeface="Lato"/>
                <a:ea typeface="Lato"/>
                <a:cs typeface="Lato"/>
                <a:sym typeface="Lato"/>
              </a:rPr>
              <a:t>Mass of the Battery</a:t>
            </a:r>
            <a:endParaRPr b="1" sz="1100">
              <a:solidFill>
                <a:srgbClr val="595959"/>
              </a:solidFill>
              <a:latin typeface="Lato"/>
              <a:ea typeface="Lato"/>
              <a:cs typeface="Lato"/>
              <a:sym typeface="Lato"/>
            </a:endParaRPr>
          </a:p>
        </p:txBody>
      </p:sp>
      <p:sp>
        <p:nvSpPr>
          <p:cNvPr id="628" name="Google Shape;628;p48"/>
          <p:cNvSpPr txBox="1"/>
          <p:nvPr/>
        </p:nvSpPr>
        <p:spPr>
          <a:xfrm>
            <a:off x="114725" y="1487125"/>
            <a:ext cx="41115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23656F"/>
                </a:solidFill>
                <a:latin typeface="Open Sans"/>
                <a:ea typeface="Open Sans"/>
                <a:cs typeface="Open Sans"/>
                <a:sym typeface="Open Sans"/>
              </a:rPr>
              <a:t>Results of</a:t>
            </a:r>
            <a:r>
              <a:rPr b="1" lang="en" sz="1300">
                <a:solidFill>
                  <a:srgbClr val="23656F"/>
                </a:solidFill>
                <a:latin typeface="Open Sans"/>
                <a:ea typeface="Open Sans"/>
                <a:cs typeface="Open Sans"/>
                <a:sym typeface="Open Sans"/>
              </a:rPr>
              <a:t> Powertrain Sizing Model:</a:t>
            </a:r>
            <a:endParaRPr sz="1000">
              <a:solidFill>
                <a:schemeClr val="dk1"/>
              </a:solidFill>
              <a:latin typeface="Lato"/>
              <a:ea typeface="Lato"/>
              <a:cs typeface="Lato"/>
              <a:sym typeface="Lato"/>
            </a:endParaRPr>
          </a:p>
        </p:txBody>
      </p:sp>
      <p:pic>
        <p:nvPicPr>
          <p:cNvPr id="629" name="Google Shape;629;p48"/>
          <p:cNvPicPr preferRelativeResize="0"/>
          <p:nvPr/>
        </p:nvPicPr>
        <p:blipFill rotWithShape="1">
          <a:blip r:embed="rId6">
            <a:alphaModFix/>
          </a:blip>
          <a:srcRect b="0" l="1372" r="2714" t="2009"/>
          <a:stretch/>
        </p:blipFill>
        <p:spPr>
          <a:xfrm>
            <a:off x="426675" y="1872025"/>
            <a:ext cx="5439600" cy="3115000"/>
          </a:xfrm>
          <a:prstGeom prst="rect">
            <a:avLst/>
          </a:prstGeom>
          <a:noFill/>
          <a:ln cap="flat" cmpd="sng" w="9525">
            <a:solidFill>
              <a:srgbClr val="434343"/>
            </a:solidFill>
            <a:prstDash val="solid"/>
            <a:round/>
            <a:headEnd len="sm" w="sm" type="none"/>
            <a:tailEnd len="sm" w="sm" type="none"/>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633" name="Shape 633"/>
        <p:cNvGrpSpPr/>
        <p:nvPr/>
      </p:nvGrpSpPr>
      <p:grpSpPr>
        <a:xfrm>
          <a:off x="0" y="0"/>
          <a:ext cx="0" cy="0"/>
          <a:chOff x="0" y="0"/>
          <a:chExt cx="0" cy="0"/>
        </a:xfrm>
      </p:grpSpPr>
      <p:sp>
        <p:nvSpPr>
          <p:cNvPr id="634" name="Google Shape;634;p49"/>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200"/>
              <a:buFont typeface="Arial"/>
              <a:buNone/>
            </a:pPr>
            <a:r>
              <a:rPr lang="en" sz="2400">
                <a:solidFill>
                  <a:srgbClr val="F3F3F3"/>
                </a:solidFill>
                <a:latin typeface="Lato"/>
                <a:ea typeface="Lato"/>
                <a:cs typeface="Lato"/>
                <a:sym typeface="Lato"/>
              </a:rPr>
              <a:t>Battery</a:t>
            </a:r>
            <a:r>
              <a:rPr lang="en" sz="2400">
                <a:solidFill>
                  <a:srgbClr val="48BACA"/>
                </a:solidFill>
                <a:latin typeface="Lato Black"/>
                <a:ea typeface="Lato Black"/>
                <a:cs typeface="Lato Black"/>
                <a:sym typeface="Lato Black"/>
              </a:rPr>
              <a:t> Optimisation</a:t>
            </a:r>
            <a:endParaRPr i="0" sz="2400" u="none" cap="none" strike="noStrike">
              <a:solidFill>
                <a:srgbClr val="48BACA"/>
              </a:solidFill>
              <a:latin typeface="Lato Black"/>
              <a:ea typeface="Lato Black"/>
              <a:cs typeface="Lato Black"/>
              <a:sym typeface="Lato Black"/>
            </a:endParaRPr>
          </a:p>
        </p:txBody>
      </p:sp>
      <p:pic>
        <p:nvPicPr>
          <p:cNvPr id="635" name="Google Shape;635;p49"/>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636" name="Google Shape;636;p49"/>
          <p:cNvPicPr preferRelativeResize="0"/>
          <p:nvPr/>
        </p:nvPicPr>
        <p:blipFill>
          <a:blip r:embed="rId4">
            <a:alphaModFix amt="11000"/>
          </a:blip>
          <a:stretch>
            <a:fillRect/>
          </a:stretch>
        </p:blipFill>
        <p:spPr>
          <a:xfrm rot="9900000">
            <a:off x="5128900" y="2442475"/>
            <a:ext cx="4289526" cy="2716700"/>
          </a:xfrm>
          <a:prstGeom prst="rect">
            <a:avLst/>
          </a:prstGeom>
          <a:noFill/>
          <a:ln>
            <a:noFill/>
          </a:ln>
        </p:spPr>
      </p:pic>
      <p:sp>
        <p:nvSpPr>
          <p:cNvPr id="637" name="Google Shape;637;p49"/>
          <p:cNvSpPr txBox="1"/>
          <p:nvPr/>
        </p:nvSpPr>
        <p:spPr>
          <a:xfrm>
            <a:off x="0" y="941225"/>
            <a:ext cx="4111500" cy="407100"/>
          </a:xfrm>
          <a:prstGeom prst="rect">
            <a:avLst/>
          </a:prstGeom>
          <a:solidFill>
            <a:srgbClr val="23656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700">
                <a:solidFill>
                  <a:srgbClr val="EFEFEF"/>
                </a:solidFill>
                <a:latin typeface="Open Sans ExtraBold"/>
                <a:ea typeface="Open Sans ExtraBold"/>
                <a:cs typeface="Open Sans ExtraBold"/>
                <a:sym typeface="Open Sans ExtraBold"/>
              </a:rPr>
              <a:t>OPTIMISATION METHODS</a:t>
            </a:r>
            <a:endParaRPr sz="1700">
              <a:solidFill>
                <a:srgbClr val="EFEFEF"/>
              </a:solidFill>
              <a:latin typeface="Open Sans ExtraBold"/>
              <a:ea typeface="Open Sans ExtraBold"/>
              <a:cs typeface="Open Sans ExtraBold"/>
              <a:sym typeface="Open Sans ExtraBold"/>
            </a:endParaRPr>
          </a:p>
        </p:txBody>
      </p:sp>
      <p:sp>
        <p:nvSpPr>
          <p:cNvPr id="638" name="Google Shape;638;p49"/>
          <p:cNvSpPr/>
          <p:nvPr/>
        </p:nvSpPr>
        <p:spPr>
          <a:xfrm>
            <a:off x="3834275" y="941225"/>
            <a:ext cx="399000" cy="4071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639" name="Google Shape;639;p49"/>
          <p:cNvPicPr preferRelativeResize="0"/>
          <p:nvPr/>
        </p:nvPicPr>
        <p:blipFill rotWithShape="1">
          <a:blip r:embed="rId5">
            <a:alphaModFix/>
          </a:blip>
          <a:srcRect b="11281" l="20956" r="20375" t="10435"/>
          <a:stretch/>
        </p:blipFill>
        <p:spPr>
          <a:xfrm>
            <a:off x="3815225" y="985441"/>
            <a:ext cx="360900" cy="318660"/>
          </a:xfrm>
          <a:prstGeom prst="rect">
            <a:avLst/>
          </a:prstGeom>
          <a:noFill/>
          <a:ln>
            <a:noFill/>
          </a:ln>
        </p:spPr>
      </p:pic>
      <p:sp>
        <p:nvSpPr>
          <p:cNvPr id="640" name="Google Shape;640;p49"/>
          <p:cNvSpPr txBox="1"/>
          <p:nvPr/>
        </p:nvSpPr>
        <p:spPr>
          <a:xfrm>
            <a:off x="114725" y="3739925"/>
            <a:ext cx="8876100" cy="135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23656F"/>
                </a:solidFill>
                <a:latin typeface="Open Sans"/>
                <a:ea typeface="Open Sans"/>
                <a:cs typeface="Open Sans"/>
                <a:sym typeface="Open Sans"/>
              </a:rPr>
              <a:t>Outcome</a:t>
            </a:r>
            <a:r>
              <a:rPr b="1" lang="en" sz="1300">
                <a:solidFill>
                  <a:srgbClr val="23656F"/>
                </a:solidFill>
                <a:latin typeface="Open Sans"/>
                <a:ea typeface="Open Sans"/>
                <a:cs typeface="Open Sans"/>
                <a:sym typeface="Open Sans"/>
              </a:rPr>
              <a:t>s:</a:t>
            </a:r>
            <a:endParaRPr b="1" sz="1300">
              <a:solidFill>
                <a:srgbClr val="23656F"/>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b="1" sz="200">
              <a:latin typeface="Open Sans"/>
              <a:ea typeface="Open Sans"/>
              <a:cs typeface="Open Sans"/>
              <a:sym typeface="Open Sans"/>
            </a:endParaRPr>
          </a:p>
          <a:p>
            <a:pPr indent="-298450" lvl="0" marL="457200" rtl="0" algn="l">
              <a:lnSpc>
                <a:spcPct val="125000"/>
              </a:lnSpc>
              <a:spcBef>
                <a:spcPts val="0"/>
              </a:spcBef>
              <a:spcAft>
                <a:spcPts val="0"/>
              </a:spcAft>
              <a:buClr>
                <a:srgbClr val="595959"/>
              </a:buClr>
              <a:buSzPts val="1100"/>
              <a:buFont typeface="Open Sans"/>
              <a:buChar char="●"/>
            </a:pPr>
            <a:r>
              <a:rPr b="1" lang="en" sz="1100">
                <a:solidFill>
                  <a:srgbClr val="595959"/>
                </a:solidFill>
                <a:latin typeface="Lato"/>
                <a:ea typeface="Lato"/>
                <a:cs typeface="Lato"/>
                <a:sym typeface="Lato"/>
              </a:rPr>
              <a:t>Aerodynamic Drag is the most significant Resistive Force at high speeds</a:t>
            </a:r>
            <a:endParaRPr b="1" sz="1100">
              <a:solidFill>
                <a:srgbClr val="595959"/>
              </a:solidFill>
              <a:latin typeface="Lato"/>
              <a:ea typeface="Lato"/>
              <a:cs typeface="Lato"/>
              <a:sym typeface="Lato"/>
            </a:endParaRPr>
          </a:p>
          <a:p>
            <a:pPr indent="-298450" lvl="0" marL="457200" rtl="0" algn="l">
              <a:lnSpc>
                <a:spcPct val="130000"/>
              </a:lnSpc>
              <a:spcBef>
                <a:spcPts val="0"/>
              </a:spcBef>
              <a:spcAft>
                <a:spcPts val="0"/>
              </a:spcAft>
              <a:buClr>
                <a:srgbClr val="595959"/>
              </a:buClr>
              <a:buSzPts val="1100"/>
              <a:buFont typeface="Lato"/>
              <a:buChar char="●"/>
            </a:pPr>
            <a:r>
              <a:rPr b="1" lang="en" sz="1100">
                <a:solidFill>
                  <a:srgbClr val="595959"/>
                </a:solidFill>
                <a:latin typeface="Lato"/>
                <a:ea typeface="Lato"/>
                <a:cs typeface="Lato"/>
                <a:sym typeface="Lato"/>
              </a:rPr>
              <a:t>Coefficient of Aerodynamic Drag can be reduced by changing:</a:t>
            </a:r>
            <a:endParaRPr b="1" sz="1100">
              <a:solidFill>
                <a:srgbClr val="595959"/>
              </a:solidFill>
              <a:latin typeface="Lato"/>
              <a:ea typeface="Lato"/>
              <a:cs typeface="Lato"/>
              <a:sym typeface="Lato"/>
            </a:endParaRPr>
          </a:p>
          <a:p>
            <a:pPr indent="457200" lvl="0" marL="0" rtl="0" algn="l">
              <a:lnSpc>
                <a:spcPct val="125000"/>
              </a:lnSpc>
              <a:spcBef>
                <a:spcPts val="0"/>
              </a:spcBef>
              <a:spcAft>
                <a:spcPts val="0"/>
              </a:spcAft>
              <a:buNone/>
            </a:pPr>
            <a:r>
              <a:rPr b="1" lang="en" sz="1100">
                <a:solidFill>
                  <a:srgbClr val="595959"/>
                </a:solidFill>
                <a:latin typeface="Lato"/>
                <a:ea typeface="Lato"/>
                <a:cs typeface="Lato"/>
                <a:sym typeface="Lato"/>
              </a:rPr>
              <a:t>- Front Profile of Vehicle		- Ride Height 		-Bottom Profile of the Vehicle	</a:t>
            </a:r>
            <a:endParaRPr b="1" sz="1100">
              <a:solidFill>
                <a:srgbClr val="595959"/>
              </a:solidFill>
              <a:latin typeface="Lato"/>
              <a:ea typeface="Lato"/>
              <a:cs typeface="Lato"/>
              <a:sym typeface="Lato"/>
            </a:endParaRPr>
          </a:p>
          <a:p>
            <a:pPr indent="0" lvl="0" marL="457200" rtl="0" algn="l">
              <a:lnSpc>
                <a:spcPct val="125000"/>
              </a:lnSpc>
              <a:spcBef>
                <a:spcPts val="0"/>
              </a:spcBef>
              <a:spcAft>
                <a:spcPts val="0"/>
              </a:spcAft>
              <a:buNone/>
            </a:pPr>
            <a:r>
              <a:t/>
            </a:r>
            <a:endParaRPr b="1" sz="300">
              <a:solidFill>
                <a:srgbClr val="595959"/>
              </a:solidFill>
              <a:latin typeface="Lato"/>
              <a:ea typeface="Lato"/>
              <a:cs typeface="Lato"/>
              <a:sym typeface="Lato"/>
            </a:endParaRPr>
          </a:p>
          <a:p>
            <a:pPr indent="-298450" lvl="0" marL="457200" rtl="0" algn="l">
              <a:lnSpc>
                <a:spcPct val="125000"/>
              </a:lnSpc>
              <a:spcBef>
                <a:spcPts val="0"/>
              </a:spcBef>
              <a:spcAft>
                <a:spcPts val="0"/>
              </a:spcAft>
              <a:buClr>
                <a:srgbClr val="595959"/>
              </a:buClr>
              <a:buSzPts val="1100"/>
              <a:buFont typeface="Lato"/>
              <a:buChar char="●"/>
            </a:pPr>
            <a:r>
              <a:rPr b="1" lang="en" sz="1100">
                <a:solidFill>
                  <a:srgbClr val="595959"/>
                </a:solidFill>
                <a:latin typeface="Lato"/>
                <a:ea typeface="Lato"/>
                <a:cs typeface="Lato"/>
                <a:sym typeface="Lato"/>
              </a:rPr>
              <a:t>Reducing the Coefficient from </a:t>
            </a:r>
            <a:r>
              <a:rPr lang="en" sz="1200">
                <a:solidFill>
                  <a:srgbClr val="23656F"/>
                </a:solidFill>
                <a:latin typeface="Lato Black"/>
                <a:ea typeface="Lato Black"/>
                <a:cs typeface="Lato Black"/>
                <a:sym typeface="Lato Black"/>
              </a:rPr>
              <a:t>0.86</a:t>
            </a:r>
            <a:r>
              <a:rPr lang="en" sz="1100">
                <a:solidFill>
                  <a:srgbClr val="23656F"/>
                </a:solidFill>
                <a:latin typeface="Lato Black"/>
                <a:ea typeface="Lato Black"/>
                <a:cs typeface="Lato Black"/>
                <a:sym typeface="Lato Black"/>
              </a:rPr>
              <a:t> </a:t>
            </a:r>
            <a:r>
              <a:rPr lang="en" sz="1100">
                <a:solidFill>
                  <a:srgbClr val="434343"/>
                </a:solidFill>
                <a:latin typeface="Lato"/>
                <a:ea typeface="Lato"/>
                <a:cs typeface="Lato"/>
                <a:sym typeface="Lato"/>
              </a:rPr>
              <a:t>to</a:t>
            </a:r>
            <a:r>
              <a:rPr lang="en" sz="1100">
                <a:solidFill>
                  <a:srgbClr val="23656F"/>
                </a:solidFill>
                <a:latin typeface="Lato Black"/>
                <a:ea typeface="Lato Black"/>
                <a:cs typeface="Lato Black"/>
                <a:sym typeface="Lato Black"/>
              </a:rPr>
              <a:t> </a:t>
            </a:r>
            <a:r>
              <a:rPr lang="en" sz="1200">
                <a:solidFill>
                  <a:srgbClr val="23656F"/>
                </a:solidFill>
                <a:latin typeface="Lato Black"/>
                <a:ea typeface="Lato Black"/>
                <a:cs typeface="Lato Black"/>
                <a:sym typeface="Lato Black"/>
              </a:rPr>
              <a:t>0.52</a:t>
            </a:r>
            <a:r>
              <a:rPr b="1" lang="en" sz="1100">
                <a:solidFill>
                  <a:srgbClr val="595959"/>
                </a:solidFill>
                <a:latin typeface="Lato"/>
                <a:ea typeface="Lato"/>
                <a:cs typeface="Lato"/>
                <a:sym typeface="Lato"/>
              </a:rPr>
              <a:t> can reduce the battery consumption by </a:t>
            </a:r>
            <a:r>
              <a:rPr lang="en" sz="1300">
                <a:solidFill>
                  <a:srgbClr val="23656F"/>
                </a:solidFill>
                <a:latin typeface="Lato Black"/>
                <a:ea typeface="Lato Black"/>
                <a:cs typeface="Lato Black"/>
                <a:sym typeface="Lato Black"/>
              </a:rPr>
              <a:t>3.9 kWh (6.4%)</a:t>
            </a:r>
            <a:endParaRPr sz="1300">
              <a:solidFill>
                <a:srgbClr val="23656F"/>
              </a:solidFill>
              <a:latin typeface="Lato Black"/>
              <a:ea typeface="Lato Black"/>
              <a:cs typeface="Lato Black"/>
              <a:sym typeface="Lato Black"/>
            </a:endParaRPr>
          </a:p>
        </p:txBody>
      </p:sp>
      <p:sp>
        <p:nvSpPr>
          <p:cNvPr id="641" name="Google Shape;641;p49"/>
          <p:cNvSpPr txBox="1"/>
          <p:nvPr/>
        </p:nvSpPr>
        <p:spPr>
          <a:xfrm>
            <a:off x="114725" y="1487125"/>
            <a:ext cx="58125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23656F"/>
                </a:solidFill>
                <a:latin typeface="Open Sans"/>
                <a:ea typeface="Open Sans"/>
                <a:cs typeface="Open Sans"/>
                <a:sym typeface="Open Sans"/>
              </a:rPr>
              <a:t>REDUCTION OF COEFFICIENT OF AERODYNAMIC DRAG</a:t>
            </a:r>
            <a:r>
              <a:rPr b="1" lang="en" sz="1300">
                <a:solidFill>
                  <a:srgbClr val="23656F"/>
                </a:solidFill>
                <a:latin typeface="Open Sans"/>
                <a:ea typeface="Open Sans"/>
                <a:cs typeface="Open Sans"/>
                <a:sym typeface="Open Sans"/>
              </a:rPr>
              <a:t>:</a:t>
            </a:r>
            <a:endParaRPr sz="1000">
              <a:solidFill>
                <a:schemeClr val="dk1"/>
              </a:solidFill>
              <a:latin typeface="Lato"/>
              <a:ea typeface="Lato"/>
              <a:cs typeface="Lato"/>
              <a:sym typeface="Lato"/>
            </a:endParaRPr>
          </a:p>
        </p:txBody>
      </p:sp>
      <p:pic>
        <p:nvPicPr>
          <p:cNvPr id="642" name="Google Shape;642;p49"/>
          <p:cNvPicPr preferRelativeResize="0"/>
          <p:nvPr/>
        </p:nvPicPr>
        <p:blipFill rotWithShape="1">
          <a:blip r:embed="rId6">
            <a:alphaModFix/>
          </a:blip>
          <a:srcRect b="7536" l="0" r="0" t="0"/>
          <a:stretch/>
        </p:blipFill>
        <p:spPr>
          <a:xfrm>
            <a:off x="6275850" y="900800"/>
            <a:ext cx="2626775" cy="1614913"/>
          </a:xfrm>
          <a:prstGeom prst="rect">
            <a:avLst/>
          </a:prstGeom>
          <a:noFill/>
          <a:ln cap="flat" cmpd="sng" w="9525">
            <a:solidFill>
              <a:srgbClr val="434343"/>
            </a:solidFill>
            <a:prstDash val="solid"/>
            <a:round/>
            <a:headEnd len="sm" w="sm" type="none"/>
            <a:tailEnd len="sm" w="sm" type="none"/>
          </a:ln>
        </p:spPr>
      </p:pic>
      <p:pic>
        <p:nvPicPr>
          <p:cNvPr id="643" name="Google Shape;643;p49"/>
          <p:cNvPicPr preferRelativeResize="0"/>
          <p:nvPr/>
        </p:nvPicPr>
        <p:blipFill rotWithShape="1">
          <a:blip r:embed="rId7">
            <a:alphaModFix/>
          </a:blip>
          <a:srcRect b="0" l="0" r="7132" t="0"/>
          <a:stretch/>
        </p:blipFill>
        <p:spPr>
          <a:xfrm>
            <a:off x="6275850" y="2514475"/>
            <a:ext cx="2626775" cy="1809125"/>
          </a:xfrm>
          <a:prstGeom prst="rect">
            <a:avLst/>
          </a:prstGeom>
          <a:noFill/>
          <a:ln cap="flat" cmpd="sng" w="9525">
            <a:solidFill>
              <a:srgbClr val="434343"/>
            </a:solidFill>
            <a:prstDash val="solid"/>
            <a:round/>
            <a:headEnd len="sm" w="sm" type="none"/>
            <a:tailEnd len="sm" w="sm" type="none"/>
          </a:ln>
        </p:spPr>
      </p:pic>
      <p:pic>
        <p:nvPicPr>
          <p:cNvPr id="644" name="Google Shape;644;p49"/>
          <p:cNvPicPr preferRelativeResize="0"/>
          <p:nvPr/>
        </p:nvPicPr>
        <p:blipFill rotWithShape="1">
          <a:blip r:embed="rId8">
            <a:alphaModFix/>
          </a:blip>
          <a:srcRect b="15781" l="0" r="17061" t="16020"/>
          <a:stretch/>
        </p:blipFill>
        <p:spPr>
          <a:xfrm>
            <a:off x="333818" y="1947419"/>
            <a:ext cx="5593418" cy="1717124"/>
          </a:xfrm>
          <a:prstGeom prst="rect">
            <a:avLst/>
          </a:prstGeom>
          <a:noFill/>
          <a:ln cap="flat" cmpd="sng" w="9525">
            <a:solidFill>
              <a:srgbClr val="434343"/>
            </a:solidFill>
            <a:prstDash val="solid"/>
            <a:round/>
            <a:headEnd len="sm" w="sm" type="none"/>
            <a:tailEnd len="sm" w="sm" type="none"/>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648" name="Shape 648"/>
        <p:cNvGrpSpPr/>
        <p:nvPr/>
      </p:nvGrpSpPr>
      <p:grpSpPr>
        <a:xfrm>
          <a:off x="0" y="0"/>
          <a:ext cx="0" cy="0"/>
          <a:chOff x="0" y="0"/>
          <a:chExt cx="0" cy="0"/>
        </a:xfrm>
      </p:grpSpPr>
      <p:sp>
        <p:nvSpPr>
          <p:cNvPr id="649" name="Google Shape;649;p50"/>
          <p:cNvSpPr/>
          <p:nvPr/>
        </p:nvSpPr>
        <p:spPr>
          <a:xfrm>
            <a:off x="591475" y="2806400"/>
            <a:ext cx="515801" cy="723275"/>
          </a:xfrm>
          <a:custGeom>
            <a:rect b="b" l="l" r="r" t="t"/>
            <a:pathLst>
              <a:path extrusionOk="0" h="52307" w="62389">
                <a:moveTo>
                  <a:pt x="1150" y="52307"/>
                </a:moveTo>
                <a:cubicBezTo>
                  <a:pt x="1956" y="44608"/>
                  <a:pt x="-4221" y="14794"/>
                  <a:pt x="5985" y="6110"/>
                </a:cubicBezTo>
                <a:cubicBezTo>
                  <a:pt x="16192" y="-2574"/>
                  <a:pt x="52988" y="1186"/>
                  <a:pt x="62389" y="201"/>
                </a:cubicBezTo>
              </a:path>
            </a:pathLst>
          </a:custGeom>
          <a:noFill/>
          <a:ln cap="flat" cmpd="sng" w="28575">
            <a:solidFill>
              <a:schemeClr val="dk2"/>
            </a:solidFill>
            <a:prstDash val="solid"/>
            <a:round/>
            <a:headEnd len="med" w="med" type="none"/>
            <a:tailEnd len="med" w="med" type="stealth"/>
          </a:ln>
        </p:spPr>
      </p:sp>
      <p:sp>
        <p:nvSpPr>
          <p:cNvPr id="650" name="Google Shape;650;p50"/>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200"/>
              <a:buFont typeface="Arial"/>
              <a:buNone/>
            </a:pPr>
            <a:r>
              <a:rPr lang="en" sz="2400">
                <a:solidFill>
                  <a:srgbClr val="F3F3F3"/>
                </a:solidFill>
                <a:latin typeface="Lato"/>
                <a:ea typeface="Lato"/>
                <a:cs typeface="Lato"/>
                <a:sym typeface="Lato"/>
              </a:rPr>
              <a:t>Battery</a:t>
            </a:r>
            <a:r>
              <a:rPr lang="en" sz="2400">
                <a:solidFill>
                  <a:srgbClr val="48BACA"/>
                </a:solidFill>
                <a:latin typeface="Lato Black"/>
                <a:ea typeface="Lato Black"/>
                <a:cs typeface="Lato Black"/>
                <a:sym typeface="Lato Black"/>
              </a:rPr>
              <a:t> Optimisation</a:t>
            </a:r>
            <a:endParaRPr i="0" sz="2400" u="none" cap="none" strike="noStrike">
              <a:solidFill>
                <a:srgbClr val="48BACA"/>
              </a:solidFill>
              <a:latin typeface="Lato Black"/>
              <a:ea typeface="Lato Black"/>
              <a:cs typeface="Lato Black"/>
              <a:sym typeface="Lato Black"/>
            </a:endParaRPr>
          </a:p>
        </p:txBody>
      </p:sp>
      <p:pic>
        <p:nvPicPr>
          <p:cNvPr id="651" name="Google Shape;651;p50"/>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652" name="Google Shape;652;p50"/>
          <p:cNvPicPr preferRelativeResize="0"/>
          <p:nvPr/>
        </p:nvPicPr>
        <p:blipFill>
          <a:blip r:embed="rId4">
            <a:alphaModFix amt="16000"/>
          </a:blip>
          <a:stretch>
            <a:fillRect/>
          </a:stretch>
        </p:blipFill>
        <p:spPr>
          <a:xfrm rot="9900000">
            <a:off x="5128900" y="2442475"/>
            <a:ext cx="4289526" cy="2716700"/>
          </a:xfrm>
          <a:prstGeom prst="rect">
            <a:avLst/>
          </a:prstGeom>
          <a:noFill/>
          <a:ln>
            <a:noFill/>
          </a:ln>
        </p:spPr>
      </p:pic>
      <p:sp>
        <p:nvSpPr>
          <p:cNvPr id="653" name="Google Shape;653;p50"/>
          <p:cNvSpPr txBox="1"/>
          <p:nvPr/>
        </p:nvSpPr>
        <p:spPr>
          <a:xfrm>
            <a:off x="0" y="941225"/>
            <a:ext cx="4111500" cy="407100"/>
          </a:xfrm>
          <a:prstGeom prst="rect">
            <a:avLst/>
          </a:prstGeom>
          <a:solidFill>
            <a:srgbClr val="23656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700">
                <a:solidFill>
                  <a:srgbClr val="EFEFEF"/>
                </a:solidFill>
                <a:latin typeface="Open Sans ExtraBold"/>
                <a:ea typeface="Open Sans ExtraBold"/>
                <a:cs typeface="Open Sans ExtraBold"/>
                <a:sym typeface="Open Sans ExtraBold"/>
              </a:rPr>
              <a:t>OPTIMISATION METHODS</a:t>
            </a:r>
            <a:endParaRPr sz="1700">
              <a:solidFill>
                <a:srgbClr val="EFEFEF"/>
              </a:solidFill>
              <a:latin typeface="Open Sans ExtraBold"/>
              <a:ea typeface="Open Sans ExtraBold"/>
              <a:cs typeface="Open Sans ExtraBold"/>
              <a:sym typeface="Open Sans ExtraBold"/>
            </a:endParaRPr>
          </a:p>
        </p:txBody>
      </p:sp>
      <p:sp>
        <p:nvSpPr>
          <p:cNvPr id="654" name="Google Shape;654;p50"/>
          <p:cNvSpPr/>
          <p:nvPr/>
        </p:nvSpPr>
        <p:spPr>
          <a:xfrm>
            <a:off x="3834275" y="941225"/>
            <a:ext cx="399000" cy="4071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655" name="Google Shape;655;p50"/>
          <p:cNvPicPr preferRelativeResize="0"/>
          <p:nvPr/>
        </p:nvPicPr>
        <p:blipFill rotWithShape="1">
          <a:blip r:embed="rId5">
            <a:alphaModFix/>
          </a:blip>
          <a:srcRect b="11281" l="20956" r="20375" t="10435"/>
          <a:stretch/>
        </p:blipFill>
        <p:spPr>
          <a:xfrm>
            <a:off x="3815225" y="985441"/>
            <a:ext cx="360900" cy="318660"/>
          </a:xfrm>
          <a:prstGeom prst="rect">
            <a:avLst/>
          </a:prstGeom>
          <a:noFill/>
          <a:ln>
            <a:noFill/>
          </a:ln>
        </p:spPr>
      </p:pic>
      <p:sp>
        <p:nvSpPr>
          <p:cNvPr id="656" name="Google Shape;656;p50"/>
          <p:cNvSpPr txBox="1"/>
          <p:nvPr/>
        </p:nvSpPr>
        <p:spPr>
          <a:xfrm>
            <a:off x="114725" y="1487125"/>
            <a:ext cx="41115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23656F"/>
                </a:solidFill>
                <a:latin typeface="Open Sans"/>
                <a:ea typeface="Open Sans"/>
                <a:cs typeface="Open Sans"/>
                <a:sym typeface="Open Sans"/>
              </a:rPr>
              <a:t>AUTOMATIC TRANSMISSION SYSTEM</a:t>
            </a:r>
            <a:r>
              <a:rPr b="1" lang="en" sz="1300">
                <a:solidFill>
                  <a:srgbClr val="23656F"/>
                </a:solidFill>
                <a:latin typeface="Open Sans"/>
                <a:ea typeface="Open Sans"/>
                <a:cs typeface="Open Sans"/>
                <a:sym typeface="Open Sans"/>
              </a:rPr>
              <a:t>:</a:t>
            </a:r>
            <a:endParaRPr sz="1000">
              <a:solidFill>
                <a:schemeClr val="dk1"/>
              </a:solidFill>
              <a:latin typeface="Lato"/>
              <a:ea typeface="Lato"/>
              <a:cs typeface="Lato"/>
              <a:sym typeface="Lato"/>
            </a:endParaRPr>
          </a:p>
        </p:txBody>
      </p:sp>
      <p:sp>
        <p:nvSpPr>
          <p:cNvPr id="657" name="Google Shape;657;p50"/>
          <p:cNvSpPr txBox="1"/>
          <p:nvPr/>
        </p:nvSpPr>
        <p:spPr>
          <a:xfrm>
            <a:off x="114725" y="4013775"/>
            <a:ext cx="9018000" cy="1097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23656F"/>
                </a:solidFill>
                <a:latin typeface="Open Sans"/>
                <a:ea typeface="Open Sans"/>
                <a:cs typeface="Open Sans"/>
                <a:sym typeface="Open Sans"/>
              </a:rPr>
              <a:t>Outcomes:</a:t>
            </a:r>
            <a:endParaRPr b="1" sz="1300">
              <a:solidFill>
                <a:srgbClr val="23656F"/>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b="1" sz="200">
              <a:latin typeface="Open Sans"/>
              <a:ea typeface="Open Sans"/>
              <a:cs typeface="Open Sans"/>
              <a:sym typeface="Open Sans"/>
            </a:endParaRPr>
          </a:p>
          <a:p>
            <a:pPr indent="-298450" lvl="0" marL="457200" rtl="0" algn="l">
              <a:lnSpc>
                <a:spcPct val="125000"/>
              </a:lnSpc>
              <a:spcBef>
                <a:spcPts val="0"/>
              </a:spcBef>
              <a:spcAft>
                <a:spcPts val="0"/>
              </a:spcAft>
              <a:buClr>
                <a:srgbClr val="595959"/>
              </a:buClr>
              <a:buSzPts val="1100"/>
              <a:buFont typeface="Open Sans"/>
              <a:buChar char="●"/>
            </a:pPr>
            <a:r>
              <a:rPr b="1" lang="en" sz="1100">
                <a:solidFill>
                  <a:srgbClr val="595959"/>
                </a:solidFill>
                <a:latin typeface="Lato"/>
                <a:ea typeface="Lato"/>
                <a:cs typeface="Lato"/>
                <a:sym typeface="Lato"/>
              </a:rPr>
              <a:t>Multiple gear drives can be very useful in Commercial Vehicles which can have a highly varying Gross Vehicle Mass</a:t>
            </a:r>
            <a:endParaRPr b="1" sz="1100">
              <a:solidFill>
                <a:srgbClr val="595959"/>
              </a:solidFill>
              <a:latin typeface="Lato"/>
              <a:ea typeface="Lato"/>
              <a:cs typeface="Lato"/>
              <a:sym typeface="Lato"/>
            </a:endParaRPr>
          </a:p>
          <a:p>
            <a:pPr indent="-298450" lvl="0" marL="457200" rtl="0" algn="l">
              <a:lnSpc>
                <a:spcPct val="125000"/>
              </a:lnSpc>
              <a:spcBef>
                <a:spcPts val="0"/>
              </a:spcBef>
              <a:spcAft>
                <a:spcPts val="0"/>
              </a:spcAft>
              <a:buClr>
                <a:srgbClr val="595959"/>
              </a:buClr>
              <a:buSzPts val="1100"/>
              <a:buFont typeface="Lato"/>
              <a:buChar char="●"/>
            </a:pPr>
            <a:r>
              <a:rPr b="1" lang="en" sz="1100">
                <a:solidFill>
                  <a:srgbClr val="595959"/>
                </a:solidFill>
                <a:latin typeface="Lato"/>
                <a:ea typeface="Lato"/>
                <a:cs typeface="Lato"/>
                <a:sym typeface="Lato"/>
              </a:rPr>
              <a:t>Replacing a single gear drive with an Automatic 2-Gear drive increases </a:t>
            </a:r>
            <a:r>
              <a:rPr lang="en" sz="1100">
                <a:solidFill>
                  <a:srgbClr val="23656F"/>
                </a:solidFill>
                <a:latin typeface="Lato Black"/>
                <a:ea typeface="Lato Black"/>
                <a:cs typeface="Lato Black"/>
                <a:sym typeface="Lato Black"/>
              </a:rPr>
              <a:t>Gradability</a:t>
            </a:r>
            <a:r>
              <a:rPr b="1" lang="en" sz="1100">
                <a:solidFill>
                  <a:srgbClr val="23656F"/>
                </a:solidFill>
                <a:latin typeface="Lato"/>
                <a:ea typeface="Lato"/>
                <a:cs typeface="Lato"/>
                <a:sym typeface="Lato"/>
              </a:rPr>
              <a:t>, </a:t>
            </a:r>
            <a:r>
              <a:rPr lang="en" sz="1100">
                <a:solidFill>
                  <a:srgbClr val="23656F"/>
                </a:solidFill>
                <a:latin typeface="Lato Black"/>
                <a:ea typeface="Lato Black"/>
                <a:cs typeface="Lato Black"/>
                <a:sym typeface="Lato Black"/>
              </a:rPr>
              <a:t>Top Speed</a:t>
            </a:r>
            <a:r>
              <a:rPr b="1" lang="en" sz="1100">
                <a:solidFill>
                  <a:srgbClr val="595959"/>
                </a:solidFill>
                <a:latin typeface="Lato"/>
                <a:ea typeface="Lato"/>
                <a:cs typeface="Lato"/>
                <a:sym typeface="Lato"/>
              </a:rPr>
              <a:t>, and even </a:t>
            </a:r>
            <a:r>
              <a:rPr lang="en" sz="1200">
                <a:solidFill>
                  <a:srgbClr val="23656F"/>
                </a:solidFill>
                <a:latin typeface="Lato Black"/>
                <a:ea typeface="Lato Black"/>
                <a:cs typeface="Lato Black"/>
                <a:sym typeface="Lato Black"/>
              </a:rPr>
              <a:t>E</a:t>
            </a:r>
            <a:r>
              <a:rPr lang="en" sz="1200">
                <a:solidFill>
                  <a:srgbClr val="23656F"/>
                </a:solidFill>
                <a:latin typeface="Lato Black"/>
                <a:ea typeface="Lato Black"/>
                <a:cs typeface="Lato Black"/>
                <a:sym typeface="Lato Black"/>
              </a:rPr>
              <a:t>fficiency</a:t>
            </a:r>
            <a:r>
              <a:rPr b="1" lang="en" sz="1100">
                <a:solidFill>
                  <a:srgbClr val="595959"/>
                </a:solidFill>
                <a:latin typeface="Lato"/>
                <a:ea typeface="Lato"/>
                <a:cs typeface="Lato"/>
                <a:sym typeface="Lato"/>
              </a:rPr>
              <a:t> of the powertrain</a:t>
            </a:r>
            <a:endParaRPr b="1" sz="1100">
              <a:solidFill>
                <a:srgbClr val="595959"/>
              </a:solidFill>
              <a:latin typeface="Lato"/>
              <a:ea typeface="Lato"/>
              <a:cs typeface="Lato"/>
              <a:sym typeface="Lato"/>
            </a:endParaRPr>
          </a:p>
          <a:p>
            <a:pPr indent="-298450" lvl="0" marL="457200" rtl="0" algn="l">
              <a:lnSpc>
                <a:spcPct val="125000"/>
              </a:lnSpc>
              <a:spcBef>
                <a:spcPts val="0"/>
              </a:spcBef>
              <a:spcAft>
                <a:spcPts val="0"/>
              </a:spcAft>
              <a:buClr>
                <a:srgbClr val="595959"/>
              </a:buClr>
              <a:buSzPts val="1100"/>
              <a:buFont typeface="Lato"/>
              <a:buChar char="●"/>
            </a:pPr>
            <a:r>
              <a:rPr b="1" lang="en" sz="1100">
                <a:solidFill>
                  <a:srgbClr val="595959"/>
                </a:solidFill>
                <a:latin typeface="Lato"/>
                <a:ea typeface="Lato"/>
                <a:cs typeface="Lato"/>
                <a:sym typeface="Lato"/>
              </a:rPr>
              <a:t>Optimising the</a:t>
            </a:r>
            <a:r>
              <a:rPr lang="en" sz="1100">
                <a:solidFill>
                  <a:srgbClr val="23656F"/>
                </a:solidFill>
                <a:latin typeface="Lato Black"/>
                <a:ea typeface="Lato Black"/>
                <a:cs typeface="Lato Black"/>
                <a:sym typeface="Lato Black"/>
              </a:rPr>
              <a:t> Automatic Transmission for efficiency</a:t>
            </a:r>
            <a:r>
              <a:rPr b="1" lang="en" sz="1100">
                <a:solidFill>
                  <a:srgbClr val="595959"/>
                </a:solidFill>
                <a:latin typeface="Lato"/>
                <a:ea typeface="Lato"/>
                <a:cs typeface="Lato"/>
                <a:sym typeface="Lato"/>
              </a:rPr>
              <a:t>, we can reduce the battery size (300km) by </a:t>
            </a:r>
            <a:r>
              <a:rPr lang="en" sz="1300">
                <a:solidFill>
                  <a:srgbClr val="23656F"/>
                </a:solidFill>
                <a:latin typeface="Lato Black"/>
                <a:ea typeface="Lato Black"/>
                <a:cs typeface="Lato Black"/>
                <a:sym typeface="Lato Black"/>
              </a:rPr>
              <a:t>1</a:t>
            </a:r>
            <a:r>
              <a:rPr lang="en" sz="1300">
                <a:solidFill>
                  <a:srgbClr val="23656F"/>
                </a:solidFill>
                <a:latin typeface="Lato Black"/>
                <a:ea typeface="Lato Black"/>
                <a:cs typeface="Lato Black"/>
                <a:sym typeface="Lato Black"/>
              </a:rPr>
              <a:t>.8 kWh (3%)</a:t>
            </a:r>
            <a:endParaRPr sz="1500">
              <a:solidFill>
                <a:srgbClr val="23656F"/>
              </a:solidFill>
              <a:latin typeface="Lato Black"/>
              <a:ea typeface="Lato Black"/>
              <a:cs typeface="Lato Black"/>
              <a:sym typeface="Lato Black"/>
            </a:endParaRPr>
          </a:p>
        </p:txBody>
      </p:sp>
      <p:graphicFrame>
        <p:nvGraphicFramePr>
          <p:cNvPr id="658" name="Google Shape;658;p50"/>
          <p:cNvGraphicFramePr/>
          <p:nvPr/>
        </p:nvGraphicFramePr>
        <p:xfrm>
          <a:off x="4784525" y="1728175"/>
          <a:ext cx="3000000" cy="3000000"/>
        </p:xfrm>
        <a:graphic>
          <a:graphicData uri="http://schemas.openxmlformats.org/drawingml/2006/table">
            <a:tbl>
              <a:tblPr>
                <a:noFill/>
                <a:tableStyleId>{43AF8DD5-E6FA-4577-8082-F1EEE736C7BF}</a:tableStyleId>
              </a:tblPr>
              <a:tblGrid>
                <a:gridCol w="1398100"/>
                <a:gridCol w="734100"/>
                <a:gridCol w="738500"/>
                <a:gridCol w="731350"/>
                <a:gridCol w="757450"/>
              </a:tblGrid>
              <a:tr h="273175">
                <a:tc>
                  <a:txBody>
                    <a:bodyPr/>
                    <a:lstStyle/>
                    <a:p>
                      <a:pPr indent="0" lvl="0" marL="0" rtl="0" algn="ctr">
                        <a:spcBef>
                          <a:spcPts val="0"/>
                        </a:spcBef>
                        <a:spcAft>
                          <a:spcPts val="0"/>
                        </a:spcAft>
                        <a:buNone/>
                      </a:pPr>
                      <a:r>
                        <a:rPr b="1" lang="en" sz="1100">
                          <a:solidFill>
                            <a:srgbClr val="0C343D"/>
                          </a:solidFill>
                          <a:latin typeface="Lato"/>
                          <a:ea typeface="Lato"/>
                          <a:cs typeface="Lato"/>
                          <a:sym typeface="Lato"/>
                        </a:rPr>
                        <a:t>Specifications</a:t>
                      </a:r>
                      <a:endParaRPr b="1" sz="1100">
                        <a:solidFill>
                          <a:srgbClr val="0C343D"/>
                        </a:solidFill>
                        <a:latin typeface="Lato"/>
                        <a:ea typeface="Lato"/>
                        <a:cs typeface="Lato"/>
                        <a:sym typeface="Lato"/>
                      </a:endParaRPr>
                    </a:p>
                  </a:txBody>
                  <a:tcPr marT="45700" marB="45700" marR="91425" marL="91425">
                    <a:solidFill>
                      <a:srgbClr val="A2C4C9"/>
                    </a:solidFill>
                  </a:tcPr>
                </a:tc>
                <a:tc>
                  <a:txBody>
                    <a:bodyPr/>
                    <a:lstStyle/>
                    <a:p>
                      <a:pPr indent="0" lvl="0" marL="0" rtl="0" algn="ctr">
                        <a:spcBef>
                          <a:spcPts val="0"/>
                        </a:spcBef>
                        <a:spcAft>
                          <a:spcPts val="0"/>
                        </a:spcAft>
                        <a:buNone/>
                      </a:pPr>
                      <a:r>
                        <a:rPr lang="en" sz="1100">
                          <a:solidFill>
                            <a:srgbClr val="0C343D"/>
                          </a:solidFill>
                          <a:latin typeface="Lato Black"/>
                          <a:ea typeface="Lato Black"/>
                          <a:cs typeface="Lato Black"/>
                          <a:sym typeface="Lato Black"/>
                        </a:rPr>
                        <a:t>Case 1*</a:t>
                      </a:r>
                      <a:endParaRPr sz="1100">
                        <a:solidFill>
                          <a:srgbClr val="0C343D"/>
                        </a:solidFill>
                        <a:latin typeface="Lato Black"/>
                        <a:ea typeface="Lato Black"/>
                        <a:cs typeface="Lato Black"/>
                        <a:sym typeface="Lato Black"/>
                      </a:endParaRPr>
                    </a:p>
                  </a:txBody>
                  <a:tcPr marT="45700" marB="45700" marR="91425" marL="91425">
                    <a:solidFill>
                      <a:srgbClr val="A2C4C9"/>
                    </a:solidFill>
                  </a:tcPr>
                </a:tc>
                <a:tc>
                  <a:txBody>
                    <a:bodyPr/>
                    <a:lstStyle/>
                    <a:p>
                      <a:pPr indent="0" lvl="0" marL="0" rtl="0" algn="ctr">
                        <a:spcBef>
                          <a:spcPts val="0"/>
                        </a:spcBef>
                        <a:spcAft>
                          <a:spcPts val="0"/>
                        </a:spcAft>
                        <a:buNone/>
                      </a:pPr>
                      <a:r>
                        <a:rPr b="1" lang="en" sz="1100">
                          <a:solidFill>
                            <a:srgbClr val="0C343D"/>
                          </a:solidFill>
                          <a:latin typeface="Lato"/>
                          <a:ea typeface="Lato"/>
                          <a:cs typeface="Lato"/>
                          <a:sym typeface="Lato"/>
                        </a:rPr>
                        <a:t>Case 2</a:t>
                      </a:r>
                      <a:endParaRPr b="1" sz="1100">
                        <a:solidFill>
                          <a:srgbClr val="0C343D"/>
                        </a:solidFill>
                        <a:latin typeface="Lato"/>
                        <a:ea typeface="Lato"/>
                        <a:cs typeface="Lato"/>
                        <a:sym typeface="Lato"/>
                      </a:endParaRPr>
                    </a:p>
                  </a:txBody>
                  <a:tcPr marT="45700" marB="45700" marR="91425" marL="91425">
                    <a:solidFill>
                      <a:srgbClr val="A2C4C9"/>
                    </a:solidFill>
                  </a:tcPr>
                </a:tc>
                <a:tc>
                  <a:txBody>
                    <a:bodyPr/>
                    <a:lstStyle/>
                    <a:p>
                      <a:pPr indent="0" lvl="0" marL="0" rtl="0" algn="ctr">
                        <a:spcBef>
                          <a:spcPts val="0"/>
                        </a:spcBef>
                        <a:spcAft>
                          <a:spcPts val="0"/>
                        </a:spcAft>
                        <a:buNone/>
                      </a:pPr>
                      <a:r>
                        <a:rPr b="1" lang="en" sz="1100">
                          <a:solidFill>
                            <a:srgbClr val="0C343D"/>
                          </a:solidFill>
                          <a:latin typeface="Lato"/>
                          <a:ea typeface="Lato"/>
                          <a:cs typeface="Lato"/>
                          <a:sym typeface="Lato"/>
                        </a:rPr>
                        <a:t>Case 3</a:t>
                      </a:r>
                      <a:endParaRPr b="1" sz="1100">
                        <a:solidFill>
                          <a:srgbClr val="0C343D"/>
                        </a:solidFill>
                        <a:latin typeface="Lato"/>
                        <a:ea typeface="Lato"/>
                        <a:cs typeface="Lato"/>
                        <a:sym typeface="Lato"/>
                      </a:endParaRPr>
                    </a:p>
                  </a:txBody>
                  <a:tcPr marT="45700" marB="45700" marR="91425" marL="91425">
                    <a:lnR cap="flat" cmpd="sng" w="9525">
                      <a:solidFill>
                        <a:srgbClr val="9E9E9E"/>
                      </a:solidFill>
                      <a:prstDash val="solid"/>
                      <a:round/>
                      <a:headEnd len="sm" w="sm" type="none"/>
                      <a:tailEnd len="sm" w="sm" type="none"/>
                    </a:lnR>
                    <a:solidFill>
                      <a:srgbClr val="A2C4C9"/>
                    </a:solidFill>
                  </a:tcPr>
                </a:tc>
                <a:tc>
                  <a:txBody>
                    <a:bodyPr/>
                    <a:lstStyle/>
                    <a:p>
                      <a:pPr indent="0" lvl="0" marL="0" rtl="0" algn="ctr">
                        <a:spcBef>
                          <a:spcPts val="0"/>
                        </a:spcBef>
                        <a:spcAft>
                          <a:spcPts val="0"/>
                        </a:spcAft>
                        <a:buNone/>
                      </a:pPr>
                      <a:r>
                        <a:rPr lang="en" sz="1100">
                          <a:solidFill>
                            <a:srgbClr val="0C343D"/>
                          </a:solidFill>
                          <a:latin typeface="Lato Black"/>
                          <a:ea typeface="Lato Black"/>
                          <a:cs typeface="Lato Black"/>
                          <a:sym typeface="Lato Black"/>
                        </a:rPr>
                        <a:t>Case 4**</a:t>
                      </a:r>
                      <a:endParaRPr sz="1100">
                        <a:solidFill>
                          <a:srgbClr val="0C343D"/>
                        </a:solidFill>
                        <a:latin typeface="Lato Black"/>
                        <a:ea typeface="Lato Black"/>
                        <a:cs typeface="Lato Black"/>
                        <a:sym typeface="Lato Black"/>
                      </a:endParaRPr>
                    </a:p>
                  </a:txBody>
                  <a:tcPr marT="45700" marB="4570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A2C4C9"/>
                    </a:solidFill>
                  </a:tcPr>
                </a:tc>
              </a:tr>
              <a:tr h="257100">
                <a:tc>
                  <a:txBody>
                    <a:bodyPr/>
                    <a:lstStyle/>
                    <a:p>
                      <a:pPr indent="0" lvl="0" marL="0" rtl="0" algn="ctr">
                        <a:spcBef>
                          <a:spcPts val="0"/>
                        </a:spcBef>
                        <a:spcAft>
                          <a:spcPts val="0"/>
                        </a:spcAft>
                        <a:buNone/>
                      </a:pPr>
                      <a:r>
                        <a:rPr b="1" lang="en" sz="1000">
                          <a:solidFill>
                            <a:srgbClr val="0C343D"/>
                          </a:solidFill>
                          <a:latin typeface="Lato"/>
                          <a:ea typeface="Lato"/>
                          <a:cs typeface="Lato"/>
                          <a:sym typeface="Lato"/>
                        </a:rPr>
                        <a:t>No. of Gear Drives</a:t>
                      </a:r>
                      <a:endParaRPr b="1" sz="1000">
                        <a:solidFill>
                          <a:srgbClr val="0C343D"/>
                        </a:solidFill>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b="1" lang="en" sz="1000">
                          <a:solidFill>
                            <a:srgbClr val="5B0F00"/>
                          </a:solidFill>
                          <a:latin typeface="Lato"/>
                          <a:ea typeface="Lato"/>
                          <a:cs typeface="Lato"/>
                          <a:sym typeface="Lato"/>
                        </a:rPr>
                        <a:t>1</a:t>
                      </a:r>
                      <a:endParaRPr b="1" sz="1000">
                        <a:solidFill>
                          <a:srgbClr val="5B0F00"/>
                        </a:solidFill>
                        <a:latin typeface="Lato"/>
                        <a:ea typeface="Lato"/>
                        <a:cs typeface="Lato"/>
                        <a:sym typeface="Lato"/>
                      </a:endParaRPr>
                    </a:p>
                  </a:txBody>
                  <a:tcPr marT="45700" marB="45700" marR="91425" marL="91425">
                    <a:solidFill>
                      <a:srgbClr val="FFF2CC"/>
                    </a:solidFill>
                  </a:tcPr>
                </a:tc>
                <a:tc>
                  <a:txBody>
                    <a:bodyPr/>
                    <a:lstStyle/>
                    <a:p>
                      <a:pPr indent="0" lvl="0" marL="0" rtl="0" algn="ctr">
                        <a:spcBef>
                          <a:spcPts val="0"/>
                        </a:spcBef>
                        <a:spcAft>
                          <a:spcPts val="0"/>
                        </a:spcAft>
                        <a:buNone/>
                      </a:pPr>
                      <a:r>
                        <a:rPr b="1" lang="en" sz="1000">
                          <a:solidFill>
                            <a:srgbClr val="274E13"/>
                          </a:solidFill>
                          <a:latin typeface="Lato"/>
                          <a:ea typeface="Lato"/>
                          <a:cs typeface="Lato"/>
                          <a:sym typeface="Lato"/>
                        </a:rPr>
                        <a:t>1</a:t>
                      </a:r>
                      <a:endParaRPr b="1" sz="1000">
                        <a:solidFill>
                          <a:srgbClr val="274E13"/>
                        </a:solidFill>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1000">
                          <a:latin typeface="Lato"/>
                          <a:ea typeface="Lato"/>
                          <a:cs typeface="Lato"/>
                          <a:sym typeface="Lato"/>
                        </a:rPr>
                        <a:t>1</a:t>
                      </a:r>
                      <a:endParaRPr sz="1000">
                        <a:latin typeface="Lato"/>
                        <a:ea typeface="Lato"/>
                        <a:cs typeface="Lato"/>
                        <a:sym typeface="Lato"/>
                      </a:endParaRPr>
                    </a:p>
                  </a:txBody>
                  <a:tcPr marT="45700" marB="45700"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sz="1000">
                          <a:latin typeface="Lato"/>
                          <a:ea typeface="Lato"/>
                          <a:cs typeface="Lato"/>
                          <a:sym typeface="Lato"/>
                        </a:rPr>
                        <a:t>2</a:t>
                      </a:r>
                      <a:endParaRPr sz="1000">
                        <a:latin typeface="Lato"/>
                        <a:ea typeface="Lato"/>
                        <a:cs typeface="Lato"/>
                        <a:sym typeface="Lato"/>
                      </a:endParaRPr>
                    </a:p>
                  </a:txBody>
                  <a:tcPr marT="45700" marB="4570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r>
              <a:tr h="257100">
                <a:tc>
                  <a:txBody>
                    <a:bodyPr/>
                    <a:lstStyle/>
                    <a:p>
                      <a:pPr indent="0" lvl="0" marL="0" rtl="0" algn="ctr">
                        <a:spcBef>
                          <a:spcPts val="0"/>
                        </a:spcBef>
                        <a:spcAft>
                          <a:spcPts val="0"/>
                        </a:spcAft>
                        <a:buNone/>
                      </a:pPr>
                      <a:r>
                        <a:rPr b="1" lang="en" sz="1000">
                          <a:solidFill>
                            <a:srgbClr val="0C343D"/>
                          </a:solidFill>
                          <a:latin typeface="Lato"/>
                          <a:ea typeface="Lato"/>
                          <a:cs typeface="Lato"/>
                          <a:sym typeface="Lato"/>
                        </a:rPr>
                        <a:t>Gear Ratio</a:t>
                      </a:r>
                      <a:endParaRPr b="1" sz="1000">
                        <a:solidFill>
                          <a:srgbClr val="0C343D"/>
                        </a:solidFill>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b="1" lang="en" sz="1000">
                          <a:solidFill>
                            <a:srgbClr val="5B0F00"/>
                          </a:solidFill>
                          <a:latin typeface="Lato"/>
                          <a:ea typeface="Lato"/>
                          <a:cs typeface="Lato"/>
                          <a:sym typeface="Lato"/>
                        </a:rPr>
                        <a:t>4.9</a:t>
                      </a:r>
                      <a:endParaRPr b="1" sz="1000">
                        <a:solidFill>
                          <a:srgbClr val="5B0F00"/>
                        </a:solidFill>
                        <a:latin typeface="Lato"/>
                        <a:ea typeface="Lato"/>
                        <a:cs typeface="Lato"/>
                        <a:sym typeface="Lato"/>
                      </a:endParaRPr>
                    </a:p>
                  </a:txBody>
                  <a:tcPr marT="45700" marB="45700" marR="91425" marL="91425">
                    <a:solidFill>
                      <a:srgbClr val="FFF2CC"/>
                    </a:solidFill>
                  </a:tcPr>
                </a:tc>
                <a:tc>
                  <a:txBody>
                    <a:bodyPr/>
                    <a:lstStyle/>
                    <a:p>
                      <a:pPr indent="0" lvl="0" marL="0" rtl="0" algn="ctr">
                        <a:spcBef>
                          <a:spcPts val="0"/>
                        </a:spcBef>
                        <a:spcAft>
                          <a:spcPts val="0"/>
                        </a:spcAft>
                        <a:buNone/>
                      </a:pPr>
                      <a:r>
                        <a:rPr lang="en" sz="1000">
                          <a:latin typeface="Lato"/>
                          <a:ea typeface="Lato"/>
                          <a:cs typeface="Lato"/>
                          <a:sym typeface="Lato"/>
                        </a:rPr>
                        <a:t>6</a:t>
                      </a:r>
                      <a:endParaRPr sz="1000">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b="1" lang="en" sz="1000">
                          <a:solidFill>
                            <a:srgbClr val="274E13"/>
                          </a:solidFill>
                          <a:latin typeface="Lato"/>
                          <a:ea typeface="Lato"/>
                          <a:cs typeface="Lato"/>
                          <a:sym typeface="Lato"/>
                        </a:rPr>
                        <a:t>3.6</a:t>
                      </a:r>
                      <a:endParaRPr b="1" sz="1000">
                        <a:solidFill>
                          <a:srgbClr val="274E13"/>
                        </a:solidFill>
                        <a:latin typeface="Lato"/>
                        <a:ea typeface="Lato"/>
                        <a:cs typeface="Lato"/>
                        <a:sym typeface="Lato"/>
                      </a:endParaRPr>
                    </a:p>
                  </a:txBody>
                  <a:tcPr marT="45700" marB="45700"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b="1" lang="en" sz="1000">
                          <a:solidFill>
                            <a:srgbClr val="274E13"/>
                          </a:solidFill>
                          <a:latin typeface="Lato"/>
                          <a:ea typeface="Lato"/>
                          <a:cs typeface="Lato"/>
                          <a:sym typeface="Lato"/>
                        </a:rPr>
                        <a:t>6+3.6</a:t>
                      </a:r>
                      <a:endParaRPr b="1" sz="1000">
                        <a:solidFill>
                          <a:srgbClr val="274E13"/>
                        </a:solidFill>
                        <a:latin typeface="Lato"/>
                        <a:ea typeface="Lato"/>
                        <a:cs typeface="Lato"/>
                        <a:sym typeface="Lato"/>
                      </a:endParaRPr>
                    </a:p>
                  </a:txBody>
                  <a:tcPr marT="45700" marB="4570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r>
              <a:tr h="257100">
                <a:tc>
                  <a:txBody>
                    <a:bodyPr/>
                    <a:lstStyle/>
                    <a:p>
                      <a:pPr indent="0" lvl="0" marL="0" rtl="0" algn="ctr">
                        <a:spcBef>
                          <a:spcPts val="0"/>
                        </a:spcBef>
                        <a:spcAft>
                          <a:spcPts val="0"/>
                        </a:spcAft>
                        <a:buNone/>
                      </a:pPr>
                      <a:r>
                        <a:rPr b="1" lang="en" sz="1000">
                          <a:solidFill>
                            <a:srgbClr val="0C343D"/>
                          </a:solidFill>
                          <a:latin typeface="Lato"/>
                          <a:ea typeface="Lato"/>
                          <a:cs typeface="Lato"/>
                          <a:sym typeface="Lato"/>
                        </a:rPr>
                        <a:t>Gradeability (%)</a:t>
                      </a:r>
                      <a:endParaRPr b="1" sz="1000">
                        <a:solidFill>
                          <a:srgbClr val="0C343D"/>
                        </a:solidFill>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1000">
                          <a:latin typeface="Lato"/>
                          <a:ea typeface="Lato"/>
                          <a:cs typeface="Lato"/>
                          <a:sym typeface="Lato"/>
                        </a:rPr>
                        <a:t>17.6</a:t>
                      </a:r>
                      <a:endParaRPr sz="1000">
                        <a:latin typeface="Lato"/>
                        <a:ea typeface="Lato"/>
                        <a:cs typeface="Lato"/>
                        <a:sym typeface="Lato"/>
                      </a:endParaRPr>
                    </a:p>
                  </a:txBody>
                  <a:tcPr marT="45700" marB="45700" marR="91425" marL="91425">
                    <a:solidFill>
                      <a:srgbClr val="FFF2CC"/>
                    </a:solidFill>
                  </a:tcPr>
                </a:tc>
                <a:tc>
                  <a:txBody>
                    <a:bodyPr/>
                    <a:lstStyle/>
                    <a:p>
                      <a:pPr indent="0" lvl="0" marL="0" rtl="0" algn="ctr">
                        <a:spcBef>
                          <a:spcPts val="0"/>
                        </a:spcBef>
                        <a:spcAft>
                          <a:spcPts val="0"/>
                        </a:spcAft>
                        <a:buNone/>
                      </a:pPr>
                      <a:r>
                        <a:rPr lang="en" sz="1000">
                          <a:latin typeface="Lato"/>
                          <a:ea typeface="Lato"/>
                          <a:cs typeface="Lato"/>
                          <a:sym typeface="Lato"/>
                        </a:rPr>
                        <a:t>21.2</a:t>
                      </a:r>
                      <a:endParaRPr sz="1000">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1000">
                          <a:latin typeface="Lato"/>
                          <a:ea typeface="Lato"/>
                          <a:cs typeface="Lato"/>
                          <a:sym typeface="Lato"/>
                        </a:rPr>
                        <a:t>12.6</a:t>
                      </a:r>
                      <a:endParaRPr sz="1000">
                        <a:latin typeface="Lato"/>
                        <a:ea typeface="Lato"/>
                        <a:cs typeface="Lato"/>
                        <a:sym typeface="Lato"/>
                      </a:endParaRPr>
                    </a:p>
                  </a:txBody>
                  <a:tcPr marT="45700" marB="45700" marR="91425" marL="91425">
                    <a:lnR cap="flat" cmpd="sng" w="9525">
                      <a:solidFill>
                        <a:srgbClr val="9E9E9E"/>
                      </a:solidFill>
                      <a:prstDash val="solid"/>
                      <a:round/>
                      <a:headEnd len="sm" w="sm" type="none"/>
                      <a:tailEnd len="sm" w="sm" type="none"/>
                    </a:lnR>
                    <a:solidFill>
                      <a:srgbClr val="F4CCCC"/>
                    </a:solidFill>
                  </a:tcPr>
                </a:tc>
                <a:tc>
                  <a:txBody>
                    <a:bodyPr/>
                    <a:lstStyle/>
                    <a:p>
                      <a:pPr indent="0" lvl="0" marL="0" rtl="0" algn="ctr">
                        <a:spcBef>
                          <a:spcPts val="0"/>
                        </a:spcBef>
                        <a:spcAft>
                          <a:spcPts val="0"/>
                        </a:spcAft>
                        <a:buNone/>
                      </a:pPr>
                      <a:r>
                        <a:rPr lang="en" sz="1000">
                          <a:latin typeface="Lato"/>
                          <a:ea typeface="Lato"/>
                          <a:cs typeface="Lato"/>
                          <a:sym typeface="Lato"/>
                        </a:rPr>
                        <a:t>21.2</a:t>
                      </a:r>
                      <a:endParaRPr sz="1000">
                        <a:latin typeface="Lato"/>
                        <a:ea typeface="Lato"/>
                        <a:cs typeface="Lato"/>
                        <a:sym typeface="Lato"/>
                      </a:endParaRPr>
                    </a:p>
                  </a:txBody>
                  <a:tcPr marT="45700" marB="4570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r>
              <a:tr h="257100">
                <a:tc>
                  <a:txBody>
                    <a:bodyPr/>
                    <a:lstStyle/>
                    <a:p>
                      <a:pPr indent="0" lvl="0" marL="0" rtl="0" algn="ctr">
                        <a:spcBef>
                          <a:spcPts val="0"/>
                        </a:spcBef>
                        <a:spcAft>
                          <a:spcPts val="0"/>
                        </a:spcAft>
                        <a:buNone/>
                      </a:pPr>
                      <a:r>
                        <a:rPr b="1" lang="en" sz="1000">
                          <a:solidFill>
                            <a:srgbClr val="0C343D"/>
                          </a:solidFill>
                          <a:latin typeface="Lato"/>
                          <a:ea typeface="Lato"/>
                          <a:cs typeface="Lato"/>
                          <a:sym typeface="Lato"/>
                        </a:rPr>
                        <a:t>Peak Velocity (km/h)</a:t>
                      </a:r>
                      <a:endParaRPr b="1" sz="1000">
                        <a:solidFill>
                          <a:srgbClr val="0C343D"/>
                        </a:solidFill>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1000">
                          <a:latin typeface="Lato"/>
                          <a:ea typeface="Lato"/>
                          <a:cs typeface="Lato"/>
                          <a:sym typeface="Lato"/>
                        </a:rPr>
                        <a:t>59</a:t>
                      </a:r>
                      <a:endParaRPr sz="1000">
                        <a:latin typeface="Lato"/>
                        <a:ea typeface="Lato"/>
                        <a:cs typeface="Lato"/>
                        <a:sym typeface="Lato"/>
                      </a:endParaRPr>
                    </a:p>
                  </a:txBody>
                  <a:tcPr marT="45700" marB="45700" marR="91425" marL="91425">
                    <a:solidFill>
                      <a:srgbClr val="FFF2CC"/>
                    </a:solidFill>
                  </a:tcPr>
                </a:tc>
                <a:tc>
                  <a:txBody>
                    <a:bodyPr/>
                    <a:lstStyle/>
                    <a:p>
                      <a:pPr indent="0" lvl="0" marL="0" rtl="0" algn="ctr">
                        <a:spcBef>
                          <a:spcPts val="0"/>
                        </a:spcBef>
                        <a:spcAft>
                          <a:spcPts val="0"/>
                        </a:spcAft>
                        <a:buNone/>
                      </a:pPr>
                      <a:r>
                        <a:rPr lang="en" sz="1000">
                          <a:latin typeface="Lato"/>
                          <a:ea typeface="Lato"/>
                          <a:cs typeface="Lato"/>
                          <a:sym typeface="Lato"/>
                        </a:rPr>
                        <a:t>48</a:t>
                      </a:r>
                      <a:endParaRPr sz="1000">
                        <a:latin typeface="Lato"/>
                        <a:ea typeface="Lato"/>
                        <a:cs typeface="Lato"/>
                        <a:sym typeface="Lato"/>
                      </a:endParaRPr>
                    </a:p>
                  </a:txBody>
                  <a:tcPr marT="45700" marB="45700" marR="91425" marL="91425">
                    <a:solidFill>
                      <a:srgbClr val="F4CCCC"/>
                    </a:solidFill>
                  </a:tcPr>
                </a:tc>
                <a:tc>
                  <a:txBody>
                    <a:bodyPr/>
                    <a:lstStyle/>
                    <a:p>
                      <a:pPr indent="0" lvl="0" marL="0" rtl="0" algn="ctr">
                        <a:spcBef>
                          <a:spcPts val="0"/>
                        </a:spcBef>
                        <a:spcAft>
                          <a:spcPts val="0"/>
                        </a:spcAft>
                        <a:buNone/>
                      </a:pPr>
                      <a:r>
                        <a:rPr lang="en" sz="1000">
                          <a:latin typeface="Lato"/>
                          <a:ea typeface="Lato"/>
                          <a:cs typeface="Lato"/>
                          <a:sym typeface="Lato"/>
                        </a:rPr>
                        <a:t>80</a:t>
                      </a:r>
                      <a:endParaRPr sz="1000">
                        <a:latin typeface="Lato"/>
                        <a:ea typeface="Lato"/>
                        <a:cs typeface="Lato"/>
                        <a:sym typeface="Lato"/>
                      </a:endParaRPr>
                    </a:p>
                  </a:txBody>
                  <a:tcPr marT="45700" marB="45700"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sz="1000">
                          <a:latin typeface="Lato"/>
                          <a:ea typeface="Lato"/>
                          <a:cs typeface="Lato"/>
                          <a:sym typeface="Lato"/>
                        </a:rPr>
                        <a:t>80</a:t>
                      </a:r>
                      <a:endParaRPr sz="1000">
                        <a:latin typeface="Lato"/>
                        <a:ea typeface="Lato"/>
                        <a:cs typeface="Lato"/>
                        <a:sym typeface="Lato"/>
                      </a:endParaRPr>
                    </a:p>
                  </a:txBody>
                  <a:tcPr marT="45700" marB="4570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r>
              <a:tr h="399475">
                <a:tc>
                  <a:txBody>
                    <a:bodyPr/>
                    <a:lstStyle/>
                    <a:p>
                      <a:pPr indent="0" lvl="0" marL="0" rtl="0" algn="ctr">
                        <a:spcBef>
                          <a:spcPts val="0"/>
                        </a:spcBef>
                        <a:spcAft>
                          <a:spcPts val="0"/>
                        </a:spcAft>
                        <a:buNone/>
                      </a:pPr>
                      <a:r>
                        <a:rPr b="1" lang="en" sz="1000">
                          <a:solidFill>
                            <a:srgbClr val="0C343D"/>
                          </a:solidFill>
                          <a:latin typeface="Lato"/>
                          <a:ea typeface="Lato"/>
                          <a:cs typeface="Lato"/>
                          <a:sym typeface="Lato"/>
                        </a:rPr>
                        <a:t>Battery Size (300 km)</a:t>
                      </a:r>
                      <a:endParaRPr b="1" sz="1000">
                        <a:solidFill>
                          <a:srgbClr val="0C343D"/>
                        </a:solidFill>
                        <a:latin typeface="Lato"/>
                        <a:ea typeface="Lato"/>
                        <a:cs typeface="Lato"/>
                        <a:sym typeface="Lato"/>
                      </a:endParaRPr>
                    </a:p>
                  </a:txBody>
                  <a:tcPr marT="45700" marB="45700" marR="91425" marL="91425" anchor="ctr">
                    <a:solidFill>
                      <a:srgbClr val="D0E0E3"/>
                    </a:solidFill>
                  </a:tcPr>
                </a:tc>
                <a:tc>
                  <a:txBody>
                    <a:bodyPr/>
                    <a:lstStyle/>
                    <a:p>
                      <a:pPr indent="0" lvl="0" marL="0" rtl="0" algn="ctr">
                        <a:spcBef>
                          <a:spcPts val="0"/>
                        </a:spcBef>
                        <a:spcAft>
                          <a:spcPts val="0"/>
                        </a:spcAft>
                        <a:buNone/>
                      </a:pPr>
                      <a:r>
                        <a:rPr b="1" lang="en" sz="1000">
                          <a:solidFill>
                            <a:srgbClr val="660000"/>
                          </a:solidFill>
                          <a:latin typeface="Lato"/>
                          <a:ea typeface="Lato"/>
                          <a:cs typeface="Lato"/>
                          <a:sym typeface="Lato"/>
                        </a:rPr>
                        <a:t>60.9kWh</a:t>
                      </a:r>
                      <a:endParaRPr b="1" sz="1000">
                        <a:solidFill>
                          <a:srgbClr val="660000"/>
                        </a:solidFill>
                        <a:latin typeface="Lato"/>
                        <a:ea typeface="Lato"/>
                        <a:cs typeface="Lato"/>
                        <a:sym typeface="Lato"/>
                      </a:endParaRPr>
                    </a:p>
                  </a:txBody>
                  <a:tcPr marT="45700" marB="45700" marR="91425" marL="91425" anchor="ctr">
                    <a:solidFill>
                      <a:srgbClr val="F4CCCC"/>
                    </a:solidFill>
                  </a:tcPr>
                </a:tc>
                <a:tc>
                  <a:txBody>
                    <a:bodyPr/>
                    <a:lstStyle/>
                    <a:p>
                      <a:pPr indent="0" lvl="0" marL="0" rtl="0" algn="ctr">
                        <a:spcBef>
                          <a:spcPts val="0"/>
                        </a:spcBef>
                        <a:spcAft>
                          <a:spcPts val="0"/>
                        </a:spcAft>
                        <a:buNone/>
                      </a:pPr>
                      <a:r>
                        <a:rPr b="1" lang="en" sz="1000">
                          <a:solidFill>
                            <a:srgbClr val="434343"/>
                          </a:solidFill>
                          <a:latin typeface="Lato"/>
                          <a:ea typeface="Lato"/>
                          <a:cs typeface="Lato"/>
                          <a:sym typeface="Lato"/>
                        </a:rPr>
                        <a:t>62.2kWh</a:t>
                      </a:r>
                      <a:endParaRPr b="1" sz="1000">
                        <a:solidFill>
                          <a:srgbClr val="434343"/>
                        </a:solidFill>
                        <a:latin typeface="Lato"/>
                        <a:ea typeface="Lato"/>
                        <a:cs typeface="Lato"/>
                        <a:sym typeface="Lato"/>
                      </a:endParaRPr>
                    </a:p>
                  </a:txBody>
                  <a:tcPr marT="45700" marB="45700" marR="91425" marL="91425" anchor="ctr">
                    <a:solidFill>
                      <a:srgbClr val="D0E0E3"/>
                    </a:solidFill>
                  </a:tcPr>
                </a:tc>
                <a:tc>
                  <a:txBody>
                    <a:bodyPr/>
                    <a:lstStyle/>
                    <a:p>
                      <a:pPr indent="0" lvl="0" marL="0" rtl="0" algn="ctr">
                        <a:spcBef>
                          <a:spcPts val="0"/>
                        </a:spcBef>
                        <a:spcAft>
                          <a:spcPts val="0"/>
                        </a:spcAft>
                        <a:buNone/>
                      </a:pPr>
                      <a:r>
                        <a:rPr b="1" lang="en" sz="1000">
                          <a:solidFill>
                            <a:srgbClr val="434343"/>
                          </a:solidFill>
                          <a:latin typeface="Lato"/>
                          <a:ea typeface="Lato"/>
                          <a:cs typeface="Lato"/>
                          <a:sym typeface="Lato"/>
                        </a:rPr>
                        <a:t>60.1kWh</a:t>
                      </a:r>
                      <a:endParaRPr b="1" sz="1000">
                        <a:solidFill>
                          <a:srgbClr val="434343"/>
                        </a:solidFill>
                        <a:latin typeface="Lato"/>
                        <a:ea typeface="Lato"/>
                        <a:cs typeface="Lato"/>
                        <a:sym typeface="Lato"/>
                      </a:endParaRPr>
                    </a:p>
                  </a:txBody>
                  <a:tcPr marT="45700" marB="45700" marR="91425" marL="91425" anchor="ctr">
                    <a:solidFill>
                      <a:srgbClr val="D0E0E3"/>
                    </a:solidFill>
                  </a:tcPr>
                </a:tc>
                <a:tc>
                  <a:txBody>
                    <a:bodyPr/>
                    <a:lstStyle/>
                    <a:p>
                      <a:pPr indent="0" lvl="0" marL="0" rtl="0" algn="ctr">
                        <a:spcBef>
                          <a:spcPts val="0"/>
                        </a:spcBef>
                        <a:spcAft>
                          <a:spcPts val="0"/>
                        </a:spcAft>
                        <a:buNone/>
                      </a:pPr>
                      <a:r>
                        <a:rPr b="1" lang="en" sz="1000">
                          <a:solidFill>
                            <a:srgbClr val="274E13"/>
                          </a:solidFill>
                          <a:latin typeface="Lato"/>
                          <a:ea typeface="Lato"/>
                          <a:cs typeface="Lato"/>
                          <a:sym typeface="Lato"/>
                        </a:rPr>
                        <a:t>59.2kWh</a:t>
                      </a:r>
                      <a:endParaRPr b="1" sz="1000">
                        <a:solidFill>
                          <a:srgbClr val="274E13"/>
                        </a:solidFill>
                        <a:latin typeface="Lato"/>
                        <a:ea typeface="Lato"/>
                        <a:cs typeface="Lato"/>
                        <a:sym typeface="Lato"/>
                      </a:endParaRPr>
                    </a:p>
                  </a:txBody>
                  <a:tcPr marT="45700" marB="45700" marR="91425" marL="91425" anchor="ctr">
                    <a:lnT cap="flat" cmpd="sng" w="9525">
                      <a:solidFill>
                        <a:srgbClr val="9E9E9E"/>
                      </a:solidFill>
                      <a:prstDash val="solid"/>
                      <a:round/>
                      <a:headEnd len="sm" w="sm" type="none"/>
                      <a:tailEnd len="sm" w="sm" type="none"/>
                    </a:lnT>
                    <a:solidFill>
                      <a:srgbClr val="D9EAD3"/>
                    </a:solidFill>
                  </a:tcPr>
                </a:tc>
              </a:tr>
            </a:tbl>
          </a:graphicData>
        </a:graphic>
      </p:graphicFrame>
      <p:sp>
        <p:nvSpPr>
          <p:cNvPr id="659" name="Google Shape;659;p50"/>
          <p:cNvSpPr txBox="1"/>
          <p:nvPr/>
        </p:nvSpPr>
        <p:spPr>
          <a:xfrm>
            <a:off x="4850300" y="3335975"/>
            <a:ext cx="4282500" cy="7233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en" sz="1000">
                <a:solidFill>
                  <a:schemeClr val="dk1"/>
                </a:solidFill>
                <a:latin typeface="Lato"/>
                <a:ea typeface="Lato"/>
                <a:cs typeface="Lato"/>
                <a:sym typeface="Lato"/>
              </a:rPr>
              <a:t>*  Case 1 represents the best compromise b/w gradability &amp; top speed.</a:t>
            </a:r>
            <a:endParaRPr sz="1000">
              <a:solidFill>
                <a:schemeClr val="dk1"/>
              </a:solidFill>
              <a:latin typeface="Lato"/>
              <a:ea typeface="Lato"/>
              <a:cs typeface="Lato"/>
              <a:sym typeface="Lato"/>
            </a:endParaRPr>
          </a:p>
          <a:p>
            <a:pPr indent="0" lvl="0" marL="0" rtl="0" algn="l">
              <a:lnSpc>
                <a:spcPct val="125000"/>
              </a:lnSpc>
              <a:spcBef>
                <a:spcPts val="0"/>
              </a:spcBef>
              <a:spcAft>
                <a:spcPts val="0"/>
              </a:spcAft>
              <a:buNone/>
            </a:pPr>
            <a:r>
              <a:rPr lang="en" sz="1000">
                <a:solidFill>
                  <a:schemeClr val="dk1"/>
                </a:solidFill>
                <a:latin typeface="Lato"/>
                <a:ea typeface="Lato"/>
                <a:cs typeface="Lato"/>
                <a:sym typeface="Lato"/>
              </a:rPr>
              <a:t>** Case 4 represents the most efficient combination for an Automatic</a:t>
            </a:r>
            <a:endParaRPr sz="1000">
              <a:solidFill>
                <a:schemeClr val="dk1"/>
              </a:solidFill>
              <a:latin typeface="Lato"/>
              <a:ea typeface="Lato"/>
              <a:cs typeface="Lato"/>
              <a:sym typeface="Lato"/>
            </a:endParaRPr>
          </a:p>
          <a:p>
            <a:pPr indent="0" lvl="0" marL="0" rtl="0" algn="l">
              <a:lnSpc>
                <a:spcPct val="125000"/>
              </a:lnSpc>
              <a:spcBef>
                <a:spcPts val="0"/>
              </a:spcBef>
              <a:spcAft>
                <a:spcPts val="0"/>
              </a:spcAft>
              <a:buNone/>
            </a:pPr>
            <a:r>
              <a:rPr lang="en" sz="1000">
                <a:solidFill>
                  <a:schemeClr val="dk1"/>
                </a:solidFill>
                <a:latin typeface="Lato"/>
                <a:ea typeface="Lato"/>
                <a:cs typeface="Lato"/>
                <a:sym typeface="Lato"/>
              </a:rPr>
              <a:t>      Transmission 2-Gear Drive system.</a:t>
            </a:r>
            <a:endParaRPr sz="1000">
              <a:solidFill>
                <a:schemeClr val="dk1"/>
              </a:solidFill>
              <a:latin typeface="Lato"/>
              <a:ea typeface="Lato"/>
              <a:cs typeface="Lato"/>
              <a:sym typeface="Lato"/>
            </a:endParaRPr>
          </a:p>
        </p:txBody>
      </p:sp>
      <p:sp>
        <p:nvSpPr>
          <p:cNvPr id="660" name="Google Shape;660;p50"/>
          <p:cNvSpPr/>
          <p:nvPr/>
        </p:nvSpPr>
        <p:spPr>
          <a:xfrm>
            <a:off x="1107950" y="2468025"/>
            <a:ext cx="927300" cy="676800"/>
          </a:xfrm>
          <a:prstGeom prst="roundRect">
            <a:avLst>
              <a:gd fmla="val 16667" name="adj"/>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073763"/>
                </a:solidFill>
                <a:latin typeface="Lato"/>
                <a:ea typeface="Lato"/>
                <a:cs typeface="Lato"/>
                <a:sym typeface="Lato"/>
              </a:rPr>
              <a:t>Optimal Gear Ratio</a:t>
            </a:r>
            <a:endParaRPr b="1" sz="1000">
              <a:solidFill>
                <a:srgbClr val="073763"/>
              </a:solidFill>
              <a:latin typeface="Lato"/>
              <a:ea typeface="Lato"/>
              <a:cs typeface="Lato"/>
              <a:sym typeface="Lato"/>
            </a:endParaRPr>
          </a:p>
        </p:txBody>
      </p:sp>
      <p:sp>
        <p:nvSpPr>
          <p:cNvPr id="661" name="Google Shape;661;p50"/>
          <p:cNvSpPr/>
          <p:nvPr/>
        </p:nvSpPr>
        <p:spPr>
          <a:xfrm>
            <a:off x="2035917" y="2231625"/>
            <a:ext cx="471696" cy="574830"/>
          </a:xfrm>
          <a:custGeom>
            <a:rect b="b" l="l" r="r" t="t"/>
            <a:pathLst>
              <a:path extrusionOk="0" h="49533" w="33306">
                <a:moveTo>
                  <a:pt x="0" y="49287"/>
                </a:moveTo>
                <a:cubicBezTo>
                  <a:pt x="2328" y="48481"/>
                  <a:pt x="11371" y="51883"/>
                  <a:pt x="13967" y="44452"/>
                </a:cubicBezTo>
                <a:cubicBezTo>
                  <a:pt x="16564" y="37021"/>
                  <a:pt x="12356" y="12043"/>
                  <a:pt x="15579" y="4701"/>
                </a:cubicBezTo>
                <a:cubicBezTo>
                  <a:pt x="18802" y="-2640"/>
                  <a:pt x="30352" y="1119"/>
                  <a:pt x="33306" y="403"/>
                </a:cubicBezTo>
              </a:path>
            </a:pathLst>
          </a:custGeom>
          <a:noFill/>
          <a:ln cap="flat" cmpd="sng" w="28575">
            <a:solidFill>
              <a:schemeClr val="dk2"/>
            </a:solidFill>
            <a:prstDash val="solid"/>
            <a:round/>
            <a:headEnd len="med" w="med" type="none"/>
            <a:tailEnd len="med" w="med" type="stealth"/>
          </a:ln>
        </p:spPr>
      </p:sp>
      <p:sp>
        <p:nvSpPr>
          <p:cNvPr id="662" name="Google Shape;662;p50"/>
          <p:cNvSpPr/>
          <p:nvPr/>
        </p:nvSpPr>
        <p:spPr>
          <a:xfrm flipH="1" rot="10800000">
            <a:off x="2035250" y="2806395"/>
            <a:ext cx="442220" cy="574830"/>
          </a:xfrm>
          <a:custGeom>
            <a:rect b="b" l="l" r="r" t="t"/>
            <a:pathLst>
              <a:path extrusionOk="0" h="49533" w="33306">
                <a:moveTo>
                  <a:pt x="0" y="49287"/>
                </a:moveTo>
                <a:cubicBezTo>
                  <a:pt x="2328" y="48481"/>
                  <a:pt x="11371" y="51883"/>
                  <a:pt x="13967" y="44452"/>
                </a:cubicBezTo>
                <a:cubicBezTo>
                  <a:pt x="16564" y="37021"/>
                  <a:pt x="12356" y="12043"/>
                  <a:pt x="15579" y="4701"/>
                </a:cubicBezTo>
                <a:cubicBezTo>
                  <a:pt x="18802" y="-2640"/>
                  <a:pt x="30352" y="1119"/>
                  <a:pt x="33306" y="403"/>
                </a:cubicBezTo>
              </a:path>
            </a:pathLst>
          </a:custGeom>
          <a:noFill/>
          <a:ln cap="flat" cmpd="sng" w="28575">
            <a:solidFill>
              <a:schemeClr val="dk2"/>
            </a:solidFill>
            <a:prstDash val="solid"/>
            <a:round/>
            <a:headEnd len="med" w="med" type="none"/>
            <a:tailEnd len="med" w="med" type="stealth"/>
          </a:ln>
        </p:spPr>
      </p:sp>
      <p:sp>
        <p:nvSpPr>
          <p:cNvPr id="663" name="Google Shape;663;p50"/>
          <p:cNvSpPr/>
          <p:nvPr/>
        </p:nvSpPr>
        <p:spPr>
          <a:xfrm>
            <a:off x="99725" y="3144823"/>
            <a:ext cx="768000" cy="520500"/>
          </a:xfrm>
          <a:prstGeom prst="roundRect">
            <a:avLst>
              <a:gd fmla="val 16667" name="adj"/>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073763"/>
                </a:solidFill>
                <a:latin typeface="Lato"/>
                <a:ea typeface="Lato"/>
                <a:cs typeface="Lato"/>
                <a:sym typeface="Lato"/>
              </a:rPr>
              <a:t>Wheel</a:t>
            </a:r>
            <a:r>
              <a:rPr b="1" lang="en" sz="1000">
                <a:solidFill>
                  <a:srgbClr val="073763"/>
                </a:solidFill>
                <a:latin typeface="Lato"/>
                <a:ea typeface="Lato"/>
                <a:cs typeface="Lato"/>
                <a:sym typeface="Lato"/>
              </a:rPr>
              <a:t> RPM</a:t>
            </a:r>
            <a:endParaRPr b="1" sz="1000">
              <a:solidFill>
                <a:srgbClr val="073763"/>
              </a:solidFill>
              <a:latin typeface="Lato"/>
              <a:ea typeface="Lato"/>
              <a:cs typeface="Lato"/>
              <a:sym typeface="Lato"/>
            </a:endParaRPr>
          </a:p>
        </p:txBody>
      </p:sp>
      <p:sp>
        <p:nvSpPr>
          <p:cNvPr id="664" name="Google Shape;664;p50"/>
          <p:cNvSpPr/>
          <p:nvPr/>
        </p:nvSpPr>
        <p:spPr>
          <a:xfrm>
            <a:off x="236075" y="2041115"/>
            <a:ext cx="871200" cy="765325"/>
          </a:xfrm>
          <a:custGeom>
            <a:rect b="b" l="l" r="r" t="t"/>
            <a:pathLst>
              <a:path extrusionOk="0" h="30613" w="34848">
                <a:moveTo>
                  <a:pt x="0" y="3603"/>
                </a:moveTo>
                <a:cubicBezTo>
                  <a:pt x="2508" y="3222"/>
                  <a:pt x="12181" y="-2525"/>
                  <a:pt x="15049" y="1317"/>
                </a:cubicBezTo>
                <a:cubicBezTo>
                  <a:pt x="17917" y="5159"/>
                  <a:pt x="13909" y="21774"/>
                  <a:pt x="17209" y="26657"/>
                </a:cubicBezTo>
                <a:cubicBezTo>
                  <a:pt x="20509" y="31540"/>
                  <a:pt x="31908" y="29954"/>
                  <a:pt x="34848" y="30613"/>
                </a:cubicBezTo>
              </a:path>
            </a:pathLst>
          </a:custGeom>
          <a:noFill/>
          <a:ln cap="flat" cmpd="sng" w="28575">
            <a:solidFill>
              <a:schemeClr val="dk2"/>
            </a:solidFill>
            <a:prstDash val="solid"/>
            <a:round/>
            <a:headEnd len="med" w="med" type="none"/>
            <a:tailEnd len="med" w="med" type="stealth"/>
          </a:ln>
        </p:spPr>
      </p:sp>
      <p:sp>
        <p:nvSpPr>
          <p:cNvPr id="665" name="Google Shape;665;p50"/>
          <p:cNvSpPr/>
          <p:nvPr/>
        </p:nvSpPr>
        <p:spPr>
          <a:xfrm>
            <a:off x="99725" y="1948213"/>
            <a:ext cx="768000" cy="590100"/>
          </a:xfrm>
          <a:prstGeom prst="roundRect">
            <a:avLst>
              <a:gd fmla="val 16667" name="adj"/>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073763"/>
                </a:solidFill>
                <a:latin typeface="Lato"/>
                <a:ea typeface="Lato"/>
                <a:cs typeface="Lato"/>
                <a:sym typeface="Lato"/>
              </a:rPr>
              <a:t>Wheel </a:t>
            </a:r>
            <a:r>
              <a:rPr b="1" lang="en" sz="1000">
                <a:solidFill>
                  <a:srgbClr val="073763"/>
                </a:solidFill>
                <a:latin typeface="Lato"/>
                <a:ea typeface="Lato"/>
                <a:cs typeface="Lato"/>
                <a:sym typeface="Lato"/>
              </a:rPr>
              <a:t>Torque</a:t>
            </a:r>
            <a:endParaRPr b="1" sz="1000">
              <a:solidFill>
                <a:srgbClr val="073763"/>
              </a:solidFill>
              <a:latin typeface="Lato"/>
              <a:ea typeface="Lato"/>
              <a:cs typeface="Lato"/>
              <a:sym typeface="Lato"/>
            </a:endParaRPr>
          </a:p>
        </p:txBody>
      </p:sp>
      <p:sp>
        <p:nvSpPr>
          <p:cNvPr id="666" name="Google Shape;666;p50"/>
          <p:cNvSpPr/>
          <p:nvPr/>
        </p:nvSpPr>
        <p:spPr>
          <a:xfrm>
            <a:off x="1594200" y="3113950"/>
            <a:ext cx="2397975" cy="671475"/>
          </a:xfrm>
          <a:custGeom>
            <a:rect b="b" l="l" r="r" t="t"/>
            <a:pathLst>
              <a:path extrusionOk="0" h="26859" w="95919">
                <a:moveTo>
                  <a:pt x="95919" y="0"/>
                </a:moveTo>
                <a:cubicBezTo>
                  <a:pt x="93385" y="3992"/>
                  <a:pt x="94656" y="19961"/>
                  <a:pt x="80713" y="23953"/>
                </a:cubicBezTo>
                <a:cubicBezTo>
                  <a:pt x="66770" y="27945"/>
                  <a:pt x="25711" y="27709"/>
                  <a:pt x="12259" y="23953"/>
                </a:cubicBezTo>
                <a:cubicBezTo>
                  <a:pt x="-1193" y="20197"/>
                  <a:pt x="2043" y="5173"/>
                  <a:pt x="0" y="1417"/>
                </a:cubicBezTo>
              </a:path>
            </a:pathLst>
          </a:custGeom>
          <a:noFill/>
          <a:ln cap="flat" cmpd="sng" w="28575">
            <a:solidFill>
              <a:srgbClr val="666666"/>
            </a:solidFill>
            <a:prstDash val="solid"/>
            <a:round/>
            <a:headEnd len="med" w="med" type="none"/>
            <a:tailEnd len="med" w="med" type="stealth"/>
          </a:ln>
        </p:spPr>
      </p:sp>
      <p:sp>
        <p:nvSpPr>
          <p:cNvPr id="667" name="Google Shape;667;p50"/>
          <p:cNvSpPr/>
          <p:nvPr/>
        </p:nvSpPr>
        <p:spPr>
          <a:xfrm>
            <a:off x="3451202" y="2468025"/>
            <a:ext cx="1047000" cy="676800"/>
          </a:xfrm>
          <a:prstGeom prst="roundRect">
            <a:avLst>
              <a:gd fmla="val 16667" name="adj"/>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073763"/>
                </a:solidFill>
                <a:latin typeface="Lato"/>
                <a:ea typeface="Lato"/>
                <a:cs typeface="Lato"/>
                <a:sym typeface="Lato"/>
              </a:rPr>
              <a:t>Automatic Transmission System</a:t>
            </a:r>
            <a:endParaRPr b="1" sz="1000">
              <a:solidFill>
                <a:srgbClr val="073763"/>
              </a:solidFill>
              <a:latin typeface="Lato"/>
              <a:ea typeface="Lato"/>
              <a:cs typeface="Lato"/>
              <a:sym typeface="Lato"/>
            </a:endParaRPr>
          </a:p>
        </p:txBody>
      </p:sp>
      <p:sp>
        <p:nvSpPr>
          <p:cNvPr id="668" name="Google Shape;668;p50"/>
          <p:cNvSpPr txBox="1"/>
          <p:nvPr/>
        </p:nvSpPr>
        <p:spPr>
          <a:xfrm>
            <a:off x="1815800" y="3734925"/>
            <a:ext cx="19161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latin typeface="Lato"/>
                <a:ea typeface="Lato"/>
                <a:cs typeface="Lato"/>
                <a:sym typeface="Lato"/>
              </a:rPr>
              <a:t>Automatic Clutch &amp; Actuator</a:t>
            </a:r>
            <a:endParaRPr sz="900">
              <a:latin typeface="Lato"/>
              <a:ea typeface="Lato"/>
              <a:cs typeface="Lato"/>
              <a:sym typeface="Lato"/>
            </a:endParaRPr>
          </a:p>
        </p:txBody>
      </p:sp>
      <p:sp>
        <p:nvSpPr>
          <p:cNvPr id="669" name="Google Shape;669;p50"/>
          <p:cNvSpPr/>
          <p:nvPr/>
        </p:nvSpPr>
        <p:spPr>
          <a:xfrm>
            <a:off x="2935400" y="2824475"/>
            <a:ext cx="515801" cy="723275"/>
          </a:xfrm>
          <a:custGeom>
            <a:rect b="b" l="l" r="r" t="t"/>
            <a:pathLst>
              <a:path extrusionOk="0" h="52307" w="62389">
                <a:moveTo>
                  <a:pt x="1150" y="52307"/>
                </a:moveTo>
                <a:cubicBezTo>
                  <a:pt x="1956" y="44608"/>
                  <a:pt x="-4221" y="14794"/>
                  <a:pt x="5985" y="6110"/>
                </a:cubicBezTo>
                <a:cubicBezTo>
                  <a:pt x="16192" y="-2574"/>
                  <a:pt x="52988" y="1186"/>
                  <a:pt x="62389" y="201"/>
                </a:cubicBezTo>
              </a:path>
            </a:pathLst>
          </a:custGeom>
          <a:noFill/>
          <a:ln cap="flat" cmpd="sng" w="28575">
            <a:solidFill>
              <a:schemeClr val="dk2"/>
            </a:solidFill>
            <a:prstDash val="solid"/>
            <a:round/>
            <a:headEnd len="med" w="med" type="none"/>
            <a:tailEnd len="med" w="med" type="stealth"/>
          </a:ln>
        </p:spPr>
      </p:sp>
      <p:sp>
        <p:nvSpPr>
          <p:cNvPr id="670" name="Google Shape;670;p50"/>
          <p:cNvSpPr/>
          <p:nvPr/>
        </p:nvSpPr>
        <p:spPr>
          <a:xfrm>
            <a:off x="2580000" y="2059190"/>
            <a:ext cx="871200" cy="765325"/>
          </a:xfrm>
          <a:custGeom>
            <a:rect b="b" l="l" r="r" t="t"/>
            <a:pathLst>
              <a:path extrusionOk="0" h="30613" w="34848">
                <a:moveTo>
                  <a:pt x="0" y="3603"/>
                </a:moveTo>
                <a:cubicBezTo>
                  <a:pt x="2508" y="3222"/>
                  <a:pt x="12181" y="-2525"/>
                  <a:pt x="15049" y="1317"/>
                </a:cubicBezTo>
                <a:cubicBezTo>
                  <a:pt x="17917" y="5159"/>
                  <a:pt x="13909" y="21774"/>
                  <a:pt x="17209" y="26657"/>
                </a:cubicBezTo>
                <a:cubicBezTo>
                  <a:pt x="20509" y="31540"/>
                  <a:pt x="31908" y="29954"/>
                  <a:pt x="34848" y="30613"/>
                </a:cubicBezTo>
              </a:path>
            </a:pathLst>
          </a:custGeom>
          <a:noFill/>
          <a:ln cap="flat" cmpd="sng" w="28575">
            <a:solidFill>
              <a:schemeClr val="dk2"/>
            </a:solidFill>
            <a:prstDash val="solid"/>
            <a:round/>
            <a:headEnd len="med" w="med" type="none"/>
            <a:tailEnd len="med" w="med" type="stealth"/>
          </a:ln>
        </p:spPr>
      </p:sp>
      <p:sp>
        <p:nvSpPr>
          <p:cNvPr id="671" name="Google Shape;671;p50"/>
          <p:cNvSpPr/>
          <p:nvPr/>
        </p:nvSpPr>
        <p:spPr>
          <a:xfrm>
            <a:off x="2507625" y="1948225"/>
            <a:ext cx="768000" cy="590100"/>
          </a:xfrm>
          <a:prstGeom prst="roundRect">
            <a:avLst>
              <a:gd fmla="val 16667" name="adj"/>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073763"/>
                </a:solidFill>
                <a:latin typeface="Lato"/>
                <a:ea typeface="Lato"/>
                <a:cs typeface="Lato"/>
                <a:sym typeface="Lato"/>
              </a:rPr>
              <a:t>Motor Torque</a:t>
            </a:r>
            <a:endParaRPr b="1" sz="1000">
              <a:solidFill>
                <a:srgbClr val="073763"/>
              </a:solidFill>
              <a:latin typeface="Lato"/>
              <a:ea typeface="Lato"/>
              <a:cs typeface="Lato"/>
              <a:sym typeface="Lato"/>
            </a:endParaRPr>
          </a:p>
        </p:txBody>
      </p:sp>
      <p:sp>
        <p:nvSpPr>
          <p:cNvPr id="672" name="Google Shape;672;p50"/>
          <p:cNvSpPr/>
          <p:nvPr/>
        </p:nvSpPr>
        <p:spPr>
          <a:xfrm>
            <a:off x="2466050" y="3144825"/>
            <a:ext cx="768000" cy="520500"/>
          </a:xfrm>
          <a:prstGeom prst="roundRect">
            <a:avLst>
              <a:gd fmla="val 16667" name="adj"/>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073763"/>
                </a:solidFill>
                <a:latin typeface="Lato"/>
                <a:ea typeface="Lato"/>
                <a:cs typeface="Lato"/>
                <a:sym typeface="Lato"/>
              </a:rPr>
              <a:t>Motor RPM</a:t>
            </a:r>
            <a:endParaRPr b="1" sz="1000">
              <a:solidFill>
                <a:srgbClr val="073763"/>
              </a:solidFill>
              <a:latin typeface="Lato"/>
              <a:ea typeface="Lato"/>
              <a:cs typeface="Lato"/>
              <a:sym typeface="La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676" name="Shape 676"/>
        <p:cNvGrpSpPr/>
        <p:nvPr/>
      </p:nvGrpSpPr>
      <p:grpSpPr>
        <a:xfrm>
          <a:off x="0" y="0"/>
          <a:ext cx="0" cy="0"/>
          <a:chOff x="0" y="0"/>
          <a:chExt cx="0" cy="0"/>
        </a:xfrm>
      </p:grpSpPr>
      <p:cxnSp>
        <p:nvCxnSpPr>
          <p:cNvPr id="677" name="Google Shape;677;p51"/>
          <p:cNvCxnSpPr/>
          <p:nvPr/>
        </p:nvCxnSpPr>
        <p:spPr>
          <a:xfrm>
            <a:off x="2758650" y="2790350"/>
            <a:ext cx="719100" cy="0"/>
          </a:xfrm>
          <a:prstGeom prst="straightConnector1">
            <a:avLst/>
          </a:prstGeom>
          <a:noFill/>
          <a:ln cap="flat" cmpd="sng" w="28575">
            <a:solidFill>
              <a:schemeClr val="dk2"/>
            </a:solidFill>
            <a:prstDash val="solid"/>
            <a:round/>
            <a:headEnd len="med" w="med" type="none"/>
            <a:tailEnd len="med" w="med" type="stealth"/>
          </a:ln>
        </p:spPr>
      </p:cxnSp>
      <p:sp>
        <p:nvSpPr>
          <p:cNvPr id="678" name="Google Shape;678;p51"/>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200"/>
              <a:buFont typeface="Arial"/>
              <a:buNone/>
            </a:pPr>
            <a:r>
              <a:rPr lang="en" sz="2400">
                <a:solidFill>
                  <a:srgbClr val="F3F3F3"/>
                </a:solidFill>
                <a:latin typeface="Lato"/>
                <a:ea typeface="Lato"/>
                <a:cs typeface="Lato"/>
                <a:sym typeface="Lato"/>
              </a:rPr>
              <a:t>Battery</a:t>
            </a:r>
            <a:r>
              <a:rPr lang="en" sz="2400">
                <a:solidFill>
                  <a:srgbClr val="48BACA"/>
                </a:solidFill>
                <a:latin typeface="Lato Black"/>
                <a:ea typeface="Lato Black"/>
                <a:cs typeface="Lato Black"/>
                <a:sym typeface="Lato Black"/>
              </a:rPr>
              <a:t> Optimisation</a:t>
            </a:r>
            <a:endParaRPr i="0" sz="2400" u="none" cap="none" strike="noStrike">
              <a:solidFill>
                <a:srgbClr val="48BACA"/>
              </a:solidFill>
              <a:latin typeface="Lato Black"/>
              <a:ea typeface="Lato Black"/>
              <a:cs typeface="Lato Black"/>
              <a:sym typeface="Lato Black"/>
            </a:endParaRPr>
          </a:p>
        </p:txBody>
      </p:sp>
      <p:pic>
        <p:nvPicPr>
          <p:cNvPr id="679" name="Google Shape;679;p51"/>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680" name="Google Shape;680;p51"/>
          <p:cNvPicPr preferRelativeResize="0"/>
          <p:nvPr/>
        </p:nvPicPr>
        <p:blipFill>
          <a:blip r:embed="rId4">
            <a:alphaModFix amt="16000"/>
          </a:blip>
          <a:stretch>
            <a:fillRect/>
          </a:stretch>
        </p:blipFill>
        <p:spPr>
          <a:xfrm rot="9900000">
            <a:off x="5128900" y="2442475"/>
            <a:ext cx="4289526" cy="2716700"/>
          </a:xfrm>
          <a:prstGeom prst="rect">
            <a:avLst/>
          </a:prstGeom>
          <a:noFill/>
          <a:ln>
            <a:noFill/>
          </a:ln>
        </p:spPr>
      </p:pic>
      <p:sp>
        <p:nvSpPr>
          <p:cNvPr id="681" name="Google Shape;681;p51"/>
          <p:cNvSpPr txBox="1"/>
          <p:nvPr/>
        </p:nvSpPr>
        <p:spPr>
          <a:xfrm>
            <a:off x="0" y="941225"/>
            <a:ext cx="4111500" cy="407100"/>
          </a:xfrm>
          <a:prstGeom prst="rect">
            <a:avLst/>
          </a:prstGeom>
          <a:solidFill>
            <a:srgbClr val="23656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700">
                <a:solidFill>
                  <a:srgbClr val="EFEFEF"/>
                </a:solidFill>
                <a:latin typeface="Open Sans ExtraBold"/>
                <a:ea typeface="Open Sans ExtraBold"/>
                <a:cs typeface="Open Sans ExtraBold"/>
                <a:sym typeface="Open Sans ExtraBold"/>
              </a:rPr>
              <a:t>OPTIMISATION METHODS</a:t>
            </a:r>
            <a:endParaRPr sz="1700">
              <a:solidFill>
                <a:srgbClr val="EFEFEF"/>
              </a:solidFill>
              <a:latin typeface="Open Sans ExtraBold"/>
              <a:ea typeface="Open Sans ExtraBold"/>
              <a:cs typeface="Open Sans ExtraBold"/>
              <a:sym typeface="Open Sans ExtraBold"/>
            </a:endParaRPr>
          </a:p>
        </p:txBody>
      </p:sp>
      <p:sp>
        <p:nvSpPr>
          <p:cNvPr id="682" name="Google Shape;682;p51"/>
          <p:cNvSpPr/>
          <p:nvPr/>
        </p:nvSpPr>
        <p:spPr>
          <a:xfrm>
            <a:off x="3834275" y="941225"/>
            <a:ext cx="399000" cy="4071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683" name="Google Shape;683;p51"/>
          <p:cNvPicPr preferRelativeResize="0"/>
          <p:nvPr/>
        </p:nvPicPr>
        <p:blipFill rotWithShape="1">
          <a:blip r:embed="rId5">
            <a:alphaModFix/>
          </a:blip>
          <a:srcRect b="11281" l="20956" r="20375" t="10435"/>
          <a:stretch/>
        </p:blipFill>
        <p:spPr>
          <a:xfrm>
            <a:off x="3815225" y="985441"/>
            <a:ext cx="360900" cy="318660"/>
          </a:xfrm>
          <a:prstGeom prst="rect">
            <a:avLst/>
          </a:prstGeom>
          <a:noFill/>
          <a:ln>
            <a:noFill/>
          </a:ln>
        </p:spPr>
      </p:pic>
      <p:sp>
        <p:nvSpPr>
          <p:cNvPr id="684" name="Google Shape;684;p51"/>
          <p:cNvSpPr txBox="1"/>
          <p:nvPr/>
        </p:nvSpPr>
        <p:spPr>
          <a:xfrm>
            <a:off x="114725" y="1487125"/>
            <a:ext cx="41115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23656F"/>
                </a:solidFill>
                <a:latin typeface="Open Sans"/>
                <a:ea typeface="Open Sans"/>
                <a:cs typeface="Open Sans"/>
                <a:sym typeface="Open Sans"/>
              </a:rPr>
              <a:t>REGENERATIVE BRAKING</a:t>
            </a:r>
            <a:r>
              <a:rPr b="1" lang="en" sz="1300">
                <a:solidFill>
                  <a:srgbClr val="23656F"/>
                </a:solidFill>
                <a:latin typeface="Open Sans"/>
                <a:ea typeface="Open Sans"/>
                <a:cs typeface="Open Sans"/>
                <a:sym typeface="Open Sans"/>
              </a:rPr>
              <a:t> SYSTEM:</a:t>
            </a:r>
            <a:endParaRPr sz="1000">
              <a:solidFill>
                <a:schemeClr val="dk1"/>
              </a:solidFill>
              <a:latin typeface="Lato"/>
              <a:ea typeface="Lato"/>
              <a:cs typeface="Lato"/>
              <a:sym typeface="Lato"/>
            </a:endParaRPr>
          </a:p>
        </p:txBody>
      </p:sp>
      <p:sp>
        <p:nvSpPr>
          <p:cNvPr id="685" name="Google Shape;685;p51"/>
          <p:cNvSpPr txBox="1"/>
          <p:nvPr/>
        </p:nvSpPr>
        <p:spPr>
          <a:xfrm>
            <a:off x="114725" y="4013775"/>
            <a:ext cx="9018000" cy="111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23656F"/>
                </a:solidFill>
                <a:latin typeface="Open Sans"/>
                <a:ea typeface="Open Sans"/>
                <a:cs typeface="Open Sans"/>
                <a:sym typeface="Open Sans"/>
              </a:rPr>
              <a:t>Outcomes:</a:t>
            </a:r>
            <a:endParaRPr b="1" sz="1300">
              <a:solidFill>
                <a:srgbClr val="23656F"/>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b="1" sz="200">
              <a:latin typeface="Open Sans"/>
              <a:ea typeface="Open Sans"/>
              <a:cs typeface="Open Sans"/>
              <a:sym typeface="Open Sans"/>
            </a:endParaRPr>
          </a:p>
          <a:p>
            <a:pPr indent="-298450" lvl="0" marL="457200" rtl="0" algn="l">
              <a:lnSpc>
                <a:spcPct val="125000"/>
              </a:lnSpc>
              <a:spcBef>
                <a:spcPts val="0"/>
              </a:spcBef>
              <a:spcAft>
                <a:spcPts val="0"/>
              </a:spcAft>
              <a:buClr>
                <a:srgbClr val="595959"/>
              </a:buClr>
              <a:buSzPts val="1100"/>
              <a:buFont typeface="Open Sans"/>
              <a:buChar char="●"/>
            </a:pPr>
            <a:r>
              <a:rPr b="1" lang="en" sz="1100">
                <a:solidFill>
                  <a:srgbClr val="595959"/>
                </a:solidFill>
                <a:latin typeface="Lato"/>
                <a:ea typeface="Lato"/>
                <a:cs typeface="Lato"/>
                <a:sym typeface="Lato"/>
              </a:rPr>
              <a:t>The maximum Regen Torque &amp; Current have been limited to protect the </a:t>
            </a:r>
            <a:r>
              <a:rPr lang="en" sz="1200">
                <a:solidFill>
                  <a:srgbClr val="23656F"/>
                </a:solidFill>
                <a:latin typeface="Lato Black"/>
                <a:ea typeface="Lato Black"/>
                <a:cs typeface="Lato Black"/>
                <a:sym typeface="Lato Black"/>
              </a:rPr>
              <a:t>Motor</a:t>
            </a:r>
            <a:r>
              <a:rPr b="1" lang="en" sz="1100">
                <a:solidFill>
                  <a:srgbClr val="595959"/>
                </a:solidFill>
                <a:latin typeface="Lato"/>
                <a:ea typeface="Lato"/>
                <a:cs typeface="Lato"/>
                <a:sym typeface="Lato"/>
              </a:rPr>
              <a:t> &amp; the </a:t>
            </a:r>
            <a:r>
              <a:rPr lang="en" sz="1200">
                <a:solidFill>
                  <a:srgbClr val="23656F"/>
                </a:solidFill>
                <a:latin typeface="Lato Black"/>
                <a:ea typeface="Lato Black"/>
                <a:cs typeface="Lato Black"/>
                <a:sym typeface="Lato Black"/>
              </a:rPr>
              <a:t>Li-ion batteries</a:t>
            </a:r>
            <a:r>
              <a:rPr b="1" lang="en" sz="1100">
                <a:solidFill>
                  <a:srgbClr val="595959"/>
                </a:solidFill>
                <a:latin typeface="Lato"/>
                <a:ea typeface="Lato"/>
                <a:cs typeface="Lato"/>
                <a:sym typeface="Lato"/>
              </a:rPr>
              <a:t> from damage</a:t>
            </a:r>
            <a:endParaRPr b="1" sz="1100">
              <a:solidFill>
                <a:srgbClr val="595959"/>
              </a:solidFill>
              <a:latin typeface="Lato"/>
              <a:ea typeface="Lato"/>
              <a:cs typeface="Lato"/>
              <a:sym typeface="Lato"/>
            </a:endParaRPr>
          </a:p>
          <a:p>
            <a:pPr indent="-298450" lvl="0" marL="457200" rtl="0" algn="l">
              <a:lnSpc>
                <a:spcPct val="125000"/>
              </a:lnSpc>
              <a:spcBef>
                <a:spcPts val="0"/>
              </a:spcBef>
              <a:spcAft>
                <a:spcPts val="0"/>
              </a:spcAft>
              <a:buClr>
                <a:srgbClr val="595959"/>
              </a:buClr>
              <a:buSzPts val="1100"/>
              <a:buFont typeface="Lato"/>
              <a:buChar char="●"/>
            </a:pPr>
            <a:r>
              <a:rPr b="1" lang="en" sz="1100">
                <a:solidFill>
                  <a:srgbClr val="595959"/>
                </a:solidFill>
                <a:latin typeface="Lato"/>
                <a:ea typeface="Lato"/>
                <a:cs typeface="Lato"/>
                <a:sym typeface="Lato"/>
              </a:rPr>
              <a:t>A very conservative </a:t>
            </a:r>
            <a:r>
              <a:rPr lang="en" sz="1100">
                <a:solidFill>
                  <a:srgbClr val="23656F"/>
                </a:solidFill>
                <a:latin typeface="Lato Black"/>
                <a:ea typeface="Lato Black"/>
                <a:cs typeface="Lato Black"/>
                <a:sym typeface="Lato Black"/>
              </a:rPr>
              <a:t>SOC Strategy</a:t>
            </a:r>
            <a:r>
              <a:rPr b="1" lang="en" sz="1100">
                <a:solidFill>
                  <a:srgbClr val="595959"/>
                </a:solidFill>
                <a:latin typeface="Lato"/>
                <a:ea typeface="Lato"/>
                <a:cs typeface="Lato"/>
                <a:sym typeface="Lato"/>
              </a:rPr>
              <a:t> of </a:t>
            </a:r>
            <a:r>
              <a:rPr lang="en" sz="1200">
                <a:solidFill>
                  <a:srgbClr val="23656F"/>
                </a:solidFill>
                <a:latin typeface="Lato Black"/>
                <a:ea typeface="Lato Black"/>
                <a:cs typeface="Lato Black"/>
                <a:sym typeface="Lato Black"/>
              </a:rPr>
              <a:t>0.65</a:t>
            </a:r>
            <a:r>
              <a:rPr b="1" lang="en" sz="1100">
                <a:solidFill>
                  <a:srgbClr val="595959"/>
                </a:solidFill>
                <a:latin typeface="Lato"/>
                <a:ea typeface="Lato"/>
                <a:cs typeface="Lato"/>
                <a:sym typeface="Lato"/>
              </a:rPr>
              <a:t> has been adopted to prevent the batteries to charge when the SOC is too high or too low</a:t>
            </a:r>
            <a:endParaRPr b="1" sz="1100">
              <a:solidFill>
                <a:srgbClr val="595959"/>
              </a:solidFill>
              <a:latin typeface="Lato"/>
              <a:ea typeface="Lato"/>
              <a:cs typeface="Lato"/>
              <a:sym typeface="Lato"/>
            </a:endParaRPr>
          </a:p>
          <a:p>
            <a:pPr indent="-298450" lvl="0" marL="457200" rtl="0" algn="l">
              <a:lnSpc>
                <a:spcPct val="125000"/>
              </a:lnSpc>
              <a:spcBef>
                <a:spcPts val="0"/>
              </a:spcBef>
              <a:spcAft>
                <a:spcPts val="0"/>
              </a:spcAft>
              <a:buClr>
                <a:srgbClr val="595959"/>
              </a:buClr>
              <a:buSzPts val="1100"/>
              <a:buFont typeface="Lato"/>
              <a:buChar char="●"/>
            </a:pPr>
            <a:r>
              <a:rPr b="1" lang="en" sz="1100">
                <a:solidFill>
                  <a:srgbClr val="595959"/>
                </a:solidFill>
                <a:latin typeface="Lato"/>
                <a:ea typeface="Lato"/>
                <a:cs typeface="Lato"/>
                <a:sym typeface="Lato"/>
              </a:rPr>
              <a:t>Using the specified configuration of Regenerative Braking system, we can reduce the required battery size by </a:t>
            </a:r>
            <a:r>
              <a:rPr lang="en" sz="1300">
                <a:solidFill>
                  <a:srgbClr val="23656F"/>
                </a:solidFill>
                <a:latin typeface="Lato Black"/>
                <a:ea typeface="Lato Black"/>
                <a:cs typeface="Lato Black"/>
                <a:sym typeface="Lato Black"/>
              </a:rPr>
              <a:t>8</a:t>
            </a:r>
            <a:r>
              <a:rPr lang="en" sz="1300">
                <a:solidFill>
                  <a:srgbClr val="23656F"/>
                </a:solidFill>
                <a:latin typeface="Lato Black"/>
                <a:ea typeface="Lato Black"/>
                <a:cs typeface="Lato Black"/>
                <a:sym typeface="Lato Black"/>
              </a:rPr>
              <a:t>.1 kWh (13.3%)</a:t>
            </a:r>
            <a:endParaRPr sz="1700">
              <a:solidFill>
                <a:srgbClr val="23656F"/>
              </a:solidFill>
              <a:latin typeface="Lato Black"/>
              <a:ea typeface="Lato Black"/>
              <a:cs typeface="Lato Black"/>
              <a:sym typeface="Lato Black"/>
            </a:endParaRPr>
          </a:p>
        </p:txBody>
      </p:sp>
      <p:graphicFrame>
        <p:nvGraphicFramePr>
          <p:cNvPr id="686" name="Google Shape;686;p51"/>
          <p:cNvGraphicFramePr/>
          <p:nvPr/>
        </p:nvGraphicFramePr>
        <p:xfrm>
          <a:off x="5599375" y="1757600"/>
          <a:ext cx="3000000" cy="3000000"/>
        </p:xfrm>
        <a:graphic>
          <a:graphicData uri="http://schemas.openxmlformats.org/drawingml/2006/table">
            <a:tbl>
              <a:tblPr>
                <a:noFill/>
                <a:tableStyleId>{43AF8DD5-E6FA-4577-8082-F1EEE736C7BF}</a:tableStyleId>
              </a:tblPr>
              <a:tblGrid>
                <a:gridCol w="2364450"/>
                <a:gridCol w="994050"/>
              </a:tblGrid>
              <a:tr h="270950">
                <a:tc>
                  <a:txBody>
                    <a:bodyPr/>
                    <a:lstStyle/>
                    <a:p>
                      <a:pPr indent="0" lvl="0" marL="0" rtl="0" algn="ctr">
                        <a:spcBef>
                          <a:spcPts val="0"/>
                        </a:spcBef>
                        <a:spcAft>
                          <a:spcPts val="0"/>
                        </a:spcAft>
                        <a:buNone/>
                      </a:pPr>
                      <a:r>
                        <a:rPr b="1" lang="en" sz="1100">
                          <a:solidFill>
                            <a:srgbClr val="0C343D"/>
                          </a:solidFill>
                          <a:latin typeface="Lato"/>
                          <a:ea typeface="Lato"/>
                          <a:cs typeface="Lato"/>
                          <a:sym typeface="Lato"/>
                        </a:rPr>
                        <a:t>Specifications</a:t>
                      </a:r>
                      <a:endParaRPr b="1" sz="1100">
                        <a:solidFill>
                          <a:srgbClr val="0C343D"/>
                        </a:solidFill>
                        <a:latin typeface="Lato"/>
                        <a:ea typeface="Lato"/>
                        <a:cs typeface="Lato"/>
                        <a:sym typeface="Lato"/>
                      </a:endParaRPr>
                    </a:p>
                  </a:txBody>
                  <a:tcPr marT="45700" marB="45700" marR="91425" marL="91425">
                    <a:solidFill>
                      <a:srgbClr val="A2C4C9"/>
                    </a:solidFill>
                  </a:tcPr>
                </a:tc>
                <a:tc>
                  <a:txBody>
                    <a:bodyPr/>
                    <a:lstStyle/>
                    <a:p>
                      <a:pPr indent="0" lvl="0" marL="0" rtl="0" algn="ctr">
                        <a:spcBef>
                          <a:spcPts val="0"/>
                        </a:spcBef>
                        <a:spcAft>
                          <a:spcPts val="0"/>
                        </a:spcAft>
                        <a:buNone/>
                      </a:pPr>
                      <a:r>
                        <a:rPr lang="en" sz="1100">
                          <a:solidFill>
                            <a:srgbClr val="0C343D"/>
                          </a:solidFill>
                          <a:latin typeface="Lato Black"/>
                          <a:ea typeface="Lato Black"/>
                          <a:cs typeface="Lato Black"/>
                          <a:sym typeface="Lato Black"/>
                        </a:rPr>
                        <a:t>Case 1*</a:t>
                      </a:r>
                      <a:endParaRPr sz="1100">
                        <a:solidFill>
                          <a:srgbClr val="0C343D"/>
                        </a:solidFill>
                        <a:latin typeface="Lato Black"/>
                        <a:ea typeface="Lato Black"/>
                        <a:cs typeface="Lato Black"/>
                        <a:sym typeface="Lato Black"/>
                      </a:endParaRPr>
                    </a:p>
                  </a:txBody>
                  <a:tcPr marT="45700" marB="45700" marR="91425" marL="91425">
                    <a:solidFill>
                      <a:srgbClr val="A2C4C9"/>
                    </a:solidFill>
                  </a:tcPr>
                </a:tc>
              </a:tr>
              <a:tr h="255000">
                <a:tc>
                  <a:txBody>
                    <a:bodyPr/>
                    <a:lstStyle/>
                    <a:p>
                      <a:pPr indent="0" lvl="0" marL="0" rtl="0" algn="ctr">
                        <a:spcBef>
                          <a:spcPts val="0"/>
                        </a:spcBef>
                        <a:spcAft>
                          <a:spcPts val="0"/>
                        </a:spcAft>
                        <a:buNone/>
                      </a:pPr>
                      <a:r>
                        <a:rPr b="1" lang="en" sz="1000">
                          <a:solidFill>
                            <a:srgbClr val="0C343D"/>
                          </a:solidFill>
                          <a:latin typeface="Lato"/>
                          <a:ea typeface="Lato"/>
                          <a:cs typeface="Lato"/>
                          <a:sym typeface="Lato"/>
                        </a:rPr>
                        <a:t>Peak Regen Torque </a:t>
                      </a:r>
                      <a:endParaRPr b="1" sz="1000">
                        <a:solidFill>
                          <a:srgbClr val="0C343D"/>
                        </a:solidFill>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1000">
                          <a:latin typeface="Lato"/>
                          <a:ea typeface="Lato"/>
                          <a:cs typeface="Lato"/>
                          <a:sym typeface="Lato"/>
                        </a:rPr>
                        <a:t>90 Nm</a:t>
                      </a:r>
                      <a:endParaRPr sz="1000">
                        <a:latin typeface="Lato"/>
                        <a:ea typeface="Lato"/>
                        <a:cs typeface="Lato"/>
                        <a:sym typeface="Lato"/>
                      </a:endParaRPr>
                    </a:p>
                  </a:txBody>
                  <a:tcPr marT="45700" marB="45700" marR="91425" marL="91425">
                    <a:solidFill>
                      <a:srgbClr val="D9EAD3"/>
                    </a:solidFill>
                  </a:tcPr>
                </a:tc>
              </a:tr>
              <a:tr h="255000">
                <a:tc>
                  <a:txBody>
                    <a:bodyPr/>
                    <a:lstStyle/>
                    <a:p>
                      <a:pPr indent="0" lvl="0" marL="0" rtl="0" algn="ctr">
                        <a:spcBef>
                          <a:spcPts val="0"/>
                        </a:spcBef>
                        <a:spcAft>
                          <a:spcPts val="0"/>
                        </a:spcAft>
                        <a:buNone/>
                      </a:pPr>
                      <a:r>
                        <a:rPr b="1" lang="en" sz="1000">
                          <a:solidFill>
                            <a:srgbClr val="0C343D"/>
                          </a:solidFill>
                          <a:latin typeface="Lato"/>
                          <a:ea typeface="Lato"/>
                          <a:cs typeface="Lato"/>
                          <a:sym typeface="Lato"/>
                        </a:rPr>
                        <a:t>Peak Regen Current (Ballast Circuit)</a:t>
                      </a:r>
                      <a:endParaRPr b="1" sz="1000">
                        <a:solidFill>
                          <a:srgbClr val="0C343D"/>
                        </a:solidFill>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1000">
                          <a:latin typeface="Lato"/>
                          <a:ea typeface="Lato"/>
                          <a:cs typeface="Lato"/>
                          <a:sym typeface="Lato"/>
                        </a:rPr>
                        <a:t>40 A</a:t>
                      </a:r>
                      <a:endParaRPr sz="1000">
                        <a:latin typeface="Lato"/>
                        <a:ea typeface="Lato"/>
                        <a:cs typeface="Lato"/>
                        <a:sym typeface="Lato"/>
                      </a:endParaRPr>
                    </a:p>
                  </a:txBody>
                  <a:tcPr marT="45700" marB="45700" marR="91425" marL="91425">
                    <a:solidFill>
                      <a:srgbClr val="D9EAD3"/>
                    </a:solidFill>
                  </a:tcPr>
                </a:tc>
              </a:tr>
              <a:tr h="255000">
                <a:tc>
                  <a:txBody>
                    <a:bodyPr/>
                    <a:lstStyle/>
                    <a:p>
                      <a:pPr indent="0" lvl="0" marL="0" rtl="0" algn="ctr">
                        <a:spcBef>
                          <a:spcPts val="0"/>
                        </a:spcBef>
                        <a:spcAft>
                          <a:spcPts val="0"/>
                        </a:spcAft>
                        <a:buNone/>
                      </a:pPr>
                      <a:r>
                        <a:rPr b="1" lang="en" sz="1000">
                          <a:solidFill>
                            <a:srgbClr val="0C343D"/>
                          </a:solidFill>
                          <a:latin typeface="Lato"/>
                          <a:ea typeface="Lato"/>
                          <a:cs typeface="Lato"/>
                          <a:sym typeface="Lato"/>
                        </a:rPr>
                        <a:t>SOC </a:t>
                      </a:r>
                      <a:r>
                        <a:rPr b="1" lang="en" sz="1000">
                          <a:solidFill>
                            <a:srgbClr val="0C343D"/>
                          </a:solidFill>
                          <a:latin typeface="Lato"/>
                          <a:ea typeface="Lato"/>
                          <a:cs typeface="Lato"/>
                          <a:sym typeface="Lato"/>
                        </a:rPr>
                        <a:t>Strategy*</a:t>
                      </a:r>
                      <a:endParaRPr b="1" sz="1000">
                        <a:solidFill>
                          <a:srgbClr val="0C343D"/>
                        </a:solidFill>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1000">
                          <a:latin typeface="Lato"/>
                          <a:ea typeface="Lato"/>
                          <a:cs typeface="Lato"/>
                          <a:sym typeface="Lato"/>
                        </a:rPr>
                        <a:t>0.65</a:t>
                      </a:r>
                      <a:endParaRPr sz="1000">
                        <a:latin typeface="Lato"/>
                        <a:ea typeface="Lato"/>
                        <a:cs typeface="Lato"/>
                        <a:sym typeface="Lato"/>
                      </a:endParaRPr>
                    </a:p>
                  </a:txBody>
                  <a:tcPr marT="45700" marB="45700" marR="91425" marL="91425">
                    <a:solidFill>
                      <a:srgbClr val="D9EAD3"/>
                    </a:solidFill>
                  </a:tcPr>
                </a:tc>
              </a:tr>
              <a:tr h="255000">
                <a:tc>
                  <a:txBody>
                    <a:bodyPr/>
                    <a:lstStyle/>
                    <a:p>
                      <a:pPr indent="0" lvl="0" marL="0" rtl="0" algn="ctr">
                        <a:spcBef>
                          <a:spcPts val="0"/>
                        </a:spcBef>
                        <a:spcAft>
                          <a:spcPts val="0"/>
                        </a:spcAft>
                        <a:buNone/>
                      </a:pPr>
                      <a:r>
                        <a:rPr b="1" lang="en" sz="1000">
                          <a:solidFill>
                            <a:srgbClr val="0C343D"/>
                          </a:solidFill>
                          <a:latin typeface="Lato"/>
                          <a:ea typeface="Lato"/>
                          <a:cs typeface="Lato"/>
                          <a:sym typeface="Lato"/>
                        </a:rPr>
                        <a:t>Regenerative Energy (kWh)</a:t>
                      </a:r>
                      <a:endParaRPr b="1" sz="1000">
                        <a:solidFill>
                          <a:srgbClr val="0C343D"/>
                        </a:solidFill>
                        <a:latin typeface="Lato"/>
                        <a:ea typeface="Lato"/>
                        <a:cs typeface="Lato"/>
                        <a:sym typeface="Lato"/>
                      </a:endParaRPr>
                    </a:p>
                  </a:txBody>
                  <a:tcPr marT="45700" marB="45700" marR="91425" marL="91425">
                    <a:solidFill>
                      <a:srgbClr val="D0E0E3"/>
                    </a:solidFill>
                  </a:tcPr>
                </a:tc>
                <a:tc>
                  <a:txBody>
                    <a:bodyPr/>
                    <a:lstStyle/>
                    <a:p>
                      <a:pPr indent="0" lvl="0" marL="0" rtl="0" algn="ctr">
                        <a:spcBef>
                          <a:spcPts val="0"/>
                        </a:spcBef>
                        <a:spcAft>
                          <a:spcPts val="0"/>
                        </a:spcAft>
                        <a:buNone/>
                      </a:pPr>
                      <a:r>
                        <a:rPr b="1" lang="en" sz="1000">
                          <a:solidFill>
                            <a:srgbClr val="274E13"/>
                          </a:solidFill>
                          <a:latin typeface="Lato"/>
                          <a:ea typeface="Lato"/>
                          <a:cs typeface="Lato"/>
                          <a:sym typeface="Lato"/>
                        </a:rPr>
                        <a:t>8.1</a:t>
                      </a:r>
                      <a:endParaRPr b="1" sz="1000">
                        <a:solidFill>
                          <a:srgbClr val="274E13"/>
                        </a:solidFill>
                        <a:latin typeface="Lato"/>
                        <a:ea typeface="Lato"/>
                        <a:cs typeface="Lato"/>
                        <a:sym typeface="Lato"/>
                      </a:endParaRPr>
                    </a:p>
                  </a:txBody>
                  <a:tcPr marT="45700" marB="45700" marR="91425" marL="91425">
                    <a:solidFill>
                      <a:srgbClr val="D9EAD3"/>
                    </a:solidFill>
                  </a:tcPr>
                </a:tc>
              </a:tr>
              <a:tr h="287425">
                <a:tc>
                  <a:txBody>
                    <a:bodyPr/>
                    <a:lstStyle/>
                    <a:p>
                      <a:pPr indent="0" lvl="0" marL="0" rtl="0" algn="ctr">
                        <a:spcBef>
                          <a:spcPts val="0"/>
                        </a:spcBef>
                        <a:spcAft>
                          <a:spcPts val="0"/>
                        </a:spcAft>
                        <a:buNone/>
                      </a:pPr>
                      <a:r>
                        <a:rPr b="1" lang="en" sz="1000">
                          <a:solidFill>
                            <a:srgbClr val="0C343D"/>
                          </a:solidFill>
                          <a:latin typeface="Lato"/>
                          <a:ea typeface="Lato"/>
                          <a:cs typeface="Lato"/>
                          <a:sym typeface="Lato"/>
                        </a:rPr>
                        <a:t>% Energy Regenerated</a:t>
                      </a:r>
                      <a:endParaRPr b="1" sz="1000">
                        <a:solidFill>
                          <a:srgbClr val="0C343D"/>
                        </a:solidFill>
                        <a:latin typeface="Lato"/>
                        <a:ea typeface="Lato"/>
                        <a:cs typeface="Lato"/>
                        <a:sym typeface="Lato"/>
                      </a:endParaRPr>
                    </a:p>
                  </a:txBody>
                  <a:tcPr marT="45700" marB="45700" marR="91425" marL="91425" anchor="ctr">
                    <a:solidFill>
                      <a:srgbClr val="D0E0E3"/>
                    </a:solidFill>
                  </a:tcPr>
                </a:tc>
                <a:tc>
                  <a:txBody>
                    <a:bodyPr/>
                    <a:lstStyle/>
                    <a:p>
                      <a:pPr indent="0" lvl="0" marL="0" rtl="0" algn="ctr">
                        <a:spcBef>
                          <a:spcPts val="0"/>
                        </a:spcBef>
                        <a:spcAft>
                          <a:spcPts val="0"/>
                        </a:spcAft>
                        <a:buNone/>
                      </a:pPr>
                      <a:r>
                        <a:rPr b="1" lang="en" sz="1000">
                          <a:solidFill>
                            <a:srgbClr val="274E13"/>
                          </a:solidFill>
                          <a:latin typeface="Lato"/>
                          <a:ea typeface="Lato"/>
                          <a:cs typeface="Lato"/>
                          <a:sym typeface="Lato"/>
                        </a:rPr>
                        <a:t>13.3</a:t>
                      </a:r>
                      <a:endParaRPr b="1" sz="1000">
                        <a:solidFill>
                          <a:srgbClr val="274E13"/>
                        </a:solidFill>
                        <a:latin typeface="Lato"/>
                        <a:ea typeface="Lato"/>
                        <a:cs typeface="Lato"/>
                        <a:sym typeface="Lato"/>
                      </a:endParaRPr>
                    </a:p>
                  </a:txBody>
                  <a:tcPr marT="45700" marB="45700" marR="91425" marL="91425" anchor="ctr">
                    <a:solidFill>
                      <a:srgbClr val="D9EAD3"/>
                    </a:solidFill>
                  </a:tcPr>
                </a:tc>
              </a:tr>
            </a:tbl>
          </a:graphicData>
        </a:graphic>
      </p:graphicFrame>
      <p:sp>
        <p:nvSpPr>
          <p:cNvPr id="687" name="Google Shape;687;p51"/>
          <p:cNvSpPr txBox="1"/>
          <p:nvPr/>
        </p:nvSpPr>
        <p:spPr>
          <a:xfrm>
            <a:off x="5481300" y="3335975"/>
            <a:ext cx="3853200" cy="5310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en" sz="1000">
                <a:solidFill>
                  <a:schemeClr val="dk1"/>
                </a:solidFill>
                <a:latin typeface="Lato"/>
                <a:ea typeface="Lato"/>
                <a:cs typeface="Lato"/>
                <a:sym typeface="Lato"/>
              </a:rPr>
              <a:t>*  SOC Strategy represents the decision to not store regenerated power to the battery at certain range of SOC (80-100 &amp; 0-15)</a:t>
            </a:r>
            <a:endParaRPr sz="1000">
              <a:solidFill>
                <a:schemeClr val="dk1"/>
              </a:solidFill>
              <a:latin typeface="Lato"/>
              <a:ea typeface="Lato"/>
              <a:cs typeface="Lato"/>
              <a:sym typeface="Lato"/>
            </a:endParaRPr>
          </a:p>
        </p:txBody>
      </p:sp>
      <p:sp>
        <p:nvSpPr>
          <p:cNvPr id="688" name="Google Shape;688;p51"/>
          <p:cNvSpPr/>
          <p:nvPr/>
        </p:nvSpPr>
        <p:spPr>
          <a:xfrm>
            <a:off x="4530200" y="2451950"/>
            <a:ext cx="871200" cy="676800"/>
          </a:xfrm>
          <a:prstGeom prst="roundRect">
            <a:avLst>
              <a:gd fmla="val 16667" name="adj"/>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073763"/>
                </a:solidFill>
                <a:latin typeface="Lato"/>
                <a:ea typeface="Lato"/>
                <a:cs typeface="Lato"/>
                <a:sym typeface="Lato"/>
              </a:rPr>
              <a:t>Battery</a:t>
            </a:r>
            <a:endParaRPr b="1" sz="1000">
              <a:solidFill>
                <a:srgbClr val="073763"/>
              </a:solidFill>
              <a:latin typeface="Lato"/>
              <a:ea typeface="Lato"/>
              <a:cs typeface="Lato"/>
              <a:sym typeface="Lato"/>
            </a:endParaRPr>
          </a:p>
        </p:txBody>
      </p:sp>
      <p:sp>
        <p:nvSpPr>
          <p:cNvPr id="689" name="Google Shape;689;p51"/>
          <p:cNvSpPr/>
          <p:nvPr/>
        </p:nvSpPr>
        <p:spPr>
          <a:xfrm>
            <a:off x="2175975" y="2451950"/>
            <a:ext cx="1017300" cy="676800"/>
          </a:xfrm>
          <a:prstGeom prst="roundRect">
            <a:avLst>
              <a:gd fmla="val 16667" name="adj"/>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073763"/>
                </a:solidFill>
                <a:latin typeface="Lato"/>
                <a:ea typeface="Lato"/>
                <a:cs typeface="Lato"/>
                <a:sym typeface="Lato"/>
              </a:rPr>
              <a:t>Regenerated</a:t>
            </a:r>
            <a:endParaRPr b="1" sz="1000">
              <a:solidFill>
                <a:srgbClr val="073763"/>
              </a:solidFill>
              <a:latin typeface="Lato"/>
              <a:ea typeface="Lato"/>
              <a:cs typeface="Lato"/>
              <a:sym typeface="Lato"/>
            </a:endParaRPr>
          </a:p>
          <a:p>
            <a:pPr indent="0" lvl="0" marL="0" rtl="0" algn="ctr">
              <a:spcBef>
                <a:spcPts val="0"/>
              </a:spcBef>
              <a:spcAft>
                <a:spcPts val="0"/>
              </a:spcAft>
              <a:buNone/>
            </a:pPr>
            <a:r>
              <a:rPr b="1" lang="en" sz="1000">
                <a:solidFill>
                  <a:srgbClr val="073763"/>
                </a:solidFill>
                <a:latin typeface="Lato"/>
                <a:ea typeface="Lato"/>
                <a:cs typeface="Lato"/>
                <a:sym typeface="Lato"/>
              </a:rPr>
              <a:t>Power</a:t>
            </a:r>
            <a:endParaRPr b="1" sz="1000">
              <a:solidFill>
                <a:srgbClr val="073763"/>
              </a:solidFill>
              <a:latin typeface="Lato"/>
              <a:ea typeface="Lato"/>
              <a:cs typeface="Lato"/>
              <a:sym typeface="Lato"/>
            </a:endParaRPr>
          </a:p>
        </p:txBody>
      </p:sp>
      <p:sp>
        <p:nvSpPr>
          <p:cNvPr id="690" name="Google Shape;690;p51"/>
          <p:cNvSpPr/>
          <p:nvPr/>
        </p:nvSpPr>
        <p:spPr>
          <a:xfrm>
            <a:off x="439075" y="2806400"/>
            <a:ext cx="515801" cy="723275"/>
          </a:xfrm>
          <a:custGeom>
            <a:rect b="b" l="l" r="r" t="t"/>
            <a:pathLst>
              <a:path extrusionOk="0" h="52307" w="62389">
                <a:moveTo>
                  <a:pt x="1150" y="52307"/>
                </a:moveTo>
                <a:cubicBezTo>
                  <a:pt x="1956" y="44608"/>
                  <a:pt x="-4221" y="14794"/>
                  <a:pt x="5985" y="6110"/>
                </a:cubicBezTo>
                <a:cubicBezTo>
                  <a:pt x="16192" y="-2574"/>
                  <a:pt x="52988" y="1186"/>
                  <a:pt x="62389" y="201"/>
                </a:cubicBezTo>
              </a:path>
            </a:pathLst>
          </a:custGeom>
          <a:noFill/>
          <a:ln cap="flat" cmpd="sng" w="28575">
            <a:solidFill>
              <a:schemeClr val="dk2"/>
            </a:solidFill>
            <a:prstDash val="solid"/>
            <a:round/>
            <a:headEnd len="med" w="med" type="none"/>
            <a:tailEnd len="med" w="med" type="stealth"/>
          </a:ln>
        </p:spPr>
      </p:sp>
      <p:sp>
        <p:nvSpPr>
          <p:cNvPr id="691" name="Google Shape;691;p51"/>
          <p:cNvSpPr/>
          <p:nvPr/>
        </p:nvSpPr>
        <p:spPr>
          <a:xfrm>
            <a:off x="83675" y="2041115"/>
            <a:ext cx="871200" cy="765325"/>
          </a:xfrm>
          <a:custGeom>
            <a:rect b="b" l="l" r="r" t="t"/>
            <a:pathLst>
              <a:path extrusionOk="0" h="30613" w="34848">
                <a:moveTo>
                  <a:pt x="0" y="3603"/>
                </a:moveTo>
                <a:cubicBezTo>
                  <a:pt x="2508" y="3222"/>
                  <a:pt x="12181" y="-2525"/>
                  <a:pt x="15049" y="1317"/>
                </a:cubicBezTo>
                <a:cubicBezTo>
                  <a:pt x="17917" y="5159"/>
                  <a:pt x="13909" y="21774"/>
                  <a:pt x="17209" y="26657"/>
                </a:cubicBezTo>
                <a:cubicBezTo>
                  <a:pt x="20509" y="31540"/>
                  <a:pt x="31908" y="29954"/>
                  <a:pt x="34848" y="30613"/>
                </a:cubicBezTo>
              </a:path>
            </a:pathLst>
          </a:custGeom>
          <a:noFill/>
          <a:ln cap="flat" cmpd="sng" w="28575">
            <a:solidFill>
              <a:schemeClr val="dk2"/>
            </a:solidFill>
            <a:prstDash val="solid"/>
            <a:round/>
            <a:headEnd len="med" w="med" type="none"/>
            <a:tailEnd len="med" w="med" type="stealth"/>
          </a:ln>
        </p:spPr>
      </p:sp>
      <p:sp>
        <p:nvSpPr>
          <p:cNvPr id="692" name="Google Shape;692;p51"/>
          <p:cNvSpPr/>
          <p:nvPr/>
        </p:nvSpPr>
        <p:spPr>
          <a:xfrm>
            <a:off x="23525" y="1948213"/>
            <a:ext cx="768000" cy="590100"/>
          </a:xfrm>
          <a:prstGeom prst="roundRect">
            <a:avLst>
              <a:gd fmla="val 16667" name="adj"/>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073763"/>
                </a:solidFill>
                <a:latin typeface="Lato"/>
                <a:ea typeface="Lato"/>
                <a:cs typeface="Lato"/>
                <a:sym typeface="Lato"/>
              </a:rPr>
              <a:t>Regen Torque</a:t>
            </a:r>
            <a:endParaRPr b="1" sz="1000">
              <a:solidFill>
                <a:srgbClr val="073763"/>
              </a:solidFill>
              <a:latin typeface="Lato"/>
              <a:ea typeface="Lato"/>
              <a:cs typeface="Lato"/>
              <a:sym typeface="Lato"/>
            </a:endParaRPr>
          </a:p>
        </p:txBody>
      </p:sp>
      <p:sp>
        <p:nvSpPr>
          <p:cNvPr id="693" name="Google Shape;693;p51"/>
          <p:cNvSpPr/>
          <p:nvPr/>
        </p:nvSpPr>
        <p:spPr>
          <a:xfrm>
            <a:off x="23525" y="3138223"/>
            <a:ext cx="768000" cy="520500"/>
          </a:xfrm>
          <a:prstGeom prst="roundRect">
            <a:avLst>
              <a:gd fmla="val 16667" name="adj"/>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073763"/>
                </a:solidFill>
                <a:latin typeface="Lato"/>
                <a:ea typeface="Lato"/>
                <a:cs typeface="Lato"/>
                <a:sym typeface="Lato"/>
              </a:rPr>
              <a:t>Motor</a:t>
            </a:r>
            <a:r>
              <a:rPr b="1" lang="en" sz="1000">
                <a:solidFill>
                  <a:srgbClr val="073763"/>
                </a:solidFill>
                <a:latin typeface="Lato"/>
                <a:ea typeface="Lato"/>
                <a:cs typeface="Lato"/>
                <a:sym typeface="Lato"/>
              </a:rPr>
              <a:t> RPM</a:t>
            </a:r>
            <a:endParaRPr b="1" sz="1000">
              <a:solidFill>
                <a:srgbClr val="073763"/>
              </a:solidFill>
              <a:latin typeface="Lato"/>
              <a:ea typeface="Lato"/>
              <a:cs typeface="Lato"/>
              <a:sym typeface="Lato"/>
            </a:endParaRPr>
          </a:p>
        </p:txBody>
      </p:sp>
      <p:cxnSp>
        <p:nvCxnSpPr>
          <p:cNvPr id="694" name="Google Shape;694;p51"/>
          <p:cNvCxnSpPr/>
          <p:nvPr/>
        </p:nvCxnSpPr>
        <p:spPr>
          <a:xfrm>
            <a:off x="1456875" y="2790350"/>
            <a:ext cx="719100" cy="0"/>
          </a:xfrm>
          <a:prstGeom prst="straightConnector1">
            <a:avLst/>
          </a:prstGeom>
          <a:noFill/>
          <a:ln cap="flat" cmpd="sng" w="28575">
            <a:solidFill>
              <a:schemeClr val="dk2"/>
            </a:solidFill>
            <a:prstDash val="solid"/>
            <a:round/>
            <a:headEnd len="med" w="med" type="none"/>
            <a:tailEnd len="med" w="med" type="stealth"/>
          </a:ln>
        </p:spPr>
      </p:cxnSp>
      <p:sp>
        <p:nvSpPr>
          <p:cNvPr id="695" name="Google Shape;695;p51"/>
          <p:cNvSpPr/>
          <p:nvPr/>
        </p:nvSpPr>
        <p:spPr>
          <a:xfrm>
            <a:off x="954875" y="2451950"/>
            <a:ext cx="871200" cy="676800"/>
          </a:xfrm>
          <a:prstGeom prst="roundRect">
            <a:avLst>
              <a:gd fmla="val 16667" name="adj"/>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073763"/>
                </a:solidFill>
                <a:latin typeface="Lato"/>
                <a:ea typeface="Lato"/>
                <a:cs typeface="Lato"/>
                <a:sym typeface="Lato"/>
              </a:rPr>
              <a:t>Generator Efficiency</a:t>
            </a:r>
            <a:endParaRPr b="1" sz="1000">
              <a:solidFill>
                <a:srgbClr val="073763"/>
              </a:solidFill>
              <a:latin typeface="Lato"/>
              <a:ea typeface="Lato"/>
              <a:cs typeface="Lato"/>
              <a:sym typeface="Lato"/>
            </a:endParaRPr>
          </a:p>
        </p:txBody>
      </p:sp>
      <p:cxnSp>
        <p:nvCxnSpPr>
          <p:cNvPr id="696" name="Google Shape;696;p51"/>
          <p:cNvCxnSpPr/>
          <p:nvPr/>
        </p:nvCxnSpPr>
        <p:spPr>
          <a:xfrm>
            <a:off x="3804538" y="2790350"/>
            <a:ext cx="719100" cy="0"/>
          </a:xfrm>
          <a:prstGeom prst="straightConnector1">
            <a:avLst/>
          </a:prstGeom>
          <a:noFill/>
          <a:ln cap="flat" cmpd="sng" w="28575">
            <a:solidFill>
              <a:schemeClr val="dk2"/>
            </a:solidFill>
            <a:prstDash val="solid"/>
            <a:round/>
            <a:headEnd len="med" w="med" type="none"/>
            <a:tailEnd len="med" w="med" type="stealth"/>
          </a:ln>
        </p:spPr>
      </p:cxnSp>
      <p:sp>
        <p:nvSpPr>
          <p:cNvPr id="697" name="Google Shape;697;p51"/>
          <p:cNvSpPr/>
          <p:nvPr/>
        </p:nvSpPr>
        <p:spPr>
          <a:xfrm>
            <a:off x="3477738" y="2552900"/>
            <a:ext cx="768000" cy="474900"/>
          </a:xfrm>
          <a:prstGeom prst="roundRect">
            <a:avLst>
              <a:gd fmla="val 16667" name="adj"/>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073763"/>
                </a:solidFill>
                <a:latin typeface="Lato"/>
                <a:ea typeface="Lato"/>
                <a:cs typeface="Lato"/>
                <a:sym typeface="Lato"/>
              </a:rPr>
              <a:t>Ballast Circuit</a:t>
            </a:r>
            <a:endParaRPr b="1" sz="1000">
              <a:solidFill>
                <a:srgbClr val="073763"/>
              </a:solidFill>
              <a:latin typeface="Lato"/>
              <a:ea typeface="Lato"/>
              <a:cs typeface="Lato"/>
              <a:sym typeface="Lato"/>
            </a:endParaRPr>
          </a:p>
        </p:txBody>
      </p:sp>
      <p:sp>
        <p:nvSpPr>
          <p:cNvPr id="698" name="Google Shape;698;p51"/>
          <p:cNvSpPr txBox="1"/>
          <p:nvPr/>
        </p:nvSpPr>
        <p:spPr>
          <a:xfrm>
            <a:off x="3426138" y="2952488"/>
            <a:ext cx="8712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latin typeface="Lato"/>
                <a:ea typeface="Lato"/>
                <a:cs typeface="Lato"/>
                <a:sym typeface="Lato"/>
              </a:rPr>
              <a:t>Overcurrent Protection</a:t>
            </a:r>
            <a:endParaRPr sz="800">
              <a:latin typeface="Lato"/>
              <a:ea typeface="Lato"/>
              <a:cs typeface="Lato"/>
              <a:sym typeface="Lato"/>
            </a:endParaRPr>
          </a:p>
        </p:txBody>
      </p:sp>
      <p:sp>
        <p:nvSpPr>
          <p:cNvPr id="699" name="Google Shape;699;p51"/>
          <p:cNvSpPr/>
          <p:nvPr/>
        </p:nvSpPr>
        <p:spPr>
          <a:xfrm>
            <a:off x="2662775" y="3128750"/>
            <a:ext cx="2397975" cy="420175"/>
          </a:xfrm>
          <a:custGeom>
            <a:rect b="b" l="l" r="r" t="t"/>
            <a:pathLst>
              <a:path extrusionOk="0" h="16807" w="95919">
                <a:moveTo>
                  <a:pt x="95919" y="0"/>
                </a:moveTo>
                <a:cubicBezTo>
                  <a:pt x="93170" y="2436"/>
                  <a:pt x="92566" y="12052"/>
                  <a:pt x="79422" y="14614"/>
                </a:cubicBezTo>
                <a:cubicBezTo>
                  <a:pt x="66278" y="17177"/>
                  <a:pt x="30290" y="17575"/>
                  <a:pt x="17053" y="15375"/>
                </a:cubicBezTo>
                <a:cubicBezTo>
                  <a:pt x="3816" y="13176"/>
                  <a:pt x="2842" y="3743"/>
                  <a:pt x="0" y="1417"/>
                </a:cubicBezTo>
              </a:path>
            </a:pathLst>
          </a:custGeom>
          <a:noFill/>
          <a:ln cap="flat" cmpd="sng" w="28575">
            <a:solidFill>
              <a:srgbClr val="666666"/>
            </a:solidFill>
            <a:prstDash val="solid"/>
            <a:round/>
            <a:headEnd len="med" w="med" type="none"/>
            <a:tailEnd len="med" w="med" type="stealth"/>
          </a:ln>
        </p:spPr>
      </p:sp>
      <p:sp>
        <p:nvSpPr>
          <p:cNvPr id="700" name="Google Shape;700;p51"/>
          <p:cNvSpPr txBox="1"/>
          <p:nvPr/>
        </p:nvSpPr>
        <p:spPr>
          <a:xfrm>
            <a:off x="3429315" y="3494525"/>
            <a:ext cx="10173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latin typeface="Lato"/>
                <a:ea typeface="Lato"/>
                <a:cs typeface="Lato"/>
                <a:sym typeface="Lato"/>
              </a:rPr>
              <a:t>Battery Voltage</a:t>
            </a:r>
            <a:endParaRPr sz="800">
              <a:latin typeface="Lato"/>
              <a:ea typeface="Lato"/>
              <a:cs typeface="Lato"/>
              <a:sym typeface="Lato"/>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704" name="Shape 704"/>
        <p:cNvGrpSpPr/>
        <p:nvPr/>
      </p:nvGrpSpPr>
      <p:grpSpPr>
        <a:xfrm>
          <a:off x="0" y="0"/>
          <a:ext cx="0" cy="0"/>
          <a:chOff x="0" y="0"/>
          <a:chExt cx="0" cy="0"/>
        </a:xfrm>
      </p:grpSpPr>
      <p:sp>
        <p:nvSpPr>
          <p:cNvPr id="705" name="Google Shape;705;p52"/>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200"/>
              <a:buFont typeface="Arial"/>
              <a:buNone/>
            </a:pPr>
            <a:r>
              <a:rPr lang="en" sz="2400">
                <a:solidFill>
                  <a:srgbClr val="F3F3F3"/>
                </a:solidFill>
                <a:latin typeface="Lato"/>
                <a:ea typeface="Lato"/>
                <a:cs typeface="Lato"/>
                <a:sym typeface="Lato"/>
              </a:rPr>
              <a:t>Battery</a:t>
            </a:r>
            <a:r>
              <a:rPr lang="en" sz="2400">
                <a:solidFill>
                  <a:srgbClr val="48BACA"/>
                </a:solidFill>
                <a:latin typeface="Lato Black"/>
                <a:ea typeface="Lato Black"/>
                <a:cs typeface="Lato Black"/>
                <a:sym typeface="Lato Black"/>
              </a:rPr>
              <a:t> Optimisation</a:t>
            </a:r>
            <a:endParaRPr i="0" sz="2400" u="none" cap="none" strike="noStrike">
              <a:solidFill>
                <a:srgbClr val="48BACA"/>
              </a:solidFill>
              <a:latin typeface="Lato Black"/>
              <a:ea typeface="Lato Black"/>
              <a:cs typeface="Lato Black"/>
              <a:sym typeface="Lato Black"/>
            </a:endParaRPr>
          </a:p>
        </p:txBody>
      </p:sp>
      <p:pic>
        <p:nvPicPr>
          <p:cNvPr id="706" name="Google Shape;706;p52"/>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707" name="Google Shape;707;p52"/>
          <p:cNvPicPr preferRelativeResize="0"/>
          <p:nvPr/>
        </p:nvPicPr>
        <p:blipFill>
          <a:blip r:embed="rId4">
            <a:alphaModFix amt="16000"/>
          </a:blip>
          <a:stretch>
            <a:fillRect/>
          </a:stretch>
        </p:blipFill>
        <p:spPr>
          <a:xfrm rot="9900000">
            <a:off x="5128900" y="2442475"/>
            <a:ext cx="4289526" cy="2716700"/>
          </a:xfrm>
          <a:prstGeom prst="rect">
            <a:avLst/>
          </a:prstGeom>
          <a:noFill/>
          <a:ln>
            <a:noFill/>
          </a:ln>
        </p:spPr>
      </p:pic>
      <p:sp>
        <p:nvSpPr>
          <p:cNvPr id="708" name="Google Shape;708;p52"/>
          <p:cNvSpPr txBox="1"/>
          <p:nvPr/>
        </p:nvSpPr>
        <p:spPr>
          <a:xfrm>
            <a:off x="0" y="941225"/>
            <a:ext cx="4111500" cy="407100"/>
          </a:xfrm>
          <a:prstGeom prst="rect">
            <a:avLst/>
          </a:prstGeom>
          <a:solidFill>
            <a:srgbClr val="23656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700">
                <a:solidFill>
                  <a:srgbClr val="EFEFEF"/>
                </a:solidFill>
                <a:latin typeface="Open Sans ExtraBold"/>
                <a:ea typeface="Open Sans ExtraBold"/>
                <a:cs typeface="Open Sans ExtraBold"/>
                <a:sym typeface="Open Sans ExtraBold"/>
              </a:rPr>
              <a:t>FINAL RESULTS</a:t>
            </a:r>
            <a:endParaRPr sz="1700">
              <a:solidFill>
                <a:srgbClr val="EFEFEF"/>
              </a:solidFill>
              <a:latin typeface="Open Sans ExtraBold"/>
              <a:ea typeface="Open Sans ExtraBold"/>
              <a:cs typeface="Open Sans ExtraBold"/>
              <a:sym typeface="Open Sans ExtraBold"/>
            </a:endParaRPr>
          </a:p>
        </p:txBody>
      </p:sp>
      <p:sp>
        <p:nvSpPr>
          <p:cNvPr id="709" name="Google Shape;709;p52"/>
          <p:cNvSpPr/>
          <p:nvPr/>
        </p:nvSpPr>
        <p:spPr>
          <a:xfrm>
            <a:off x="3834275" y="941225"/>
            <a:ext cx="399000" cy="4071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710" name="Google Shape;710;p52"/>
          <p:cNvPicPr preferRelativeResize="0"/>
          <p:nvPr/>
        </p:nvPicPr>
        <p:blipFill rotWithShape="1">
          <a:blip r:embed="rId5">
            <a:alphaModFix/>
          </a:blip>
          <a:srcRect b="11281" l="20956" r="20375" t="10435"/>
          <a:stretch/>
        </p:blipFill>
        <p:spPr>
          <a:xfrm>
            <a:off x="3815225" y="985441"/>
            <a:ext cx="360900" cy="318660"/>
          </a:xfrm>
          <a:prstGeom prst="rect">
            <a:avLst/>
          </a:prstGeom>
          <a:noFill/>
          <a:ln>
            <a:noFill/>
          </a:ln>
        </p:spPr>
      </p:pic>
      <p:sp>
        <p:nvSpPr>
          <p:cNvPr id="711" name="Google Shape;711;p52"/>
          <p:cNvSpPr txBox="1"/>
          <p:nvPr/>
        </p:nvSpPr>
        <p:spPr>
          <a:xfrm>
            <a:off x="114725" y="4077925"/>
            <a:ext cx="6442500" cy="104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23656F"/>
                </a:solidFill>
                <a:latin typeface="Open Sans"/>
                <a:ea typeface="Open Sans"/>
                <a:cs typeface="Open Sans"/>
                <a:sym typeface="Open Sans"/>
              </a:rPr>
              <a:t>Other Useful Methods</a:t>
            </a:r>
            <a:r>
              <a:rPr b="1" lang="en" sz="1300">
                <a:solidFill>
                  <a:srgbClr val="23656F"/>
                </a:solidFill>
                <a:latin typeface="Open Sans"/>
                <a:ea typeface="Open Sans"/>
                <a:cs typeface="Open Sans"/>
                <a:sym typeface="Open Sans"/>
              </a:rPr>
              <a:t>:</a:t>
            </a:r>
            <a:endParaRPr b="1" sz="1300">
              <a:solidFill>
                <a:srgbClr val="23656F"/>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b="1" sz="200">
              <a:latin typeface="Open Sans"/>
              <a:ea typeface="Open Sans"/>
              <a:cs typeface="Open Sans"/>
              <a:sym typeface="Open Sans"/>
            </a:endParaRPr>
          </a:p>
          <a:p>
            <a:pPr indent="-298450" lvl="0" marL="457200" rtl="0" algn="l">
              <a:lnSpc>
                <a:spcPct val="125000"/>
              </a:lnSpc>
              <a:spcBef>
                <a:spcPts val="0"/>
              </a:spcBef>
              <a:spcAft>
                <a:spcPts val="0"/>
              </a:spcAft>
              <a:buClr>
                <a:srgbClr val="595959"/>
              </a:buClr>
              <a:buSzPts val="1100"/>
              <a:buFont typeface="Open Sans"/>
              <a:buChar char="●"/>
            </a:pPr>
            <a:r>
              <a:rPr b="1" lang="en" sz="1100">
                <a:solidFill>
                  <a:srgbClr val="595959"/>
                </a:solidFill>
                <a:latin typeface="Lato"/>
                <a:ea typeface="Lato"/>
                <a:cs typeface="Lato"/>
                <a:sym typeface="Lato"/>
              </a:rPr>
              <a:t>Reduction of Rolling Resistance from 0.01 to 0.008 by optimising tyre pressure</a:t>
            </a:r>
            <a:endParaRPr b="1" sz="1100">
              <a:solidFill>
                <a:srgbClr val="595959"/>
              </a:solidFill>
              <a:latin typeface="Lato"/>
              <a:ea typeface="Lato"/>
              <a:cs typeface="Lato"/>
              <a:sym typeface="Lato"/>
            </a:endParaRPr>
          </a:p>
          <a:p>
            <a:pPr indent="-298450" lvl="0" marL="457200" rtl="0" algn="l">
              <a:lnSpc>
                <a:spcPct val="125000"/>
              </a:lnSpc>
              <a:spcBef>
                <a:spcPts val="0"/>
              </a:spcBef>
              <a:spcAft>
                <a:spcPts val="0"/>
              </a:spcAft>
              <a:buClr>
                <a:srgbClr val="595959"/>
              </a:buClr>
              <a:buSzPts val="1100"/>
              <a:buFont typeface="Lato"/>
              <a:buChar char="●"/>
            </a:pPr>
            <a:r>
              <a:rPr b="1" lang="en" sz="1100">
                <a:solidFill>
                  <a:srgbClr val="595959"/>
                </a:solidFill>
                <a:latin typeface="Lato"/>
                <a:ea typeface="Lato"/>
                <a:cs typeface="Lato"/>
                <a:sym typeface="Lato"/>
              </a:rPr>
              <a:t>Reduction in Auxiliary load from 1.5kW to 0.5 kW by turning off HVAC system</a:t>
            </a:r>
            <a:endParaRPr b="1" sz="1100">
              <a:solidFill>
                <a:srgbClr val="595959"/>
              </a:solidFill>
              <a:latin typeface="Lato"/>
              <a:ea typeface="Lato"/>
              <a:cs typeface="Lato"/>
              <a:sym typeface="Lato"/>
            </a:endParaRPr>
          </a:p>
          <a:p>
            <a:pPr indent="-298450" lvl="0" marL="457200" rtl="0" algn="l">
              <a:lnSpc>
                <a:spcPct val="125000"/>
              </a:lnSpc>
              <a:spcBef>
                <a:spcPts val="0"/>
              </a:spcBef>
              <a:spcAft>
                <a:spcPts val="0"/>
              </a:spcAft>
              <a:buClr>
                <a:srgbClr val="595959"/>
              </a:buClr>
              <a:buSzPts val="1100"/>
              <a:buFont typeface="Lato"/>
              <a:buChar char="●"/>
            </a:pPr>
            <a:r>
              <a:rPr b="1" lang="en" sz="1100">
                <a:solidFill>
                  <a:srgbClr val="595959"/>
                </a:solidFill>
                <a:latin typeface="Lato"/>
                <a:ea typeface="Lato"/>
                <a:cs typeface="Lato"/>
                <a:sym typeface="Lato"/>
              </a:rPr>
              <a:t>Using Supercapacitors to be able to store more regenerative energy at high charging currents</a:t>
            </a:r>
            <a:endParaRPr b="1" sz="1100">
              <a:solidFill>
                <a:srgbClr val="595959"/>
              </a:solidFill>
              <a:latin typeface="Lato"/>
              <a:ea typeface="Lato"/>
              <a:cs typeface="Lato"/>
              <a:sym typeface="Lato"/>
            </a:endParaRPr>
          </a:p>
        </p:txBody>
      </p:sp>
      <p:graphicFrame>
        <p:nvGraphicFramePr>
          <p:cNvPr id="712" name="Google Shape;712;p52"/>
          <p:cNvGraphicFramePr/>
          <p:nvPr/>
        </p:nvGraphicFramePr>
        <p:xfrm>
          <a:off x="845175" y="1472350"/>
          <a:ext cx="3000000" cy="3000000"/>
        </p:xfrm>
        <a:graphic>
          <a:graphicData uri="http://schemas.openxmlformats.org/drawingml/2006/table">
            <a:tbl>
              <a:tblPr>
                <a:noFill/>
                <a:tableStyleId>{43AF8DD5-E6FA-4577-8082-F1EEE736C7BF}</a:tableStyleId>
              </a:tblPr>
              <a:tblGrid>
                <a:gridCol w="2049225"/>
                <a:gridCol w="1164750"/>
                <a:gridCol w="1108325"/>
                <a:gridCol w="1046725"/>
                <a:gridCol w="1007400"/>
                <a:gridCol w="1229625"/>
              </a:tblGrid>
              <a:tr h="246300">
                <a:tc>
                  <a:txBody>
                    <a:bodyPr/>
                    <a:lstStyle/>
                    <a:p>
                      <a:pPr indent="0" lvl="0" marL="0" rtl="0" algn="ctr">
                        <a:spcBef>
                          <a:spcPts val="0"/>
                        </a:spcBef>
                        <a:spcAft>
                          <a:spcPts val="0"/>
                        </a:spcAft>
                        <a:buNone/>
                      </a:pPr>
                      <a:r>
                        <a:rPr b="1" lang="en" sz="1100">
                          <a:solidFill>
                            <a:srgbClr val="0C343D"/>
                          </a:solidFill>
                          <a:latin typeface="Lato"/>
                          <a:ea typeface="Lato"/>
                          <a:cs typeface="Lato"/>
                          <a:sym typeface="Lato"/>
                        </a:rPr>
                        <a:t>Specifications</a:t>
                      </a:r>
                      <a:endParaRPr b="1" sz="1100">
                        <a:solidFill>
                          <a:srgbClr val="0C343D"/>
                        </a:solidFill>
                        <a:latin typeface="Lato"/>
                        <a:ea typeface="Lato"/>
                        <a:cs typeface="Lato"/>
                        <a:sym typeface="Lato"/>
                      </a:endParaRPr>
                    </a:p>
                  </a:txBody>
                  <a:tcPr marT="45700" marB="45700" marR="91425" marL="91425">
                    <a:solidFill>
                      <a:srgbClr val="A2C4C9"/>
                    </a:solidFill>
                  </a:tcPr>
                </a:tc>
                <a:tc>
                  <a:txBody>
                    <a:bodyPr/>
                    <a:lstStyle/>
                    <a:p>
                      <a:pPr indent="0" lvl="0" marL="0" rtl="0" algn="ctr">
                        <a:spcBef>
                          <a:spcPts val="0"/>
                        </a:spcBef>
                        <a:spcAft>
                          <a:spcPts val="0"/>
                        </a:spcAft>
                        <a:buNone/>
                      </a:pPr>
                      <a:r>
                        <a:rPr lang="en" sz="1100">
                          <a:solidFill>
                            <a:srgbClr val="0C343D"/>
                          </a:solidFill>
                          <a:latin typeface="Lato Black"/>
                          <a:ea typeface="Lato Black"/>
                          <a:cs typeface="Lato Black"/>
                          <a:sym typeface="Lato Black"/>
                        </a:rPr>
                        <a:t>Case 1*</a:t>
                      </a:r>
                      <a:endParaRPr sz="1100">
                        <a:solidFill>
                          <a:srgbClr val="0C343D"/>
                        </a:solidFill>
                        <a:latin typeface="Lato Black"/>
                        <a:ea typeface="Lato Black"/>
                        <a:cs typeface="Lato Black"/>
                        <a:sym typeface="Lato Black"/>
                      </a:endParaRPr>
                    </a:p>
                  </a:txBody>
                  <a:tcPr marT="45700" marB="45700" marR="91425" marL="91425">
                    <a:solidFill>
                      <a:srgbClr val="A2C4C9"/>
                    </a:solidFill>
                  </a:tcPr>
                </a:tc>
                <a:tc>
                  <a:txBody>
                    <a:bodyPr/>
                    <a:lstStyle/>
                    <a:p>
                      <a:pPr indent="0" lvl="0" marL="0" rtl="0" algn="ctr">
                        <a:spcBef>
                          <a:spcPts val="0"/>
                        </a:spcBef>
                        <a:spcAft>
                          <a:spcPts val="0"/>
                        </a:spcAft>
                        <a:buNone/>
                      </a:pPr>
                      <a:r>
                        <a:rPr b="1" lang="en" sz="1100">
                          <a:solidFill>
                            <a:srgbClr val="0C343D"/>
                          </a:solidFill>
                          <a:latin typeface="Lato"/>
                          <a:ea typeface="Lato"/>
                          <a:cs typeface="Lato"/>
                          <a:sym typeface="Lato"/>
                        </a:rPr>
                        <a:t>Case 2</a:t>
                      </a:r>
                      <a:endParaRPr b="1" sz="1100">
                        <a:solidFill>
                          <a:srgbClr val="0C343D"/>
                        </a:solidFill>
                        <a:latin typeface="Lato"/>
                        <a:ea typeface="Lato"/>
                        <a:cs typeface="Lato"/>
                        <a:sym typeface="Lato"/>
                      </a:endParaRPr>
                    </a:p>
                  </a:txBody>
                  <a:tcPr marT="45700" marB="45700" marR="91425" marL="91425">
                    <a:solidFill>
                      <a:srgbClr val="A2C4C9"/>
                    </a:solidFill>
                  </a:tcPr>
                </a:tc>
                <a:tc>
                  <a:txBody>
                    <a:bodyPr/>
                    <a:lstStyle/>
                    <a:p>
                      <a:pPr indent="0" lvl="0" marL="0" rtl="0" algn="ctr">
                        <a:spcBef>
                          <a:spcPts val="0"/>
                        </a:spcBef>
                        <a:spcAft>
                          <a:spcPts val="0"/>
                        </a:spcAft>
                        <a:buNone/>
                      </a:pPr>
                      <a:r>
                        <a:rPr b="1" lang="en" sz="1100">
                          <a:solidFill>
                            <a:srgbClr val="0C343D"/>
                          </a:solidFill>
                          <a:latin typeface="Lato"/>
                          <a:ea typeface="Lato"/>
                          <a:cs typeface="Lato"/>
                          <a:sym typeface="Lato"/>
                        </a:rPr>
                        <a:t>Case 3</a:t>
                      </a:r>
                      <a:endParaRPr b="1" sz="1100">
                        <a:solidFill>
                          <a:srgbClr val="0C343D"/>
                        </a:solidFill>
                        <a:latin typeface="Lato"/>
                        <a:ea typeface="Lato"/>
                        <a:cs typeface="Lato"/>
                        <a:sym typeface="Lato"/>
                      </a:endParaRPr>
                    </a:p>
                  </a:txBody>
                  <a:tcPr marT="45700" marB="45700" marR="91425" marL="91425">
                    <a:solidFill>
                      <a:srgbClr val="A2C4C9"/>
                    </a:solidFill>
                  </a:tcPr>
                </a:tc>
                <a:tc>
                  <a:txBody>
                    <a:bodyPr/>
                    <a:lstStyle/>
                    <a:p>
                      <a:pPr indent="0" lvl="0" marL="0" rtl="0" algn="ctr">
                        <a:spcBef>
                          <a:spcPts val="0"/>
                        </a:spcBef>
                        <a:spcAft>
                          <a:spcPts val="0"/>
                        </a:spcAft>
                        <a:buNone/>
                      </a:pPr>
                      <a:r>
                        <a:rPr b="1" lang="en" sz="1100">
                          <a:solidFill>
                            <a:srgbClr val="0C343D"/>
                          </a:solidFill>
                          <a:latin typeface="Lato"/>
                          <a:ea typeface="Lato"/>
                          <a:cs typeface="Lato"/>
                          <a:sym typeface="Lato"/>
                        </a:rPr>
                        <a:t>Case 4</a:t>
                      </a:r>
                      <a:endParaRPr b="1" sz="1100">
                        <a:solidFill>
                          <a:srgbClr val="0C343D"/>
                        </a:solidFill>
                        <a:latin typeface="Lato"/>
                        <a:ea typeface="Lato"/>
                        <a:cs typeface="Lato"/>
                        <a:sym typeface="Lato"/>
                      </a:endParaRPr>
                    </a:p>
                  </a:txBody>
                  <a:tcPr marT="45700" marB="45700" marR="91425" marL="91425">
                    <a:solidFill>
                      <a:srgbClr val="A2C4C9"/>
                    </a:solidFill>
                  </a:tcPr>
                </a:tc>
                <a:tc>
                  <a:txBody>
                    <a:bodyPr/>
                    <a:lstStyle/>
                    <a:p>
                      <a:pPr indent="0" lvl="0" marL="0" rtl="0" algn="ctr">
                        <a:spcBef>
                          <a:spcPts val="0"/>
                        </a:spcBef>
                        <a:spcAft>
                          <a:spcPts val="0"/>
                        </a:spcAft>
                        <a:buNone/>
                      </a:pPr>
                      <a:r>
                        <a:rPr lang="en" sz="1100">
                          <a:solidFill>
                            <a:srgbClr val="0C343D"/>
                          </a:solidFill>
                          <a:latin typeface="Lato Black"/>
                          <a:ea typeface="Lato Black"/>
                          <a:cs typeface="Lato Black"/>
                          <a:sym typeface="Lato Black"/>
                        </a:rPr>
                        <a:t>Case 5**</a:t>
                      </a:r>
                      <a:endParaRPr sz="1100">
                        <a:solidFill>
                          <a:srgbClr val="0C343D"/>
                        </a:solidFill>
                        <a:latin typeface="Lato Black"/>
                        <a:ea typeface="Lato Black"/>
                        <a:cs typeface="Lato Black"/>
                        <a:sym typeface="Lato Black"/>
                      </a:endParaRPr>
                    </a:p>
                  </a:txBody>
                  <a:tcPr marT="45700" marB="45700" marR="91425" marL="91425">
                    <a:solidFill>
                      <a:srgbClr val="A2C4C9"/>
                    </a:solidFill>
                  </a:tcPr>
                </a:tc>
              </a:tr>
              <a:tr h="231800">
                <a:tc>
                  <a:txBody>
                    <a:bodyPr/>
                    <a:lstStyle/>
                    <a:p>
                      <a:pPr indent="0" lvl="0" marL="0" rtl="0" algn="ctr">
                        <a:spcBef>
                          <a:spcPts val="0"/>
                        </a:spcBef>
                        <a:spcAft>
                          <a:spcPts val="0"/>
                        </a:spcAft>
                        <a:buNone/>
                      </a:pPr>
                      <a:r>
                        <a:rPr b="1" lang="en" sz="1000">
                          <a:solidFill>
                            <a:srgbClr val="0C343D"/>
                          </a:solidFill>
                          <a:latin typeface="Lato"/>
                          <a:ea typeface="Lato"/>
                          <a:cs typeface="Lato"/>
                          <a:sym typeface="Lato"/>
                        </a:rPr>
                        <a:t>No. of Gear Drives</a:t>
                      </a:r>
                      <a:endParaRPr b="1" sz="1000">
                        <a:solidFill>
                          <a:srgbClr val="0C343D"/>
                        </a:solidFill>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b="1" lang="en" sz="1000">
                          <a:solidFill>
                            <a:srgbClr val="5B0F00"/>
                          </a:solidFill>
                          <a:latin typeface="Lato"/>
                          <a:ea typeface="Lato"/>
                          <a:cs typeface="Lato"/>
                          <a:sym typeface="Lato"/>
                        </a:rPr>
                        <a:t>1</a:t>
                      </a:r>
                      <a:endParaRPr b="1" sz="1000">
                        <a:solidFill>
                          <a:srgbClr val="5B0F00"/>
                        </a:solidFill>
                        <a:latin typeface="Lato"/>
                        <a:ea typeface="Lato"/>
                        <a:cs typeface="Lato"/>
                        <a:sym typeface="Lato"/>
                      </a:endParaRPr>
                    </a:p>
                  </a:txBody>
                  <a:tcPr marT="45700" marB="45700" marR="91425" marL="91425">
                    <a:solidFill>
                      <a:srgbClr val="E6B8AF"/>
                    </a:solidFill>
                  </a:tcPr>
                </a:tc>
                <a:tc>
                  <a:txBody>
                    <a:bodyPr/>
                    <a:lstStyle/>
                    <a:p>
                      <a:pPr indent="0" lvl="0" marL="0" rtl="0" algn="ctr">
                        <a:spcBef>
                          <a:spcPts val="0"/>
                        </a:spcBef>
                        <a:spcAft>
                          <a:spcPts val="0"/>
                        </a:spcAft>
                        <a:buNone/>
                      </a:pPr>
                      <a:r>
                        <a:rPr b="1" lang="en" sz="1000">
                          <a:solidFill>
                            <a:srgbClr val="274E13"/>
                          </a:solidFill>
                          <a:latin typeface="Lato"/>
                          <a:ea typeface="Lato"/>
                          <a:cs typeface="Lato"/>
                          <a:sym typeface="Lato"/>
                        </a:rPr>
                        <a:t>2</a:t>
                      </a:r>
                      <a:endParaRPr b="1" sz="1000">
                        <a:solidFill>
                          <a:srgbClr val="274E13"/>
                        </a:solidFill>
                        <a:latin typeface="Lato"/>
                        <a:ea typeface="Lato"/>
                        <a:cs typeface="Lato"/>
                        <a:sym typeface="Lato"/>
                      </a:endParaRPr>
                    </a:p>
                  </a:txBody>
                  <a:tcPr marT="45700" marB="45700" marR="91425" marL="91425">
                    <a:solidFill>
                      <a:srgbClr val="D9EAD3"/>
                    </a:solidFill>
                  </a:tcPr>
                </a:tc>
                <a:tc>
                  <a:txBody>
                    <a:bodyPr/>
                    <a:lstStyle/>
                    <a:p>
                      <a:pPr indent="0" lvl="0" marL="0" rtl="0" algn="ctr">
                        <a:spcBef>
                          <a:spcPts val="0"/>
                        </a:spcBef>
                        <a:spcAft>
                          <a:spcPts val="0"/>
                        </a:spcAft>
                        <a:buNone/>
                      </a:pPr>
                      <a:r>
                        <a:rPr lang="en" sz="1000">
                          <a:latin typeface="Lato"/>
                          <a:ea typeface="Lato"/>
                          <a:cs typeface="Lato"/>
                          <a:sym typeface="Lato"/>
                        </a:rPr>
                        <a:t>1</a:t>
                      </a:r>
                      <a:endParaRPr sz="1000">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1000">
                          <a:latin typeface="Lato"/>
                          <a:ea typeface="Lato"/>
                          <a:cs typeface="Lato"/>
                          <a:sym typeface="Lato"/>
                        </a:rPr>
                        <a:t>1</a:t>
                      </a:r>
                      <a:endParaRPr sz="1000">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b="1" lang="en" sz="1000">
                          <a:solidFill>
                            <a:srgbClr val="274E13"/>
                          </a:solidFill>
                          <a:latin typeface="Lato"/>
                          <a:ea typeface="Lato"/>
                          <a:cs typeface="Lato"/>
                          <a:sym typeface="Lato"/>
                        </a:rPr>
                        <a:t>2</a:t>
                      </a:r>
                      <a:endParaRPr b="1" sz="1000">
                        <a:solidFill>
                          <a:srgbClr val="274E13"/>
                        </a:solidFill>
                        <a:latin typeface="Lato"/>
                        <a:ea typeface="Lato"/>
                        <a:cs typeface="Lato"/>
                        <a:sym typeface="Lato"/>
                      </a:endParaRPr>
                    </a:p>
                  </a:txBody>
                  <a:tcPr marT="45700" marB="45700" marR="91425" marL="91425">
                    <a:solidFill>
                      <a:srgbClr val="D9EAD3"/>
                    </a:solidFill>
                  </a:tcPr>
                </a:tc>
              </a:tr>
              <a:tr h="231800">
                <a:tc>
                  <a:txBody>
                    <a:bodyPr/>
                    <a:lstStyle/>
                    <a:p>
                      <a:pPr indent="0" lvl="0" marL="0" rtl="0" algn="ctr">
                        <a:spcBef>
                          <a:spcPts val="0"/>
                        </a:spcBef>
                        <a:spcAft>
                          <a:spcPts val="0"/>
                        </a:spcAft>
                        <a:buNone/>
                      </a:pPr>
                      <a:r>
                        <a:rPr b="1" lang="en" sz="1000">
                          <a:solidFill>
                            <a:srgbClr val="0C343D"/>
                          </a:solidFill>
                          <a:latin typeface="Lato"/>
                          <a:ea typeface="Lato"/>
                          <a:cs typeface="Lato"/>
                          <a:sym typeface="Lato"/>
                        </a:rPr>
                        <a:t>Gear Ratio</a:t>
                      </a:r>
                      <a:endParaRPr b="1" sz="1000">
                        <a:solidFill>
                          <a:srgbClr val="0C343D"/>
                        </a:solidFill>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b="1" lang="en" sz="1000">
                          <a:solidFill>
                            <a:srgbClr val="5B0F00"/>
                          </a:solidFill>
                          <a:latin typeface="Lato"/>
                          <a:ea typeface="Lato"/>
                          <a:cs typeface="Lato"/>
                          <a:sym typeface="Lato"/>
                        </a:rPr>
                        <a:t>4.9</a:t>
                      </a:r>
                      <a:endParaRPr b="1" sz="1000">
                        <a:solidFill>
                          <a:srgbClr val="5B0F00"/>
                        </a:solidFill>
                        <a:latin typeface="Lato"/>
                        <a:ea typeface="Lato"/>
                        <a:cs typeface="Lato"/>
                        <a:sym typeface="Lato"/>
                      </a:endParaRPr>
                    </a:p>
                  </a:txBody>
                  <a:tcPr marT="45700" marB="45700" marR="91425" marL="91425">
                    <a:solidFill>
                      <a:srgbClr val="E6B8AF"/>
                    </a:solidFill>
                  </a:tcPr>
                </a:tc>
                <a:tc>
                  <a:txBody>
                    <a:bodyPr/>
                    <a:lstStyle/>
                    <a:p>
                      <a:pPr indent="0" lvl="0" marL="0" rtl="0" algn="ctr">
                        <a:spcBef>
                          <a:spcPts val="0"/>
                        </a:spcBef>
                        <a:spcAft>
                          <a:spcPts val="0"/>
                        </a:spcAft>
                        <a:buNone/>
                      </a:pPr>
                      <a:r>
                        <a:rPr b="1" lang="en" sz="1000">
                          <a:solidFill>
                            <a:srgbClr val="274E13"/>
                          </a:solidFill>
                          <a:latin typeface="Lato"/>
                          <a:ea typeface="Lato"/>
                          <a:cs typeface="Lato"/>
                          <a:sym typeface="Lato"/>
                        </a:rPr>
                        <a:t>6 + 3.6</a:t>
                      </a:r>
                      <a:endParaRPr b="1" sz="1000">
                        <a:solidFill>
                          <a:srgbClr val="274E13"/>
                        </a:solidFill>
                        <a:latin typeface="Lato"/>
                        <a:ea typeface="Lato"/>
                        <a:cs typeface="Lato"/>
                        <a:sym typeface="Lato"/>
                      </a:endParaRPr>
                    </a:p>
                  </a:txBody>
                  <a:tcPr marT="45700" marB="45700" marR="91425" marL="91425">
                    <a:solidFill>
                      <a:srgbClr val="D9EAD3"/>
                    </a:solidFill>
                  </a:tcPr>
                </a:tc>
                <a:tc>
                  <a:txBody>
                    <a:bodyPr/>
                    <a:lstStyle/>
                    <a:p>
                      <a:pPr indent="0" lvl="0" marL="0" rtl="0" algn="ctr">
                        <a:spcBef>
                          <a:spcPts val="0"/>
                        </a:spcBef>
                        <a:spcAft>
                          <a:spcPts val="0"/>
                        </a:spcAft>
                        <a:buNone/>
                      </a:pPr>
                      <a:r>
                        <a:rPr lang="en" sz="1000">
                          <a:latin typeface="Lato"/>
                          <a:ea typeface="Lato"/>
                          <a:cs typeface="Lato"/>
                          <a:sym typeface="Lato"/>
                        </a:rPr>
                        <a:t>4.9</a:t>
                      </a:r>
                      <a:endParaRPr sz="1000">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1000">
                          <a:latin typeface="Lato"/>
                          <a:ea typeface="Lato"/>
                          <a:cs typeface="Lato"/>
                          <a:sym typeface="Lato"/>
                        </a:rPr>
                        <a:t>4.9</a:t>
                      </a:r>
                      <a:endParaRPr sz="1000">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b="1" lang="en" sz="1000">
                          <a:solidFill>
                            <a:srgbClr val="274E13"/>
                          </a:solidFill>
                          <a:latin typeface="Lato"/>
                          <a:ea typeface="Lato"/>
                          <a:cs typeface="Lato"/>
                          <a:sym typeface="Lato"/>
                        </a:rPr>
                        <a:t>6 + 3.6</a:t>
                      </a:r>
                      <a:endParaRPr b="1" sz="1000">
                        <a:solidFill>
                          <a:srgbClr val="274E13"/>
                        </a:solidFill>
                        <a:latin typeface="Lato"/>
                        <a:ea typeface="Lato"/>
                        <a:cs typeface="Lato"/>
                        <a:sym typeface="Lato"/>
                      </a:endParaRPr>
                    </a:p>
                  </a:txBody>
                  <a:tcPr marT="45700" marB="45700" marR="91425" marL="91425">
                    <a:solidFill>
                      <a:srgbClr val="D9EAD3"/>
                    </a:solidFill>
                  </a:tcPr>
                </a:tc>
              </a:tr>
              <a:tr h="231800">
                <a:tc>
                  <a:txBody>
                    <a:bodyPr/>
                    <a:lstStyle/>
                    <a:p>
                      <a:pPr indent="0" lvl="0" marL="0" rtl="0" algn="ctr">
                        <a:spcBef>
                          <a:spcPts val="0"/>
                        </a:spcBef>
                        <a:spcAft>
                          <a:spcPts val="0"/>
                        </a:spcAft>
                        <a:buNone/>
                      </a:pPr>
                      <a:r>
                        <a:rPr b="1" lang="en" sz="1000">
                          <a:solidFill>
                            <a:srgbClr val="0C343D"/>
                          </a:solidFill>
                          <a:latin typeface="Lato"/>
                          <a:ea typeface="Lato"/>
                          <a:cs typeface="Lato"/>
                          <a:sym typeface="Lato"/>
                        </a:rPr>
                        <a:t>Regenerative Braking</a:t>
                      </a:r>
                      <a:endParaRPr b="1" sz="1000">
                        <a:solidFill>
                          <a:srgbClr val="0C343D"/>
                        </a:solidFill>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b="1" lang="en" sz="1000">
                          <a:solidFill>
                            <a:srgbClr val="5B0F00"/>
                          </a:solidFill>
                          <a:latin typeface="Lato"/>
                          <a:ea typeface="Lato"/>
                          <a:cs typeface="Lato"/>
                          <a:sym typeface="Lato"/>
                        </a:rPr>
                        <a:t>No</a:t>
                      </a:r>
                      <a:endParaRPr b="1" sz="1000">
                        <a:solidFill>
                          <a:srgbClr val="5B0F00"/>
                        </a:solidFill>
                        <a:latin typeface="Lato"/>
                        <a:ea typeface="Lato"/>
                        <a:cs typeface="Lato"/>
                        <a:sym typeface="Lato"/>
                      </a:endParaRPr>
                    </a:p>
                  </a:txBody>
                  <a:tcPr marT="45700" marB="45700" marR="91425" marL="91425">
                    <a:solidFill>
                      <a:srgbClr val="E6B8AF"/>
                    </a:solidFill>
                  </a:tcPr>
                </a:tc>
                <a:tc>
                  <a:txBody>
                    <a:bodyPr/>
                    <a:lstStyle/>
                    <a:p>
                      <a:pPr indent="0" lvl="0" marL="0" rtl="0" algn="ctr">
                        <a:spcBef>
                          <a:spcPts val="0"/>
                        </a:spcBef>
                        <a:spcAft>
                          <a:spcPts val="0"/>
                        </a:spcAft>
                        <a:buNone/>
                      </a:pPr>
                      <a:r>
                        <a:rPr lang="en" sz="1000">
                          <a:latin typeface="Lato"/>
                          <a:ea typeface="Lato"/>
                          <a:cs typeface="Lato"/>
                          <a:sym typeface="Lato"/>
                        </a:rPr>
                        <a:t>No</a:t>
                      </a:r>
                      <a:endParaRPr sz="1000">
                        <a:latin typeface="Lato"/>
                        <a:ea typeface="Lato"/>
                        <a:cs typeface="Lato"/>
                        <a:sym typeface="Lato"/>
                      </a:endParaRPr>
                    </a:p>
                  </a:txBody>
                  <a:tcPr marT="45700" marB="45700" marR="91425" marL="91425"/>
                </a:tc>
                <a:tc>
                  <a:txBody>
                    <a:bodyPr/>
                    <a:lstStyle/>
                    <a:p>
                      <a:pPr indent="0" lvl="0" marL="0" rtl="0" algn="ctr">
                        <a:spcBef>
                          <a:spcPts val="0"/>
                        </a:spcBef>
                        <a:spcAft>
                          <a:spcPts val="0"/>
                        </a:spcAft>
                        <a:buClr>
                          <a:schemeClr val="dk1"/>
                        </a:buClr>
                        <a:buSzPts val="1100"/>
                        <a:buFont typeface="Arial"/>
                        <a:buNone/>
                      </a:pPr>
                      <a:r>
                        <a:rPr b="1" lang="en" sz="1000">
                          <a:solidFill>
                            <a:srgbClr val="274E13"/>
                          </a:solidFill>
                          <a:latin typeface="Lato"/>
                          <a:ea typeface="Lato"/>
                          <a:cs typeface="Lato"/>
                          <a:sym typeface="Lato"/>
                        </a:rPr>
                        <a:t>Conservative</a:t>
                      </a:r>
                      <a:endParaRPr b="1" sz="1000">
                        <a:solidFill>
                          <a:srgbClr val="274E13"/>
                        </a:solidFill>
                        <a:latin typeface="Lato"/>
                        <a:ea typeface="Lato"/>
                        <a:cs typeface="Lato"/>
                        <a:sym typeface="Lato"/>
                      </a:endParaRPr>
                    </a:p>
                  </a:txBody>
                  <a:tcPr marT="45700" marB="45700" marR="91425" marL="91425">
                    <a:solidFill>
                      <a:srgbClr val="D9EAD3"/>
                    </a:solidFill>
                  </a:tcPr>
                </a:tc>
                <a:tc>
                  <a:txBody>
                    <a:bodyPr/>
                    <a:lstStyle/>
                    <a:p>
                      <a:pPr indent="0" lvl="0" marL="0" rtl="0" algn="ctr">
                        <a:spcBef>
                          <a:spcPts val="0"/>
                        </a:spcBef>
                        <a:spcAft>
                          <a:spcPts val="0"/>
                        </a:spcAft>
                        <a:buNone/>
                      </a:pPr>
                      <a:r>
                        <a:rPr lang="en" sz="1000">
                          <a:latin typeface="Lato"/>
                          <a:ea typeface="Lato"/>
                          <a:cs typeface="Lato"/>
                          <a:sym typeface="Lato"/>
                        </a:rPr>
                        <a:t>No.</a:t>
                      </a:r>
                      <a:endParaRPr sz="1000">
                        <a:latin typeface="Lato"/>
                        <a:ea typeface="Lato"/>
                        <a:cs typeface="Lato"/>
                        <a:sym typeface="Lato"/>
                      </a:endParaRPr>
                    </a:p>
                  </a:txBody>
                  <a:tcPr marT="45700" marB="45700" marR="91425" marL="91425"/>
                </a:tc>
                <a:tc>
                  <a:txBody>
                    <a:bodyPr/>
                    <a:lstStyle/>
                    <a:p>
                      <a:pPr indent="0" lvl="0" marL="0" rtl="0" algn="ctr">
                        <a:spcBef>
                          <a:spcPts val="0"/>
                        </a:spcBef>
                        <a:spcAft>
                          <a:spcPts val="0"/>
                        </a:spcAft>
                        <a:buClr>
                          <a:schemeClr val="dk1"/>
                        </a:buClr>
                        <a:buSzPts val="1100"/>
                        <a:buFont typeface="Arial"/>
                        <a:buNone/>
                      </a:pPr>
                      <a:r>
                        <a:rPr b="1" lang="en" sz="1000">
                          <a:solidFill>
                            <a:srgbClr val="274E13"/>
                          </a:solidFill>
                          <a:latin typeface="Lato"/>
                          <a:ea typeface="Lato"/>
                          <a:cs typeface="Lato"/>
                          <a:sym typeface="Lato"/>
                        </a:rPr>
                        <a:t>Conservative</a:t>
                      </a:r>
                      <a:endParaRPr b="1" sz="1000">
                        <a:solidFill>
                          <a:srgbClr val="274E13"/>
                        </a:solidFill>
                        <a:latin typeface="Lato"/>
                        <a:ea typeface="Lato"/>
                        <a:cs typeface="Lato"/>
                        <a:sym typeface="Lato"/>
                      </a:endParaRPr>
                    </a:p>
                  </a:txBody>
                  <a:tcPr marT="45700" marB="45700" marR="91425" marL="91425">
                    <a:solidFill>
                      <a:srgbClr val="D9EAD3"/>
                    </a:solidFill>
                  </a:tcPr>
                </a:tc>
              </a:tr>
              <a:tr h="231800">
                <a:tc>
                  <a:txBody>
                    <a:bodyPr/>
                    <a:lstStyle/>
                    <a:p>
                      <a:pPr indent="0" lvl="0" marL="0" rtl="0" algn="ctr">
                        <a:spcBef>
                          <a:spcPts val="0"/>
                        </a:spcBef>
                        <a:spcAft>
                          <a:spcPts val="0"/>
                        </a:spcAft>
                        <a:buNone/>
                      </a:pPr>
                      <a:r>
                        <a:rPr b="1" lang="en" sz="1000">
                          <a:solidFill>
                            <a:srgbClr val="0C343D"/>
                          </a:solidFill>
                          <a:latin typeface="Lato"/>
                          <a:ea typeface="Lato"/>
                          <a:cs typeface="Lato"/>
                          <a:sym typeface="Lato"/>
                        </a:rPr>
                        <a:t>Drag Coefficient</a:t>
                      </a:r>
                      <a:endParaRPr b="1" sz="1000">
                        <a:solidFill>
                          <a:srgbClr val="0C343D"/>
                        </a:solidFill>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b="1" lang="en" sz="1000">
                          <a:solidFill>
                            <a:srgbClr val="5B0F00"/>
                          </a:solidFill>
                          <a:latin typeface="Lato"/>
                          <a:ea typeface="Lato"/>
                          <a:cs typeface="Lato"/>
                          <a:sym typeface="Lato"/>
                        </a:rPr>
                        <a:t>0.86</a:t>
                      </a:r>
                      <a:endParaRPr b="1" sz="1000">
                        <a:solidFill>
                          <a:srgbClr val="5B0F00"/>
                        </a:solidFill>
                        <a:latin typeface="Lato"/>
                        <a:ea typeface="Lato"/>
                        <a:cs typeface="Lato"/>
                        <a:sym typeface="Lato"/>
                      </a:endParaRPr>
                    </a:p>
                  </a:txBody>
                  <a:tcPr marT="45700" marB="45700" marR="91425" marL="91425">
                    <a:solidFill>
                      <a:srgbClr val="E6B8AF"/>
                    </a:solidFill>
                  </a:tcPr>
                </a:tc>
                <a:tc>
                  <a:txBody>
                    <a:bodyPr/>
                    <a:lstStyle/>
                    <a:p>
                      <a:pPr indent="0" lvl="0" marL="0" rtl="0" algn="ctr">
                        <a:spcBef>
                          <a:spcPts val="0"/>
                        </a:spcBef>
                        <a:spcAft>
                          <a:spcPts val="0"/>
                        </a:spcAft>
                        <a:buNone/>
                      </a:pPr>
                      <a:r>
                        <a:rPr lang="en" sz="1000">
                          <a:latin typeface="Lato"/>
                          <a:ea typeface="Lato"/>
                          <a:cs typeface="Lato"/>
                          <a:sym typeface="Lato"/>
                        </a:rPr>
                        <a:t>0.86</a:t>
                      </a:r>
                      <a:endParaRPr sz="1000">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1000">
                          <a:latin typeface="Lato"/>
                          <a:ea typeface="Lato"/>
                          <a:cs typeface="Lato"/>
                          <a:sym typeface="Lato"/>
                        </a:rPr>
                        <a:t>0.86</a:t>
                      </a:r>
                      <a:endParaRPr sz="1000">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b="1" lang="en" sz="1000">
                          <a:solidFill>
                            <a:srgbClr val="274E13"/>
                          </a:solidFill>
                          <a:latin typeface="Lato"/>
                          <a:ea typeface="Lato"/>
                          <a:cs typeface="Lato"/>
                          <a:sym typeface="Lato"/>
                        </a:rPr>
                        <a:t>0.5</a:t>
                      </a:r>
                      <a:endParaRPr b="1" sz="1000">
                        <a:solidFill>
                          <a:srgbClr val="274E13"/>
                        </a:solidFill>
                        <a:latin typeface="Lato"/>
                        <a:ea typeface="Lato"/>
                        <a:cs typeface="Lato"/>
                        <a:sym typeface="Lato"/>
                      </a:endParaRPr>
                    </a:p>
                  </a:txBody>
                  <a:tcPr marT="45700" marB="45700" marR="91425" marL="91425">
                    <a:solidFill>
                      <a:srgbClr val="D9EAD3"/>
                    </a:solidFill>
                  </a:tcPr>
                </a:tc>
                <a:tc>
                  <a:txBody>
                    <a:bodyPr/>
                    <a:lstStyle/>
                    <a:p>
                      <a:pPr indent="0" lvl="0" marL="0" rtl="0" algn="ctr">
                        <a:spcBef>
                          <a:spcPts val="0"/>
                        </a:spcBef>
                        <a:spcAft>
                          <a:spcPts val="0"/>
                        </a:spcAft>
                        <a:buNone/>
                      </a:pPr>
                      <a:r>
                        <a:rPr b="1" lang="en" sz="1000">
                          <a:solidFill>
                            <a:srgbClr val="274E13"/>
                          </a:solidFill>
                          <a:latin typeface="Lato"/>
                          <a:ea typeface="Lato"/>
                          <a:cs typeface="Lato"/>
                          <a:sym typeface="Lato"/>
                        </a:rPr>
                        <a:t>0.5</a:t>
                      </a:r>
                      <a:endParaRPr b="1" sz="1000">
                        <a:solidFill>
                          <a:srgbClr val="274E13"/>
                        </a:solidFill>
                        <a:latin typeface="Lato"/>
                        <a:ea typeface="Lato"/>
                        <a:cs typeface="Lato"/>
                        <a:sym typeface="Lato"/>
                      </a:endParaRPr>
                    </a:p>
                  </a:txBody>
                  <a:tcPr marT="45700" marB="45700" marR="91425" marL="91425">
                    <a:solidFill>
                      <a:srgbClr val="D9EAD3"/>
                    </a:solidFill>
                  </a:tcPr>
                </a:tc>
              </a:tr>
              <a:tr h="231800">
                <a:tc>
                  <a:txBody>
                    <a:bodyPr/>
                    <a:lstStyle/>
                    <a:p>
                      <a:pPr indent="0" lvl="0" marL="0" rtl="0" algn="ctr">
                        <a:spcBef>
                          <a:spcPts val="0"/>
                        </a:spcBef>
                        <a:spcAft>
                          <a:spcPts val="0"/>
                        </a:spcAft>
                        <a:buNone/>
                      </a:pPr>
                      <a:r>
                        <a:rPr b="1" lang="en" sz="1000">
                          <a:solidFill>
                            <a:srgbClr val="0C343D"/>
                          </a:solidFill>
                          <a:latin typeface="Lato"/>
                          <a:ea typeface="Lato"/>
                          <a:cs typeface="Lato"/>
                          <a:sym typeface="Lato"/>
                        </a:rPr>
                        <a:t>Gradeability (%)</a:t>
                      </a:r>
                      <a:endParaRPr b="1" sz="1000">
                        <a:solidFill>
                          <a:srgbClr val="0C343D"/>
                        </a:solidFill>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1000">
                          <a:latin typeface="Lato"/>
                          <a:ea typeface="Lato"/>
                          <a:cs typeface="Lato"/>
                          <a:sym typeface="Lato"/>
                        </a:rPr>
                        <a:t>17.6</a:t>
                      </a:r>
                      <a:endParaRPr sz="1000">
                        <a:latin typeface="Lato"/>
                        <a:ea typeface="Lato"/>
                        <a:cs typeface="Lato"/>
                        <a:sym typeface="Lato"/>
                      </a:endParaRPr>
                    </a:p>
                  </a:txBody>
                  <a:tcPr marT="45700" marB="45700" marR="91425" marL="91425">
                    <a:solidFill>
                      <a:srgbClr val="E6B8AF"/>
                    </a:solidFill>
                  </a:tcPr>
                </a:tc>
                <a:tc>
                  <a:txBody>
                    <a:bodyPr/>
                    <a:lstStyle/>
                    <a:p>
                      <a:pPr indent="0" lvl="0" marL="0" rtl="0" algn="ctr">
                        <a:spcBef>
                          <a:spcPts val="0"/>
                        </a:spcBef>
                        <a:spcAft>
                          <a:spcPts val="0"/>
                        </a:spcAft>
                        <a:buNone/>
                      </a:pPr>
                      <a:r>
                        <a:rPr lang="en" sz="1000">
                          <a:latin typeface="Lato"/>
                          <a:ea typeface="Lato"/>
                          <a:cs typeface="Lato"/>
                          <a:sym typeface="Lato"/>
                        </a:rPr>
                        <a:t>21.2</a:t>
                      </a:r>
                      <a:endParaRPr sz="1000">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1000">
                          <a:latin typeface="Lato"/>
                          <a:ea typeface="Lato"/>
                          <a:cs typeface="Lato"/>
                          <a:sym typeface="Lato"/>
                        </a:rPr>
                        <a:t>17.6</a:t>
                      </a:r>
                      <a:endParaRPr sz="1000">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1000">
                          <a:latin typeface="Lato"/>
                          <a:ea typeface="Lato"/>
                          <a:cs typeface="Lato"/>
                          <a:sym typeface="Lato"/>
                        </a:rPr>
                        <a:t>17.6</a:t>
                      </a:r>
                      <a:endParaRPr sz="1000">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b="1" lang="en" sz="1000">
                          <a:solidFill>
                            <a:srgbClr val="274E13"/>
                          </a:solidFill>
                          <a:latin typeface="Lato"/>
                          <a:ea typeface="Lato"/>
                          <a:cs typeface="Lato"/>
                          <a:sym typeface="Lato"/>
                        </a:rPr>
                        <a:t>21.2</a:t>
                      </a:r>
                      <a:endParaRPr b="1" sz="1000">
                        <a:solidFill>
                          <a:srgbClr val="274E13"/>
                        </a:solidFill>
                        <a:latin typeface="Lato"/>
                        <a:ea typeface="Lato"/>
                        <a:cs typeface="Lato"/>
                        <a:sym typeface="Lato"/>
                      </a:endParaRPr>
                    </a:p>
                  </a:txBody>
                  <a:tcPr marT="45700" marB="45700" marR="91425" marL="91425">
                    <a:solidFill>
                      <a:srgbClr val="D9EAD3"/>
                    </a:solidFill>
                  </a:tcPr>
                </a:tc>
              </a:tr>
              <a:tr h="231800">
                <a:tc>
                  <a:txBody>
                    <a:bodyPr/>
                    <a:lstStyle/>
                    <a:p>
                      <a:pPr indent="0" lvl="0" marL="0" rtl="0" algn="ctr">
                        <a:spcBef>
                          <a:spcPts val="0"/>
                        </a:spcBef>
                        <a:spcAft>
                          <a:spcPts val="0"/>
                        </a:spcAft>
                        <a:buNone/>
                      </a:pPr>
                      <a:r>
                        <a:rPr b="1" lang="en" sz="1000">
                          <a:solidFill>
                            <a:srgbClr val="0C343D"/>
                          </a:solidFill>
                          <a:latin typeface="Lato"/>
                          <a:ea typeface="Lato"/>
                          <a:cs typeface="Lato"/>
                          <a:sym typeface="Lato"/>
                        </a:rPr>
                        <a:t>Peak Velocity (km/h)</a:t>
                      </a:r>
                      <a:endParaRPr b="1" sz="1000">
                        <a:solidFill>
                          <a:srgbClr val="0C343D"/>
                        </a:solidFill>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1000">
                          <a:latin typeface="Lato"/>
                          <a:ea typeface="Lato"/>
                          <a:cs typeface="Lato"/>
                          <a:sym typeface="Lato"/>
                        </a:rPr>
                        <a:t>60</a:t>
                      </a:r>
                      <a:endParaRPr sz="1000">
                        <a:latin typeface="Lato"/>
                        <a:ea typeface="Lato"/>
                        <a:cs typeface="Lato"/>
                        <a:sym typeface="Lato"/>
                      </a:endParaRPr>
                    </a:p>
                  </a:txBody>
                  <a:tcPr marT="45700" marB="45700" marR="91425" marL="91425">
                    <a:solidFill>
                      <a:srgbClr val="E6B8AF"/>
                    </a:solidFill>
                  </a:tcPr>
                </a:tc>
                <a:tc>
                  <a:txBody>
                    <a:bodyPr/>
                    <a:lstStyle/>
                    <a:p>
                      <a:pPr indent="0" lvl="0" marL="0" rtl="0" algn="ctr">
                        <a:spcBef>
                          <a:spcPts val="0"/>
                        </a:spcBef>
                        <a:spcAft>
                          <a:spcPts val="0"/>
                        </a:spcAft>
                        <a:buNone/>
                      </a:pPr>
                      <a:r>
                        <a:rPr lang="en" sz="1000">
                          <a:latin typeface="Lato"/>
                          <a:ea typeface="Lato"/>
                          <a:cs typeface="Lato"/>
                          <a:sym typeface="Lato"/>
                        </a:rPr>
                        <a:t>80</a:t>
                      </a:r>
                      <a:endParaRPr sz="1000">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1000">
                          <a:latin typeface="Lato"/>
                          <a:ea typeface="Lato"/>
                          <a:cs typeface="Lato"/>
                          <a:sym typeface="Lato"/>
                        </a:rPr>
                        <a:t>60</a:t>
                      </a:r>
                      <a:endParaRPr sz="1000">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lang="en" sz="1000">
                          <a:latin typeface="Lato"/>
                          <a:ea typeface="Lato"/>
                          <a:cs typeface="Lato"/>
                          <a:sym typeface="Lato"/>
                        </a:rPr>
                        <a:t>60</a:t>
                      </a:r>
                      <a:endParaRPr sz="1000">
                        <a:latin typeface="Lato"/>
                        <a:ea typeface="Lato"/>
                        <a:cs typeface="Lato"/>
                        <a:sym typeface="Lato"/>
                      </a:endParaRPr>
                    </a:p>
                  </a:txBody>
                  <a:tcPr marT="45700" marB="45700" marR="91425" marL="91425"/>
                </a:tc>
                <a:tc>
                  <a:txBody>
                    <a:bodyPr/>
                    <a:lstStyle/>
                    <a:p>
                      <a:pPr indent="0" lvl="0" marL="0" rtl="0" algn="ctr">
                        <a:spcBef>
                          <a:spcPts val="0"/>
                        </a:spcBef>
                        <a:spcAft>
                          <a:spcPts val="0"/>
                        </a:spcAft>
                        <a:buNone/>
                      </a:pPr>
                      <a:r>
                        <a:rPr b="1" lang="en" sz="1000">
                          <a:solidFill>
                            <a:srgbClr val="274E13"/>
                          </a:solidFill>
                          <a:latin typeface="Lato"/>
                          <a:ea typeface="Lato"/>
                          <a:cs typeface="Lato"/>
                          <a:sym typeface="Lato"/>
                        </a:rPr>
                        <a:t>80</a:t>
                      </a:r>
                      <a:endParaRPr b="1" sz="1000">
                        <a:solidFill>
                          <a:srgbClr val="274E13"/>
                        </a:solidFill>
                        <a:latin typeface="Lato"/>
                        <a:ea typeface="Lato"/>
                        <a:cs typeface="Lato"/>
                        <a:sym typeface="Lato"/>
                      </a:endParaRPr>
                    </a:p>
                  </a:txBody>
                  <a:tcPr marT="45700" marB="45700" marR="91425" marL="91425">
                    <a:solidFill>
                      <a:srgbClr val="D9EAD3"/>
                    </a:solidFill>
                  </a:tcPr>
                </a:tc>
              </a:tr>
              <a:tr h="261275">
                <a:tc>
                  <a:txBody>
                    <a:bodyPr/>
                    <a:lstStyle/>
                    <a:p>
                      <a:pPr indent="0" lvl="0" marL="0" rtl="0" algn="ctr">
                        <a:spcBef>
                          <a:spcPts val="0"/>
                        </a:spcBef>
                        <a:spcAft>
                          <a:spcPts val="0"/>
                        </a:spcAft>
                        <a:buNone/>
                      </a:pPr>
                      <a:r>
                        <a:rPr b="1" lang="en" sz="1050">
                          <a:solidFill>
                            <a:srgbClr val="0C343D"/>
                          </a:solidFill>
                          <a:latin typeface="Lato"/>
                          <a:ea typeface="Lato"/>
                          <a:cs typeface="Lato"/>
                          <a:sym typeface="Lato"/>
                        </a:rPr>
                        <a:t>Battery Size (for 300 km)</a:t>
                      </a:r>
                      <a:endParaRPr b="1" sz="1050">
                        <a:solidFill>
                          <a:srgbClr val="0C343D"/>
                        </a:solidFill>
                        <a:latin typeface="Lato"/>
                        <a:ea typeface="Lato"/>
                        <a:cs typeface="Lato"/>
                        <a:sym typeface="Lato"/>
                      </a:endParaRPr>
                    </a:p>
                  </a:txBody>
                  <a:tcPr marT="45700" marB="45700" marR="91425" marL="91425" anchor="ctr">
                    <a:solidFill>
                      <a:srgbClr val="D0E0E3"/>
                    </a:solidFill>
                  </a:tcPr>
                </a:tc>
                <a:tc>
                  <a:txBody>
                    <a:bodyPr/>
                    <a:lstStyle/>
                    <a:p>
                      <a:pPr indent="0" lvl="0" marL="0" rtl="0" algn="ctr">
                        <a:spcBef>
                          <a:spcPts val="0"/>
                        </a:spcBef>
                        <a:spcAft>
                          <a:spcPts val="0"/>
                        </a:spcAft>
                        <a:buNone/>
                      </a:pPr>
                      <a:r>
                        <a:rPr lang="en" sz="1050">
                          <a:solidFill>
                            <a:srgbClr val="0C343D"/>
                          </a:solidFill>
                          <a:latin typeface="Lato Black"/>
                          <a:ea typeface="Lato Black"/>
                          <a:cs typeface="Lato Black"/>
                          <a:sym typeface="Lato Black"/>
                        </a:rPr>
                        <a:t>60.9 kWh</a:t>
                      </a:r>
                      <a:endParaRPr sz="1050">
                        <a:solidFill>
                          <a:srgbClr val="0C343D"/>
                        </a:solidFill>
                        <a:latin typeface="Lato Black"/>
                        <a:ea typeface="Lato Black"/>
                        <a:cs typeface="Lato Black"/>
                        <a:sym typeface="Lato Black"/>
                      </a:endParaRPr>
                    </a:p>
                  </a:txBody>
                  <a:tcPr marT="45700" marB="45700" marR="91425" marL="91425" anchor="ctr">
                    <a:solidFill>
                      <a:srgbClr val="D0E0E3"/>
                    </a:solidFill>
                  </a:tcPr>
                </a:tc>
                <a:tc>
                  <a:txBody>
                    <a:bodyPr/>
                    <a:lstStyle/>
                    <a:p>
                      <a:pPr indent="0" lvl="0" marL="0" rtl="0" algn="ctr">
                        <a:spcBef>
                          <a:spcPts val="0"/>
                        </a:spcBef>
                        <a:spcAft>
                          <a:spcPts val="0"/>
                        </a:spcAft>
                        <a:buNone/>
                      </a:pPr>
                      <a:r>
                        <a:rPr lang="en" sz="1050">
                          <a:solidFill>
                            <a:srgbClr val="0C343D"/>
                          </a:solidFill>
                          <a:latin typeface="Lato Black"/>
                          <a:ea typeface="Lato Black"/>
                          <a:cs typeface="Lato Black"/>
                          <a:sym typeface="Lato Black"/>
                        </a:rPr>
                        <a:t>59.2 kWh</a:t>
                      </a:r>
                      <a:endParaRPr sz="1050">
                        <a:solidFill>
                          <a:srgbClr val="0C343D"/>
                        </a:solidFill>
                        <a:latin typeface="Lato Black"/>
                        <a:ea typeface="Lato Black"/>
                        <a:cs typeface="Lato Black"/>
                        <a:sym typeface="Lato Black"/>
                      </a:endParaRPr>
                    </a:p>
                  </a:txBody>
                  <a:tcPr marT="45700" marB="45700" marR="91425" marL="91425" anchor="ctr">
                    <a:solidFill>
                      <a:srgbClr val="D0E0E3"/>
                    </a:solidFill>
                  </a:tcPr>
                </a:tc>
                <a:tc>
                  <a:txBody>
                    <a:bodyPr/>
                    <a:lstStyle/>
                    <a:p>
                      <a:pPr indent="0" lvl="0" marL="0" rtl="0" algn="ctr">
                        <a:spcBef>
                          <a:spcPts val="0"/>
                        </a:spcBef>
                        <a:spcAft>
                          <a:spcPts val="0"/>
                        </a:spcAft>
                        <a:buNone/>
                      </a:pPr>
                      <a:r>
                        <a:rPr lang="en" sz="1050">
                          <a:solidFill>
                            <a:srgbClr val="0C343D"/>
                          </a:solidFill>
                          <a:latin typeface="Lato Black"/>
                          <a:ea typeface="Lato Black"/>
                          <a:cs typeface="Lato Black"/>
                          <a:sym typeface="Lato Black"/>
                        </a:rPr>
                        <a:t>52.8 kWh</a:t>
                      </a:r>
                      <a:endParaRPr sz="1050">
                        <a:solidFill>
                          <a:srgbClr val="0C343D"/>
                        </a:solidFill>
                        <a:latin typeface="Lato Black"/>
                        <a:ea typeface="Lato Black"/>
                        <a:cs typeface="Lato Black"/>
                        <a:sym typeface="Lato Black"/>
                      </a:endParaRPr>
                    </a:p>
                  </a:txBody>
                  <a:tcPr marT="45700" marB="45700" marR="91425" marL="91425" anchor="ctr">
                    <a:solidFill>
                      <a:srgbClr val="D0E0E3"/>
                    </a:solidFill>
                  </a:tcPr>
                </a:tc>
                <a:tc>
                  <a:txBody>
                    <a:bodyPr/>
                    <a:lstStyle/>
                    <a:p>
                      <a:pPr indent="0" lvl="0" marL="0" rtl="0" algn="ctr">
                        <a:spcBef>
                          <a:spcPts val="0"/>
                        </a:spcBef>
                        <a:spcAft>
                          <a:spcPts val="0"/>
                        </a:spcAft>
                        <a:buNone/>
                      </a:pPr>
                      <a:r>
                        <a:rPr lang="en" sz="1050">
                          <a:solidFill>
                            <a:srgbClr val="0C343D"/>
                          </a:solidFill>
                          <a:latin typeface="Lato Black"/>
                          <a:ea typeface="Lato Black"/>
                          <a:cs typeface="Lato Black"/>
                          <a:sym typeface="Lato Black"/>
                        </a:rPr>
                        <a:t>57.0 kWh</a:t>
                      </a:r>
                      <a:endParaRPr sz="1050">
                        <a:solidFill>
                          <a:srgbClr val="0C343D"/>
                        </a:solidFill>
                        <a:latin typeface="Lato Black"/>
                        <a:ea typeface="Lato Black"/>
                        <a:cs typeface="Lato Black"/>
                        <a:sym typeface="Lato Black"/>
                      </a:endParaRPr>
                    </a:p>
                  </a:txBody>
                  <a:tcPr marT="45700" marB="45700" marR="91425" marL="91425" anchor="ctr">
                    <a:solidFill>
                      <a:srgbClr val="D0E0E3"/>
                    </a:solidFill>
                  </a:tcPr>
                </a:tc>
                <a:tc>
                  <a:txBody>
                    <a:bodyPr/>
                    <a:lstStyle/>
                    <a:p>
                      <a:pPr indent="0" lvl="0" marL="0" rtl="0" algn="ctr">
                        <a:spcBef>
                          <a:spcPts val="0"/>
                        </a:spcBef>
                        <a:spcAft>
                          <a:spcPts val="0"/>
                        </a:spcAft>
                        <a:buNone/>
                      </a:pPr>
                      <a:r>
                        <a:rPr lang="en" sz="1050">
                          <a:solidFill>
                            <a:srgbClr val="0C343D"/>
                          </a:solidFill>
                          <a:latin typeface="Lato Black"/>
                          <a:ea typeface="Lato Black"/>
                          <a:cs typeface="Lato Black"/>
                          <a:sym typeface="Lato Black"/>
                        </a:rPr>
                        <a:t>47.5 kWh</a:t>
                      </a:r>
                      <a:endParaRPr sz="1050">
                        <a:solidFill>
                          <a:srgbClr val="0C343D"/>
                        </a:solidFill>
                        <a:latin typeface="Lato Black"/>
                        <a:ea typeface="Lato Black"/>
                        <a:cs typeface="Lato Black"/>
                        <a:sym typeface="Lato Black"/>
                      </a:endParaRPr>
                    </a:p>
                  </a:txBody>
                  <a:tcPr marT="45700" marB="45700" marR="91425" marL="91425" anchor="ctr">
                    <a:solidFill>
                      <a:srgbClr val="D0E0E3"/>
                    </a:solidFill>
                  </a:tcPr>
                </a:tc>
              </a:tr>
              <a:tr h="290675">
                <a:tc>
                  <a:txBody>
                    <a:bodyPr/>
                    <a:lstStyle/>
                    <a:p>
                      <a:pPr indent="0" lvl="0" marL="0" rtl="0" algn="ctr">
                        <a:spcBef>
                          <a:spcPts val="0"/>
                        </a:spcBef>
                        <a:spcAft>
                          <a:spcPts val="0"/>
                        </a:spcAft>
                        <a:buNone/>
                      </a:pPr>
                      <a:r>
                        <a:rPr b="1" lang="en" sz="1050">
                          <a:solidFill>
                            <a:srgbClr val="0C343D"/>
                          </a:solidFill>
                          <a:latin typeface="Lato"/>
                          <a:ea typeface="Lato"/>
                          <a:cs typeface="Lato"/>
                          <a:sym typeface="Lato"/>
                        </a:rPr>
                        <a:t>% </a:t>
                      </a:r>
                      <a:r>
                        <a:rPr b="1" lang="en" sz="1050">
                          <a:solidFill>
                            <a:srgbClr val="0C343D"/>
                          </a:solidFill>
                          <a:latin typeface="Lato"/>
                          <a:ea typeface="Lato"/>
                          <a:cs typeface="Lato"/>
                          <a:sym typeface="Lato"/>
                        </a:rPr>
                        <a:t>Reduction</a:t>
                      </a:r>
                      <a:r>
                        <a:rPr b="1" lang="en" sz="1050">
                          <a:solidFill>
                            <a:srgbClr val="0C343D"/>
                          </a:solidFill>
                          <a:latin typeface="Lato"/>
                          <a:ea typeface="Lato"/>
                          <a:cs typeface="Lato"/>
                          <a:sym typeface="Lato"/>
                        </a:rPr>
                        <a:t> in Battery Size</a:t>
                      </a:r>
                      <a:endParaRPr b="1" sz="1050">
                        <a:solidFill>
                          <a:srgbClr val="0C343D"/>
                        </a:solidFill>
                        <a:latin typeface="Lato"/>
                        <a:ea typeface="Lato"/>
                        <a:cs typeface="Lato"/>
                        <a:sym typeface="Lato"/>
                      </a:endParaRPr>
                    </a:p>
                  </a:txBody>
                  <a:tcPr marT="45700" marB="45700" marR="91425" marL="91425" anchor="ctr">
                    <a:solidFill>
                      <a:srgbClr val="D0E0E3"/>
                    </a:solidFill>
                  </a:tcPr>
                </a:tc>
                <a:tc>
                  <a:txBody>
                    <a:bodyPr/>
                    <a:lstStyle/>
                    <a:p>
                      <a:pPr indent="0" lvl="0" marL="0" rtl="0" algn="ctr">
                        <a:spcBef>
                          <a:spcPts val="0"/>
                        </a:spcBef>
                        <a:spcAft>
                          <a:spcPts val="0"/>
                        </a:spcAft>
                        <a:buNone/>
                      </a:pPr>
                      <a:r>
                        <a:rPr lang="en" sz="1050">
                          <a:solidFill>
                            <a:srgbClr val="0C343D"/>
                          </a:solidFill>
                          <a:latin typeface="Lato Black"/>
                          <a:ea typeface="Lato Black"/>
                          <a:cs typeface="Lato Black"/>
                          <a:sym typeface="Lato Black"/>
                        </a:rPr>
                        <a:t>N/A</a:t>
                      </a:r>
                      <a:endParaRPr sz="1050">
                        <a:solidFill>
                          <a:srgbClr val="0C343D"/>
                        </a:solidFill>
                        <a:latin typeface="Lato Black"/>
                        <a:ea typeface="Lato Black"/>
                        <a:cs typeface="Lato Black"/>
                        <a:sym typeface="Lato Black"/>
                      </a:endParaRPr>
                    </a:p>
                  </a:txBody>
                  <a:tcPr marT="45700" marB="45700" marR="91425" marL="91425" anchor="ctr">
                    <a:solidFill>
                      <a:srgbClr val="D0E0E3"/>
                    </a:solidFill>
                  </a:tcPr>
                </a:tc>
                <a:tc>
                  <a:txBody>
                    <a:bodyPr/>
                    <a:lstStyle/>
                    <a:p>
                      <a:pPr indent="0" lvl="0" marL="0" rtl="0" algn="ctr">
                        <a:spcBef>
                          <a:spcPts val="0"/>
                        </a:spcBef>
                        <a:spcAft>
                          <a:spcPts val="0"/>
                        </a:spcAft>
                        <a:buNone/>
                      </a:pPr>
                      <a:r>
                        <a:rPr lang="en" sz="1050">
                          <a:solidFill>
                            <a:srgbClr val="0C343D"/>
                          </a:solidFill>
                          <a:latin typeface="Lato Black"/>
                          <a:ea typeface="Lato Black"/>
                          <a:cs typeface="Lato Black"/>
                          <a:sym typeface="Lato Black"/>
                        </a:rPr>
                        <a:t>2.8 %</a:t>
                      </a:r>
                      <a:endParaRPr sz="1050">
                        <a:solidFill>
                          <a:srgbClr val="0C343D"/>
                        </a:solidFill>
                        <a:latin typeface="Lato Black"/>
                        <a:ea typeface="Lato Black"/>
                        <a:cs typeface="Lato Black"/>
                        <a:sym typeface="Lato Black"/>
                      </a:endParaRPr>
                    </a:p>
                  </a:txBody>
                  <a:tcPr marT="45700" marB="45700" marR="91425" marL="91425" anchor="ctr">
                    <a:solidFill>
                      <a:srgbClr val="D0E0E3"/>
                    </a:solidFill>
                  </a:tcPr>
                </a:tc>
                <a:tc>
                  <a:txBody>
                    <a:bodyPr/>
                    <a:lstStyle/>
                    <a:p>
                      <a:pPr indent="0" lvl="0" marL="0" rtl="0" algn="ctr">
                        <a:spcBef>
                          <a:spcPts val="0"/>
                        </a:spcBef>
                        <a:spcAft>
                          <a:spcPts val="0"/>
                        </a:spcAft>
                        <a:buNone/>
                      </a:pPr>
                      <a:r>
                        <a:rPr lang="en" sz="1050">
                          <a:solidFill>
                            <a:srgbClr val="0C343D"/>
                          </a:solidFill>
                          <a:latin typeface="Lato Black"/>
                          <a:ea typeface="Lato Black"/>
                          <a:cs typeface="Lato Black"/>
                          <a:sym typeface="Lato Black"/>
                        </a:rPr>
                        <a:t>13.3 %</a:t>
                      </a:r>
                      <a:endParaRPr sz="1050">
                        <a:solidFill>
                          <a:srgbClr val="0C343D"/>
                        </a:solidFill>
                        <a:latin typeface="Lato Black"/>
                        <a:ea typeface="Lato Black"/>
                        <a:cs typeface="Lato Black"/>
                        <a:sym typeface="Lato Black"/>
                      </a:endParaRPr>
                    </a:p>
                  </a:txBody>
                  <a:tcPr marT="45700" marB="45700" marR="91425" marL="91425" anchor="ctr">
                    <a:solidFill>
                      <a:srgbClr val="D0E0E3"/>
                    </a:solidFill>
                  </a:tcPr>
                </a:tc>
                <a:tc>
                  <a:txBody>
                    <a:bodyPr/>
                    <a:lstStyle/>
                    <a:p>
                      <a:pPr indent="0" lvl="0" marL="0" rtl="0" algn="ctr">
                        <a:spcBef>
                          <a:spcPts val="0"/>
                        </a:spcBef>
                        <a:spcAft>
                          <a:spcPts val="0"/>
                        </a:spcAft>
                        <a:buNone/>
                      </a:pPr>
                      <a:r>
                        <a:rPr lang="en" sz="1050">
                          <a:solidFill>
                            <a:srgbClr val="0C343D"/>
                          </a:solidFill>
                          <a:latin typeface="Lato Black"/>
                          <a:ea typeface="Lato Black"/>
                          <a:cs typeface="Lato Black"/>
                          <a:sym typeface="Lato Black"/>
                        </a:rPr>
                        <a:t>6.4 %</a:t>
                      </a:r>
                      <a:endParaRPr sz="1050">
                        <a:solidFill>
                          <a:srgbClr val="0C343D"/>
                        </a:solidFill>
                        <a:latin typeface="Lato Black"/>
                        <a:ea typeface="Lato Black"/>
                        <a:cs typeface="Lato Black"/>
                        <a:sym typeface="Lato Black"/>
                      </a:endParaRPr>
                    </a:p>
                  </a:txBody>
                  <a:tcPr marT="45700" marB="45700" marR="91425" marL="91425" anchor="ctr">
                    <a:solidFill>
                      <a:srgbClr val="D0E0E3"/>
                    </a:solidFill>
                  </a:tcPr>
                </a:tc>
                <a:tc>
                  <a:txBody>
                    <a:bodyPr/>
                    <a:lstStyle/>
                    <a:p>
                      <a:pPr indent="0" lvl="0" marL="0" rtl="0" algn="ctr">
                        <a:spcBef>
                          <a:spcPts val="0"/>
                        </a:spcBef>
                        <a:spcAft>
                          <a:spcPts val="0"/>
                        </a:spcAft>
                        <a:buNone/>
                      </a:pPr>
                      <a:r>
                        <a:rPr lang="en" sz="1050">
                          <a:solidFill>
                            <a:srgbClr val="0C343D"/>
                          </a:solidFill>
                          <a:latin typeface="Lato Black"/>
                          <a:ea typeface="Lato Black"/>
                          <a:cs typeface="Lato Black"/>
                          <a:sym typeface="Lato Black"/>
                        </a:rPr>
                        <a:t>22 %</a:t>
                      </a:r>
                      <a:endParaRPr sz="1050">
                        <a:solidFill>
                          <a:srgbClr val="0C343D"/>
                        </a:solidFill>
                        <a:latin typeface="Lato Black"/>
                        <a:ea typeface="Lato Black"/>
                        <a:cs typeface="Lato Black"/>
                        <a:sym typeface="Lato Black"/>
                      </a:endParaRPr>
                    </a:p>
                  </a:txBody>
                  <a:tcPr marT="45700" marB="45700" marR="91425" marL="91425" anchor="ctr">
                    <a:solidFill>
                      <a:srgbClr val="D0E0E3"/>
                    </a:solidFill>
                  </a:tcPr>
                </a:tc>
              </a:tr>
            </a:tbl>
          </a:graphicData>
        </a:graphic>
      </p:graphicFrame>
      <p:sp>
        <p:nvSpPr>
          <p:cNvPr id="713" name="Google Shape;713;p52"/>
          <p:cNvSpPr txBox="1"/>
          <p:nvPr/>
        </p:nvSpPr>
        <p:spPr>
          <a:xfrm>
            <a:off x="911375" y="3701700"/>
            <a:ext cx="7539900" cy="5310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en" sz="1000">
                <a:solidFill>
                  <a:schemeClr val="dk1"/>
                </a:solidFill>
                <a:latin typeface="Lato"/>
                <a:ea typeface="Lato"/>
                <a:cs typeface="Lato"/>
                <a:sym typeface="Lato"/>
              </a:rPr>
              <a:t>*  Case 1 is the unoptimised case, so it requires maximum energy (battery size) for completing 300 km</a:t>
            </a:r>
            <a:endParaRPr sz="1000">
              <a:solidFill>
                <a:schemeClr val="dk1"/>
              </a:solidFill>
              <a:latin typeface="Lato"/>
              <a:ea typeface="Lato"/>
              <a:cs typeface="Lato"/>
              <a:sym typeface="Lato"/>
            </a:endParaRPr>
          </a:p>
          <a:p>
            <a:pPr indent="0" lvl="0" marL="0" rtl="0" algn="l">
              <a:lnSpc>
                <a:spcPct val="125000"/>
              </a:lnSpc>
              <a:spcBef>
                <a:spcPts val="0"/>
              </a:spcBef>
              <a:spcAft>
                <a:spcPts val="0"/>
              </a:spcAft>
              <a:buNone/>
            </a:pPr>
            <a:r>
              <a:rPr lang="en" sz="1000">
                <a:solidFill>
                  <a:schemeClr val="dk1"/>
                </a:solidFill>
                <a:latin typeface="Lato"/>
                <a:ea typeface="Lato"/>
                <a:cs typeface="Lato"/>
                <a:sym typeface="Lato"/>
              </a:rPr>
              <a:t>** Case 2 is the best optimised case, so it requires xx% less energy (battery size) than the Case 1 for completing 300 km</a:t>
            </a:r>
            <a:endParaRPr sz="1000">
              <a:solidFill>
                <a:schemeClr val="dk1"/>
              </a:solidFill>
              <a:latin typeface="Lato"/>
              <a:ea typeface="Lato"/>
              <a:cs typeface="Lato"/>
              <a:sym typeface="La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FEFEF"/>
        </a:solidFill>
      </p:bgPr>
    </p:bg>
    <p:spTree>
      <p:nvGrpSpPr>
        <p:cNvPr id="717" name="Shape 717"/>
        <p:cNvGrpSpPr/>
        <p:nvPr/>
      </p:nvGrpSpPr>
      <p:grpSpPr>
        <a:xfrm>
          <a:off x="0" y="0"/>
          <a:ext cx="0" cy="0"/>
          <a:chOff x="0" y="0"/>
          <a:chExt cx="0" cy="0"/>
        </a:xfrm>
      </p:grpSpPr>
      <p:sp>
        <p:nvSpPr>
          <p:cNvPr id="718" name="Google Shape;718;p53"/>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200"/>
              <a:buFont typeface="Arial"/>
              <a:buNone/>
            </a:pPr>
            <a:r>
              <a:rPr lang="en" sz="2400">
                <a:solidFill>
                  <a:srgbClr val="48BACA"/>
                </a:solidFill>
                <a:latin typeface="Lato Black"/>
                <a:ea typeface="Lato Black"/>
                <a:cs typeface="Lato Black"/>
                <a:sym typeface="Lato Black"/>
              </a:rPr>
              <a:t>E/E </a:t>
            </a:r>
            <a:r>
              <a:rPr lang="en" sz="2400">
                <a:solidFill>
                  <a:srgbClr val="F3F3F3"/>
                </a:solidFill>
                <a:latin typeface="Lato"/>
                <a:ea typeface="Lato"/>
                <a:cs typeface="Lato"/>
                <a:sym typeface="Lato"/>
              </a:rPr>
              <a:t>Architecture</a:t>
            </a:r>
            <a:r>
              <a:rPr lang="en" sz="2400">
                <a:solidFill>
                  <a:srgbClr val="48BACA"/>
                </a:solidFill>
                <a:latin typeface="Lato Black"/>
                <a:ea typeface="Lato Black"/>
                <a:cs typeface="Lato Black"/>
                <a:sym typeface="Lato Black"/>
              </a:rPr>
              <a:t> </a:t>
            </a:r>
            <a:endParaRPr i="0" sz="2400" u="none" cap="none" strike="noStrike">
              <a:solidFill>
                <a:srgbClr val="48BACA"/>
              </a:solidFill>
              <a:latin typeface="Lato Black"/>
              <a:ea typeface="Lato Black"/>
              <a:cs typeface="Lato Black"/>
              <a:sym typeface="Lato Black"/>
            </a:endParaRPr>
          </a:p>
        </p:txBody>
      </p:sp>
      <p:pic>
        <p:nvPicPr>
          <p:cNvPr id="719" name="Google Shape;719;p53"/>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720" name="Google Shape;720;p53"/>
          <p:cNvPicPr preferRelativeResize="0"/>
          <p:nvPr/>
        </p:nvPicPr>
        <p:blipFill>
          <a:blip r:embed="rId4">
            <a:alphaModFix amt="26000"/>
          </a:blip>
          <a:stretch>
            <a:fillRect/>
          </a:stretch>
        </p:blipFill>
        <p:spPr>
          <a:xfrm rot="9900000">
            <a:off x="5128900" y="2442475"/>
            <a:ext cx="4289526" cy="2716700"/>
          </a:xfrm>
          <a:prstGeom prst="rect">
            <a:avLst/>
          </a:prstGeom>
          <a:noFill/>
          <a:ln>
            <a:noFill/>
          </a:ln>
        </p:spPr>
      </p:pic>
      <p:sp>
        <p:nvSpPr>
          <p:cNvPr id="721" name="Google Shape;721;p53"/>
          <p:cNvSpPr/>
          <p:nvPr/>
        </p:nvSpPr>
        <p:spPr>
          <a:xfrm>
            <a:off x="2899400" y="2313850"/>
            <a:ext cx="1352100" cy="8568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53"/>
          <p:cNvSpPr/>
          <p:nvPr/>
        </p:nvSpPr>
        <p:spPr>
          <a:xfrm>
            <a:off x="429800" y="2313850"/>
            <a:ext cx="1352100" cy="8568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3" name="Google Shape;723;p53"/>
          <p:cNvPicPr preferRelativeResize="0"/>
          <p:nvPr/>
        </p:nvPicPr>
        <p:blipFill rotWithShape="1">
          <a:blip r:embed="rId5">
            <a:alphaModFix/>
          </a:blip>
          <a:srcRect b="0" l="0" r="10241" t="0"/>
          <a:stretch/>
        </p:blipFill>
        <p:spPr>
          <a:xfrm>
            <a:off x="4757075" y="1165710"/>
            <a:ext cx="1353312" cy="859536"/>
          </a:xfrm>
          <a:prstGeom prst="rect">
            <a:avLst/>
          </a:prstGeom>
          <a:noFill/>
          <a:ln>
            <a:noFill/>
          </a:ln>
        </p:spPr>
      </p:pic>
      <p:pic>
        <p:nvPicPr>
          <p:cNvPr id="724" name="Google Shape;724;p53"/>
          <p:cNvPicPr preferRelativeResize="0"/>
          <p:nvPr/>
        </p:nvPicPr>
        <p:blipFill>
          <a:blip r:embed="rId6">
            <a:alphaModFix/>
          </a:blip>
          <a:stretch>
            <a:fillRect/>
          </a:stretch>
        </p:blipFill>
        <p:spPr>
          <a:xfrm>
            <a:off x="6992600" y="3679725"/>
            <a:ext cx="1683825" cy="1069475"/>
          </a:xfrm>
          <a:prstGeom prst="rect">
            <a:avLst/>
          </a:prstGeom>
          <a:noFill/>
          <a:ln>
            <a:noFill/>
          </a:ln>
        </p:spPr>
      </p:pic>
      <p:pic>
        <p:nvPicPr>
          <p:cNvPr id="725" name="Google Shape;725;p53"/>
          <p:cNvPicPr preferRelativeResize="0"/>
          <p:nvPr/>
        </p:nvPicPr>
        <p:blipFill>
          <a:blip r:embed="rId7">
            <a:alphaModFix/>
          </a:blip>
          <a:stretch>
            <a:fillRect/>
          </a:stretch>
        </p:blipFill>
        <p:spPr>
          <a:xfrm>
            <a:off x="7077675" y="1165688"/>
            <a:ext cx="1353312" cy="859536"/>
          </a:xfrm>
          <a:prstGeom prst="rect">
            <a:avLst/>
          </a:prstGeom>
          <a:noFill/>
          <a:ln>
            <a:noFill/>
          </a:ln>
        </p:spPr>
      </p:pic>
      <p:pic>
        <p:nvPicPr>
          <p:cNvPr id="726" name="Google Shape;726;p53"/>
          <p:cNvPicPr preferRelativeResize="0"/>
          <p:nvPr/>
        </p:nvPicPr>
        <p:blipFill rotWithShape="1">
          <a:blip r:embed="rId8">
            <a:alphaModFix/>
          </a:blip>
          <a:srcRect b="0" l="32451" r="0" t="0"/>
          <a:stretch/>
        </p:blipFill>
        <p:spPr>
          <a:xfrm>
            <a:off x="2899400" y="3827000"/>
            <a:ext cx="1352101" cy="859536"/>
          </a:xfrm>
          <a:prstGeom prst="rect">
            <a:avLst/>
          </a:prstGeom>
          <a:noFill/>
          <a:ln>
            <a:noFill/>
          </a:ln>
        </p:spPr>
      </p:pic>
      <p:sp>
        <p:nvSpPr>
          <p:cNvPr id="727" name="Google Shape;727;p53"/>
          <p:cNvSpPr txBox="1"/>
          <p:nvPr/>
        </p:nvSpPr>
        <p:spPr>
          <a:xfrm>
            <a:off x="2957600" y="2439200"/>
            <a:ext cx="12357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rgbClr val="FFFFFF"/>
                </a:solidFill>
                <a:latin typeface="Calibri"/>
                <a:ea typeface="Calibri"/>
                <a:cs typeface="Calibri"/>
                <a:sym typeface="Calibri"/>
              </a:rPr>
              <a:t>BATTERY</a:t>
            </a:r>
            <a:endParaRPr sz="1300">
              <a:solidFill>
                <a:srgbClr val="FFFFFF"/>
              </a:solidFill>
              <a:latin typeface="Calibri"/>
              <a:ea typeface="Calibri"/>
              <a:cs typeface="Calibri"/>
              <a:sym typeface="Calibri"/>
            </a:endParaRPr>
          </a:p>
          <a:p>
            <a:pPr indent="0" lvl="0" marL="0" rtl="0" algn="ctr">
              <a:spcBef>
                <a:spcPts val="0"/>
              </a:spcBef>
              <a:spcAft>
                <a:spcPts val="0"/>
              </a:spcAft>
              <a:buNone/>
            </a:pPr>
            <a:r>
              <a:rPr lang="en" sz="1300">
                <a:solidFill>
                  <a:srgbClr val="FFFFFF"/>
                </a:solidFill>
                <a:latin typeface="Calibri"/>
                <a:ea typeface="Calibri"/>
                <a:cs typeface="Calibri"/>
                <a:sym typeface="Calibri"/>
              </a:rPr>
              <a:t>BOX</a:t>
            </a:r>
            <a:endParaRPr sz="1300">
              <a:solidFill>
                <a:srgbClr val="FFFFFF"/>
              </a:solidFill>
              <a:latin typeface="Calibri"/>
              <a:ea typeface="Calibri"/>
              <a:cs typeface="Calibri"/>
              <a:sym typeface="Calibri"/>
            </a:endParaRPr>
          </a:p>
          <a:p>
            <a:pPr indent="0" lvl="0" marL="0" rtl="0" algn="l">
              <a:spcBef>
                <a:spcPts val="0"/>
              </a:spcBef>
              <a:spcAft>
                <a:spcPts val="0"/>
              </a:spcAft>
              <a:buNone/>
            </a:pPr>
            <a:r>
              <a:t/>
            </a:r>
            <a:endParaRPr>
              <a:highlight>
                <a:srgbClr val="FFFFFF"/>
              </a:highlight>
            </a:endParaRPr>
          </a:p>
        </p:txBody>
      </p:sp>
      <p:sp>
        <p:nvSpPr>
          <p:cNvPr id="728" name="Google Shape;728;p53"/>
          <p:cNvSpPr txBox="1"/>
          <p:nvPr/>
        </p:nvSpPr>
        <p:spPr>
          <a:xfrm>
            <a:off x="429800" y="2349700"/>
            <a:ext cx="1352100" cy="785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rgbClr val="FFFFFF"/>
                </a:solidFill>
                <a:latin typeface="Calibri"/>
                <a:ea typeface="Calibri"/>
                <a:cs typeface="Calibri"/>
                <a:sym typeface="Calibri"/>
              </a:rPr>
              <a:t>BATTERY</a:t>
            </a:r>
            <a:endParaRPr sz="1300">
              <a:solidFill>
                <a:srgbClr val="FFFFFF"/>
              </a:solidFill>
              <a:latin typeface="Calibri"/>
              <a:ea typeface="Calibri"/>
              <a:cs typeface="Calibri"/>
              <a:sym typeface="Calibri"/>
            </a:endParaRPr>
          </a:p>
          <a:p>
            <a:pPr indent="0" lvl="0" marL="0" rtl="0" algn="ctr">
              <a:spcBef>
                <a:spcPts val="0"/>
              </a:spcBef>
              <a:spcAft>
                <a:spcPts val="0"/>
              </a:spcAft>
              <a:buNone/>
            </a:pPr>
            <a:r>
              <a:rPr lang="en" sz="1300">
                <a:solidFill>
                  <a:srgbClr val="FFFFFF"/>
                </a:solidFill>
                <a:latin typeface="Calibri"/>
                <a:ea typeface="Calibri"/>
                <a:cs typeface="Calibri"/>
                <a:sym typeface="Calibri"/>
              </a:rPr>
              <a:t>MANAGEMENT</a:t>
            </a:r>
            <a:endParaRPr sz="1300">
              <a:solidFill>
                <a:srgbClr val="FFFFFF"/>
              </a:solidFill>
              <a:latin typeface="Calibri"/>
              <a:ea typeface="Calibri"/>
              <a:cs typeface="Calibri"/>
              <a:sym typeface="Calibri"/>
            </a:endParaRPr>
          </a:p>
          <a:p>
            <a:pPr indent="0" lvl="0" marL="0" rtl="0" algn="ctr">
              <a:spcBef>
                <a:spcPts val="0"/>
              </a:spcBef>
              <a:spcAft>
                <a:spcPts val="0"/>
              </a:spcAft>
              <a:buNone/>
            </a:pPr>
            <a:r>
              <a:rPr lang="en" sz="1300">
                <a:solidFill>
                  <a:srgbClr val="FFFFFF"/>
                </a:solidFill>
                <a:latin typeface="Calibri"/>
                <a:ea typeface="Calibri"/>
                <a:cs typeface="Calibri"/>
                <a:sym typeface="Calibri"/>
              </a:rPr>
              <a:t>SYSTEM</a:t>
            </a:r>
            <a:endParaRPr sz="1300">
              <a:solidFill>
                <a:srgbClr val="FFFFFF"/>
              </a:solidFill>
              <a:latin typeface="Calibri"/>
              <a:ea typeface="Calibri"/>
              <a:cs typeface="Calibri"/>
              <a:sym typeface="Calibri"/>
            </a:endParaRPr>
          </a:p>
        </p:txBody>
      </p:sp>
      <p:sp>
        <p:nvSpPr>
          <p:cNvPr id="729" name="Google Shape;729;p53"/>
          <p:cNvSpPr/>
          <p:nvPr/>
        </p:nvSpPr>
        <p:spPr>
          <a:xfrm>
            <a:off x="6310375" y="1436175"/>
            <a:ext cx="567300" cy="318600"/>
          </a:xfrm>
          <a:prstGeom prst="rightArrow">
            <a:avLst>
              <a:gd fmla="val 50000" name="adj1"/>
              <a:gd fmla="val 50000" name="adj2"/>
            </a:avLst>
          </a:prstGeom>
          <a:solidFill>
            <a:srgbClr val="6FA8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53"/>
          <p:cNvSpPr txBox="1"/>
          <p:nvPr/>
        </p:nvSpPr>
        <p:spPr>
          <a:xfrm>
            <a:off x="4900588" y="3792375"/>
            <a:ext cx="1235700" cy="60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rgbClr val="FFFFFF"/>
                </a:solidFill>
                <a:latin typeface="Calibri"/>
                <a:ea typeface="Calibri"/>
                <a:cs typeface="Calibri"/>
                <a:sym typeface="Calibri"/>
              </a:rPr>
              <a:t>MOTOR</a:t>
            </a:r>
            <a:endParaRPr sz="1300">
              <a:solidFill>
                <a:srgbClr val="FFFFFF"/>
              </a:solidFill>
              <a:latin typeface="Calibri"/>
              <a:ea typeface="Calibri"/>
              <a:cs typeface="Calibri"/>
              <a:sym typeface="Calibri"/>
            </a:endParaRPr>
          </a:p>
          <a:p>
            <a:pPr indent="0" lvl="0" marL="0" rtl="0" algn="l">
              <a:spcBef>
                <a:spcPts val="0"/>
              </a:spcBef>
              <a:spcAft>
                <a:spcPts val="0"/>
              </a:spcAft>
              <a:buNone/>
            </a:pPr>
            <a:r>
              <a:t/>
            </a:r>
            <a:endParaRPr>
              <a:highlight>
                <a:srgbClr val="FFFFFF"/>
              </a:highlight>
            </a:endParaRPr>
          </a:p>
        </p:txBody>
      </p:sp>
      <p:sp>
        <p:nvSpPr>
          <p:cNvPr id="731" name="Google Shape;731;p53"/>
          <p:cNvSpPr/>
          <p:nvPr/>
        </p:nvSpPr>
        <p:spPr>
          <a:xfrm>
            <a:off x="4698263" y="3827000"/>
            <a:ext cx="1353300" cy="859500"/>
          </a:xfrm>
          <a:prstGeom prst="rect">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53"/>
          <p:cNvSpPr txBox="1"/>
          <p:nvPr/>
        </p:nvSpPr>
        <p:spPr>
          <a:xfrm>
            <a:off x="4815875" y="3948800"/>
            <a:ext cx="12357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rgbClr val="FFFFFF"/>
                </a:solidFill>
                <a:latin typeface="Calibri"/>
                <a:ea typeface="Calibri"/>
                <a:cs typeface="Calibri"/>
                <a:sym typeface="Calibri"/>
              </a:rPr>
              <a:t>MOTOR</a:t>
            </a:r>
            <a:endParaRPr sz="1300">
              <a:solidFill>
                <a:srgbClr val="FFFFFF"/>
              </a:solidFill>
              <a:latin typeface="Calibri"/>
              <a:ea typeface="Calibri"/>
              <a:cs typeface="Calibri"/>
              <a:sym typeface="Calibri"/>
            </a:endParaRPr>
          </a:p>
          <a:p>
            <a:pPr indent="0" lvl="0" marL="0" rtl="0" algn="ctr">
              <a:spcBef>
                <a:spcPts val="0"/>
              </a:spcBef>
              <a:spcAft>
                <a:spcPts val="0"/>
              </a:spcAft>
              <a:buNone/>
            </a:pPr>
            <a:r>
              <a:rPr lang="en" sz="1300">
                <a:solidFill>
                  <a:srgbClr val="FFFFFF"/>
                </a:solidFill>
                <a:latin typeface="Calibri"/>
                <a:ea typeface="Calibri"/>
                <a:cs typeface="Calibri"/>
                <a:sym typeface="Calibri"/>
              </a:rPr>
              <a:t>CONTROLLER</a:t>
            </a:r>
            <a:endParaRPr sz="1300">
              <a:solidFill>
                <a:srgbClr val="FFFFFF"/>
              </a:solidFill>
              <a:latin typeface="Calibri"/>
              <a:ea typeface="Calibri"/>
              <a:cs typeface="Calibri"/>
              <a:sym typeface="Calibri"/>
            </a:endParaRPr>
          </a:p>
          <a:p>
            <a:pPr indent="0" lvl="0" marL="0" rtl="0" algn="l">
              <a:spcBef>
                <a:spcPts val="0"/>
              </a:spcBef>
              <a:spcAft>
                <a:spcPts val="0"/>
              </a:spcAft>
              <a:buNone/>
            </a:pPr>
            <a:r>
              <a:t/>
            </a:r>
            <a:endParaRPr>
              <a:highlight>
                <a:srgbClr val="FFFFFF"/>
              </a:highlight>
            </a:endParaRPr>
          </a:p>
        </p:txBody>
      </p:sp>
      <p:sp>
        <p:nvSpPr>
          <p:cNvPr id="733" name="Google Shape;733;p53"/>
          <p:cNvSpPr txBox="1"/>
          <p:nvPr/>
        </p:nvSpPr>
        <p:spPr>
          <a:xfrm>
            <a:off x="0" y="941225"/>
            <a:ext cx="4111500" cy="407100"/>
          </a:xfrm>
          <a:prstGeom prst="rect">
            <a:avLst/>
          </a:prstGeom>
          <a:solidFill>
            <a:srgbClr val="23656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700">
                <a:solidFill>
                  <a:srgbClr val="EFEFEF"/>
                </a:solidFill>
                <a:latin typeface="Open Sans ExtraBold"/>
                <a:ea typeface="Open Sans ExtraBold"/>
                <a:cs typeface="Open Sans ExtraBold"/>
                <a:sym typeface="Open Sans ExtraBold"/>
              </a:rPr>
              <a:t>HV - - - -</a:t>
            </a:r>
            <a:endParaRPr sz="1700">
              <a:solidFill>
                <a:srgbClr val="EFEFEF"/>
              </a:solidFill>
              <a:latin typeface="Open Sans ExtraBold"/>
              <a:ea typeface="Open Sans ExtraBold"/>
              <a:cs typeface="Open Sans ExtraBold"/>
              <a:sym typeface="Open Sans ExtraBold"/>
            </a:endParaRPr>
          </a:p>
        </p:txBody>
      </p:sp>
      <p:sp>
        <p:nvSpPr>
          <p:cNvPr id="734" name="Google Shape;734;p53"/>
          <p:cNvSpPr/>
          <p:nvPr/>
        </p:nvSpPr>
        <p:spPr>
          <a:xfrm>
            <a:off x="3834275" y="941225"/>
            <a:ext cx="399000" cy="4071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735" name="Google Shape;735;p53"/>
          <p:cNvPicPr preferRelativeResize="0"/>
          <p:nvPr/>
        </p:nvPicPr>
        <p:blipFill rotWithShape="1">
          <a:blip r:embed="rId9">
            <a:alphaModFix/>
          </a:blip>
          <a:srcRect b="11281" l="20956" r="20375" t="10435"/>
          <a:stretch/>
        </p:blipFill>
        <p:spPr>
          <a:xfrm>
            <a:off x="3815225" y="985441"/>
            <a:ext cx="360900" cy="318660"/>
          </a:xfrm>
          <a:prstGeom prst="rect">
            <a:avLst/>
          </a:prstGeom>
          <a:noFill/>
          <a:ln>
            <a:noFill/>
          </a:ln>
        </p:spPr>
      </p:pic>
      <p:sp>
        <p:nvSpPr>
          <p:cNvPr id="736" name="Google Shape;736;p53"/>
          <p:cNvSpPr txBox="1"/>
          <p:nvPr/>
        </p:nvSpPr>
        <p:spPr>
          <a:xfrm>
            <a:off x="6408900" y="2633600"/>
            <a:ext cx="7338000" cy="5850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i="1" lang="en" sz="1300">
                <a:latin typeface="Calibri"/>
                <a:ea typeface="Calibri"/>
                <a:cs typeface="Calibri"/>
                <a:sym typeface="Calibri"/>
              </a:rPr>
              <a:t>High voltage power flow</a:t>
            </a:r>
            <a:endParaRPr b="1" i="1" sz="1300">
              <a:latin typeface="Calibri"/>
              <a:ea typeface="Calibri"/>
              <a:cs typeface="Calibri"/>
              <a:sym typeface="Calibri"/>
            </a:endParaRPr>
          </a:p>
          <a:p>
            <a:pPr indent="0" lvl="0" marL="457200" rtl="0" algn="l">
              <a:spcBef>
                <a:spcPts val="0"/>
              </a:spcBef>
              <a:spcAft>
                <a:spcPts val="0"/>
              </a:spcAft>
              <a:buNone/>
            </a:pPr>
            <a:r>
              <a:rPr b="1" i="1" lang="en" sz="1300">
                <a:latin typeface="Calibri"/>
                <a:ea typeface="Calibri"/>
                <a:cs typeface="Calibri"/>
                <a:sym typeface="Calibri"/>
              </a:rPr>
              <a:t>Low </a:t>
            </a:r>
            <a:r>
              <a:rPr b="1" i="1" lang="en" sz="1300">
                <a:solidFill>
                  <a:schemeClr val="dk1"/>
                </a:solidFill>
                <a:latin typeface="Calibri"/>
                <a:ea typeface="Calibri"/>
                <a:cs typeface="Calibri"/>
                <a:sym typeface="Calibri"/>
              </a:rPr>
              <a:t>voltage power flow</a:t>
            </a:r>
            <a:endParaRPr b="1" i="1" sz="1300">
              <a:latin typeface="Calibri"/>
              <a:ea typeface="Calibri"/>
              <a:cs typeface="Calibri"/>
              <a:sym typeface="Calibri"/>
            </a:endParaRPr>
          </a:p>
        </p:txBody>
      </p:sp>
      <p:sp>
        <p:nvSpPr>
          <p:cNvPr id="737" name="Google Shape;737;p53"/>
          <p:cNvSpPr/>
          <p:nvPr/>
        </p:nvSpPr>
        <p:spPr>
          <a:xfrm>
            <a:off x="6687900" y="2775588"/>
            <a:ext cx="107400" cy="120900"/>
          </a:xfrm>
          <a:prstGeom prst="ellipse">
            <a:avLst/>
          </a:prstGeom>
          <a:solidFill>
            <a:srgbClr val="B45F0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53"/>
          <p:cNvSpPr/>
          <p:nvPr/>
        </p:nvSpPr>
        <p:spPr>
          <a:xfrm>
            <a:off x="6687900" y="2955763"/>
            <a:ext cx="107400" cy="1209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FEFEF"/>
        </a:solidFill>
      </p:bgPr>
    </p:bg>
    <p:spTree>
      <p:nvGrpSpPr>
        <p:cNvPr id="742" name="Shape 742"/>
        <p:cNvGrpSpPr/>
        <p:nvPr/>
      </p:nvGrpSpPr>
      <p:grpSpPr>
        <a:xfrm>
          <a:off x="0" y="0"/>
          <a:ext cx="0" cy="0"/>
          <a:chOff x="0" y="0"/>
          <a:chExt cx="0" cy="0"/>
        </a:xfrm>
      </p:grpSpPr>
      <p:sp>
        <p:nvSpPr>
          <p:cNvPr id="743" name="Google Shape;743;p54"/>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200"/>
              <a:buFont typeface="Arial"/>
              <a:buNone/>
            </a:pPr>
            <a:r>
              <a:rPr lang="en" sz="2400">
                <a:solidFill>
                  <a:srgbClr val="48BACA"/>
                </a:solidFill>
                <a:latin typeface="Lato Black"/>
                <a:ea typeface="Lato Black"/>
                <a:cs typeface="Lato Black"/>
                <a:sym typeface="Lato Black"/>
              </a:rPr>
              <a:t>E/E </a:t>
            </a:r>
            <a:r>
              <a:rPr lang="en" sz="2400">
                <a:solidFill>
                  <a:srgbClr val="F3F3F3"/>
                </a:solidFill>
                <a:latin typeface="Lato"/>
                <a:ea typeface="Lato"/>
                <a:cs typeface="Lato"/>
                <a:sym typeface="Lato"/>
              </a:rPr>
              <a:t>Architecture</a:t>
            </a:r>
            <a:r>
              <a:rPr lang="en" sz="2400">
                <a:solidFill>
                  <a:srgbClr val="48BACA"/>
                </a:solidFill>
                <a:latin typeface="Lato Black"/>
                <a:ea typeface="Lato Black"/>
                <a:cs typeface="Lato Black"/>
                <a:sym typeface="Lato Black"/>
              </a:rPr>
              <a:t> </a:t>
            </a:r>
            <a:endParaRPr i="0" sz="2400" u="none" cap="none" strike="noStrike">
              <a:solidFill>
                <a:srgbClr val="48BACA"/>
              </a:solidFill>
              <a:latin typeface="Lato Black"/>
              <a:ea typeface="Lato Black"/>
              <a:cs typeface="Lato Black"/>
              <a:sym typeface="Lato Black"/>
            </a:endParaRPr>
          </a:p>
        </p:txBody>
      </p:sp>
      <p:pic>
        <p:nvPicPr>
          <p:cNvPr id="744" name="Google Shape;744;p54"/>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745" name="Google Shape;745;p54"/>
          <p:cNvPicPr preferRelativeResize="0"/>
          <p:nvPr/>
        </p:nvPicPr>
        <p:blipFill>
          <a:blip r:embed="rId4">
            <a:alphaModFix amt="26000"/>
          </a:blip>
          <a:stretch>
            <a:fillRect/>
          </a:stretch>
        </p:blipFill>
        <p:spPr>
          <a:xfrm rot="9900000">
            <a:off x="4850475" y="2263600"/>
            <a:ext cx="4289526" cy="2716700"/>
          </a:xfrm>
          <a:prstGeom prst="rect">
            <a:avLst/>
          </a:prstGeom>
          <a:noFill/>
          <a:ln>
            <a:noFill/>
          </a:ln>
        </p:spPr>
      </p:pic>
      <p:sp>
        <p:nvSpPr>
          <p:cNvPr id="746" name="Google Shape;746;p54"/>
          <p:cNvSpPr/>
          <p:nvPr/>
        </p:nvSpPr>
        <p:spPr>
          <a:xfrm>
            <a:off x="2899400" y="2313850"/>
            <a:ext cx="1352100" cy="856800"/>
          </a:xfrm>
          <a:prstGeom prst="rect">
            <a:avLst/>
          </a:prstGeom>
          <a:solidFill>
            <a:srgbClr val="23656F"/>
          </a:solidFill>
          <a:ln cap="flat" cmpd="sng" w="38100">
            <a:solidFill>
              <a:srgbClr val="2365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54"/>
          <p:cNvSpPr/>
          <p:nvPr/>
        </p:nvSpPr>
        <p:spPr>
          <a:xfrm>
            <a:off x="429800" y="2313850"/>
            <a:ext cx="1352100" cy="856800"/>
          </a:xfrm>
          <a:prstGeom prst="rect">
            <a:avLst/>
          </a:prstGeom>
          <a:solidFill>
            <a:srgbClr val="23656F"/>
          </a:solidFill>
          <a:ln cap="flat" cmpd="sng" w="38100">
            <a:solidFill>
              <a:srgbClr val="2365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8" name="Google Shape;748;p54"/>
          <p:cNvPicPr preferRelativeResize="0"/>
          <p:nvPr/>
        </p:nvPicPr>
        <p:blipFill rotWithShape="1">
          <a:blip r:embed="rId5">
            <a:alphaModFix amt="50000"/>
          </a:blip>
          <a:srcRect b="0" l="0" r="10241" t="0"/>
          <a:stretch/>
        </p:blipFill>
        <p:spPr>
          <a:xfrm>
            <a:off x="4757075" y="1165710"/>
            <a:ext cx="1353312" cy="859536"/>
          </a:xfrm>
          <a:prstGeom prst="rect">
            <a:avLst/>
          </a:prstGeom>
          <a:noFill/>
          <a:ln cap="flat" cmpd="sng" w="38100">
            <a:solidFill>
              <a:srgbClr val="23656F"/>
            </a:solidFill>
            <a:prstDash val="solid"/>
            <a:round/>
            <a:headEnd len="sm" w="sm" type="none"/>
            <a:tailEnd len="sm" w="sm" type="none"/>
          </a:ln>
        </p:spPr>
      </p:pic>
      <p:pic>
        <p:nvPicPr>
          <p:cNvPr id="749" name="Google Shape;749;p54"/>
          <p:cNvPicPr preferRelativeResize="0"/>
          <p:nvPr/>
        </p:nvPicPr>
        <p:blipFill>
          <a:blip r:embed="rId6">
            <a:alphaModFix amt="50000"/>
          </a:blip>
          <a:stretch>
            <a:fillRect/>
          </a:stretch>
        </p:blipFill>
        <p:spPr>
          <a:xfrm>
            <a:off x="7077674" y="3826986"/>
            <a:ext cx="1353312" cy="859536"/>
          </a:xfrm>
          <a:prstGeom prst="rect">
            <a:avLst/>
          </a:prstGeom>
          <a:noFill/>
          <a:ln cap="flat" cmpd="sng" w="38100">
            <a:solidFill>
              <a:srgbClr val="23656F"/>
            </a:solidFill>
            <a:prstDash val="solid"/>
            <a:round/>
            <a:headEnd len="sm" w="sm" type="none"/>
            <a:tailEnd len="sm" w="sm" type="none"/>
          </a:ln>
        </p:spPr>
      </p:pic>
      <p:pic>
        <p:nvPicPr>
          <p:cNvPr id="750" name="Google Shape;750;p54"/>
          <p:cNvPicPr preferRelativeResize="0"/>
          <p:nvPr/>
        </p:nvPicPr>
        <p:blipFill>
          <a:blip r:embed="rId7">
            <a:alphaModFix amt="50000"/>
          </a:blip>
          <a:stretch>
            <a:fillRect/>
          </a:stretch>
        </p:blipFill>
        <p:spPr>
          <a:xfrm>
            <a:off x="7077675" y="1165688"/>
            <a:ext cx="1353312" cy="859536"/>
          </a:xfrm>
          <a:prstGeom prst="rect">
            <a:avLst/>
          </a:prstGeom>
          <a:noFill/>
          <a:ln cap="flat" cmpd="sng" w="38100">
            <a:solidFill>
              <a:srgbClr val="23656F"/>
            </a:solidFill>
            <a:prstDash val="solid"/>
            <a:round/>
            <a:headEnd len="sm" w="sm" type="none"/>
            <a:tailEnd len="sm" w="sm" type="none"/>
          </a:ln>
        </p:spPr>
      </p:pic>
      <p:pic>
        <p:nvPicPr>
          <p:cNvPr id="751" name="Google Shape;751;p54"/>
          <p:cNvPicPr preferRelativeResize="0"/>
          <p:nvPr/>
        </p:nvPicPr>
        <p:blipFill rotWithShape="1">
          <a:blip r:embed="rId8">
            <a:alphaModFix amt="50000"/>
          </a:blip>
          <a:srcRect b="0" l="32451" r="0" t="0"/>
          <a:stretch/>
        </p:blipFill>
        <p:spPr>
          <a:xfrm>
            <a:off x="2899400" y="3827000"/>
            <a:ext cx="1352101" cy="859536"/>
          </a:xfrm>
          <a:prstGeom prst="rect">
            <a:avLst/>
          </a:prstGeom>
          <a:noFill/>
          <a:ln cap="flat" cmpd="sng" w="38100">
            <a:solidFill>
              <a:srgbClr val="23656F"/>
            </a:solidFill>
            <a:prstDash val="solid"/>
            <a:round/>
            <a:headEnd len="sm" w="sm" type="none"/>
            <a:tailEnd len="sm" w="sm" type="none"/>
          </a:ln>
        </p:spPr>
      </p:pic>
      <p:sp>
        <p:nvSpPr>
          <p:cNvPr id="752" name="Google Shape;752;p54"/>
          <p:cNvSpPr txBox="1"/>
          <p:nvPr/>
        </p:nvSpPr>
        <p:spPr>
          <a:xfrm>
            <a:off x="2957600" y="2439200"/>
            <a:ext cx="12357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rgbClr val="FFFFFF"/>
                </a:solidFill>
                <a:latin typeface="Calibri"/>
                <a:ea typeface="Calibri"/>
                <a:cs typeface="Calibri"/>
                <a:sym typeface="Calibri"/>
              </a:rPr>
              <a:t>BATTERY</a:t>
            </a:r>
            <a:endParaRPr sz="1300">
              <a:solidFill>
                <a:srgbClr val="FFFFFF"/>
              </a:solidFill>
              <a:latin typeface="Calibri"/>
              <a:ea typeface="Calibri"/>
              <a:cs typeface="Calibri"/>
              <a:sym typeface="Calibri"/>
            </a:endParaRPr>
          </a:p>
          <a:p>
            <a:pPr indent="0" lvl="0" marL="0" rtl="0" algn="ctr">
              <a:spcBef>
                <a:spcPts val="0"/>
              </a:spcBef>
              <a:spcAft>
                <a:spcPts val="0"/>
              </a:spcAft>
              <a:buNone/>
            </a:pPr>
            <a:r>
              <a:rPr lang="en" sz="1300">
                <a:solidFill>
                  <a:srgbClr val="FFFFFF"/>
                </a:solidFill>
                <a:latin typeface="Calibri"/>
                <a:ea typeface="Calibri"/>
                <a:cs typeface="Calibri"/>
                <a:sym typeface="Calibri"/>
              </a:rPr>
              <a:t>PACK</a:t>
            </a:r>
            <a:endParaRPr sz="1300">
              <a:solidFill>
                <a:srgbClr val="FFFFFF"/>
              </a:solidFill>
              <a:latin typeface="Calibri"/>
              <a:ea typeface="Calibri"/>
              <a:cs typeface="Calibri"/>
              <a:sym typeface="Calibri"/>
            </a:endParaRPr>
          </a:p>
          <a:p>
            <a:pPr indent="0" lvl="0" marL="0" rtl="0" algn="l">
              <a:spcBef>
                <a:spcPts val="0"/>
              </a:spcBef>
              <a:spcAft>
                <a:spcPts val="0"/>
              </a:spcAft>
              <a:buNone/>
            </a:pPr>
            <a:r>
              <a:t/>
            </a:r>
            <a:endParaRPr>
              <a:highlight>
                <a:srgbClr val="FFFFFF"/>
              </a:highlight>
            </a:endParaRPr>
          </a:p>
        </p:txBody>
      </p:sp>
      <p:sp>
        <p:nvSpPr>
          <p:cNvPr id="753" name="Google Shape;753;p54"/>
          <p:cNvSpPr txBox="1"/>
          <p:nvPr/>
        </p:nvSpPr>
        <p:spPr>
          <a:xfrm>
            <a:off x="429800" y="2349700"/>
            <a:ext cx="1352100" cy="785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rgbClr val="FFFFFF"/>
                </a:solidFill>
                <a:latin typeface="Calibri"/>
                <a:ea typeface="Calibri"/>
                <a:cs typeface="Calibri"/>
                <a:sym typeface="Calibri"/>
              </a:rPr>
              <a:t>BATTERY</a:t>
            </a:r>
            <a:endParaRPr sz="1300">
              <a:solidFill>
                <a:srgbClr val="FFFFFF"/>
              </a:solidFill>
              <a:latin typeface="Calibri"/>
              <a:ea typeface="Calibri"/>
              <a:cs typeface="Calibri"/>
              <a:sym typeface="Calibri"/>
            </a:endParaRPr>
          </a:p>
          <a:p>
            <a:pPr indent="0" lvl="0" marL="0" rtl="0" algn="ctr">
              <a:spcBef>
                <a:spcPts val="0"/>
              </a:spcBef>
              <a:spcAft>
                <a:spcPts val="0"/>
              </a:spcAft>
              <a:buNone/>
            </a:pPr>
            <a:r>
              <a:rPr lang="en" sz="1300">
                <a:solidFill>
                  <a:srgbClr val="FFFFFF"/>
                </a:solidFill>
                <a:latin typeface="Calibri"/>
                <a:ea typeface="Calibri"/>
                <a:cs typeface="Calibri"/>
                <a:sym typeface="Calibri"/>
              </a:rPr>
              <a:t>MANAGEMENT</a:t>
            </a:r>
            <a:endParaRPr sz="1300">
              <a:solidFill>
                <a:srgbClr val="FFFFFF"/>
              </a:solidFill>
              <a:latin typeface="Calibri"/>
              <a:ea typeface="Calibri"/>
              <a:cs typeface="Calibri"/>
              <a:sym typeface="Calibri"/>
            </a:endParaRPr>
          </a:p>
          <a:p>
            <a:pPr indent="0" lvl="0" marL="0" rtl="0" algn="ctr">
              <a:spcBef>
                <a:spcPts val="0"/>
              </a:spcBef>
              <a:spcAft>
                <a:spcPts val="0"/>
              </a:spcAft>
              <a:buNone/>
            </a:pPr>
            <a:r>
              <a:rPr lang="en" sz="1300">
                <a:solidFill>
                  <a:srgbClr val="FFFFFF"/>
                </a:solidFill>
                <a:latin typeface="Calibri"/>
                <a:ea typeface="Calibri"/>
                <a:cs typeface="Calibri"/>
                <a:sym typeface="Calibri"/>
              </a:rPr>
              <a:t>SYSTEM</a:t>
            </a:r>
            <a:endParaRPr sz="1300">
              <a:solidFill>
                <a:srgbClr val="FFFFFF"/>
              </a:solidFill>
              <a:latin typeface="Calibri"/>
              <a:ea typeface="Calibri"/>
              <a:cs typeface="Calibri"/>
              <a:sym typeface="Calibri"/>
            </a:endParaRPr>
          </a:p>
        </p:txBody>
      </p:sp>
      <p:sp>
        <p:nvSpPr>
          <p:cNvPr id="754" name="Google Shape;754;p54"/>
          <p:cNvSpPr/>
          <p:nvPr/>
        </p:nvSpPr>
        <p:spPr>
          <a:xfrm>
            <a:off x="3384225" y="3245475"/>
            <a:ext cx="306600" cy="474900"/>
          </a:xfrm>
          <a:prstGeom prst="upArrow">
            <a:avLst>
              <a:gd fmla="val 50000" name="adj1"/>
              <a:gd fmla="val 50000" name="adj2"/>
            </a:avLst>
          </a:prstGeom>
          <a:solidFill>
            <a:srgbClr val="B45F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54"/>
          <p:cNvSpPr/>
          <p:nvPr/>
        </p:nvSpPr>
        <p:spPr>
          <a:xfrm>
            <a:off x="6310375" y="1436175"/>
            <a:ext cx="567300" cy="318600"/>
          </a:xfrm>
          <a:prstGeom prst="rightArrow">
            <a:avLst>
              <a:gd fmla="val 50000" name="adj1"/>
              <a:gd fmla="val 50000" name="adj2"/>
            </a:avLst>
          </a:prstGeom>
          <a:solidFill>
            <a:srgbClr val="6FA8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54"/>
          <p:cNvSpPr txBox="1"/>
          <p:nvPr/>
        </p:nvSpPr>
        <p:spPr>
          <a:xfrm>
            <a:off x="4900588" y="3792375"/>
            <a:ext cx="1235700" cy="60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rgbClr val="FFFFFF"/>
                </a:solidFill>
                <a:latin typeface="Calibri"/>
                <a:ea typeface="Calibri"/>
                <a:cs typeface="Calibri"/>
                <a:sym typeface="Calibri"/>
              </a:rPr>
              <a:t>MOTOR</a:t>
            </a:r>
            <a:endParaRPr sz="1300">
              <a:solidFill>
                <a:srgbClr val="FFFFFF"/>
              </a:solidFill>
              <a:latin typeface="Calibri"/>
              <a:ea typeface="Calibri"/>
              <a:cs typeface="Calibri"/>
              <a:sym typeface="Calibri"/>
            </a:endParaRPr>
          </a:p>
          <a:p>
            <a:pPr indent="0" lvl="0" marL="0" rtl="0" algn="l">
              <a:spcBef>
                <a:spcPts val="0"/>
              </a:spcBef>
              <a:spcAft>
                <a:spcPts val="0"/>
              </a:spcAft>
              <a:buNone/>
            </a:pPr>
            <a:r>
              <a:t/>
            </a:r>
            <a:endParaRPr>
              <a:highlight>
                <a:srgbClr val="FFFFFF"/>
              </a:highlight>
            </a:endParaRPr>
          </a:p>
        </p:txBody>
      </p:sp>
      <p:sp>
        <p:nvSpPr>
          <p:cNvPr id="757" name="Google Shape;757;p54"/>
          <p:cNvSpPr txBox="1"/>
          <p:nvPr/>
        </p:nvSpPr>
        <p:spPr>
          <a:xfrm>
            <a:off x="2897000" y="4014925"/>
            <a:ext cx="12357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rgbClr val="23656F"/>
                </a:solidFill>
                <a:latin typeface="Calibri"/>
                <a:ea typeface="Calibri"/>
                <a:cs typeface="Calibri"/>
                <a:sym typeface="Calibri"/>
              </a:rPr>
              <a:t>OFF-BOARD</a:t>
            </a:r>
            <a:endParaRPr b="1" sz="1300">
              <a:solidFill>
                <a:srgbClr val="23656F"/>
              </a:solidFill>
              <a:latin typeface="Calibri"/>
              <a:ea typeface="Calibri"/>
              <a:cs typeface="Calibri"/>
              <a:sym typeface="Calibri"/>
            </a:endParaRPr>
          </a:p>
          <a:p>
            <a:pPr indent="0" lvl="0" marL="0" rtl="0" algn="ctr">
              <a:spcBef>
                <a:spcPts val="0"/>
              </a:spcBef>
              <a:spcAft>
                <a:spcPts val="0"/>
              </a:spcAft>
              <a:buNone/>
            </a:pPr>
            <a:r>
              <a:rPr b="1" lang="en" sz="1300">
                <a:solidFill>
                  <a:srgbClr val="23656F"/>
                </a:solidFill>
                <a:latin typeface="Calibri"/>
                <a:ea typeface="Calibri"/>
                <a:cs typeface="Calibri"/>
                <a:sym typeface="Calibri"/>
              </a:rPr>
              <a:t>CHARGER</a:t>
            </a:r>
            <a:endParaRPr b="1" sz="1300">
              <a:solidFill>
                <a:srgbClr val="23656F"/>
              </a:solidFill>
              <a:latin typeface="Calibri"/>
              <a:ea typeface="Calibri"/>
              <a:cs typeface="Calibri"/>
              <a:sym typeface="Calibri"/>
            </a:endParaRPr>
          </a:p>
          <a:p>
            <a:pPr indent="0" lvl="0" marL="0" rtl="0" algn="l">
              <a:spcBef>
                <a:spcPts val="0"/>
              </a:spcBef>
              <a:spcAft>
                <a:spcPts val="0"/>
              </a:spcAft>
              <a:buNone/>
            </a:pPr>
            <a:r>
              <a:t/>
            </a:r>
            <a:endParaRPr>
              <a:highlight>
                <a:srgbClr val="FFFFFF"/>
              </a:highlight>
            </a:endParaRPr>
          </a:p>
        </p:txBody>
      </p:sp>
      <p:sp>
        <p:nvSpPr>
          <p:cNvPr id="758" name="Google Shape;758;p54"/>
          <p:cNvSpPr txBox="1"/>
          <p:nvPr/>
        </p:nvSpPr>
        <p:spPr>
          <a:xfrm>
            <a:off x="7254625" y="1302963"/>
            <a:ext cx="12357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23656F"/>
                </a:solidFill>
                <a:latin typeface="Calibri"/>
                <a:ea typeface="Calibri"/>
                <a:cs typeface="Calibri"/>
                <a:sym typeface="Calibri"/>
              </a:rPr>
              <a:t>AUXILIARY</a:t>
            </a:r>
            <a:endParaRPr b="1" sz="1300">
              <a:solidFill>
                <a:srgbClr val="23656F"/>
              </a:solidFill>
              <a:latin typeface="Calibri"/>
              <a:ea typeface="Calibri"/>
              <a:cs typeface="Calibri"/>
              <a:sym typeface="Calibri"/>
            </a:endParaRPr>
          </a:p>
          <a:p>
            <a:pPr indent="0" lvl="0" marL="0" rtl="0" algn="l">
              <a:spcBef>
                <a:spcPts val="0"/>
              </a:spcBef>
              <a:spcAft>
                <a:spcPts val="0"/>
              </a:spcAft>
              <a:buNone/>
            </a:pPr>
            <a:r>
              <a:rPr b="1" lang="en" sz="1300">
                <a:solidFill>
                  <a:srgbClr val="23656F"/>
                </a:solidFill>
                <a:latin typeface="Calibri"/>
                <a:ea typeface="Calibri"/>
                <a:cs typeface="Calibri"/>
                <a:sym typeface="Calibri"/>
              </a:rPr>
              <a:t>BATTERY</a:t>
            </a:r>
            <a:endParaRPr b="1" sz="1300">
              <a:solidFill>
                <a:srgbClr val="23656F"/>
              </a:solidFill>
              <a:latin typeface="Calibri"/>
              <a:ea typeface="Calibri"/>
              <a:cs typeface="Calibri"/>
              <a:sym typeface="Calibri"/>
            </a:endParaRPr>
          </a:p>
        </p:txBody>
      </p:sp>
      <p:sp>
        <p:nvSpPr>
          <p:cNvPr id="759" name="Google Shape;759;p54"/>
          <p:cNvSpPr txBox="1"/>
          <p:nvPr/>
        </p:nvSpPr>
        <p:spPr>
          <a:xfrm>
            <a:off x="4815875" y="1302950"/>
            <a:ext cx="12357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rgbClr val="23656F"/>
                </a:solidFill>
                <a:latin typeface="Calibri"/>
                <a:ea typeface="Calibri"/>
                <a:cs typeface="Calibri"/>
                <a:sym typeface="Calibri"/>
              </a:rPr>
              <a:t>DC-DC</a:t>
            </a:r>
            <a:endParaRPr b="1" sz="1300">
              <a:solidFill>
                <a:srgbClr val="23656F"/>
              </a:solidFill>
              <a:latin typeface="Calibri"/>
              <a:ea typeface="Calibri"/>
              <a:cs typeface="Calibri"/>
              <a:sym typeface="Calibri"/>
            </a:endParaRPr>
          </a:p>
          <a:p>
            <a:pPr indent="0" lvl="0" marL="0" rtl="0" algn="ctr">
              <a:spcBef>
                <a:spcPts val="0"/>
              </a:spcBef>
              <a:spcAft>
                <a:spcPts val="0"/>
              </a:spcAft>
              <a:buNone/>
            </a:pPr>
            <a:r>
              <a:rPr b="1" lang="en" sz="1300">
                <a:solidFill>
                  <a:srgbClr val="23656F"/>
                </a:solidFill>
                <a:latin typeface="Calibri"/>
                <a:ea typeface="Calibri"/>
                <a:cs typeface="Calibri"/>
                <a:sym typeface="Calibri"/>
              </a:rPr>
              <a:t>CONVERTER</a:t>
            </a:r>
            <a:endParaRPr b="1" sz="1300">
              <a:solidFill>
                <a:srgbClr val="23656F"/>
              </a:solidFill>
              <a:latin typeface="Calibri"/>
              <a:ea typeface="Calibri"/>
              <a:cs typeface="Calibri"/>
              <a:sym typeface="Calibri"/>
            </a:endParaRPr>
          </a:p>
        </p:txBody>
      </p:sp>
      <p:sp>
        <p:nvSpPr>
          <p:cNvPr id="760" name="Google Shape;760;p54"/>
          <p:cNvSpPr/>
          <p:nvPr/>
        </p:nvSpPr>
        <p:spPr>
          <a:xfrm>
            <a:off x="4698263" y="3827000"/>
            <a:ext cx="1353300" cy="859500"/>
          </a:xfrm>
          <a:prstGeom prst="rect">
            <a:avLst/>
          </a:prstGeom>
          <a:solidFill>
            <a:srgbClr val="23656F"/>
          </a:solidFill>
          <a:ln cap="flat" cmpd="sng" w="38100">
            <a:solidFill>
              <a:srgbClr val="2365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54"/>
          <p:cNvSpPr txBox="1"/>
          <p:nvPr/>
        </p:nvSpPr>
        <p:spPr>
          <a:xfrm>
            <a:off x="4815875" y="3948800"/>
            <a:ext cx="12357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rgbClr val="FFFFFF"/>
                </a:solidFill>
                <a:latin typeface="Calibri"/>
                <a:ea typeface="Calibri"/>
                <a:cs typeface="Calibri"/>
                <a:sym typeface="Calibri"/>
              </a:rPr>
              <a:t>MOTOR</a:t>
            </a:r>
            <a:endParaRPr sz="1300">
              <a:solidFill>
                <a:srgbClr val="FFFFFF"/>
              </a:solidFill>
              <a:latin typeface="Calibri"/>
              <a:ea typeface="Calibri"/>
              <a:cs typeface="Calibri"/>
              <a:sym typeface="Calibri"/>
            </a:endParaRPr>
          </a:p>
          <a:p>
            <a:pPr indent="0" lvl="0" marL="0" rtl="0" algn="ctr">
              <a:spcBef>
                <a:spcPts val="0"/>
              </a:spcBef>
              <a:spcAft>
                <a:spcPts val="0"/>
              </a:spcAft>
              <a:buNone/>
            </a:pPr>
            <a:r>
              <a:rPr lang="en" sz="1300">
                <a:solidFill>
                  <a:srgbClr val="FFFFFF"/>
                </a:solidFill>
                <a:latin typeface="Calibri"/>
                <a:ea typeface="Calibri"/>
                <a:cs typeface="Calibri"/>
                <a:sym typeface="Calibri"/>
              </a:rPr>
              <a:t>CONTROLLER</a:t>
            </a:r>
            <a:endParaRPr sz="1300">
              <a:solidFill>
                <a:srgbClr val="FFFFFF"/>
              </a:solidFill>
              <a:latin typeface="Calibri"/>
              <a:ea typeface="Calibri"/>
              <a:cs typeface="Calibri"/>
              <a:sym typeface="Calibri"/>
            </a:endParaRPr>
          </a:p>
          <a:p>
            <a:pPr indent="0" lvl="0" marL="0" rtl="0" algn="l">
              <a:spcBef>
                <a:spcPts val="0"/>
              </a:spcBef>
              <a:spcAft>
                <a:spcPts val="0"/>
              </a:spcAft>
              <a:buNone/>
            </a:pPr>
            <a:r>
              <a:t/>
            </a:r>
            <a:endParaRPr>
              <a:highlight>
                <a:srgbClr val="FFFFFF"/>
              </a:highlight>
            </a:endParaRPr>
          </a:p>
        </p:txBody>
      </p:sp>
      <p:sp>
        <p:nvSpPr>
          <p:cNvPr id="762" name="Google Shape;762;p54"/>
          <p:cNvSpPr txBox="1"/>
          <p:nvPr/>
        </p:nvSpPr>
        <p:spPr>
          <a:xfrm>
            <a:off x="7172375" y="4048838"/>
            <a:ext cx="1235700" cy="60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rgbClr val="23656F"/>
                </a:solidFill>
                <a:latin typeface="Calibri"/>
                <a:ea typeface="Calibri"/>
                <a:cs typeface="Calibri"/>
                <a:sym typeface="Calibri"/>
              </a:rPr>
              <a:t>MOTOR</a:t>
            </a:r>
            <a:endParaRPr b="1" sz="1300">
              <a:solidFill>
                <a:srgbClr val="23656F"/>
              </a:solidFill>
              <a:latin typeface="Calibri"/>
              <a:ea typeface="Calibri"/>
              <a:cs typeface="Calibri"/>
              <a:sym typeface="Calibri"/>
            </a:endParaRPr>
          </a:p>
          <a:p>
            <a:pPr indent="0" lvl="0" marL="0" rtl="0" algn="l">
              <a:spcBef>
                <a:spcPts val="0"/>
              </a:spcBef>
              <a:spcAft>
                <a:spcPts val="0"/>
              </a:spcAft>
              <a:buNone/>
            </a:pPr>
            <a:r>
              <a:t/>
            </a:r>
            <a:endParaRPr>
              <a:highlight>
                <a:srgbClr val="FFFFFF"/>
              </a:highlight>
            </a:endParaRPr>
          </a:p>
        </p:txBody>
      </p:sp>
      <p:sp>
        <p:nvSpPr>
          <p:cNvPr id="763" name="Google Shape;763;p54"/>
          <p:cNvSpPr/>
          <p:nvPr/>
        </p:nvSpPr>
        <p:spPr>
          <a:xfrm>
            <a:off x="6328325" y="4097475"/>
            <a:ext cx="567300" cy="318600"/>
          </a:xfrm>
          <a:prstGeom prst="rightArrow">
            <a:avLst>
              <a:gd fmla="val 50000" name="adj1"/>
              <a:gd fmla="val 50000" name="adj2"/>
            </a:avLst>
          </a:prstGeom>
          <a:solidFill>
            <a:srgbClr val="B45F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54"/>
          <p:cNvSpPr txBox="1"/>
          <p:nvPr/>
        </p:nvSpPr>
        <p:spPr>
          <a:xfrm>
            <a:off x="0" y="941225"/>
            <a:ext cx="4111500" cy="407100"/>
          </a:xfrm>
          <a:prstGeom prst="rect">
            <a:avLst/>
          </a:prstGeom>
          <a:solidFill>
            <a:srgbClr val="23656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700">
                <a:solidFill>
                  <a:srgbClr val="EFEFEF"/>
                </a:solidFill>
                <a:latin typeface="Open Sans ExtraBold"/>
                <a:ea typeface="Open Sans ExtraBold"/>
                <a:cs typeface="Open Sans ExtraBold"/>
                <a:sym typeface="Open Sans ExtraBold"/>
              </a:rPr>
              <a:t>HV - - - -</a:t>
            </a:r>
            <a:endParaRPr sz="1700">
              <a:solidFill>
                <a:srgbClr val="EFEFEF"/>
              </a:solidFill>
              <a:latin typeface="Open Sans ExtraBold"/>
              <a:ea typeface="Open Sans ExtraBold"/>
              <a:cs typeface="Open Sans ExtraBold"/>
              <a:sym typeface="Open Sans ExtraBold"/>
            </a:endParaRPr>
          </a:p>
        </p:txBody>
      </p:sp>
      <p:sp>
        <p:nvSpPr>
          <p:cNvPr id="765" name="Google Shape;765;p54"/>
          <p:cNvSpPr/>
          <p:nvPr/>
        </p:nvSpPr>
        <p:spPr>
          <a:xfrm>
            <a:off x="3834275" y="941225"/>
            <a:ext cx="399000" cy="4071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766" name="Google Shape;766;p54"/>
          <p:cNvPicPr preferRelativeResize="0"/>
          <p:nvPr/>
        </p:nvPicPr>
        <p:blipFill rotWithShape="1">
          <a:blip r:embed="rId9">
            <a:alphaModFix/>
          </a:blip>
          <a:srcRect b="11281" l="20956" r="20375" t="10435"/>
          <a:stretch/>
        </p:blipFill>
        <p:spPr>
          <a:xfrm>
            <a:off x="3815225" y="985441"/>
            <a:ext cx="360900" cy="318660"/>
          </a:xfrm>
          <a:prstGeom prst="rect">
            <a:avLst/>
          </a:prstGeom>
          <a:noFill/>
          <a:ln>
            <a:noFill/>
          </a:ln>
        </p:spPr>
      </p:pic>
      <p:sp>
        <p:nvSpPr>
          <p:cNvPr id="767" name="Google Shape;767;p54"/>
          <p:cNvSpPr/>
          <p:nvPr/>
        </p:nvSpPr>
        <p:spPr>
          <a:xfrm>
            <a:off x="4633175" y="2175375"/>
            <a:ext cx="913200" cy="585000"/>
          </a:xfrm>
          <a:prstGeom prst="bentUpArrow">
            <a:avLst>
              <a:gd fmla="val 25000" name="adj1"/>
              <a:gd fmla="val 25000" name="adj2"/>
              <a:gd fmla="val 25000" name="adj3"/>
            </a:avLst>
          </a:prstGeom>
          <a:solidFill>
            <a:srgbClr val="B45F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54"/>
          <p:cNvSpPr/>
          <p:nvPr/>
        </p:nvSpPr>
        <p:spPr>
          <a:xfrm flipH="1" rot="10800000">
            <a:off x="4633175" y="2933213"/>
            <a:ext cx="913200" cy="585000"/>
          </a:xfrm>
          <a:prstGeom prst="bentUpArrow">
            <a:avLst>
              <a:gd fmla="val 25000" name="adj1"/>
              <a:gd fmla="val 25000" name="adj2"/>
              <a:gd fmla="val 25000" name="adj3"/>
            </a:avLst>
          </a:prstGeom>
          <a:solidFill>
            <a:srgbClr val="B45F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54"/>
          <p:cNvSpPr/>
          <p:nvPr/>
        </p:nvSpPr>
        <p:spPr>
          <a:xfrm>
            <a:off x="2056988" y="2408988"/>
            <a:ext cx="567300" cy="318600"/>
          </a:xfrm>
          <a:prstGeom prst="rightArrow">
            <a:avLst>
              <a:gd fmla="val 50000" name="adj1"/>
              <a:gd fmla="val 50000" name="adj2"/>
            </a:avLst>
          </a:prstGeom>
          <a:solidFill>
            <a:srgbClr val="6FA8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54"/>
          <p:cNvSpPr/>
          <p:nvPr/>
        </p:nvSpPr>
        <p:spPr>
          <a:xfrm flipH="1">
            <a:off x="2056988" y="2756913"/>
            <a:ext cx="567300" cy="318600"/>
          </a:xfrm>
          <a:prstGeom prst="rightArrow">
            <a:avLst>
              <a:gd fmla="val 50000" name="adj1"/>
              <a:gd fmla="val 50000" name="adj2"/>
            </a:avLst>
          </a:prstGeom>
          <a:solidFill>
            <a:srgbClr val="6FA8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54"/>
          <p:cNvSpPr txBox="1"/>
          <p:nvPr/>
        </p:nvSpPr>
        <p:spPr>
          <a:xfrm>
            <a:off x="6408900" y="2633600"/>
            <a:ext cx="7338000" cy="5850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i="1" lang="en" sz="1300">
                <a:latin typeface="Calibri"/>
                <a:ea typeface="Calibri"/>
                <a:cs typeface="Calibri"/>
                <a:sym typeface="Calibri"/>
              </a:rPr>
              <a:t>High voltage power flow</a:t>
            </a:r>
            <a:endParaRPr b="1" i="1" sz="1300">
              <a:latin typeface="Calibri"/>
              <a:ea typeface="Calibri"/>
              <a:cs typeface="Calibri"/>
              <a:sym typeface="Calibri"/>
            </a:endParaRPr>
          </a:p>
          <a:p>
            <a:pPr indent="0" lvl="0" marL="457200" rtl="0" algn="l">
              <a:spcBef>
                <a:spcPts val="0"/>
              </a:spcBef>
              <a:spcAft>
                <a:spcPts val="0"/>
              </a:spcAft>
              <a:buNone/>
            </a:pPr>
            <a:r>
              <a:rPr b="1" i="1" lang="en" sz="1300">
                <a:latin typeface="Calibri"/>
                <a:ea typeface="Calibri"/>
                <a:cs typeface="Calibri"/>
                <a:sym typeface="Calibri"/>
              </a:rPr>
              <a:t>Low </a:t>
            </a:r>
            <a:r>
              <a:rPr b="1" i="1" lang="en" sz="1300">
                <a:solidFill>
                  <a:schemeClr val="dk1"/>
                </a:solidFill>
                <a:latin typeface="Calibri"/>
                <a:ea typeface="Calibri"/>
                <a:cs typeface="Calibri"/>
                <a:sym typeface="Calibri"/>
              </a:rPr>
              <a:t>voltage power flow</a:t>
            </a:r>
            <a:endParaRPr b="1" i="1" sz="1300">
              <a:latin typeface="Calibri"/>
              <a:ea typeface="Calibri"/>
              <a:cs typeface="Calibri"/>
              <a:sym typeface="Calibri"/>
            </a:endParaRPr>
          </a:p>
        </p:txBody>
      </p:sp>
      <p:sp>
        <p:nvSpPr>
          <p:cNvPr id="772" name="Google Shape;772;p54"/>
          <p:cNvSpPr/>
          <p:nvPr/>
        </p:nvSpPr>
        <p:spPr>
          <a:xfrm>
            <a:off x="6687900" y="2775588"/>
            <a:ext cx="107400" cy="120900"/>
          </a:xfrm>
          <a:prstGeom prst="ellipse">
            <a:avLst/>
          </a:prstGeom>
          <a:solidFill>
            <a:srgbClr val="B45F0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54"/>
          <p:cNvSpPr/>
          <p:nvPr/>
        </p:nvSpPr>
        <p:spPr>
          <a:xfrm>
            <a:off x="6687900" y="2955763"/>
            <a:ext cx="107400" cy="1209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777" name="Shape 777"/>
        <p:cNvGrpSpPr/>
        <p:nvPr/>
      </p:nvGrpSpPr>
      <p:grpSpPr>
        <a:xfrm>
          <a:off x="0" y="0"/>
          <a:ext cx="0" cy="0"/>
          <a:chOff x="0" y="0"/>
          <a:chExt cx="0" cy="0"/>
        </a:xfrm>
      </p:grpSpPr>
      <p:pic>
        <p:nvPicPr>
          <p:cNvPr id="778" name="Google Shape;778;p55"/>
          <p:cNvPicPr preferRelativeResize="0"/>
          <p:nvPr/>
        </p:nvPicPr>
        <p:blipFill>
          <a:blip r:embed="rId3">
            <a:alphaModFix amt="26000"/>
          </a:blip>
          <a:stretch>
            <a:fillRect/>
          </a:stretch>
        </p:blipFill>
        <p:spPr>
          <a:xfrm rot="9900000">
            <a:off x="5128900" y="2442475"/>
            <a:ext cx="4289526" cy="2716700"/>
          </a:xfrm>
          <a:prstGeom prst="rect">
            <a:avLst/>
          </a:prstGeom>
          <a:noFill/>
          <a:ln>
            <a:noFill/>
          </a:ln>
        </p:spPr>
      </p:pic>
      <p:cxnSp>
        <p:nvCxnSpPr>
          <p:cNvPr id="779" name="Google Shape;779;p55"/>
          <p:cNvCxnSpPr/>
          <p:nvPr/>
        </p:nvCxnSpPr>
        <p:spPr>
          <a:xfrm>
            <a:off x="6639325" y="1928245"/>
            <a:ext cx="758100" cy="1500"/>
          </a:xfrm>
          <a:prstGeom prst="straightConnector1">
            <a:avLst/>
          </a:prstGeom>
          <a:noFill/>
          <a:ln cap="flat" cmpd="sng" w="28575">
            <a:solidFill>
              <a:srgbClr val="6AA84F"/>
            </a:solidFill>
            <a:prstDash val="solid"/>
            <a:round/>
            <a:headEnd len="med" w="med" type="none"/>
            <a:tailEnd len="med" w="med" type="stealth"/>
          </a:ln>
        </p:spPr>
      </p:cxnSp>
      <p:cxnSp>
        <p:nvCxnSpPr>
          <p:cNvPr id="780" name="Google Shape;780;p55"/>
          <p:cNvCxnSpPr/>
          <p:nvPr/>
        </p:nvCxnSpPr>
        <p:spPr>
          <a:xfrm flipH="1" rot="10800000">
            <a:off x="6639325" y="2742061"/>
            <a:ext cx="758100" cy="900"/>
          </a:xfrm>
          <a:prstGeom prst="straightConnector1">
            <a:avLst/>
          </a:prstGeom>
          <a:noFill/>
          <a:ln cap="flat" cmpd="sng" w="28575">
            <a:solidFill>
              <a:srgbClr val="B45F06"/>
            </a:solidFill>
            <a:prstDash val="solid"/>
            <a:round/>
            <a:headEnd len="med" w="med" type="none"/>
            <a:tailEnd len="med" w="med" type="stealth"/>
          </a:ln>
        </p:spPr>
      </p:cxnSp>
      <p:cxnSp>
        <p:nvCxnSpPr>
          <p:cNvPr id="781" name="Google Shape;781;p55"/>
          <p:cNvCxnSpPr/>
          <p:nvPr/>
        </p:nvCxnSpPr>
        <p:spPr>
          <a:xfrm rot="10800000">
            <a:off x="2117188" y="2744319"/>
            <a:ext cx="547800" cy="0"/>
          </a:xfrm>
          <a:prstGeom prst="straightConnector1">
            <a:avLst/>
          </a:prstGeom>
          <a:noFill/>
          <a:ln cap="flat" cmpd="sng" w="28575">
            <a:solidFill>
              <a:srgbClr val="B45F06"/>
            </a:solidFill>
            <a:prstDash val="solid"/>
            <a:round/>
            <a:headEnd len="med" w="med" type="none"/>
            <a:tailEnd len="med" w="med" type="stealth"/>
          </a:ln>
        </p:spPr>
      </p:cxnSp>
      <p:cxnSp>
        <p:nvCxnSpPr>
          <p:cNvPr id="782" name="Google Shape;782;p55"/>
          <p:cNvCxnSpPr/>
          <p:nvPr/>
        </p:nvCxnSpPr>
        <p:spPr>
          <a:xfrm>
            <a:off x="1554475" y="2239141"/>
            <a:ext cx="0" cy="348000"/>
          </a:xfrm>
          <a:prstGeom prst="straightConnector1">
            <a:avLst/>
          </a:prstGeom>
          <a:noFill/>
          <a:ln cap="flat" cmpd="sng" w="28575">
            <a:solidFill>
              <a:srgbClr val="324B4F"/>
            </a:solidFill>
            <a:prstDash val="solid"/>
            <a:round/>
            <a:headEnd len="med" w="med" type="none"/>
            <a:tailEnd len="med" w="med" type="stealth"/>
          </a:ln>
        </p:spPr>
      </p:cxnSp>
      <p:cxnSp>
        <p:nvCxnSpPr>
          <p:cNvPr id="783" name="Google Shape;783;p55"/>
          <p:cNvCxnSpPr/>
          <p:nvPr/>
        </p:nvCxnSpPr>
        <p:spPr>
          <a:xfrm>
            <a:off x="6050450" y="2239141"/>
            <a:ext cx="0" cy="352800"/>
          </a:xfrm>
          <a:prstGeom prst="straightConnector1">
            <a:avLst/>
          </a:prstGeom>
          <a:noFill/>
          <a:ln cap="flat" cmpd="sng" w="28575">
            <a:solidFill>
              <a:srgbClr val="48BACA"/>
            </a:solidFill>
            <a:prstDash val="solid"/>
            <a:round/>
            <a:headEnd len="med" w="med" type="none"/>
            <a:tailEnd len="med" w="med" type="stealth"/>
          </a:ln>
        </p:spPr>
      </p:cxnSp>
      <p:cxnSp>
        <p:nvCxnSpPr>
          <p:cNvPr id="784" name="Google Shape;784;p55"/>
          <p:cNvCxnSpPr/>
          <p:nvPr/>
        </p:nvCxnSpPr>
        <p:spPr>
          <a:xfrm rot="10800000">
            <a:off x="4681100" y="3674749"/>
            <a:ext cx="2738700" cy="1800"/>
          </a:xfrm>
          <a:prstGeom prst="straightConnector1">
            <a:avLst/>
          </a:prstGeom>
          <a:noFill/>
          <a:ln cap="flat" cmpd="sng" w="28575">
            <a:solidFill>
              <a:srgbClr val="48BACA"/>
            </a:solidFill>
            <a:prstDash val="solid"/>
            <a:round/>
            <a:headEnd len="med" w="med" type="none"/>
            <a:tailEnd len="med" w="med" type="stealth"/>
          </a:ln>
        </p:spPr>
      </p:cxnSp>
      <p:cxnSp>
        <p:nvCxnSpPr>
          <p:cNvPr id="785" name="Google Shape;785;p55"/>
          <p:cNvCxnSpPr/>
          <p:nvPr/>
        </p:nvCxnSpPr>
        <p:spPr>
          <a:xfrm>
            <a:off x="3521688" y="2743863"/>
            <a:ext cx="2219700" cy="900"/>
          </a:xfrm>
          <a:prstGeom prst="straightConnector1">
            <a:avLst/>
          </a:prstGeom>
          <a:noFill/>
          <a:ln cap="flat" cmpd="sng" w="28575">
            <a:solidFill>
              <a:srgbClr val="B45F06"/>
            </a:solidFill>
            <a:prstDash val="solid"/>
            <a:round/>
            <a:headEnd len="med" w="med" type="none"/>
            <a:tailEnd len="med" w="med" type="stealth"/>
          </a:ln>
        </p:spPr>
      </p:cxnSp>
      <p:cxnSp>
        <p:nvCxnSpPr>
          <p:cNvPr id="786" name="Google Shape;786;p55"/>
          <p:cNvCxnSpPr/>
          <p:nvPr/>
        </p:nvCxnSpPr>
        <p:spPr>
          <a:xfrm rot="10800000">
            <a:off x="1554475" y="3052957"/>
            <a:ext cx="0" cy="315600"/>
          </a:xfrm>
          <a:prstGeom prst="straightConnector1">
            <a:avLst/>
          </a:prstGeom>
          <a:noFill/>
          <a:ln cap="flat" cmpd="sng" w="28575">
            <a:solidFill>
              <a:srgbClr val="6AA84F"/>
            </a:solidFill>
            <a:prstDash val="solid"/>
            <a:round/>
            <a:headEnd len="med" w="med" type="none"/>
            <a:tailEnd len="med" w="med" type="stealth"/>
          </a:ln>
        </p:spPr>
      </p:cxnSp>
      <p:cxnSp>
        <p:nvCxnSpPr>
          <p:cNvPr id="787" name="Google Shape;787;p55"/>
          <p:cNvCxnSpPr/>
          <p:nvPr/>
        </p:nvCxnSpPr>
        <p:spPr>
          <a:xfrm rot="10800000">
            <a:off x="1746788" y="2239141"/>
            <a:ext cx="0" cy="348000"/>
          </a:xfrm>
          <a:prstGeom prst="straightConnector1">
            <a:avLst/>
          </a:prstGeom>
          <a:noFill/>
          <a:ln cap="flat" cmpd="sng" w="28575">
            <a:solidFill>
              <a:srgbClr val="324B4F"/>
            </a:solidFill>
            <a:prstDash val="solid"/>
            <a:round/>
            <a:headEnd len="med" w="med" type="none"/>
            <a:tailEnd len="med" w="med" type="stealth"/>
          </a:ln>
        </p:spPr>
      </p:cxnSp>
      <p:cxnSp>
        <p:nvCxnSpPr>
          <p:cNvPr id="788" name="Google Shape;788;p55"/>
          <p:cNvCxnSpPr/>
          <p:nvPr/>
        </p:nvCxnSpPr>
        <p:spPr>
          <a:xfrm>
            <a:off x="1746788" y="3053044"/>
            <a:ext cx="0" cy="320700"/>
          </a:xfrm>
          <a:prstGeom prst="straightConnector1">
            <a:avLst/>
          </a:prstGeom>
          <a:noFill/>
          <a:ln cap="flat" cmpd="sng" w="28575">
            <a:solidFill>
              <a:srgbClr val="6AA84F"/>
            </a:solidFill>
            <a:prstDash val="solid"/>
            <a:round/>
            <a:headEnd len="med" w="med" type="none"/>
            <a:tailEnd len="med" w="med" type="stealth"/>
          </a:ln>
        </p:spPr>
      </p:cxnSp>
      <p:sp>
        <p:nvSpPr>
          <p:cNvPr id="789" name="Google Shape;789;p55"/>
          <p:cNvSpPr/>
          <p:nvPr/>
        </p:nvSpPr>
        <p:spPr>
          <a:xfrm>
            <a:off x="2117200" y="1929075"/>
            <a:ext cx="360907" cy="1672950"/>
          </a:xfrm>
          <a:custGeom>
            <a:rect b="b" l="l" r="r" t="t"/>
            <a:pathLst>
              <a:path extrusionOk="0" h="64462" w="13967">
                <a:moveTo>
                  <a:pt x="13967" y="0"/>
                </a:moveTo>
                <a:cubicBezTo>
                  <a:pt x="13609" y="9401"/>
                  <a:pt x="14146" y="45660"/>
                  <a:pt x="11818" y="56404"/>
                </a:cubicBezTo>
                <a:cubicBezTo>
                  <a:pt x="9490" y="67148"/>
                  <a:pt x="1970" y="63119"/>
                  <a:pt x="0" y="64462"/>
                </a:cubicBezTo>
              </a:path>
            </a:pathLst>
          </a:custGeom>
          <a:noFill/>
          <a:ln cap="flat" cmpd="sng" w="28575">
            <a:solidFill>
              <a:srgbClr val="6AA84F"/>
            </a:solidFill>
            <a:prstDash val="solid"/>
            <a:round/>
            <a:headEnd len="med" w="med" type="none"/>
            <a:tailEnd len="med" w="med" type="stealth"/>
          </a:ln>
        </p:spPr>
      </p:sp>
      <p:cxnSp>
        <p:nvCxnSpPr>
          <p:cNvPr id="790" name="Google Shape;790;p55"/>
          <p:cNvCxnSpPr/>
          <p:nvPr/>
        </p:nvCxnSpPr>
        <p:spPr>
          <a:xfrm>
            <a:off x="6332450" y="2239141"/>
            <a:ext cx="0" cy="352800"/>
          </a:xfrm>
          <a:prstGeom prst="straightConnector1">
            <a:avLst/>
          </a:prstGeom>
          <a:noFill/>
          <a:ln cap="flat" cmpd="sng" w="28575">
            <a:solidFill>
              <a:srgbClr val="6AA84F"/>
            </a:solidFill>
            <a:prstDash val="solid"/>
            <a:round/>
            <a:headEnd len="med" w="med" type="none"/>
            <a:tailEnd len="med" w="med" type="stealth"/>
          </a:ln>
        </p:spPr>
      </p:cxnSp>
      <p:sp>
        <p:nvSpPr>
          <p:cNvPr id="791" name="Google Shape;791;p55"/>
          <p:cNvSpPr/>
          <p:nvPr/>
        </p:nvSpPr>
        <p:spPr>
          <a:xfrm>
            <a:off x="4301151" y="2108475"/>
            <a:ext cx="1451324" cy="1248960"/>
          </a:xfrm>
          <a:custGeom>
            <a:rect b="b" l="l" r="r" t="t"/>
            <a:pathLst>
              <a:path extrusionOk="0" h="52307" w="62389">
                <a:moveTo>
                  <a:pt x="1150" y="52307"/>
                </a:moveTo>
                <a:cubicBezTo>
                  <a:pt x="1956" y="44608"/>
                  <a:pt x="-4221" y="14794"/>
                  <a:pt x="5985" y="6110"/>
                </a:cubicBezTo>
                <a:cubicBezTo>
                  <a:pt x="16192" y="-2574"/>
                  <a:pt x="52988" y="1186"/>
                  <a:pt x="62389" y="201"/>
                </a:cubicBezTo>
              </a:path>
            </a:pathLst>
          </a:custGeom>
          <a:noFill/>
          <a:ln cap="flat" cmpd="sng" w="28575">
            <a:solidFill>
              <a:srgbClr val="48BACA"/>
            </a:solidFill>
            <a:prstDash val="solid"/>
            <a:round/>
            <a:headEnd len="med" w="med" type="none"/>
            <a:tailEnd len="med" w="med" type="stealth"/>
          </a:ln>
        </p:spPr>
      </p:sp>
      <p:sp>
        <p:nvSpPr>
          <p:cNvPr id="792" name="Google Shape;792;p55"/>
          <p:cNvSpPr/>
          <p:nvPr/>
        </p:nvSpPr>
        <p:spPr>
          <a:xfrm>
            <a:off x="6912375" y="1929750"/>
            <a:ext cx="457725" cy="1604220"/>
          </a:xfrm>
          <a:custGeom>
            <a:rect b="b" l="l" r="r" t="t"/>
            <a:pathLst>
              <a:path extrusionOk="0" h="67277" w="18309">
                <a:moveTo>
                  <a:pt x="45" y="0"/>
                </a:moveTo>
                <a:cubicBezTo>
                  <a:pt x="403" y="9938"/>
                  <a:pt x="-850" y="48436"/>
                  <a:pt x="2194" y="59627"/>
                </a:cubicBezTo>
                <a:cubicBezTo>
                  <a:pt x="5238" y="70818"/>
                  <a:pt x="15623" y="65895"/>
                  <a:pt x="18309" y="67148"/>
                </a:cubicBezTo>
              </a:path>
            </a:pathLst>
          </a:custGeom>
          <a:noFill/>
          <a:ln cap="flat" cmpd="sng" w="28575">
            <a:solidFill>
              <a:srgbClr val="6AA84F"/>
            </a:solidFill>
            <a:prstDash val="solid"/>
            <a:round/>
            <a:headEnd len="med" w="med" type="none"/>
            <a:tailEnd len="med" w="med" type="stealth"/>
          </a:ln>
        </p:spPr>
      </p:sp>
      <p:cxnSp>
        <p:nvCxnSpPr>
          <p:cNvPr id="793" name="Google Shape;793;p55"/>
          <p:cNvCxnSpPr>
            <a:stCxn id="794" idx="2"/>
            <a:endCxn id="795" idx="0"/>
          </p:cNvCxnSpPr>
          <p:nvPr/>
        </p:nvCxnSpPr>
        <p:spPr>
          <a:xfrm>
            <a:off x="7838575" y="3054700"/>
            <a:ext cx="0" cy="318300"/>
          </a:xfrm>
          <a:prstGeom prst="straightConnector1">
            <a:avLst/>
          </a:prstGeom>
          <a:noFill/>
          <a:ln cap="flat" cmpd="sng" w="28575">
            <a:solidFill>
              <a:srgbClr val="48BACA"/>
            </a:solidFill>
            <a:prstDash val="solid"/>
            <a:round/>
            <a:headEnd len="med" w="med" type="none"/>
            <a:tailEnd len="med" w="med" type="stealth"/>
          </a:ln>
        </p:spPr>
      </p:cxnSp>
      <p:cxnSp>
        <p:nvCxnSpPr>
          <p:cNvPr id="796" name="Google Shape;796;p55"/>
          <p:cNvCxnSpPr/>
          <p:nvPr/>
        </p:nvCxnSpPr>
        <p:spPr>
          <a:xfrm>
            <a:off x="2117188" y="2870519"/>
            <a:ext cx="547800" cy="0"/>
          </a:xfrm>
          <a:prstGeom prst="straightConnector1">
            <a:avLst/>
          </a:prstGeom>
          <a:noFill/>
          <a:ln cap="flat" cmpd="sng" w="28575">
            <a:solidFill>
              <a:srgbClr val="B45F06"/>
            </a:solidFill>
            <a:prstDash val="solid"/>
            <a:round/>
            <a:headEnd len="med" w="med" type="none"/>
            <a:tailEnd len="med" w="med" type="stealth"/>
          </a:ln>
        </p:spPr>
      </p:cxnSp>
      <p:cxnSp>
        <p:nvCxnSpPr>
          <p:cNvPr id="797" name="Google Shape;797;p55"/>
          <p:cNvCxnSpPr/>
          <p:nvPr/>
        </p:nvCxnSpPr>
        <p:spPr>
          <a:xfrm flipH="1">
            <a:off x="2107375" y="1927575"/>
            <a:ext cx="3649500" cy="1500"/>
          </a:xfrm>
          <a:prstGeom prst="straightConnector1">
            <a:avLst/>
          </a:prstGeom>
          <a:noFill/>
          <a:ln cap="flat" cmpd="sng" w="28575">
            <a:solidFill>
              <a:srgbClr val="6AA84F"/>
            </a:solidFill>
            <a:prstDash val="solid"/>
            <a:round/>
            <a:headEnd len="med" w="med" type="none"/>
            <a:tailEnd len="med" w="med" type="stealth"/>
          </a:ln>
        </p:spPr>
      </p:cxnSp>
      <p:sp>
        <p:nvSpPr>
          <p:cNvPr id="798" name="Google Shape;798;p55"/>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200"/>
              <a:buFont typeface="Arial"/>
              <a:buNone/>
            </a:pPr>
            <a:r>
              <a:rPr lang="en" sz="2400">
                <a:solidFill>
                  <a:srgbClr val="48BACA"/>
                </a:solidFill>
                <a:latin typeface="Lato Black"/>
                <a:ea typeface="Lato Black"/>
                <a:cs typeface="Lato Black"/>
                <a:sym typeface="Lato Black"/>
              </a:rPr>
              <a:t>E/E </a:t>
            </a:r>
            <a:r>
              <a:rPr lang="en" sz="2400">
                <a:solidFill>
                  <a:srgbClr val="F3F3F3"/>
                </a:solidFill>
                <a:latin typeface="Lato"/>
                <a:ea typeface="Lato"/>
                <a:cs typeface="Lato"/>
                <a:sym typeface="Lato"/>
              </a:rPr>
              <a:t>Architecture</a:t>
            </a:r>
            <a:r>
              <a:rPr lang="en" sz="2400">
                <a:solidFill>
                  <a:srgbClr val="48BACA"/>
                </a:solidFill>
                <a:latin typeface="Lato Black"/>
                <a:ea typeface="Lato Black"/>
                <a:cs typeface="Lato Black"/>
                <a:sym typeface="Lato Black"/>
              </a:rPr>
              <a:t> </a:t>
            </a:r>
            <a:endParaRPr i="0" sz="2400" u="none" cap="none" strike="noStrike">
              <a:solidFill>
                <a:srgbClr val="48BACA"/>
              </a:solidFill>
              <a:latin typeface="Lato Black"/>
              <a:ea typeface="Lato Black"/>
              <a:cs typeface="Lato Black"/>
              <a:sym typeface="Lato Black"/>
            </a:endParaRPr>
          </a:p>
        </p:txBody>
      </p:sp>
      <p:pic>
        <p:nvPicPr>
          <p:cNvPr id="799" name="Google Shape;799;p55"/>
          <p:cNvPicPr preferRelativeResize="0"/>
          <p:nvPr/>
        </p:nvPicPr>
        <p:blipFill>
          <a:blip r:embed="rId4">
            <a:alphaModFix/>
          </a:blip>
          <a:stretch>
            <a:fillRect/>
          </a:stretch>
        </p:blipFill>
        <p:spPr>
          <a:xfrm>
            <a:off x="175925" y="133088"/>
            <a:ext cx="567225" cy="474824"/>
          </a:xfrm>
          <a:prstGeom prst="rect">
            <a:avLst/>
          </a:prstGeom>
          <a:noFill/>
          <a:ln>
            <a:noFill/>
          </a:ln>
        </p:spPr>
      </p:pic>
      <p:sp>
        <p:nvSpPr>
          <p:cNvPr id="800" name="Google Shape;800;p55"/>
          <p:cNvSpPr/>
          <p:nvPr/>
        </p:nvSpPr>
        <p:spPr>
          <a:xfrm>
            <a:off x="5757025" y="2580700"/>
            <a:ext cx="882300" cy="474900"/>
          </a:xfrm>
          <a:prstGeom prst="roundRect">
            <a:avLst>
              <a:gd fmla="val 16667" name="adj"/>
            </a:avLst>
          </a:prstGeom>
          <a:solidFill>
            <a:srgbClr val="23656F"/>
          </a:solidFill>
          <a:ln cap="flat" cmpd="sng" w="38100">
            <a:solidFill>
              <a:srgbClr val="23656F"/>
            </a:solidFill>
            <a:prstDash val="solid"/>
            <a:round/>
            <a:headEnd len="sm" w="sm" type="none"/>
            <a:tailEnd len="sm" w="sm" type="none"/>
          </a:ln>
        </p:spPr>
        <p:txBody>
          <a:bodyPr anchorCtr="0" anchor="ctr" bIns="91425" lIns="91425" spcFirstLastPara="1" rIns="91425" wrap="square" tIns="91425">
            <a:noAutofit/>
          </a:bodyPr>
          <a:lstStyle/>
          <a:p>
            <a:pPr indent="0" lvl="0" marL="91440" rtl="0" algn="l">
              <a:spcBef>
                <a:spcPts val="0"/>
              </a:spcBef>
              <a:spcAft>
                <a:spcPts val="0"/>
              </a:spcAft>
              <a:buNone/>
            </a:pPr>
            <a:r>
              <a:rPr lang="en" sz="800">
                <a:solidFill>
                  <a:srgbClr val="FFFFFF"/>
                </a:solidFill>
                <a:latin typeface="Calibri"/>
                <a:ea typeface="Calibri"/>
                <a:cs typeface="Calibri"/>
                <a:sym typeface="Calibri"/>
              </a:rPr>
              <a:t>   MOTOR</a:t>
            </a:r>
            <a:endParaRPr sz="800">
              <a:solidFill>
                <a:srgbClr val="FFFFFF"/>
              </a:solidFill>
              <a:latin typeface="Calibri"/>
              <a:ea typeface="Calibri"/>
              <a:cs typeface="Calibri"/>
              <a:sym typeface="Calibri"/>
            </a:endParaRPr>
          </a:p>
          <a:p>
            <a:pPr indent="0" lvl="0" marL="0" rtl="0" algn="l">
              <a:spcBef>
                <a:spcPts val="0"/>
              </a:spcBef>
              <a:spcAft>
                <a:spcPts val="0"/>
              </a:spcAft>
              <a:buNone/>
            </a:pPr>
            <a:r>
              <a:rPr lang="en" sz="800">
                <a:solidFill>
                  <a:srgbClr val="FFFFFF"/>
                </a:solidFill>
                <a:latin typeface="Calibri"/>
                <a:ea typeface="Calibri"/>
                <a:cs typeface="Calibri"/>
                <a:sym typeface="Calibri"/>
              </a:rPr>
              <a:t>  CONTROLLER</a:t>
            </a:r>
            <a:r>
              <a:rPr lang="en" sz="1000">
                <a:solidFill>
                  <a:srgbClr val="FFFFFF"/>
                </a:solidFill>
                <a:latin typeface="Calibri"/>
                <a:ea typeface="Calibri"/>
                <a:cs typeface="Calibri"/>
                <a:sym typeface="Calibri"/>
              </a:rPr>
              <a:t>  </a:t>
            </a:r>
            <a:endParaRPr sz="1000">
              <a:solidFill>
                <a:srgbClr val="FFFFFF"/>
              </a:solidFill>
              <a:latin typeface="Calibri"/>
              <a:ea typeface="Calibri"/>
              <a:cs typeface="Calibri"/>
              <a:sym typeface="Calibri"/>
            </a:endParaRPr>
          </a:p>
        </p:txBody>
      </p:sp>
      <p:sp>
        <p:nvSpPr>
          <p:cNvPr id="801" name="Google Shape;801;p55"/>
          <p:cNvSpPr/>
          <p:nvPr/>
        </p:nvSpPr>
        <p:spPr>
          <a:xfrm>
            <a:off x="2655063" y="2577469"/>
            <a:ext cx="882300" cy="474900"/>
          </a:xfrm>
          <a:prstGeom prst="roundRect">
            <a:avLst>
              <a:gd fmla="val 16667" name="adj"/>
            </a:avLst>
          </a:prstGeom>
          <a:solidFill>
            <a:srgbClr val="23656F"/>
          </a:solidFill>
          <a:ln cap="flat" cmpd="sng" w="38100">
            <a:solidFill>
              <a:srgbClr val="23656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FFFFFF"/>
                </a:solidFill>
                <a:latin typeface="Calibri"/>
                <a:ea typeface="Calibri"/>
                <a:cs typeface="Calibri"/>
                <a:sym typeface="Calibri"/>
              </a:rPr>
              <a:t>POWER DISTRIBUTION DC BUS</a:t>
            </a:r>
            <a:endParaRPr sz="800">
              <a:solidFill>
                <a:srgbClr val="FFFFFF"/>
              </a:solidFill>
              <a:latin typeface="Calibri"/>
              <a:ea typeface="Calibri"/>
              <a:cs typeface="Calibri"/>
              <a:sym typeface="Calibri"/>
            </a:endParaRPr>
          </a:p>
        </p:txBody>
      </p:sp>
      <p:sp>
        <p:nvSpPr>
          <p:cNvPr id="802" name="Google Shape;802;p55"/>
          <p:cNvSpPr txBox="1"/>
          <p:nvPr/>
        </p:nvSpPr>
        <p:spPr>
          <a:xfrm>
            <a:off x="0" y="941225"/>
            <a:ext cx="4111500" cy="407100"/>
          </a:xfrm>
          <a:prstGeom prst="rect">
            <a:avLst/>
          </a:prstGeom>
          <a:solidFill>
            <a:srgbClr val="23656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700">
                <a:solidFill>
                  <a:srgbClr val="EFEFEF"/>
                </a:solidFill>
                <a:latin typeface="Open Sans ExtraBold"/>
                <a:ea typeface="Open Sans ExtraBold"/>
                <a:cs typeface="Open Sans ExtraBold"/>
                <a:sym typeface="Open Sans ExtraBold"/>
              </a:rPr>
              <a:t>HV ARCHITECTURE</a:t>
            </a:r>
            <a:endParaRPr sz="1700">
              <a:solidFill>
                <a:srgbClr val="EFEFEF"/>
              </a:solidFill>
              <a:latin typeface="Open Sans ExtraBold"/>
              <a:ea typeface="Open Sans ExtraBold"/>
              <a:cs typeface="Open Sans ExtraBold"/>
              <a:sym typeface="Open Sans ExtraBold"/>
            </a:endParaRPr>
          </a:p>
        </p:txBody>
      </p:sp>
      <p:sp>
        <p:nvSpPr>
          <p:cNvPr id="803" name="Google Shape;803;p55"/>
          <p:cNvSpPr/>
          <p:nvPr/>
        </p:nvSpPr>
        <p:spPr>
          <a:xfrm>
            <a:off x="3834275" y="941225"/>
            <a:ext cx="399000" cy="4071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804" name="Google Shape;804;p55"/>
          <p:cNvPicPr preferRelativeResize="0"/>
          <p:nvPr/>
        </p:nvPicPr>
        <p:blipFill rotWithShape="1">
          <a:blip r:embed="rId5">
            <a:alphaModFix/>
          </a:blip>
          <a:srcRect b="11281" l="20956" r="20375" t="10435"/>
          <a:stretch/>
        </p:blipFill>
        <p:spPr>
          <a:xfrm>
            <a:off x="3815225" y="985441"/>
            <a:ext cx="360900" cy="318660"/>
          </a:xfrm>
          <a:prstGeom prst="rect">
            <a:avLst/>
          </a:prstGeom>
          <a:noFill/>
          <a:ln>
            <a:noFill/>
          </a:ln>
        </p:spPr>
      </p:pic>
      <p:sp>
        <p:nvSpPr>
          <p:cNvPr id="794" name="Google Shape;794;p55"/>
          <p:cNvSpPr/>
          <p:nvPr/>
        </p:nvSpPr>
        <p:spPr>
          <a:xfrm>
            <a:off x="7397425" y="2579800"/>
            <a:ext cx="882300" cy="474900"/>
          </a:xfrm>
          <a:prstGeom prst="roundRect">
            <a:avLst>
              <a:gd fmla="val 16667" name="adj"/>
            </a:avLst>
          </a:prstGeom>
          <a:solidFill>
            <a:srgbClr val="23656F"/>
          </a:solidFill>
          <a:ln cap="flat" cmpd="sng" w="38100">
            <a:solidFill>
              <a:srgbClr val="2365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FFFFFF"/>
                </a:solidFill>
                <a:latin typeface="Calibri"/>
                <a:ea typeface="Calibri"/>
                <a:cs typeface="Calibri"/>
                <a:sym typeface="Calibri"/>
              </a:rPr>
              <a:t>     </a:t>
            </a:r>
            <a:r>
              <a:rPr lang="en" sz="800">
                <a:solidFill>
                  <a:srgbClr val="FFFFFF"/>
                </a:solidFill>
                <a:latin typeface="Calibri"/>
                <a:ea typeface="Calibri"/>
                <a:cs typeface="Calibri"/>
                <a:sym typeface="Calibri"/>
              </a:rPr>
              <a:t>MOTOR</a:t>
            </a:r>
            <a:endParaRPr sz="800">
              <a:solidFill>
                <a:srgbClr val="FFFFFF"/>
              </a:solidFill>
              <a:latin typeface="Calibri"/>
              <a:ea typeface="Calibri"/>
              <a:cs typeface="Calibri"/>
              <a:sym typeface="Calibri"/>
            </a:endParaRPr>
          </a:p>
        </p:txBody>
      </p:sp>
      <p:sp>
        <p:nvSpPr>
          <p:cNvPr id="805" name="Google Shape;805;p55"/>
          <p:cNvSpPr/>
          <p:nvPr/>
        </p:nvSpPr>
        <p:spPr>
          <a:xfrm>
            <a:off x="5757025" y="1753075"/>
            <a:ext cx="882300" cy="474900"/>
          </a:xfrm>
          <a:prstGeom prst="roundRect">
            <a:avLst>
              <a:gd fmla="val 16667" name="adj"/>
            </a:avLst>
          </a:prstGeom>
          <a:solidFill>
            <a:srgbClr val="23656F"/>
          </a:solidFill>
          <a:ln cap="flat" cmpd="sng" w="38100">
            <a:solidFill>
              <a:srgbClr val="23656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FFFFFF"/>
                </a:solidFill>
                <a:latin typeface="Calibri"/>
                <a:ea typeface="Calibri"/>
                <a:cs typeface="Calibri"/>
                <a:sym typeface="Calibri"/>
              </a:rPr>
              <a:t> DC DC CONVERTER</a:t>
            </a:r>
            <a:endParaRPr sz="800">
              <a:solidFill>
                <a:srgbClr val="FFFFFF"/>
              </a:solidFill>
              <a:latin typeface="Calibri"/>
              <a:ea typeface="Calibri"/>
              <a:cs typeface="Calibri"/>
              <a:sym typeface="Calibri"/>
            </a:endParaRPr>
          </a:p>
        </p:txBody>
      </p:sp>
      <p:sp>
        <p:nvSpPr>
          <p:cNvPr id="806" name="Google Shape;806;p55"/>
          <p:cNvSpPr/>
          <p:nvPr/>
        </p:nvSpPr>
        <p:spPr>
          <a:xfrm>
            <a:off x="7397475" y="1754500"/>
            <a:ext cx="882300" cy="474900"/>
          </a:xfrm>
          <a:prstGeom prst="roundRect">
            <a:avLst>
              <a:gd fmla="val 16667" name="adj"/>
            </a:avLst>
          </a:prstGeom>
          <a:solidFill>
            <a:srgbClr val="23656F"/>
          </a:solidFill>
          <a:ln cap="flat" cmpd="sng" w="38100">
            <a:solidFill>
              <a:srgbClr val="23656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FFFFFF"/>
                </a:solidFill>
                <a:latin typeface="Calibri"/>
                <a:ea typeface="Calibri"/>
                <a:cs typeface="Calibri"/>
                <a:sym typeface="Calibri"/>
              </a:rPr>
              <a:t>AUXILIARY     BATTERY</a:t>
            </a:r>
            <a:endParaRPr sz="800">
              <a:solidFill>
                <a:srgbClr val="FFFFFF"/>
              </a:solidFill>
              <a:latin typeface="Calibri"/>
              <a:ea typeface="Calibri"/>
              <a:cs typeface="Calibri"/>
              <a:sym typeface="Calibri"/>
            </a:endParaRPr>
          </a:p>
        </p:txBody>
      </p:sp>
      <p:sp>
        <p:nvSpPr>
          <p:cNvPr id="807" name="Google Shape;807;p55"/>
          <p:cNvSpPr/>
          <p:nvPr/>
        </p:nvSpPr>
        <p:spPr>
          <a:xfrm>
            <a:off x="3776425" y="3371200"/>
            <a:ext cx="882300" cy="474900"/>
          </a:xfrm>
          <a:prstGeom prst="roundRect">
            <a:avLst>
              <a:gd fmla="val 16667" name="adj"/>
            </a:avLst>
          </a:prstGeom>
          <a:solidFill>
            <a:srgbClr val="23656F"/>
          </a:solidFill>
          <a:ln cap="flat" cmpd="sng" w="38100">
            <a:solidFill>
              <a:srgbClr val="23656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FFFFFF"/>
                </a:solidFill>
                <a:latin typeface="Calibri"/>
                <a:ea typeface="Calibri"/>
                <a:cs typeface="Calibri"/>
                <a:sym typeface="Calibri"/>
              </a:rPr>
              <a:t>ON-BOARD    CHARGER</a:t>
            </a:r>
            <a:endParaRPr sz="800">
              <a:solidFill>
                <a:srgbClr val="FFFFFF"/>
              </a:solidFill>
              <a:latin typeface="Calibri"/>
              <a:ea typeface="Calibri"/>
              <a:cs typeface="Calibri"/>
              <a:sym typeface="Calibri"/>
            </a:endParaRPr>
          </a:p>
        </p:txBody>
      </p:sp>
      <p:sp>
        <p:nvSpPr>
          <p:cNvPr id="808" name="Google Shape;808;p55"/>
          <p:cNvSpPr/>
          <p:nvPr/>
        </p:nvSpPr>
        <p:spPr>
          <a:xfrm>
            <a:off x="1225063" y="2577469"/>
            <a:ext cx="882300" cy="474900"/>
          </a:xfrm>
          <a:prstGeom prst="roundRect">
            <a:avLst>
              <a:gd fmla="val 16667" name="adj"/>
            </a:avLst>
          </a:prstGeom>
          <a:solidFill>
            <a:srgbClr val="23656F"/>
          </a:solidFill>
          <a:ln cap="flat" cmpd="sng" w="38100">
            <a:solidFill>
              <a:srgbClr val="23656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FFFFFF"/>
                </a:solidFill>
                <a:latin typeface="Calibri"/>
                <a:ea typeface="Calibri"/>
                <a:cs typeface="Calibri"/>
                <a:sym typeface="Calibri"/>
              </a:rPr>
              <a:t>BATTERY </a:t>
            </a:r>
            <a:endParaRPr sz="800">
              <a:solidFill>
                <a:srgbClr val="FFFFFF"/>
              </a:solidFill>
              <a:latin typeface="Calibri"/>
              <a:ea typeface="Calibri"/>
              <a:cs typeface="Calibri"/>
              <a:sym typeface="Calibri"/>
            </a:endParaRPr>
          </a:p>
          <a:p>
            <a:pPr indent="0" lvl="0" marL="0" rtl="0" algn="ctr">
              <a:spcBef>
                <a:spcPts val="0"/>
              </a:spcBef>
              <a:spcAft>
                <a:spcPts val="0"/>
              </a:spcAft>
              <a:buNone/>
            </a:pPr>
            <a:r>
              <a:rPr lang="en" sz="800">
                <a:solidFill>
                  <a:srgbClr val="FFFFFF"/>
                </a:solidFill>
                <a:latin typeface="Calibri"/>
                <a:ea typeface="Calibri"/>
                <a:cs typeface="Calibri"/>
                <a:sym typeface="Calibri"/>
              </a:rPr>
              <a:t>PACK</a:t>
            </a:r>
            <a:endParaRPr sz="800">
              <a:solidFill>
                <a:srgbClr val="FFFFFF"/>
              </a:solidFill>
              <a:latin typeface="Calibri"/>
              <a:ea typeface="Calibri"/>
              <a:cs typeface="Calibri"/>
              <a:sym typeface="Calibri"/>
            </a:endParaRPr>
          </a:p>
        </p:txBody>
      </p:sp>
      <p:sp>
        <p:nvSpPr>
          <p:cNvPr id="809" name="Google Shape;809;p55"/>
          <p:cNvSpPr/>
          <p:nvPr/>
        </p:nvSpPr>
        <p:spPr>
          <a:xfrm>
            <a:off x="1225075" y="1754509"/>
            <a:ext cx="882300" cy="474900"/>
          </a:xfrm>
          <a:prstGeom prst="roundRect">
            <a:avLst>
              <a:gd fmla="val 16667" name="adj"/>
            </a:avLst>
          </a:prstGeom>
          <a:solidFill>
            <a:srgbClr val="23656F"/>
          </a:solidFill>
          <a:ln cap="flat" cmpd="sng" w="38100">
            <a:solidFill>
              <a:srgbClr val="23656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FFFFFF"/>
                </a:solidFill>
                <a:latin typeface="Calibri"/>
                <a:ea typeface="Calibri"/>
                <a:cs typeface="Calibri"/>
                <a:sym typeface="Calibri"/>
              </a:rPr>
              <a:t>BATTERY AIR-COOLING SYSTEM</a:t>
            </a:r>
            <a:endParaRPr sz="800">
              <a:solidFill>
                <a:srgbClr val="FFFFFF"/>
              </a:solidFill>
              <a:latin typeface="Calibri"/>
              <a:ea typeface="Calibri"/>
              <a:cs typeface="Calibri"/>
              <a:sym typeface="Calibri"/>
            </a:endParaRPr>
          </a:p>
        </p:txBody>
      </p:sp>
      <p:sp>
        <p:nvSpPr>
          <p:cNvPr id="810" name="Google Shape;810;p55"/>
          <p:cNvSpPr/>
          <p:nvPr/>
        </p:nvSpPr>
        <p:spPr>
          <a:xfrm>
            <a:off x="3809175" y="4345450"/>
            <a:ext cx="882300" cy="474900"/>
          </a:xfrm>
          <a:prstGeom prst="roundRect">
            <a:avLst>
              <a:gd fmla="val 16667" name="adj"/>
            </a:avLst>
          </a:prstGeom>
          <a:solidFill>
            <a:srgbClr val="23656F"/>
          </a:solidFill>
          <a:ln cap="flat" cmpd="sng" w="38100">
            <a:solidFill>
              <a:srgbClr val="23656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FFFFFF"/>
                </a:solidFill>
                <a:latin typeface="Calibri"/>
                <a:ea typeface="Calibri"/>
                <a:cs typeface="Calibri"/>
                <a:sym typeface="Calibri"/>
              </a:rPr>
              <a:t>VEHICLE CONNECTOR</a:t>
            </a:r>
            <a:endParaRPr sz="800">
              <a:solidFill>
                <a:srgbClr val="FFFFFF"/>
              </a:solidFill>
              <a:latin typeface="Calibri"/>
              <a:ea typeface="Calibri"/>
              <a:cs typeface="Calibri"/>
              <a:sym typeface="Calibri"/>
            </a:endParaRPr>
          </a:p>
        </p:txBody>
      </p:sp>
      <p:sp>
        <p:nvSpPr>
          <p:cNvPr id="811" name="Google Shape;811;p55"/>
          <p:cNvSpPr/>
          <p:nvPr/>
        </p:nvSpPr>
        <p:spPr>
          <a:xfrm>
            <a:off x="1225075" y="3372997"/>
            <a:ext cx="882300" cy="474900"/>
          </a:xfrm>
          <a:prstGeom prst="roundRect">
            <a:avLst>
              <a:gd fmla="val 16667" name="adj"/>
            </a:avLst>
          </a:prstGeom>
          <a:solidFill>
            <a:srgbClr val="23656F"/>
          </a:solidFill>
          <a:ln cap="flat" cmpd="sng" w="38100">
            <a:solidFill>
              <a:srgbClr val="23656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FFFFFF"/>
                </a:solidFill>
                <a:latin typeface="Calibri"/>
                <a:ea typeface="Calibri"/>
                <a:cs typeface="Calibri"/>
                <a:sym typeface="Calibri"/>
              </a:rPr>
              <a:t>BATTERY MANAGEMENT SYSTEM</a:t>
            </a:r>
            <a:endParaRPr sz="800">
              <a:solidFill>
                <a:srgbClr val="FFFFFF"/>
              </a:solidFill>
              <a:latin typeface="Calibri"/>
              <a:ea typeface="Calibri"/>
              <a:cs typeface="Calibri"/>
              <a:sym typeface="Calibri"/>
            </a:endParaRPr>
          </a:p>
        </p:txBody>
      </p:sp>
      <p:sp>
        <p:nvSpPr>
          <p:cNvPr id="812" name="Google Shape;812;p55"/>
          <p:cNvSpPr/>
          <p:nvPr/>
        </p:nvSpPr>
        <p:spPr>
          <a:xfrm>
            <a:off x="2377725" y="4340750"/>
            <a:ext cx="882300" cy="474900"/>
          </a:xfrm>
          <a:prstGeom prst="roundRect">
            <a:avLst>
              <a:gd fmla="val 16667" name="adj"/>
            </a:avLst>
          </a:prstGeom>
          <a:solidFill>
            <a:srgbClr val="23656F"/>
          </a:solidFill>
          <a:ln cap="flat" cmpd="sng" w="38100">
            <a:solidFill>
              <a:srgbClr val="2365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rgbClr val="FFFFFF"/>
                </a:solidFill>
                <a:latin typeface="Calibri"/>
                <a:ea typeface="Calibri"/>
                <a:cs typeface="Calibri"/>
                <a:sym typeface="Calibri"/>
              </a:rPr>
              <a:t>AC OR DC EVSE</a:t>
            </a:r>
            <a:endParaRPr sz="800">
              <a:solidFill>
                <a:srgbClr val="FFFFFF"/>
              </a:solidFill>
              <a:latin typeface="Calibri"/>
              <a:ea typeface="Calibri"/>
              <a:cs typeface="Calibri"/>
              <a:sym typeface="Calibri"/>
            </a:endParaRPr>
          </a:p>
        </p:txBody>
      </p:sp>
      <p:cxnSp>
        <p:nvCxnSpPr>
          <p:cNvPr id="813" name="Google Shape;813;p55"/>
          <p:cNvCxnSpPr/>
          <p:nvPr/>
        </p:nvCxnSpPr>
        <p:spPr>
          <a:xfrm rot="10800000">
            <a:off x="4351875" y="3831336"/>
            <a:ext cx="0" cy="494700"/>
          </a:xfrm>
          <a:prstGeom prst="straightConnector1">
            <a:avLst/>
          </a:prstGeom>
          <a:noFill/>
          <a:ln cap="flat" cmpd="sng" w="28575">
            <a:solidFill>
              <a:srgbClr val="B45F06"/>
            </a:solidFill>
            <a:prstDash val="solid"/>
            <a:round/>
            <a:headEnd len="med" w="med" type="none"/>
            <a:tailEnd len="med" w="med" type="stealth"/>
          </a:ln>
        </p:spPr>
      </p:cxnSp>
      <p:cxnSp>
        <p:nvCxnSpPr>
          <p:cNvPr id="814" name="Google Shape;814;p55"/>
          <p:cNvCxnSpPr>
            <a:stCxn id="812" idx="3"/>
            <a:endCxn id="810" idx="1"/>
          </p:cNvCxnSpPr>
          <p:nvPr/>
        </p:nvCxnSpPr>
        <p:spPr>
          <a:xfrm>
            <a:off x="3260025" y="4578200"/>
            <a:ext cx="549300" cy="4800"/>
          </a:xfrm>
          <a:prstGeom prst="straightConnector1">
            <a:avLst/>
          </a:prstGeom>
          <a:noFill/>
          <a:ln cap="flat" cmpd="sng" w="28575">
            <a:solidFill>
              <a:srgbClr val="B45F06"/>
            </a:solidFill>
            <a:prstDash val="solid"/>
            <a:round/>
            <a:headEnd len="med" w="med" type="none"/>
            <a:tailEnd len="med" w="med" type="stealth"/>
          </a:ln>
        </p:spPr>
      </p:cxnSp>
      <p:cxnSp>
        <p:nvCxnSpPr>
          <p:cNvPr id="815" name="Google Shape;815;p55"/>
          <p:cNvCxnSpPr/>
          <p:nvPr/>
        </p:nvCxnSpPr>
        <p:spPr>
          <a:xfrm flipH="1" rot="10800000">
            <a:off x="877600" y="4194000"/>
            <a:ext cx="4608600" cy="36300"/>
          </a:xfrm>
          <a:prstGeom prst="straightConnector1">
            <a:avLst/>
          </a:prstGeom>
          <a:noFill/>
          <a:ln cap="flat" cmpd="sng" w="38100">
            <a:solidFill>
              <a:schemeClr val="accent2"/>
            </a:solidFill>
            <a:prstDash val="dash"/>
            <a:round/>
            <a:headEnd len="med" w="med" type="none"/>
            <a:tailEnd len="med" w="med" type="none"/>
          </a:ln>
        </p:spPr>
      </p:cxnSp>
      <p:sp>
        <p:nvSpPr>
          <p:cNvPr id="795" name="Google Shape;795;p55"/>
          <p:cNvSpPr/>
          <p:nvPr/>
        </p:nvSpPr>
        <p:spPr>
          <a:xfrm>
            <a:off x="7397475" y="3372997"/>
            <a:ext cx="882300" cy="474900"/>
          </a:xfrm>
          <a:prstGeom prst="roundRect">
            <a:avLst>
              <a:gd fmla="val 16667" name="adj"/>
            </a:avLst>
          </a:prstGeom>
          <a:solidFill>
            <a:srgbClr val="23656F"/>
          </a:solidFill>
          <a:ln cap="flat" cmpd="sng" w="38100">
            <a:solidFill>
              <a:srgbClr val="23656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FFFFFF"/>
                </a:solidFill>
                <a:latin typeface="Calibri"/>
                <a:ea typeface="Calibri"/>
                <a:cs typeface="Calibri"/>
                <a:sym typeface="Calibri"/>
              </a:rPr>
              <a:t>TRACTION COOLING SYSTEM</a:t>
            </a:r>
            <a:endParaRPr sz="800">
              <a:solidFill>
                <a:srgbClr val="FFFFFF"/>
              </a:solidFill>
              <a:latin typeface="Calibri"/>
              <a:ea typeface="Calibri"/>
              <a:cs typeface="Calibri"/>
              <a:sym typeface="Calibri"/>
            </a:endParaRPr>
          </a:p>
        </p:txBody>
      </p:sp>
      <p:sp>
        <p:nvSpPr>
          <p:cNvPr id="816" name="Google Shape;816;p55"/>
          <p:cNvSpPr txBox="1"/>
          <p:nvPr/>
        </p:nvSpPr>
        <p:spPr>
          <a:xfrm>
            <a:off x="6332450" y="4036375"/>
            <a:ext cx="7338000" cy="9852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i="1" lang="en" sz="1300">
                <a:latin typeface="Calibri"/>
                <a:ea typeface="Calibri"/>
                <a:cs typeface="Calibri"/>
                <a:sym typeface="Calibri"/>
              </a:rPr>
              <a:t>High voltage power flow</a:t>
            </a:r>
            <a:endParaRPr b="1" i="1" sz="1300">
              <a:latin typeface="Calibri"/>
              <a:ea typeface="Calibri"/>
              <a:cs typeface="Calibri"/>
              <a:sym typeface="Calibri"/>
            </a:endParaRPr>
          </a:p>
          <a:p>
            <a:pPr indent="0" lvl="0" marL="457200" rtl="0" algn="l">
              <a:spcBef>
                <a:spcPts val="0"/>
              </a:spcBef>
              <a:spcAft>
                <a:spcPts val="0"/>
              </a:spcAft>
              <a:buNone/>
            </a:pPr>
            <a:r>
              <a:rPr b="1" i="1" lang="en" sz="1300">
                <a:latin typeface="Calibri"/>
                <a:ea typeface="Calibri"/>
                <a:cs typeface="Calibri"/>
                <a:sym typeface="Calibri"/>
              </a:rPr>
              <a:t>Low </a:t>
            </a:r>
            <a:r>
              <a:rPr b="1" i="1" lang="en" sz="1300">
                <a:solidFill>
                  <a:schemeClr val="dk1"/>
                </a:solidFill>
                <a:latin typeface="Calibri"/>
                <a:ea typeface="Calibri"/>
                <a:cs typeface="Calibri"/>
                <a:sym typeface="Calibri"/>
              </a:rPr>
              <a:t>voltage power flow</a:t>
            </a:r>
            <a:endParaRPr b="1" i="1" sz="1300">
              <a:solidFill>
                <a:schemeClr val="dk1"/>
              </a:solidFill>
              <a:latin typeface="Calibri"/>
              <a:ea typeface="Calibri"/>
              <a:cs typeface="Calibri"/>
              <a:sym typeface="Calibri"/>
            </a:endParaRPr>
          </a:p>
          <a:p>
            <a:pPr indent="0" lvl="0" marL="457200" rtl="0" algn="l">
              <a:spcBef>
                <a:spcPts val="0"/>
              </a:spcBef>
              <a:spcAft>
                <a:spcPts val="0"/>
              </a:spcAft>
              <a:buNone/>
            </a:pPr>
            <a:r>
              <a:rPr b="1" i="1" lang="en" sz="1300">
                <a:solidFill>
                  <a:schemeClr val="dk1"/>
                </a:solidFill>
                <a:latin typeface="Calibri"/>
                <a:ea typeface="Calibri"/>
                <a:cs typeface="Calibri"/>
                <a:sym typeface="Calibri"/>
              </a:rPr>
              <a:t>Coolant flow</a:t>
            </a:r>
            <a:endParaRPr b="1" i="1" sz="1300">
              <a:solidFill>
                <a:schemeClr val="dk1"/>
              </a:solidFill>
              <a:latin typeface="Calibri"/>
              <a:ea typeface="Calibri"/>
              <a:cs typeface="Calibri"/>
              <a:sym typeface="Calibri"/>
            </a:endParaRPr>
          </a:p>
          <a:p>
            <a:pPr indent="0" lvl="0" marL="457200" rtl="0" algn="l">
              <a:spcBef>
                <a:spcPts val="0"/>
              </a:spcBef>
              <a:spcAft>
                <a:spcPts val="0"/>
              </a:spcAft>
              <a:buNone/>
            </a:pPr>
            <a:r>
              <a:rPr b="1" i="1" lang="en" sz="1300">
                <a:solidFill>
                  <a:schemeClr val="dk1"/>
                </a:solidFill>
                <a:latin typeface="Calibri"/>
                <a:ea typeface="Calibri"/>
                <a:cs typeface="Calibri"/>
                <a:sym typeface="Calibri"/>
              </a:rPr>
              <a:t>Air flow</a:t>
            </a:r>
            <a:endParaRPr b="1" i="1" sz="1300">
              <a:solidFill>
                <a:schemeClr val="dk1"/>
              </a:solidFill>
              <a:latin typeface="Calibri"/>
              <a:ea typeface="Calibri"/>
              <a:cs typeface="Calibri"/>
              <a:sym typeface="Calibri"/>
            </a:endParaRPr>
          </a:p>
        </p:txBody>
      </p:sp>
      <p:sp>
        <p:nvSpPr>
          <p:cNvPr id="817" name="Google Shape;817;p55"/>
          <p:cNvSpPr/>
          <p:nvPr/>
        </p:nvSpPr>
        <p:spPr>
          <a:xfrm>
            <a:off x="6639325" y="4192909"/>
            <a:ext cx="134400" cy="137400"/>
          </a:xfrm>
          <a:prstGeom prst="flowChartConnector">
            <a:avLst/>
          </a:prstGeom>
          <a:solidFill>
            <a:srgbClr val="B45F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55"/>
          <p:cNvSpPr/>
          <p:nvPr/>
        </p:nvSpPr>
        <p:spPr>
          <a:xfrm>
            <a:off x="6643483" y="4561717"/>
            <a:ext cx="134400" cy="137400"/>
          </a:xfrm>
          <a:prstGeom prst="flowChartConnector">
            <a:avLst/>
          </a:prstGeom>
          <a:solidFill>
            <a:srgbClr val="48BA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819" name="Google Shape;819;p55"/>
          <p:cNvSpPr/>
          <p:nvPr/>
        </p:nvSpPr>
        <p:spPr>
          <a:xfrm>
            <a:off x="6639325" y="4762885"/>
            <a:ext cx="134400" cy="137400"/>
          </a:xfrm>
          <a:prstGeom prst="flowChartConnector">
            <a:avLst/>
          </a:prstGeom>
          <a:solidFill>
            <a:srgbClr val="324B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55"/>
          <p:cNvSpPr/>
          <p:nvPr/>
        </p:nvSpPr>
        <p:spPr>
          <a:xfrm>
            <a:off x="6639325" y="4378837"/>
            <a:ext cx="134400" cy="137400"/>
          </a:xfrm>
          <a:prstGeom prst="flowChartConnector">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55"/>
          <p:cNvSpPr txBox="1"/>
          <p:nvPr/>
        </p:nvSpPr>
        <p:spPr>
          <a:xfrm>
            <a:off x="756125" y="4281535"/>
            <a:ext cx="1105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latin typeface="Calibri"/>
                <a:ea typeface="Calibri"/>
                <a:cs typeface="Calibri"/>
                <a:sym typeface="Calibri"/>
              </a:rPr>
              <a:t>Charging</a:t>
            </a:r>
            <a:endParaRPr b="1" i="1" sz="1000">
              <a:latin typeface="Calibri"/>
              <a:ea typeface="Calibri"/>
              <a:cs typeface="Calibri"/>
              <a:sym typeface="Calibri"/>
            </a:endParaRPr>
          </a:p>
          <a:p>
            <a:pPr indent="0" lvl="0" marL="0" rtl="0" algn="l">
              <a:spcBef>
                <a:spcPts val="0"/>
              </a:spcBef>
              <a:spcAft>
                <a:spcPts val="0"/>
              </a:spcAft>
              <a:buNone/>
            </a:pPr>
            <a:r>
              <a:rPr b="1" i="1" lang="en" sz="1000">
                <a:latin typeface="Calibri"/>
                <a:ea typeface="Calibri"/>
                <a:cs typeface="Calibri"/>
                <a:sym typeface="Calibri"/>
              </a:rPr>
              <a:t>Interface</a:t>
            </a:r>
            <a:endParaRPr b="1" i="1" sz="1000">
              <a:latin typeface="Calibri"/>
              <a:ea typeface="Calibri"/>
              <a:cs typeface="Calibri"/>
              <a:sym typeface="Calibri"/>
            </a:endParaRPr>
          </a:p>
        </p:txBody>
      </p:sp>
      <p:cxnSp>
        <p:nvCxnSpPr>
          <p:cNvPr id="822" name="Google Shape;822;p55"/>
          <p:cNvCxnSpPr/>
          <p:nvPr/>
        </p:nvCxnSpPr>
        <p:spPr>
          <a:xfrm rot="10800000">
            <a:off x="3521700" y="2870938"/>
            <a:ext cx="2219700" cy="900"/>
          </a:xfrm>
          <a:prstGeom prst="straightConnector1">
            <a:avLst/>
          </a:prstGeom>
          <a:noFill/>
          <a:ln cap="flat" cmpd="sng" w="28575">
            <a:solidFill>
              <a:srgbClr val="B45F06"/>
            </a:solidFill>
            <a:prstDash val="solid"/>
            <a:round/>
            <a:headEnd len="med" w="med" type="none"/>
            <a:tailEnd len="med" w="med" type="stealth"/>
          </a:ln>
        </p:spPr>
      </p:cxnSp>
      <p:cxnSp>
        <p:nvCxnSpPr>
          <p:cNvPr id="823" name="Google Shape;823;p55"/>
          <p:cNvCxnSpPr/>
          <p:nvPr/>
        </p:nvCxnSpPr>
        <p:spPr>
          <a:xfrm flipH="1" rot="10800000">
            <a:off x="6639325" y="2870077"/>
            <a:ext cx="758100" cy="900"/>
          </a:xfrm>
          <a:prstGeom prst="straightConnector1">
            <a:avLst/>
          </a:prstGeom>
          <a:noFill/>
          <a:ln cap="flat" cmpd="sng" w="28575">
            <a:solidFill>
              <a:srgbClr val="48BACA"/>
            </a:solidFill>
            <a:prstDash val="solid"/>
            <a:round/>
            <a:headEnd len="med" w="med" type="none"/>
            <a:tailEnd len="med" w="med" type="stealth"/>
          </a:ln>
        </p:spPr>
      </p:cxnSp>
      <p:sp>
        <p:nvSpPr>
          <p:cNvPr id="824" name="Google Shape;824;p55"/>
          <p:cNvSpPr/>
          <p:nvPr/>
        </p:nvSpPr>
        <p:spPr>
          <a:xfrm>
            <a:off x="2861600" y="3075350"/>
            <a:ext cx="1264600" cy="1248898"/>
          </a:xfrm>
          <a:custGeom>
            <a:rect b="b" l="l" r="r" t="t"/>
            <a:pathLst>
              <a:path extrusionOk="0" h="48346" w="50584">
                <a:moveTo>
                  <a:pt x="50450" y="48346"/>
                </a:moveTo>
                <a:cubicBezTo>
                  <a:pt x="49555" y="45929"/>
                  <a:pt x="52779" y="36438"/>
                  <a:pt x="45079" y="33842"/>
                </a:cubicBezTo>
                <a:cubicBezTo>
                  <a:pt x="37380" y="31246"/>
                  <a:pt x="11595" y="38408"/>
                  <a:pt x="4253" y="32768"/>
                </a:cubicBezTo>
                <a:cubicBezTo>
                  <a:pt x="-3088" y="27128"/>
                  <a:pt x="1567" y="5461"/>
                  <a:pt x="1030" y="0"/>
                </a:cubicBezTo>
              </a:path>
            </a:pathLst>
          </a:custGeom>
          <a:noFill/>
          <a:ln cap="flat" cmpd="sng" w="28575">
            <a:solidFill>
              <a:srgbClr val="B45F06"/>
            </a:solidFill>
            <a:prstDash val="solid"/>
            <a:round/>
            <a:headEnd len="med" w="med" type="none"/>
            <a:tailEnd len="med" w="med" type="stealth"/>
          </a:ln>
        </p:spPr>
      </p:sp>
      <p:sp>
        <p:nvSpPr>
          <p:cNvPr id="825" name="Google Shape;825;p55"/>
          <p:cNvSpPr txBox="1"/>
          <p:nvPr/>
        </p:nvSpPr>
        <p:spPr>
          <a:xfrm>
            <a:off x="4372250" y="3826350"/>
            <a:ext cx="457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200">
                <a:latin typeface="Calibri"/>
                <a:ea typeface="Calibri"/>
                <a:cs typeface="Calibri"/>
                <a:sym typeface="Calibri"/>
              </a:rPr>
              <a:t>AC</a:t>
            </a:r>
            <a:endParaRPr b="1" i="1" sz="1200">
              <a:latin typeface="Calibri"/>
              <a:ea typeface="Calibri"/>
              <a:cs typeface="Calibri"/>
              <a:sym typeface="Calibri"/>
            </a:endParaRPr>
          </a:p>
        </p:txBody>
      </p:sp>
      <p:sp>
        <p:nvSpPr>
          <p:cNvPr id="826" name="Google Shape;826;p55"/>
          <p:cNvSpPr txBox="1"/>
          <p:nvPr/>
        </p:nvSpPr>
        <p:spPr>
          <a:xfrm>
            <a:off x="2514600" y="3438538"/>
            <a:ext cx="457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200">
                <a:latin typeface="Calibri"/>
                <a:ea typeface="Calibri"/>
                <a:cs typeface="Calibri"/>
                <a:sym typeface="Calibri"/>
              </a:rPr>
              <a:t>DC</a:t>
            </a:r>
            <a:endParaRPr b="1" i="1" sz="1200">
              <a:latin typeface="Calibri"/>
              <a:ea typeface="Calibri"/>
              <a:cs typeface="Calibri"/>
              <a:sym typeface="Calibri"/>
            </a:endParaRPr>
          </a:p>
        </p:txBody>
      </p:sp>
      <p:sp>
        <p:nvSpPr>
          <p:cNvPr id="827" name="Google Shape;827;p55"/>
          <p:cNvSpPr/>
          <p:nvPr/>
        </p:nvSpPr>
        <p:spPr>
          <a:xfrm>
            <a:off x="3491038" y="1725450"/>
            <a:ext cx="882300" cy="474900"/>
          </a:xfrm>
          <a:prstGeom prst="roundRect">
            <a:avLst>
              <a:gd fmla="val 16667" name="adj"/>
            </a:avLst>
          </a:prstGeom>
          <a:solidFill>
            <a:srgbClr val="23656F"/>
          </a:solidFill>
          <a:ln cap="flat" cmpd="sng" w="38100">
            <a:solidFill>
              <a:srgbClr val="23656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FFFFFF"/>
                </a:solidFill>
                <a:latin typeface="Calibri"/>
                <a:ea typeface="Calibri"/>
                <a:cs typeface="Calibri"/>
                <a:sym typeface="Calibri"/>
              </a:rPr>
              <a:t> HVAC </a:t>
            </a:r>
            <a:endParaRPr sz="800">
              <a:solidFill>
                <a:srgbClr val="FFFFFF"/>
              </a:solidFill>
              <a:latin typeface="Calibri"/>
              <a:ea typeface="Calibri"/>
              <a:cs typeface="Calibri"/>
              <a:sym typeface="Calibri"/>
            </a:endParaRPr>
          </a:p>
          <a:p>
            <a:pPr indent="0" lvl="0" marL="0" rtl="0" algn="ctr">
              <a:spcBef>
                <a:spcPts val="0"/>
              </a:spcBef>
              <a:spcAft>
                <a:spcPts val="0"/>
              </a:spcAft>
              <a:buNone/>
            </a:pPr>
            <a:r>
              <a:rPr lang="en" sz="800">
                <a:solidFill>
                  <a:srgbClr val="FFFFFF"/>
                </a:solidFill>
                <a:latin typeface="Calibri"/>
                <a:ea typeface="Calibri"/>
                <a:cs typeface="Calibri"/>
                <a:sym typeface="Calibri"/>
              </a:rPr>
              <a:t>System</a:t>
            </a:r>
            <a:endParaRPr sz="800">
              <a:solidFill>
                <a:srgbClr val="FFFFFF"/>
              </a:solidFill>
              <a:latin typeface="Calibri"/>
              <a:ea typeface="Calibri"/>
              <a:cs typeface="Calibri"/>
              <a:sym typeface="Calibri"/>
            </a:endParaRPr>
          </a:p>
        </p:txBody>
      </p:sp>
      <p:sp>
        <p:nvSpPr>
          <p:cNvPr id="828" name="Google Shape;828;p55"/>
          <p:cNvSpPr/>
          <p:nvPr/>
        </p:nvSpPr>
        <p:spPr>
          <a:xfrm>
            <a:off x="3093950" y="3075350"/>
            <a:ext cx="693175" cy="592317"/>
          </a:xfrm>
          <a:custGeom>
            <a:rect b="b" l="l" r="r" t="t"/>
            <a:pathLst>
              <a:path extrusionOk="0" h="21006" w="27727">
                <a:moveTo>
                  <a:pt x="27727" y="19876"/>
                </a:moveTo>
                <a:cubicBezTo>
                  <a:pt x="23519" y="19787"/>
                  <a:pt x="6956" y="22652"/>
                  <a:pt x="2479" y="19339"/>
                </a:cubicBezTo>
                <a:cubicBezTo>
                  <a:pt x="-1997" y="16026"/>
                  <a:pt x="1137" y="3223"/>
                  <a:pt x="868" y="0"/>
                </a:cubicBezTo>
              </a:path>
            </a:pathLst>
          </a:custGeom>
          <a:noFill/>
          <a:ln cap="flat" cmpd="sng" w="28575">
            <a:solidFill>
              <a:srgbClr val="B45F06"/>
            </a:solidFill>
            <a:prstDash val="solid"/>
            <a:round/>
            <a:headEnd len="med" w="med" type="none"/>
            <a:tailEnd len="med" w="med" type="stealth"/>
          </a:ln>
        </p:spPr>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832" name="Shape 832"/>
        <p:cNvGrpSpPr/>
        <p:nvPr/>
      </p:nvGrpSpPr>
      <p:grpSpPr>
        <a:xfrm>
          <a:off x="0" y="0"/>
          <a:ext cx="0" cy="0"/>
          <a:chOff x="0" y="0"/>
          <a:chExt cx="0" cy="0"/>
        </a:xfrm>
      </p:grpSpPr>
      <p:pic>
        <p:nvPicPr>
          <p:cNvPr id="833" name="Google Shape;833;p56"/>
          <p:cNvPicPr preferRelativeResize="0"/>
          <p:nvPr/>
        </p:nvPicPr>
        <p:blipFill>
          <a:blip r:embed="rId3">
            <a:alphaModFix amt="26000"/>
          </a:blip>
          <a:stretch>
            <a:fillRect/>
          </a:stretch>
        </p:blipFill>
        <p:spPr>
          <a:xfrm rot="9900000">
            <a:off x="5128900" y="2442475"/>
            <a:ext cx="4289526" cy="2716700"/>
          </a:xfrm>
          <a:prstGeom prst="rect">
            <a:avLst/>
          </a:prstGeom>
          <a:noFill/>
          <a:ln>
            <a:noFill/>
          </a:ln>
        </p:spPr>
      </p:pic>
      <p:sp>
        <p:nvSpPr>
          <p:cNvPr id="834" name="Google Shape;834;p56"/>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200"/>
              <a:buFont typeface="Arial"/>
              <a:buNone/>
            </a:pPr>
            <a:r>
              <a:rPr lang="en" sz="2400">
                <a:solidFill>
                  <a:srgbClr val="48BACA"/>
                </a:solidFill>
                <a:latin typeface="Lato Black"/>
                <a:ea typeface="Lato Black"/>
                <a:cs typeface="Lato Black"/>
                <a:sym typeface="Lato Black"/>
              </a:rPr>
              <a:t>E/E </a:t>
            </a:r>
            <a:r>
              <a:rPr lang="en" sz="2400">
                <a:solidFill>
                  <a:srgbClr val="F3F3F3"/>
                </a:solidFill>
                <a:latin typeface="Lato"/>
                <a:ea typeface="Lato"/>
                <a:cs typeface="Lato"/>
                <a:sym typeface="Lato"/>
              </a:rPr>
              <a:t>Architecture</a:t>
            </a:r>
            <a:r>
              <a:rPr lang="en" sz="2400">
                <a:solidFill>
                  <a:srgbClr val="48BACA"/>
                </a:solidFill>
                <a:latin typeface="Lato Black"/>
                <a:ea typeface="Lato Black"/>
                <a:cs typeface="Lato Black"/>
                <a:sym typeface="Lato Black"/>
              </a:rPr>
              <a:t> </a:t>
            </a:r>
            <a:endParaRPr i="0" sz="2400" u="none" cap="none" strike="noStrike">
              <a:solidFill>
                <a:srgbClr val="48BACA"/>
              </a:solidFill>
              <a:latin typeface="Lato Black"/>
              <a:ea typeface="Lato Black"/>
              <a:cs typeface="Lato Black"/>
              <a:sym typeface="Lato Black"/>
            </a:endParaRPr>
          </a:p>
        </p:txBody>
      </p:sp>
      <p:pic>
        <p:nvPicPr>
          <p:cNvPr id="835" name="Google Shape;835;p56"/>
          <p:cNvPicPr preferRelativeResize="0"/>
          <p:nvPr/>
        </p:nvPicPr>
        <p:blipFill>
          <a:blip r:embed="rId4">
            <a:alphaModFix/>
          </a:blip>
          <a:stretch>
            <a:fillRect/>
          </a:stretch>
        </p:blipFill>
        <p:spPr>
          <a:xfrm>
            <a:off x="175925" y="133088"/>
            <a:ext cx="567225" cy="474824"/>
          </a:xfrm>
          <a:prstGeom prst="rect">
            <a:avLst/>
          </a:prstGeom>
          <a:noFill/>
          <a:ln>
            <a:noFill/>
          </a:ln>
        </p:spPr>
      </p:pic>
      <p:sp>
        <p:nvSpPr>
          <p:cNvPr id="836" name="Google Shape;836;p56"/>
          <p:cNvSpPr txBox="1"/>
          <p:nvPr/>
        </p:nvSpPr>
        <p:spPr>
          <a:xfrm>
            <a:off x="0" y="941225"/>
            <a:ext cx="4111500" cy="407100"/>
          </a:xfrm>
          <a:prstGeom prst="rect">
            <a:avLst/>
          </a:prstGeom>
          <a:solidFill>
            <a:srgbClr val="23656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700">
                <a:solidFill>
                  <a:srgbClr val="EFEFEF"/>
                </a:solidFill>
                <a:latin typeface="Open Sans ExtraBold"/>
                <a:ea typeface="Open Sans ExtraBold"/>
                <a:cs typeface="Open Sans ExtraBold"/>
                <a:sym typeface="Open Sans ExtraBold"/>
              </a:rPr>
              <a:t>PRECHARGE CIRCUIT</a:t>
            </a:r>
            <a:endParaRPr sz="1700">
              <a:solidFill>
                <a:srgbClr val="EFEFEF"/>
              </a:solidFill>
              <a:latin typeface="Open Sans ExtraBold"/>
              <a:ea typeface="Open Sans ExtraBold"/>
              <a:cs typeface="Open Sans ExtraBold"/>
              <a:sym typeface="Open Sans ExtraBold"/>
            </a:endParaRPr>
          </a:p>
        </p:txBody>
      </p:sp>
      <p:sp>
        <p:nvSpPr>
          <p:cNvPr id="837" name="Google Shape;837;p56"/>
          <p:cNvSpPr/>
          <p:nvPr/>
        </p:nvSpPr>
        <p:spPr>
          <a:xfrm>
            <a:off x="3834275" y="941225"/>
            <a:ext cx="399000" cy="4071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838" name="Google Shape;838;p56"/>
          <p:cNvPicPr preferRelativeResize="0"/>
          <p:nvPr/>
        </p:nvPicPr>
        <p:blipFill rotWithShape="1">
          <a:blip r:embed="rId5">
            <a:alphaModFix/>
          </a:blip>
          <a:srcRect b="11281" l="20956" r="20375" t="10435"/>
          <a:stretch/>
        </p:blipFill>
        <p:spPr>
          <a:xfrm>
            <a:off x="3815225" y="985441"/>
            <a:ext cx="360900" cy="318660"/>
          </a:xfrm>
          <a:prstGeom prst="rect">
            <a:avLst/>
          </a:prstGeom>
          <a:noFill/>
          <a:ln>
            <a:noFill/>
          </a:ln>
        </p:spPr>
      </p:pic>
      <p:pic>
        <p:nvPicPr>
          <p:cNvPr id="839" name="Google Shape;839;p56"/>
          <p:cNvPicPr preferRelativeResize="0"/>
          <p:nvPr/>
        </p:nvPicPr>
        <p:blipFill>
          <a:blip r:embed="rId6">
            <a:alphaModFix/>
          </a:blip>
          <a:stretch>
            <a:fillRect/>
          </a:stretch>
        </p:blipFill>
        <p:spPr>
          <a:xfrm>
            <a:off x="783775" y="1442875"/>
            <a:ext cx="7543800" cy="34818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843" name="Shape 843"/>
        <p:cNvGrpSpPr/>
        <p:nvPr/>
      </p:nvGrpSpPr>
      <p:grpSpPr>
        <a:xfrm>
          <a:off x="0" y="0"/>
          <a:ext cx="0" cy="0"/>
          <a:chOff x="0" y="0"/>
          <a:chExt cx="0" cy="0"/>
        </a:xfrm>
      </p:grpSpPr>
      <p:sp>
        <p:nvSpPr>
          <p:cNvPr id="844" name="Google Shape;844;p57"/>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200"/>
              <a:buFont typeface="Arial"/>
              <a:buNone/>
            </a:pPr>
            <a:r>
              <a:rPr lang="en" sz="2400">
                <a:solidFill>
                  <a:srgbClr val="48BACA"/>
                </a:solidFill>
                <a:latin typeface="Lato Black"/>
                <a:ea typeface="Lato Black"/>
                <a:cs typeface="Lato Black"/>
                <a:sym typeface="Lato Black"/>
              </a:rPr>
              <a:t>E/E </a:t>
            </a:r>
            <a:r>
              <a:rPr lang="en" sz="2400">
                <a:solidFill>
                  <a:srgbClr val="F3F3F3"/>
                </a:solidFill>
                <a:latin typeface="Lato"/>
                <a:ea typeface="Lato"/>
                <a:cs typeface="Lato"/>
                <a:sym typeface="Lato"/>
              </a:rPr>
              <a:t>Architecture</a:t>
            </a:r>
            <a:r>
              <a:rPr lang="en" sz="2400">
                <a:solidFill>
                  <a:srgbClr val="48BACA"/>
                </a:solidFill>
                <a:latin typeface="Lato Black"/>
                <a:ea typeface="Lato Black"/>
                <a:cs typeface="Lato Black"/>
                <a:sym typeface="Lato Black"/>
              </a:rPr>
              <a:t> </a:t>
            </a:r>
            <a:endParaRPr i="0" sz="2400" u="none" cap="none" strike="noStrike">
              <a:solidFill>
                <a:srgbClr val="48BACA"/>
              </a:solidFill>
              <a:latin typeface="Lato Black"/>
              <a:ea typeface="Lato Black"/>
              <a:cs typeface="Lato Black"/>
              <a:sym typeface="Lato Black"/>
            </a:endParaRPr>
          </a:p>
        </p:txBody>
      </p:sp>
      <p:pic>
        <p:nvPicPr>
          <p:cNvPr id="845" name="Google Shape;845;p57"/>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846" name="Google Shape;846;p57"/>
          <p:cNvPicPr preferRelativeResize="0"/>
          <p:nvPr/>
        </p:nvPicPr>
        <p:blipFill>
          <a:blip r:embed="rId4">
            <a:alphaModFix amt="26000"/>
          </a:blip>
          <a:stretch>
            <a:fillRect/>
          </a:stretch>
        </p:blipFill>
        <p:spPr>
          <a:xfrm rot="9900000">
            <a:off x="5128900" y="2442475"/>
            <a:ext cx="4289526" cy="2716700"/>
          </a:xfrm>
          <a:prstGeom prst="rect">
            <a:avLst/>
          </a:prstGeom>
          <a:noFill/>
          <a:ln>
            <a:noFill/>
          </a:ln>
        </p:spPr>
      </p:pic>
      <p:sp>
        <p:nvSpPr>
          <p:cNvPr id="847" name="Google Shape;847;p57"/>
          <p:cNvSpPr txBox="1"/>
          <p:nvPr/>
        </p:nvSpPr>
        <p:spPr>
          <a:xfrm>
            <a:off x="0" y="941225"/>
            <a:ext cx="4111500" cy="407100"/>
          </a:xfrm>
          <a:prstGeom prst="rect">
            <a:avLst/>
          </a:prstGeom>
          <a:solidFill>
            <a:srgbClr val="23656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700">
                <a:solidFill>
                  <a:srgbClr val="EFEFEF"/>
                </a:solidFill>
                <a:latin typeface="Open Sans ExtraBold"/>
                <a:ea typeface="Open Sans ExtraBold"/>
                <a:cs typeface="Open Sans ExtraBold"/>
                <a:sym typeface="Open Sans ExtraBold"/>
              </a:rPr>
              <a:t>POWER DISTRIBUTION UNIT</a:t>
            </a:r>
            <a:endParaRPr sz="1700">
              <a:solidFill>
                <a:srgbClr val="EFEFEF"/>
              </a:solidFill>
              <a:latin typeface="Open Sans ExtraBold"/>
              <a:ea typeface="Open Sans ExtraBold"/>
              <a:cs typeface="Open Sans ExtraBold"/>
              <a:sym typeface="Open Sans ExtraBold"/>
            </a:endParaRPr>
          </a:p>
        </p:txBody>
      </p:sp>
      <p:sp>
        <p:nvSpPr>
          <p:cNvPr id="848" name="Google Shape;848;p57"/>
          <p:cNvSpPr/>
          <p:nvPr/>
        </p:nvSpPr>
        <p:spPr>
          <a:xfrm>
            <a:off x="3834275" y="941225"/>
            <a:ext cx="399000" cy="4071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849" name="Google Shape;849;p57"/>
          <p:cNvPicPr preferRelativeResize="0"/>
          <p:nvPr/>
        </p:nvPicPr>
        <p:blipFill rotWithShape="1">
          <a:blip r:embed="rId5">
            <a:alphaModFix/>
          </a:blip>
          <a:srcRect b="11281" l="20956" r="20375" t="10435"/>
          <a:stretch/>
        </p:blipFill>
        <p:spPr>
          <a:xfrm>
            <a:off x="3815225" y="985441"/>
            <a:ext cx="360900" cy="318660"/>
          </a:xfrm>
          <a:prstGeom prst="rect">
            <a:avLst/>
          </a:prstGeom>
          <a:noFill/>
          <a:ln>
            <a:noFill/>
          </a:ln>
        </p:spPr>
      </p:pic>
      <p:sp>
        <p:nvSpPr>
          <p:cNvPr id="850" name="Google Shape;850;p57"/>
          <p:cNvSpPr/>
          <p:nvPr/>
        </p:nvSpPr>
        <p:spPr>
          <a:xfrm>
            <a:off x="1788050" y="2768050"/>
            <a:ext cx="3663000" cy="24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rgbClr val="595959"/>
                </a:solidFill>
                <a:latin typeface="Lato"/>
                <a:ea typeface="Lato"/>
                <a:cs typeface="Lato"/>
                <a:sym typeface="Lato"/>
              </a:rPr>
              <a:t>Power Delivery upto 96% efficiency</a:t>
            </a:r>
            <a:endParaRPr b="1" sz="1100">
              <a:solidFill>
                <a:srgbClr val="595959"/>
              </a:solidFill>
              <a:latin typeface="Lato"/>
              <a:ea typeface="Lato"/>
              <a:cs typeface="Lato"/>
              <a:sym typeface="Lato"/>
            </a:endParaRPr>
          </a:p>
        </p:txBody>
      </p:sp>
      <p:sp>
        <p:nvSpPr>
          <p:cNvPr id="851" name="Google Shape;851;p57"/>
          <p:cNvSpPr/>
          <p:nvPr/>
        </p:nvSpPr>
        <p:spPr>
          <a:xfrm>
            <a:off x="1639450" y="3262650"/>
            <a:ext cx="3717900" cy="24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rgbClr val="595959"/>
                </a:solidFill>
                <a:latin typeface="Lato"/>
                <a:ea typeface="Lato"/>
                <a:cs typeface="Lato"/>
                <a:sym typeface="Lato"/>
              </a:rPr>
              <a:t>Lightweight Power System (1200W/in</a:t>
            </a:r>
            <a:r>
              <a:rPr b="1" baseline="30000" lang="en" sz="1100">
                <a:solidFill>
                  <a:srgbClr val="595959"/>
                </a:solidFill>
                <a:latin typeface="Lato"/>
                <a:ea typeface="Lato"/>
                <a:cs typeface="Lato"/>
                <a:sym typeface="Lato"/>
              </a:rPr>
              <a:t>3</a:t>
            </a:r>
            <a:r>
              <a:rPr b="1" lang="en" sz="1100">
                <a:solidFill>
                  <a:srgbClr val="595959"/>
                </a:solidFill>
                <a:latin typeface="Lato"/>
                <a:ea typeface="Lato"/>
                <a:cs typeface="Lato"/>
                <a:sym typeface="Lato"/>
              </a:rPr>
              <a:t> power density)</a:t>
            </a:r>
            <a:endParaRPr b="1" sz="1100">
              <a:solidFill>
                <a:srgbClr val="595959"/>
              </a:solidFill>
              <a:latin typeface="Lato"/>
              <a:ea typeface="Lato"/>
              <a:cs typeface="Lato"/>
              <a:sym typeface="Lato"/>
            </a:endParaRPr>
          </a:p>
        </p:txBody>
      </p:sp>
      <p:sp>
        <p:nvSpPr>
          <p:cNvPr id="852" name="Google Shape;852;p57"/>
          <p:cNvSpPr/>
          <p:nvPr/>
        </p:nvSpPr>
        <p:spPr>
          <a:xfrm>
            <a:off x="1525486" y="3757250"/>
            <a:ext cx="3873900" cy="24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rgbClr val="595959"/>
                </a:solidFill>
                <a:latin typeface="Lato"/>
                <a:ea typeface="Lato"/>
                <a:cs typeface="Lato"/>
                <a:sym typeface="Lato"/>
              </a:rPr>
              <a:t>OV, UV, OC, Short circuit &amp; Thermal protection</a:t>
            </a:r>
            <a:endParaRPr b="1" sz="1100">
              <a:solidFill>
                <a:srgbClr val="595959"/>
              </a:solidFill>
              <a:latin typeface="Lato"/>
              <a:ea typeface="Lato"/>
              <a:cs typeface="Lato"/>
              <a:sym typeface="Lato"/>
            </a:endParaRPr>
          </a:p>
        </p:txBody>
      </p:sp>
      <p:sp>
        <p:nvSpPr>
          <p:cNvPr id="853" name="Google Shape;853;p57"/>
          <p:cNvSpPr/>
          <p:nvPr/>
        </p:nvSpPr>
        <p:spPr>
          <a:xfrm>
            <a:off x="5308950" y="2526950"/>
            <a:ext cx="2150700" cy="1720500"/>
          </a:xfrm>
          <a:prstGeom prst="roundRect">
            <a:avLst>
              <a:gd fmla="val 16667" name="adj"/>
            </a:avLst>
          </a:prstGeom>
          <a:solidFill>
            <a:srgbClr val="23656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p:txBody>
      </p:sp>
      <p:pic>
        <p:nvPicPr>
          <p:cNvPr id="854" name="Google Shape;854;p57"/>
          <p:cNvPicPr preferRelativeResize="0"/>
          <p:nvPr/>
        </p:nvPicPr>
        <p:blipFill>
          <a:blip r:embed="rId6">
            <a:alphaModFix/>
          </a:blip>
          <a:stretch>
            <a:fillRect/>
          </a:stretch>
        </p:blipFill>
        <p:spPr>
          <a:xfrm>
            <a:off x="5308950" y="2670124"/>
            <a:ext cx="2150521" cy="1433710"/>
          </a:xfrm>
          <a:prstGeom prst="rect">
            <a:avLst/>
          </a:prstGeom>
          <a:noFill/>
          <a:ln>
            <a:noFill/>
          </a:ln>
        </p:spPr>
      </p:pic>
      <p:sp>
        <p:nvSpPr>
          <p:cNvPr id="855" name="Google Shape;855;p57"/>
          <p:cNvSpPr/>
          <p:nvPr/>
        </p:nvSpPr>
        <p:spPr>
          <a:xfrm>
            <a:off x="1577525" y="2755975"/>
            <a:ext cx="300000" cy="282900"/>
          </a:xfrm>
          <a:prstGeom prst="parallelogram">
            <a:avLst>
              <a:gd fmla="val 25000" name="adj"/>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57"/>
          <p:cNvSpPr/>
          <p:nvPr/>
        </p:nvSpPr>
        <p:spPr>
          <a:xfrm>
            <a:off x="1446437" y="3245550"/>
            <a:ext cx="300000" cy="282900"/>
          </a:xfrm>
          <a:prstGeom prst="parallelogram">
            <a:avLst>
              <a:gd fmla="val 25000" name="adj"/>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57"/>
          <p:cNvSpPr/>
          <p:nvPr/>
        </p:nvSpPr>
        <p:spPr>
          <a:xfrm>
            <a:off x="1339450" y="3735125"/>
            <a:ext cx="300000" cy="282900"/>
          </a:xfrm>
          <a:prstGeom prst="parallelogram">
            <a:avLst>
              <a:gd fmla="val 25000" name="adj"/>
            </a:avLst>
          </a:prstGeom>
          <a:solidFill>
            <a:srgbClr val="2365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57"/>
          <p:cNvSpPr/>
          <p:nvPr/>
        </p:nvSpPr>
        <p:spPr>
          <a:xfrm>
            <a:off x="3139975" y="1916300"/>
            <a:ext cx="2864100" cy="318600"/>
          </a:xfrm>
          <a:prstGeom prst="roundRect">
            <a:avLst>
              <a:gd fmla="val 16667" name="adj"/>
            </a:avLst>
          </a:prstGeom>
          <a:solidFill>
            <a:schemeClr val="lt2"/>
          </a:solidFill>
          <a:ln cap="flat" cmpd="sng" w="9525">
            <a:solidFill>
              <a:srgbClr val="2365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57"/>
          <p:cNvSpPr/>
          <p:nvPr/>
        </p:nvSpPr>
        <p:spPr>
          <a:xfrm>
            <a:off x="2981125" y="1872050"/>
            <a:ext cx="3181800" cy="4071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434343"/>
                </a:solidFill>
                <a:latin typeface="Lato"/>
                <a:ea typeface="Lato"/>
                <a:cs typeface="Lato"/>
                <a:sym typeface="Lato"/>
              </a:rPr>
              <a:t>Why </a:t>
            </a:r>
            <a:r>
              <a:rPr lang="en" sz="1500">
                <a:solidFill>
                  <a:srgbClr val="23656F"/>
                </a:solidFill>
                <a:latin typeface="Lato Black"/>
                <a:ea typeface="Lato Black"/>
                <a:cs typeface="Lato Black"/>
                <a:sym typeface="Lato Black"/>
              </a:rPr>
              <a:t>DC - DC CONVERTER</a:t>
            </a:r>
            <a:r>
              <a:rPr b="1" lang="en" sz="1500">
                <a:solidFill>
                  <a:srgbClr val="23656F"/>
                </a:solidFill>
                <a:latin typeface="Lato"/>
                <a:ea typeface="Lato"/>
                <a:cs typeface="Lato"/>
                <a:sym typeface="Lato"/>
              </a:rPr>
              <a:t>?</a:t>
            </a:r>
            <a:endParaRPr b="1" sz="1500">
              <a:solidFill>
                <a:srgbClr val="23656F"/>
              </a:solidFill>
              <a:latin typeface="Lato"/>
              <a:ea typeface="Lato"/>
              <a:cs typeface="Lato"/>
              <a:sym typeface="Lat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863" name="Shape 863"/>
        <p:cNvGrpSpPr/>
        <p:nvPr/>
      </p:nvGrpSpPr>
      <p:grpSpPr>
        <a:xfrm>
          <a:off x="0" y="0"/>
          <a:ext cx="0" cy="0"/>
          <a:chOff x="0" y="0"/>
          <a:chExt cx="0" cy="0"/>
        </a:xfrm>
      </p:grpSpPr>
      <p:sp>
        <p:nvSpPr>
          <p:cNvPr id="864" name="Google Shape;864;p58"/>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200"/>
              <a:buFont typeface="Arial"/>
              <a:buNone/>
            </a:pPr>
            <a:r>
              <a:rPr lang="en" sz="2400">
                <a:solidFill>
                  <a:srgbClr val="48BACA"/>
                </a:solidFill>
                <a:latin typeface="Lato Black"/>
                <a:ea typeface="Lato Black"/>
                <a:cs typeface="Lato Black"/>
                <a:sym typeface="Lato Black"/>
              </a:rPr>
              <a:t>E/E </a:t>
            </a:r>
            <a:r>
              <a:rPr lang="en" sz="2400">
                <a:solidFill>
                  <a:srgbClr val="F3F3F3"/>
                </a:solidFill>
                <a:latin typeface="Lato"/>
                <a:ea typeface="Lato"/>
                <a:cs typeface="Lato"/>
                <a:sym typeface="Lato"/>
              </a:rPr>
              <a:t>Architecture</a:t>
            </a:r>
            <a:r>
              <a:rPr lang="en" sz="2400">
                <a:solidFill>
                  <a:srgbClr val="48BACA"/>
                </a:solidFill>
                <a:latin typeface="Lato Black"/>
                <a:ea typeface="Lato Black"/>
                <a:cs typeface="Lato Black"/>
                <a:sym typeface="Lato Black"/>
              </a:rPr>
              <a:t> </a:t>
            </a:r>
            <a:endParaRPr i="0" sz="2400" u="none" cap="none" strike="noStrike">
              <a:solidFill>
                <a:srgbClr val="48BACA"/>
              </a:solidFill>
              <a:latin typeface="Lato Black"/>
              <a:ea typeface="Lato Black"/>
              <a:cs typeface="Lato Black"/>
              <a:sym typeface="Lato Black"/>
            </a:endParaRPr>
          </a:p>
        </p:txBody>
      </p:sp>
      <p:pic>
        <p:nvPicPr>
          <p:cNvPr id="865" name="Google Shape;865;p58"/>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866" name="Google Shape;866;p58"/>
          <p:cNvPicPr preferRelativeResize="0"/>
          <p:nvPr/>
        </p:nvPicPr>
        <p:blipFill>
          <a:blip r:embed="rId4">
            <a:alphaModFix amt="14000"/>
          </a:blip>
          <a:stretch>
            <a:fillRect/>
          </a:stretch>
        </p:blipFill>
        <p:spPr>
          <a:xfrm rot="9900000">
            <a:off x="5128900" y="2442475"/>
            <a:ext cx="4289526" cy="2716700"/>
          </a:xfrm>
          <a:prstGeom prst="rect">
            <a:avLst/>
          </a:prstGeom>
          <a:noFill/>
          <a:ln>
            <a:noFill/>
          </a:ln>
        </p:spPr>
      </p:pic>
      <p:sp>
        <p:nvSpPr>
          <p:cNvPr id="867" name="Google Shape;867;p58"/>
          <p:cNvSpPr txBox="1"/>
          <p:nvPr/>
        </p:nvSpPr>
        <p:spPr>
          <a:xfrm>
            <a:off x="0" y="941225"/>
            <a:ext cx="4111500" cy="407100"/>
          </a:xfrm>
          <a:prstGeom prst="rect">
            <a:avLst/>
          </a:prstGeom>
          <a:solidFill>
            <a:srgbClr val="23656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1700">
                <a:solidFill>
                  <a:srgbClr val="EFEFEF"/>
                </a:solidFill>
                <a:latin typeface="Open Sans ExtraBold"/>
                <a:ea typeface="Open Sans ExtraBold"/>
                <a:cs typeface="Open Sans ExtraBold"/>
                <a:sym typeface="Open Sans ExtraBold"/>
              </a:rPr>
              <a:t>POWER DISTRIBUTION UNIT</a:t>
            </a:r>
            <a:endParaRPr sz="1700">
              <a:solidFill>
                <a:srgbClr val="EFEFEF"/>
              </a:solidFill>
              <a:latin typeface="Open Sans ExtraBold"/>
              <a:ea typeface="Open Sans ExtraBold"/>
              <a:cs typeface="Open Sans ExtraBold"/>
              <a:sym typeface="Open Sans ExtraBold"/>
            </a:endParaRPr>
          </a:p>
        </p:txBody>
      </p:sp>
      <p:sp>
        <p:nvSpPr>
          <p:cNvPr id="868" name="Google Shape;868;p58"/>
          <p:cNvSpPr/>
          <p:nvPr/>
        </p:nvSpPr>
        <p:spPr>
          <a:xfrm>
            <a:off x="3834275" y="941225"/>
            <a:ext cx="399000" cy="4071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869" name="Google Shape;869;p58"/>
          <p:cNvPicPr preferRelativeResize="0"/>
          <p:nvPr/>
        </p:nvPicPr>
        <p:blipFill rotWithShape="1">
          <a:blip r:embed="rId5">
            <a:alphaModFix/>
          </a:blip>
          <a:srcRect b="11281" l="20956" r="20375" t="10435"/>
          <a:stretch/>
        </p:blipFill>
        <p:spPr>
          <a:xfrm>
            <a:off x="3815225" y="985441"/>
            <a:ext cx="360900" cy="318660"/>
          </a:xfrm>
          <a:prstGeom prst="rect">
            <a:avLst/>
          </a:prstGeom>
          <a:noFill/>
          <a:ln>
            <a:noFill/>
          </a:ln>
        </p:spPr>
      </p:pic>
      <p:sp>
        <p:nvSpPr>
          <p:cNvPr id="870" name="Google Shape;870;p58"/>
          <p:cNvSpPr txBox="1"/>
          <p:nvPr/>
        </p:nvSpPr>
        <p:spPr>
          <a:xfrm>
            <a:off x="0" y="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Infotainment</a:t>
            </a:r>
            <a:endParaRPr/>
          </a:p>
          <a:p>
            <a:pPr indent="0" lvl="0" marL="0" rtl="0" algn="l">
              <a:spcBef>
                <a:spcPts val="0"/>
              </a:spcBef>
              <a:spcAft>
                <a:spcPts val="0"/>
              </a:spcAft>
              <a:buNone/>
            </a:pPr>
            <a:r>
              <a:t/>
            </a:r>
            <a:endParaRPr/>
          </a:p>
        </p:txBody>
      </p:sp>
      <p:sp>
        <p:nvSpPr>
          <p:cNvPr id="871" name="Google Shape;871;p58"/>
          <p:cNvSpPr/>
          <p:nvPr/>
        </p:nvSpPr>
        <p:spPr>
          <a:xfrm>
            <a:off x="1697850" y="2316150"/>
            <a:ext cx="1129800" cy="240600"/>
          </a:xfrm>
          <a:prstGeom prst="rect">
            <a:avLst/>
          </a:prstGeom>
          <a:solidFill>
            <a:srgbClr val="2F8A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000">
              <a:solidFill>
                <a:srgbClr val="FFFFFF"/>
              </a:solidFill>
              <a:latin typeface="Lato"/>
              <a:ea typeface="Lato"/>
              <a:cs typeface="Lato"/>
              <a:sym typeface="Lato"/>
            </a:endParaRPr>
          </a:p>
          <a:p>
            <a:pPr indent="0" lvl="0" marL="0" rtl="0" algn="ctr">
              <a:spcBef>
                <a:spcPts val="0"/>
              </a:spcBef>
              <a:spcAft>
                <a:spcPts val="0"/>
              </a:spcAft>
              <a:buNone/>
            </a:pPr>
            <a:r>
              <a:rPr b="1" lang="en" sz="1000">
                <a:solidFill>
                  <a:srgbClr val="FFFFFF"/>
                </a:solidFill>
                <a:latin typeface="Lato"/>
                <a:ea typeface="Lato"/>
                <a:cs typeface="Lato"/>
                <a:sym typeface="Lato"/>
              </a:rPr>
              <a:t>HVAC System </a:t>
            </a:r>
            <a:endParaRPr b="1" sz="1000">
              <a:solidFill>
                <a:srgbClr val="FFFFFF"/>
              </a:solidFill>
              <a:latin typeface="Lato"/>
              <a:ea typeface="Lato"/>
              <a:cs typeface="Lato"/>
              <a:sym typeface="Lato"/>
            </a:endParaRPr>
          </a:p>
          <a:p>
            <a:pPr indent="0" lvl="0" marL="0" rtl="0" algn="l">
              <a:spcBef>
                <a:spcPts val="0"/>
              </a:spcBef>
              <a:spcAft>
                <a:spcPts val="0"/>
              </a:spcAft>
              <a:buNone/>
            </a:pPr>
            <a:r>
              <a:t/>
            </a:r>
            <a:endParaRPr b="1" sz="1000">
              <a:solidFill>
                <a:srgbClr val="FFFFFF"/>
              </a:solidFill>
              <a:latin typeface="Lato"/>
              <a:ea typeface="Lato"/>
              <a:cs typeface="Lato"/>
              <a:sym typeface="Lato"/>
            </a:endParaRPr>
          </a:p>
        </p:txBody>
      </p:sp>
      <p:pic>
        <p:nvPicPr>
          <p:cNvPr id="872" name="Google Shape;872;p58"/>
          <p:cNvPicPr preferRelativeResize="0"/>
          <p:nvPr/>
        </p:nvPicPr>
        <p:blipFill>
          <a:blip r:embed="rId6">
            <a:alphaModFix/>
          </a:blip>
          <a:stretch>
            <a:fillRect/>
          </a:stretch>
        </p:blipFill>
        <p:spPr>
          <a:xfrm>
            <a:off x="642575" y="2697193"/>
            <a:ext cx="1129800" cy="753600"/>
          </a:xfrm>
          <a:prstGeom prst="bevel">
            <a:avLst>
              <a:gd fmla="val 12500" name="adj"/>
            </a:avLst>
          </a:prstGeom>
          <a:noFill/>
          <a:ln cap="flat" cmpd="sng" w="9525">
            <a:solidFill>
              <a:srgbClr val="999999"/>
            </a:solidFill>
            <a:prstDash val="solid"/>
            <a:round/>
            <a:headEnd len="sm" w="sm" type="none"/>
            <a:tailEnd len="sm" w="sm" type="none"/>
          </a:ln>
        </p:spPr>
      </p:pic>
      <p:pic>
        <p:nvPicPr>
          <p:cNvPr id="873" name="Google Shape;873;p58"/>
          <p:cNvPicPr preferRelativeResize="0"/>
          <p:nvPr/>
        </p:nvPicPr>
        <p:blipFill>
          <a:blip r:embed="rId7">
            <a:alphaModFix/>
          </a:blip>
          <a:stretch>
            <a:fillRect/>
          </a:stretch>
        </p:blipFill>
        <p:spPr>
          <a:xfrm>
            <a:off x="2178675" y="3814175"/>
            <a:ext cx="1089600" cy="942600"/>
          </a:xfrm>
          <a:prstGeom prst="bevel">
            <a:avLst>
              <a:gd fmla="val 12500" name="adj"/>
            </a:avLst>
          </a:prstGeom>
          <a:noFill/>
          <a:ln cap="flat" cmpd="sng" w="9525">
            <a:solidFill>
              <a:srgbClr val="B7B7B7"/>
            </a:solidFill>
            <a:prstDash val="solid"/>
            <a:round/>
            <a:headEnd len="sm" w="sm" type="none"/>
            <a:tailEnd len="sm" w="sm" type="none"/>
          </a:ln>
        </p:spPr>
      </p:pic>
      <p:pic>
        <p:nvPicPr>
          <p:cNvPr id="874" name="Google Shape;874;p58"/>
          <p:cNvPicPr preferRelativeResize="0"/>
          <p:nvPr/>
        </p:nvPicPr>
        <p:blipFill rotWithShape="1">
          <a:blip r:embed="rId8">
            <a:alphaModFix/>
          </a:blip>
          <a:srcRect b="25366" l="12335" r="9789" t="22104"/>
          <a:stretch/>
        </p:blipFill>
        <p:spPr>
          <a:xfrm>
            <a:off x="5814850" y="1444950"/>
            <a:ext cx="1185600" cy="810000"/>
          </a:xfrm>
          <a:prstGeom prst="bevel">
            <a:avLst>
              <a:gd fmla="val 12500" name="adj"/>
            </a:avLst>
          </a:prstGeom>
          <a:noFill/>
          <a:ln cap="flat" cmpd="sng" w="9525">
            <a:solidFill>
              <a:srgbClr val="B7B7B7"/>
            </a:solidFill>
            <a:prstDash val="solid"/>
            <a:round/>
            <a:headEnd len="sm" w="sm" type="none"/>
            <a:tailEnd len="sm" w="sm" type="none"/>
          </a:ln>
        </p:spPr>
      </p:pic>
      <p:pic>
        <p:nvPicPr>
          <p:cNvPr id="875" name="Google Shape;875;p58"/>
          <p:cNvPicPr preferRelativeResize="0"/>
          <p:nvPr/>
        </p:nvPicPr>
        <p:blipFill rotWithShape="1">
          <a:blip r:embed="rId9">
            <a:alphaModFix/>
          </a:blip>
          <a:srcRect b="3736" l="7483" r="7483" t="15397"/>
          <a:stretch/>
        </p:blipFill>
        <p:spPr>
          <a:xfrm>
            <a:off x="5402525" y="3953575"/>
            <a:ext cx="1610100" cy="780600"/>
          </a:xfrm>
          <a:prstGeom prst="bevel">
            <a:avLst>
              <a:gd fmla="val 12500" name="adj"/>
            </a:avLst>
          </a:prstGeom>
          <a:noFill/>
          <a:ln cap="flat" cmpd="sng" w="9525">
            <a:solidFill>
              <a:srgbClr val="999999"/>
            </a:solidFill>
            <a:prstDash val="solid"/>
            <a:round/>
            <a:headEnd len="sm" w="sm" type="none"/>
            <a:tailEnd len="sm" w="sm" type="none"/>
          </a:ln>
        </p:spPr>
      </p:pic>
      <p:pic>
        <p:nvPicPr>
          <p:cNvPr id="876" name="Google Shape;876;p58"/>
          <p:cNvPicPr preferRelativeResize="0"/>
          <p:nvPr/>
        </p:nvPicPr>
        <p:blipFill>
          <a:blip r:embed="rId10">
            <a:alphaModFix/>
          </a:blip>
          <a:stretch>
            <a:fillRect/>
          </a:stretch>
        </p:blipFill>
        <p:spPr>
          <a:xfrm>
            <a:off x="1717875" y="1472210"/>
            <a:ext cx="1089600" cy="857100"/>
          </a:xfrm>
          <a:prstGeom prst="bevel">
            <a:avLst>
              <a:gd fmla="val 12500" name="adj"/>
            </a:avLst>
          </a:prstGeom>
          <a:noFill/>
          <a:ln>
            <a:noFill/>
          </a:ln>
          <a:effectLst>
            <a:outerShdw blurRad="57150" rotWithShape="0" algn="bl" dir="5400000" dist="19050">
              <a:srgbClr val="000000">
                <a:alpha val="50000"/>
              </a:srgbClr>
            </a:outerShdw>
          </a:effectLst>
        </p:spPr>
      </p:pic>
      <p:sp>
        <p:nvSpPr>
          <p:cNvPr id="877" name="Google Shape;877;p58"/>
          <p:cNvSpPr/>
          <p:nvPr/>
        </p:nvSpPr>
        <p:spPr>
          <a:xfrm>
            <a:off x="2277975" y="4731800"/>
            <a:ext cx="891000" cy="240600"/>
          </a:xfrm>
          <a:prstGeom prst="rect">
            <a:avLst/>
          </a:prstGeom>
          <a:solidFill>
            <a:srgbClr val="2F8A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000">
              <a:solidFill>
                <a:srgbClr val="FFFFFF"/>
              </a:solidFill>
              <a:latin typeface="Lato"/>
              <a:ea typeface="Lato"/>
              <a:cs typeface="Lato"/>
              <a:sym typeface="Lato"/>
            </a:endParaRPr>
          </a:p>
          <a:p>
            <a:pPr indent="0" lvl="0" marL="0" rtl="0" algn="ctr">
              <a:spcBef>
                <a:spcPts val="0"/>
              </a:spcBef>
              <a:spcAft>
                <a:spcPts val="0"/>
              </a:spcAft>
              <a:buNone/>
            </a:pPr>
            <a:r>
              <a:rPr b="1" lang="en" sz="1000">
                <a:solidFill>
                  <a:srgbClr val="FFFFFF"/>
                </a:solidFill>
                <a:latin typeface="Lato"/>
                <a:ea typeface="Lato"/>
                <a:cs typeface="Lato"/>
                <a:sym typeface="Lato"/>
              </a:rPr>
              <a:t>Pump </a:t>
            </a:r>
            <a:r>
              <a:rPr b="1" lang="en" sz="1000">
                <a:solidFill>
                  <a:srgbClr val="FFFFFF"/>
                </a:solidFill>
                <a:latin typeface="Lato"/>
                <a:ea typeface="Lato"/>
                <a:cs typeface="Lato"/>
                <a:sym typeface="Lato"/>
              </a:rPr>
              <a:t> </a:t>
            </a:r>
            <a:endParaRPr b="1" sz="1000">
              <a:solidFill>
                <a:srgbClr val="FFFFFF"/>
              </a:solidFill>
              <a:latin typeface="Lato"/>
              <a:ea typeface="Lato"/>
              <a:cs typeface="Lato"/>
              <a:sym typeface="Lato"/>
            </a:endParaRPr>
          </a:p>
          <a:p>
            <a:pPr indent="0" lvl="0" marL="0" rtl="0" algn="l">
              <a:spcBef>
                <a:spcPts val="0"/>
              </a:spcBef>
              <a:spcAft>
                <a:spcPts val="0"/>
              </a:spcAft>
              <a:buNone/>
            </a:pPr>
            <a:r>
              <a:t/>
            </a:r>
            <a:endParaRPr b="1" sz="1000">
              <a:solidFill>
                <a:srgbClr val="FFFFFF"/>
              </a:solidFill>
              <a:latin typeface="Lato"/>
              <a:ea typeface="Lato"/>
              <a:cs typeface="Lato"/>
              <a:sym typeface="Lato"/>
            </a:endParaRPr>
          </a:p>
        </p:txBody>
      </p:sp>
      <p:sp>
        <p:nvSpPr>
          <p:cNvPr id="878" name="Google Shape;878;p58"/>
          <p:cNvSpPr/>
          <p:nvPr/>
        </p:nvSpPr>
        <p:spPr>
          <a:xfrm>
            <a:off x="5429500" y="2254950"/>
            <a:ext cx="1956300" cy="240600"/>
          </a:xfrm>
          <a:prstGeom prst="rect">
            <a:avLst/>
          </a:prstGeom>
          <a:solidFill>
            <a:srgbClr val="2F8A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000">
              <a:solidFill>
                <a:srgbClr val="FFFFFF"/>
              </a:solidFill>
              <a:latin typeface="Lato"/>
              <a:ea typeface="Lato"/>
              <a:cs typeface="Lato"/>
              <a:sym typeface="Lato"/>
            </a:endParaRPr>
          </a:p>
          <a:p>
            <a:pPr indent="0" lvl="0" marL="0" rtl="0" algn="ctr">
              <a:spcBef>
                <a:spcPts val="0"/>
              </a:spcBef>
              <a:spcAft>
                <a:spcPts val="0"/>
              </a:spcAft>
              <a:buNone/>
            </a:pPr>
            <a:r>
              <a:rPr b="1" lang="en" sz="1000">
                <a:solidFill>
                  <a:srgbClr val="FFFFFF"/>
                </a:solidFill>
                <a:latin typeface="Lato"/>
                <a:ea typeface="Lato"/>
                <a:cs typeface="Lato"/>
                <a:sym typeface="Lato"/>
              </a:rPr>
              <a:t>Lighting &amp; Other Systems</a:t>
            </a:r>
            <a:r>
              <a:rPr b="1" lang="en" sz="1000">
                <a:solidFill>
                  <a:srgbClr val="FFFFFF"/>
                </a:solidFill>
                <a:latin typeface="Lato"/>
                <a:ea typeface="Lato"/>
                <a:cs typeface="Lato"/>
                <a:sym typeface="Lato"/>
              </a:rPr>
              <a:t> </a:t>
            </a:r>
            <a:endParaRPr b="1" sz="1000">
              <a:solidFill>
                <a:srgbClr val="FFFFFF"/>
              </a:solidFill>
              <a:latin typeface="Lato"/>
              <a:ea typeface="Lato"/>
              <a:cs typeface="Lato"/>
              <a:sym typeface="Lato"/>
            </a:endParaRPr>
          </a:p>
          <a:p>
            <a:pPr indent="0" lvl="0" marL="0" rtl="0" algn="l">
              <a:spcBef>
                <a:spcPts val="0"/>
              </a:spcBef>
              <a:spcAft>
                <a:spcPts val="0"/>
              </a:spcAft>
              <a:buNone/>
            </a:pPr>
            <a:r>
              <a:t/>
            </a:r>
            <a:endParaRPr b="1" sz="1000">
              <a:solidFill>
                <a:srgbClr val="FFFFFF"/>
              </a:solidFill>
              <a:latin typeface="Lato"/>
              <a:ea typeface="Lato"/>
              <a:cs typeface="Lato"/>
              <a:sym typeface="Lato"/>
            </a:endParaRPr>
          </a:p>
        </p:txBody>
      </p:sp>
      <p:sp>
        <p:nvSpPr>
          <p:cNvPr id="879" name="Google Shape;879;p58"/>
          <p:cNvSpPr/>
          <p:nvPr/>
        </p:nvSpPr>
        <p:spPr>
          <a:xfrm>
            <a:off x="6528050" y="3552100"/>
            <a:ext cx="2385600" cy="240600"/>
          </a:xfrm>
          <a:prstGeom prst="rect">
            <a:avLst/>
          </a:prstGeom>
          <a:solidFill>
            <a:srgbClr val="2F8A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000">
              <a:solidFill>
                <a:srgbClr val="FFFFFF"/>
              </a:solidFill>
              <a:latin typeface="Lato"/>
              <a:ea typeface="Lato"/>
              <a:cs typeface="Lato"/>
              <a:sym typeface="Lato"/>
            </a:endParaRPr>
          </a:p>
          <a:p>
            <a:pPr indent="0" lvl="0" marL="0" rtl="0" algn="ctr">
              <a:spcBef>
                <a:spcPts val="0"/>
              </a:spcBef>
              <a:spcAft>
                <a:spcPts val="0"/>
              </a:spcAft>
              <a:buNone/>
            </a:pPr>
            <a:r>
              <a:rPr b="1" lang="en" sz="1000">
                <a:solidFill>
                  <a:srgbClr val="FFFFFF"/>
                </a:solidFill>
                <a:latin typeface="Lato"/>
                <a:ea typeface="Lato"/>
                <a:cs typeface="Lato"/>
                <a:sym typeface="Lato"/>
              </a:rPr>
              <a:t>Battery Thermal Management</a:t>
            </a:r>
            <a:endParaRPr b="1" sz="1000">
              <a:solidFill>
                <a:srgbClr val="FFFFFF"/>
              </a:solidFill>
              <a:latin typeface="Lato"/>
              <a:ea typeface="Lato"/>
              <a:cs typeface="Lato"/>
              <a:sym typeface="Lato"/>
            </a:endParaRPr>
          </a:p>
          <a:p>
            <a:pPr indent="0" lvl="0" marL="0" rtl="0" algn="l">
              <a:spcBef>
                <a:spcPts val="0"/>
              </a:spcBef>
              <a:spcAft>
                <a:spcPts val="0"/>
              </a:spcAft>
              <a:buNone/>
            </a:pPr>
            <a:r>
              <a:t/>
            </a:r>
            <a:endParaRPr b="1" sz="1000">
              <a:solidFill>
                <a:srgbClr val="FFFFFF"/>
              </a:solidFill>
              <a:latin typeface="Lato"/>
              <a:ea typeface="Lato"/>
              <a:cs typeface="Lato"/>
              <a:sym typeface="Lato"/>
            </a:endParaRPr>
          </a:p>
        </p:txBody>
      </p:sp>
      <p:sp>
        <p:nvSpPr>
          <p:cNvPr id="880" name="Google Shape;880;p58"/>
          <p:cNvSpPr/>
          <p:nvPr/>
        </p:nvSpPr>
        <p:spPr>
          <a:xfrm>
            <a:off x="5402726" y="4734416"/>
            <a:ext cx="1610100" cy="237900"/>
          </a:xfrm>
          <a:prstGeom prst="rect">
            <a:avLst/>
          </a:prstGeom>
          <a:solidFill>
            <a:srgbClr val="2F8A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000">
              <a:solidFill>
                <a:srgbClr val="FFFFFF"/>
              </a:solidFill>
              <a:latin typeface="Lato"/>
              <a:ea typeface="Lato"/>
              <a:cs typeface="Lato"/>
              <a:sym typeface="Lato"/>
            </a:endParaRPr>
          </a:p>
          <a:p>
            <a:pPr indent="0" lvl="0" marL="0" rtl="0" algn="ctr">
              <a:spcBef>
                <a:spcPts val="0"/>
              </a:spcBef>
              <a:spcAft>
                <a:spcPts val="0"/>
              </a:spcAft>
              <a:buNone/>
            </a:pPr>
            <a:r>
              <a:rPr b="1" lang="en" sz="1000">
                <a:solidFill>
                  <a:srgbClr val="FFFFFF"/>
                </a:solidFill>
                <a:latin typeface="Lato"/>
                <a:ea typeface="Lato"/>
                <a:cs typeface="Lato"/>
                <a:sym typeface="Lato"/>
              </a:rPr>
              <a:t>Vehicle Control Unit</a:t>
            </a:r>
            <a:r>
              <a:rPr b="1" lang="en" sz="1000">
                <a:solidFill>
                  <a:srgbClr val="FFFFFF"/>
                </a:solidFill>
                <a:latin typeface="Lato"/>
                <a:ea typeface="Lato"/>
                <a:cs typeface="Lato"/>
                <a:sym typeface="Lato"/>
              </a:rPr>
              <a:t> </a:t>
            </a:r>
            <a:endParaRPr b="1" sz="1000">
              <a:solidFill>
                <a:srgbClr val="FFFFFF"/>
              </a:solidFill>
              <a:latin typeface="Lato"/>
              <a:ea typeface="Lato"/>
              <a:cs typeface="Lato"/>
              <a:sym typeface="Lato"/>
            </a:endParaRPr>
          </a:p>
          <a:p>
            <a:pPr indent="0" lvl="0" marL="0" rtl="0" algn="l">
              <a:spcBef>
                <a:spcPts val="0"/>
              </a:spcBef>
              <a:spcAft>
                <a:spcPts val="0"/>
              </a:spcAft>
              <a:buNone/>
            </a:pPr>
            <a:r>
              <a:t/>
            </a:r>
            <a:endParaRPr b="1" sz="1000">
              <a:solidFill>
                <a:srgbClr val="FFFFFF"/>
              </a:solidFill>
              <a:latin typeface="Lato"/>
              <a:ea typeface="Lato"/>
              <a:cs typeface="Lato"/>
              <a:sym typeface="Lato"/>
            </a:endParaRPr>
          </a:p>
        </p:txBody>
      </p:sp>
      <p:sp>
        <p:nvSpPr>
          <p:cNvPr id="881" name="Google Shape;881;p58"/>
          <p:cNvSpPr/>
          <p:nvPr/>
        </p:nvSpPr>
        <p:spPr>
          <a:xfrm>
            <a:off x="642575" y="3450774"/>
            <a:ext cx="1129800" cy="229200"/>
          </a:xfrm>
          <a:prstGeom prst="rect">
            <a:avLst/>
          </a:prstGeom>
          <a:solidFill>
            <a:srgbClr val="2F8A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000">
              <a:solidFill>
                <a:srgbClr val="FFFFFF"/>
              </a:solidFill>
              <a:latin typeface="Lato"/>
              <a:ea typeface="Lato"/>
              <a:cs typeface="Lato"/>
              <a:sym typeface="Lato"/>
            </a:endParaRPr>
          </a:p>
          <a:p>
            <a:pPr indent="0" lvl="0" marL="0" rtl="0" algn="ctr">
              <a:spcBef>
                <a:spcPts val="0"/>
              </a:spcBef>
              <a:spcAft>
                <a:spcPts val="0"/>
              </a:spcAft>
              <a:buNone/>
            </a:pPr>
            <a:r>
              <a:rPr b="1" lang="en" sz="1000">
                <a:solidFill>
                  <a:srgbClr val="FFFFFF"/>
                </a:solidFill>
                <a:latin typeface="Lato"/>
                <a:ea typeface="Lato"/>
                <a:cs typeface="Lato"/>
                <a:sym typeface="Lato"/>
              </a:rPr>
              <a:t>Infotainment</a:t>
            </a:r>
            <a:r>
              <a:rPr b="1" lang="en" sz="1000">
                <a:solidFill>
                  <a:srgbClr val="FFFFFF"/>
                </a:solidFill>
                <a:latin typeface="Lato"/>
                <a:ea typeface="Lato"/>
                <a:cs typeface="Lato"/>
                <a:sym typeface="Lato"/>
              </a:rPr>
              <a:t> </a:t>
            </a:r>
            <a:endParaRPr b="1" sz="1000">
              <a:solidFill>
                <a:srgbClr val="FFFFFF"/>
              </a:solidFill>
              <a:latin typeface="Lato"/>
              <a:ea typeface="Lato"/>
              <a:cs typeface="Lato"/>
              <a:sym typeface="Lato"/>
            </a:endParaRPr>
          </a:p>
          <a:p>
            <a:pPr indent="0" lvl="0" marL="0" rtl="0" algn="l">
              <a:spcBef>
                <a:spcPts val="0"/>
              </a:spcBef>
              <a:spcAft>
                <a:spcPts val="0"/>
              </a:spcAft>
              <a:buNone/>
            </a:pPr>
            <a:r>
              <a:t/>
            </a:r>
            <a:endParaRPr b="1" sz="1000">
              <a:solidFill>
                <a:srgbClr val="FFFFFF"/>
              </a:solidFill>
              <a:latin typeface="Lato"/>
              <a:ea typeface="Lato"/>
              <a:cs typeface="Lato"/>
              <a:sym typeface="Lato"/>
            </a:endParaRPr>
          </a:p>
        </p:txBody>
      </p:sp>
      <p:pic>
        <p:nvPicPr>
          <p:cNvPr id="882" name="Google Shape;882;p58"/>
          <p:cNvPicPr preferRelativeResize="0"/>
          <p:nvPr/>
        </p:nvPicPr>
        <p:blipFill>
          <a:blip r:embed="rId11">
            <a:alphaModFix/>
          </a:blip>
          <a:stretch>
            <a:fillRect/>
          </a:stretch>
        </p:blipFill>
        <p:spPr>
          <a:xfrm>
            <a:off x="3967575" y="2439700"/>
            <a:ext cx="1185600" cy="1041000"/>
          </a:xfrm>
          <a:prstGeom prst="octagon">
            <a:avLst>
              <a:gd fmla="val 28684" name="adj"/>
            </a:avLst>
          </a:prstGeom>
          <a:noFill/>
          <a:ln cap="flat" cmpd="sng" w="19050">
            <a:solidFill>
              <a:srgbClr val="999999"/>
            </a:solidFill>
            <a:prstDash val="solid"/>
            <a:round/>
            <a:headEnd len="sm" w="sm" type="none"/>
            <a:tailEnd len="sm" w="sm" type="none"/>
          </a:ln>
        </p:spPr>
      </p:pic>
      <p:cxnSp>
        <p:nvCxnSpPr>
          <p:cNvPr id="883" name="Google Shape;883;p58"/>
          <p:cNvCxnSpPr>
            <a:stCxn id="882" idx="7"/>
            <a:endCxn id="874" idx="4"/>
          </p:cNvCxnSpPr>
          <p:nvPr/>
        </p:nvCxnSpPr>
        <p:spPr>
          <a:xfrm flipH="1" rot="10800000">
            <a:off x="4854575" y="1849900"/>
            <a:ext cx="960300" cy="589800"/>
          </a:xfrm>
          <a:prstGeom prst="straightConnector1">
            <a:avLst/>
          </a:prstGeom>
          <a:noFill/>
          <a:ln cap="flat" cmpd="sng" w="19050">
            <a:solidFill>
              <a:srgbClr val="23656F"/>
            </a:solidFill>
            <a:prstDash val="solid"/>
            <a:round/>
            <a:headEnd len="med" w="med" type="none"/>
            <a:tailEnd len="med" w="med" type="triangle"/>
          </a:ln>
        </p:spPr>
      </p:cxnSp>
      <p:cxnSp>
        <p:nvCxnSpPr>
          <p:cNvPr id="884" name="Google Shape;884;p58"/>
          <p:cNvCxnSpPr>
            <a:stCxn id="882" idx="1"/>
            <a:endCxn id="875" idx="6"/>
          </p:cNvCxnSpPr>
          <p:nvPr/>
        </p:nvCxnSpPr>
        <p:spPr>
          <a:xfrm>
            <a:off x="5153175" y="3182100"/>
            <a:ext cx="1054500" cy="771600"/>
          </a:xfrm>
          <a:prstGeom prst="straightConnector1">
            <a:avLst/>
          </a:prstGeom>
          <a:noFill/>
          <a:ln cap="flat" cmpd="sng" w="19050">
            <a:solidFill>
              <a:srgbClr val="23656F"/>
            </a:solidFill>
            <a:prstDash val="solid"/>
            <a:round/>
            <a:headEnd len="med" w="med" type="none"/>
            <a:tailEnd len="med" w="med" type="triangle"/>
          </a:ln>
        </p:spPr>
      </p:cxnSp>
      <p:cxnSp>
        <p:nvCxnSpPr>
          <p:cNvPr id="885" name="Google Shape;885;p58"/>
          <p:cNvCxnSpPr>
            <a:stCxn id="882" idx="0"/>
            <a:endCxn id="886" idx="4"/>
          </p:cNvCxnSpPr>
          <p:nvPr/>
        </p:nvCxnSpPr>
        <p:spPr>
          <a:xfrm>
            <a:off x="5153175" y="2738300"/>
            <a:ext cx="1908900" cy="279300"/>
          </a:xfrm>
          <a:prstGeom prst="straightConnector1">
            <a:avLst/>
          </a:prstGeom>
          <a:noFill/>
          <a:ln cap="flat" cmpd="sng" w="19050">
            <a:solidFill>
              <a:srgbClr val="23656F"/>
            </a:solidFill>
            <a:prstDash val="solid"/>
            <a:round/>
            <a:headEnd len="med" w="med" type="none"/>
            <a:tailEnd len="med" w="med" type="triangle"/>
          </a:ln>
        </p:spPr>
      </p:cxnSp>
      <p:cxnSp>
        <p:nvCxnSpPr>
          <p:cNvPr id="887" name="Google Shape;887;p58"/>
          <p:cNvCxnSpPr>
            <a:stCxn id="882" idx="6"/>
            <a:endCxn id="876" idx="0"/>
          </p:cNvCxnSpPr>
          <p:nvPr/>
        </p:nvCxnSpPr>
        <p:spPr>
          <a:xfrm rot="10800000">
            <a:off x="2807575" y="1900900"/>
            <a:ext cx="1458600" cy="538800"/>
          </a:xfrm>
          <a:prstGeom prst="straightConnector1">
            <a:avLst/>
          </a:prstGeom>
          <a:noFill/>
          <a:ln cap="flat" cmpd="sng" w="19050">
            <a:solidFill>
              <a:srgbClr val="23656F"/>
            </a:solidFill>
            <a:prstDash val="solid"/>
            <a:round/>
            <a:headEnd len="med" w="med" type="none"/>
            <a:tailEnd len="med" w="med" type="triangle"/>
          </a:ln>
        </p:spPr>
      </p:cxnSp>
      <p:cxnSp>
        <p:nvCxnSpPr>
          <p:cNvPr id="888" name="Google Shape;888;p58"/>
          <p:cNvCxnSpPr>
            <a:stCxn id="882" idx="5"/>
            <a:endCxn id="872" idx="0"/>
          </p:cNvCxnSpPr>
          <p:nvPr/>
        </p:nvCxnSpPr>
        <p:spPr>
          <a:xfrm flipH="1">
            <a:off x="1772475" y="2738300"/>
            <a:ext cx="2195100" cy="335700"/>
          </a:xfrm>
          <a:prstGeom prst="straightConnector1">
            <a:avLst/>
          </a:prstGeom>
          <a:noFill/>
          <a:ln cap="flat" cmpd="sng" w="19050">
            <a:solidFill>
              <a:srgbClr val="23656F"/>
            </a:solidFill>
            <a:prstDash val="solid"/>
            <a:round/>
            <a:headEnd len="med" w="med" type="none"/>
            <a:tailEnd len="med" w="med" type="triangle"/>
          </a:ln>
        </p:spPr>
      </p:cxnSp>
      <p:cxnSp>
        <p:nvCxnSpPr>
          <p:cNvPr id="889" name="Google Shape;889;p58"/>
          <p:cNvCxnSpPr>
            <a:stCxn id="882" idx="4"/>
            <a:endCxn id="873" idx="6"/>
          </p:cNvCxnSpPr>
          <p:nvPr/>
        </p:nvCxnSpPr>
        <p:spPr>
          <a:xfrm flipH="1">
            <a:off x="2723475" y="3182100"/>
            <a:ext cx="1244100" cy="632100"/>
          </a:xfrm>
          <a:prstGeom prst="straightConnector1">
            <a:avLst/>
          </a:prstGeom>
          <a:noFill/>
          <a:ln cap="flat" cmpd="sng" w="19050">
            <a:solidFill>
              <a:srgbClr val="23656F"/>
            </a:solidFill>
            <a:prstDash val="solid"/>
            <a:round/>
            <a:headEnd len="med" w="med" type="none"/>
            <a:tailEnd len="med" w="med" type="triangle"/>
          </a:ln>
        </p:spPr>
      </p:cxnSp>
      <p:pic>
        <p:nvPicPr>
          <p:cNvPr id="890" name="Google Shape;890;p58"/>
          <p:cNvPicPr preferRelativeResize="0"/>
          <p:nvPr/>
        </p:nvPicPr>
        <p:blipFill rotWithShape="1">
          <a:blip r:embed="rId12">
            <a:alphaModFix/>
          </a:blip>
          <a:srcRect b="100" l="0" r="0" t="100"/>
          <a:stretch/>
        </p:blipFill>
        <p:spPr>
          <a:xfrm>
            <a:off x="7062075" y="2593850"/>
            <a:ext cx="960300" cy="960300"/>
          </a:xfrm>
          <a:prstGeom prst="bevel">
            <a:avLst>
              <a:gd fmla="val 12500" name="adj"/>
            </a:avLst>
          </a:prstGeom>
          <a:noFill/>
          <a:ln cap="flat" cmpd="sng" w="9525">
            <a:solidFill>
              <a:srgbClr val="999999"/>
            </a:solidFill>
            <a:prstDash val="solid"/>
            <a:round/>
            <a:headEnd len="sm" w="sm" type="none"/>
            <a:tailEnd len="sm" w="sm" type="none"/>
          </a:ln>
        </p:spPr>
      </p:pic>
      <p:sp>
        <p:nvSpPr>
          <p:cNvPr id="891" name="Google Shape;891;p58"/>
          <p:cNvSpPr/>
          <p:nvPr/>
        </p:nvSpPr>
        <p:spPr>
          <a:xfrm>
            <a:off x="4114875" y="3480700"/>
            <a:ext cx="891000" cy="240600"/>
          </a:xfrm>
          <a:prstGeom prst="rect">
            <a:avLst/>
          </a:prstGeom>
          <a:solidFill>
            <a:srgbClr val="23656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rgbClr val="FFFFFF"/>
              </a:solidFill>
              <a:latin typeface="Open Sans"/>
              <a:ea typeface="Open Sans"/>
              <a:cs typeface="Open Sans"/>
              <a:sym typeface="Open Sans"/>
            </a:endParaRPr>
          </a:p>
          <a:p>
            <a:pPr indent="0" lvl="0" marL="0" rtl="0" algn="ctr">
              <a:spcBef>
                <a:spcPts val="0"/>
              </a:spcBef>
              <a:spcAft>
                <a:spcPts val="0"/>
              </a:spcAft>
              <a:buNone/>
            </a:pPr>
            <a:r>
              <a:rPr b="1" lang="en">
                <a:solidFill>
                  <a:srgbClr val="FFFFFF"/>
                </a:solidFill>
                <a:latin typeface="Open Sans"/>
                <a:ea typeface="Open Sans"/>
                <a:cs typeface="Open Sans"/>
                <a:sym typeface="Open Sans"/>
              </a:rPr>
              <a:t>DC - DC</a:t>
            </a:r>
            <a:r>
              <a:rPr b="1" lang="en" sz="1100">
                <a:solidFill>
                  <a:srgbClr val="FFFFFF"/>
                </a:solidFill>
                <a:latin typeface="Open Sans"/>
                <a:ea typeface="Open Sans"/>
                <a:cs typeface="Open Sans"/>
                <a:sym typeface="Open Sans"/>
              </a:rPr>
              <a:t> </a:t>
            </a:r>
            <a:endParaRPr b="1" sz="1100">
              <a:solidFill>
                <a:srgbClr val="FFFFFF"/>
              </a:solidFill>
              <a:latin typeface="Open Sans"/>
              <a:ea typeface="Open Sans"/>
              <a:cs typeface="Open Sans"/>
              <a:sym typeface="Open Sans"/>
            </a:endParaRPr>
          </a:p>
          <a:p>
            <a:pPr indent="0" lvl="0" marL="0" rtl="0" algn="ctr">
              <a:spcBef>
                <a:spcPts val="0"/>
              </a:spcBef>
              <a:spcAft>
                <a:spcPts val="0"/>
              </a:spcAft>
              <a:buNone/>
            </a:pPr>
            <a:r>
              <a:t/>
            </a:r>
            <a:endParaRPr b="1" sz="1100">
              <a:solidFill>
                <a:srgbClr val="FFFFFF"/>
              </a:solidFill>
              <a:latin typeface="Open Sans"/>
              <a:ea typeface="Open Sans"/>
              <a:cs typeface="Open Sans"/>
              <a:sym typeface="Open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895" name="Shape 895"/>
        <p:cNvGrpSpPr/>
        <p:nvPr/>
      </p:nvGrpSpPr>
      <p:grpSpPr>
        <a:xfrm>
          <a:off x="0" y="0"/>
          <a:ext cx="0" cy="0"/>
          <a:chOff x="0" y="0"/>
          <a:chExt cx="0" cy="0"/>
        </a:xfrm>
      </p:grpSpPr>
      <p:sp>
        <p:nvSpPr>
          <p:cNvPr id="896" name="Google Shape;896;p59"/>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200"/>
              <a:buFont typeface="Arial"/>
              <a:buNone/>
            </a:pPr>
            <a:r>
              <a:rPr lang="en" sz="2400">
                <a:solidFill>
                  <a:srgbClr val="48BACA"/>
                </a:solidFill>
                <a:latin typeface="Lato Black"/>
                <a:ea typeface="Lato Black"/>
                <a:cs typeface="Lato Black"/>
                <a:sym typeface="Lato Black"/>
              </a:rPr>
              <a:t>Conclusion </a:t>
            </a:r>
            <a:endParaRPr i="0" sz="2400" u="none" cap="none" strike="noStrike">
              <a:solidFill>
                <a:srgbClr val="48BACA"/>
              </a:solidFill>
              <a:latin typeface="Lato Black"/>
              <a:ea typeface="Lato Black"/>
              <a:cs typeface="Lato Black"/>
              <a:sym typeface="Lato Black"/>
            </a:endParaRPr>
          </a:p>
        </p:txBody>
      </p:sp>
      <p:pic>
        <p:nvPicPr>
          <p:cNvPr id="897" name="Google Shape;897;p59"/>
          <p:cNvPicPr preferRelativeResize="0"/>
          <p:nvPr/>
        </p:nvPicPr>
        <p:blipFill>
          <a:blip r:embed="rId3">
            <a:alphaModFix/>
          </a:blip>
          <a:stretch>
            <a:fillRect/>
          </a:stretch>
        </p:blipFill>
        <p:spPr>
          <a:xfrm>
            <a:off x="175925" y="133088"/>
            <a:ext cx="567225" cy="474824"/>
          </a:xfrm>
          <a:prstGeom prst="rect">
            <a:avLst/>
          </a:prstGeom>
          <a:noFill/>
          <a:ln>
            <a:noFill/>
          </a:ln>
        </p:spPr>
      </p:pic>
      <p:pic>
        <p:nvPicPr>
          <p:cNvPr id="898" name="Google Shape;898;p59"/>
          <p:cNvPicPr preferRelativeResize="0"/>
          <p:nvPr/>
        </p:nvPicPr>
        <p:blipFill>
          <a:blip r:embed="rId4">
            <a:alphaModFix amt="12000"/>
          </a:blip>
          <a:stretch>
            <a:fillRect/>
          </a:stretch>
        </p:blipFill>
        <p:spPr>
          <a:xfrm rot="9900000">
            <a:off x="5128900" y="2442475"/>
            <a:ext cx="4289526" cy="2716700"/>
          </a:xfrm>
          <a:prstGeom prst="rect">
            <a:avLst/>
          </a:prstGeom>
          <a:noFill/>
          <a:ln>
            <a:noFill/>
          </a:ln>
        </p:spPr>
      </p:pic>
      <p:sp>
        <p:nvSpPr>
          <p:cNvPr id="899" name="Google Shape;899;p59"/>
          <p:cNvSpPr txBox="1"/>
          <p:nvPr/>
        </p:nvSpPr>
        <p:spPr>
          <a:xfrm>
            <a:off x="311525" y="3516550"/>
            <a:ext cx="7731000" cy="11853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rgbClr val="434343"/>
              </a:buClr>
              <a:buSzPts val="1300"/>
              <a:buFont typeface="Lato"/>
              <a:buChar char="●"/>
            </a:pPr>
            <a:r>
              <a:rPr lang="en" sz="1300">
                <a:solidFill>
                  <a:srgbClr val="434343"/>
                </a:solidFill>
                <a:latin typeface="Lato"/>
                <a:ea typeface="Lato"/>
                <a:cs typeface="Lato"/>
                <a:sym typeface="Lato"/>
              </a:rPr>
              <a:t>Using variable </a:t>
            </a:r>
            <a:r>
              <a:rPr lang="en" sz="1300">
                <a:solidFill>
                  <a:srgbClr val="23656F"/>
                </a:solidFill>
                <a:latin typeface="Lato Black"/>
                <a:ea typeface="Lato Black"/>
                <a:cs typeface="Lato Black"/>
                <a:sym typeface="Lato Black"/>
              </a:rPr>
              <a:t>Switching Frequency</a:t>
            </a:r>
            <a:r>
              <a:rPr lang="en" sz="1300">
                <a:solidFill>
                  <a:srgbClr val="434343"/>
                </a:solidFill>
                <a:latin typeface="Lato"/>
                <a:ea typeface="Lato"/>
                <a:cs typeface="Lato"/>
                <a:sym typeface="Lato"/>
              </a:rPr>
              <a:t> to improve efficiency of the inverter</a:t>
            </a:r>
            <a:endParaRPr sz="1300">
              <a:solidFill>
                <a:srgbClr val="434343"/>
              </a:solidFill>
              <a:latin typeface="Lato"/>
              <a:ea typeface="Lato"/>
              <a:cs typeface="Lato"/>
              <a:sym typeface="Lato"/>
            </a:endParaRPr>
          </a:p>
          <a:p>
            <a:pPr indent="-311150" lvl="0" marL="457200" rtl="0" algn="l">
              <a:spcBef>
                <a:spcPts val="0"/>
              </a:spcBef>
              <a:spcAft>
                <a:spcPts val="0"/>
              </a:spcAft>
              <a:buClr>
                <a:srgbClr val="434343"/>
              </a:buClr>
              <a:buSzPts val="1300"/>
              <a:buFont typeface="Lato"/>
              <a:buChar char="●"/>
            </a:pPr>
            <a:r>
              <a:rPr lang="en" sz="1300">
                <a:solidFill>
                  <a:srgbClr val="434343"/>
                </a:solidFill>
                <a:latin typeface="Lato"/>
                <a:ea typeface="Lato"/>
                <a:cs typeface="Lato"/>
                <a:sym typeface="Lato"/>
              </a:rPr>
              <a:t>Properly Modelling the </a:t>
            </a:r>
            <a:r>
              <a:rPr lang="en" sz="1300">
                <a:solidFill>
                  <a:srgbClr val="23656F"/>
                </a:solidFill>
                <a:latin typeface="Lato Black"/>
                <a:ea typeface="Lato Black"/>
                <a:cs typeface="Lato Black"/>
                <a:sym typeface="Lato Black"/>
              </a:rPr>
              <a:t>Automatic Transmission System</a:t>
            </a:r>
            <a:r>
              <a:rPr lang="en" sz="1300">
                <a:solidFill>
                  <a:srgbClr val="434343"/>
                </a:solidFill>
                <a:latin typeface="Lato"/>
                <a:ea typeface="Lato"/>
                <a:cs typeface="Lato"/>
                <a:sym typeface="Lato"/>
              </a:rPr>
              <a:t> on </a:t>
            </a:r>
            <a:r>
              <a:rPr lang="en" sz="1300">
                <a:solidFill>
                  <a:srgbClr val="23656F"/>
                </a:solidFill>
                <a:latin typeface="Lato Black"/>
                <a:ea typeface="Lato Black"/>
                <a:cs typeface="Lato Black"/>
                <a:sym typeface="Lato Black"/>
              </a:rPr>
              <a:t>Simscape</a:t>
            </a:r>
            <a:r>
              <a:rPr lang="en" sz="1300">
                <a:solidFill>
                  <a:srgbClr val="434343"/>
                </a:solidFill>
                <a:latin typeface="Lato"/>
                <a:ea typeface="Lato"/>
                <a:cs typeface="Lato"/>
                <a:sym typeface="Lato"/>
              </a:rPr>
              <a:t> to understand the associated Mechanical Losses and other Complexities</a:t>
            </a:r>
            <a:endParaRPr sz="1300">
              <a:solidFill>
                <a:srgbClr val="434343"/>
              </a:solidFill>
              <a:latin typeface="Lato"/>
              <a:ea typeface="Lato"/>
              <a:cs typeface="Lato"/>
              <a:sym typeface="Lato"/>
            </a:endParaRPr>
          </a:p>
          <a:p>
            <a:pPr indent="-311150" lvl="0" marL="457200" rtl="0" algn="l">
              <a:spcBef>
                <a:spcPts val="0"/>
              </a:spcBef>
              <a:spcAft>
                <a:spcPts val="0"/>
              </a:spcAft>
              <a:buClr>
                <a:srgbClr val="434343"/>
              </a:buClr>
              <a:buSzPts val="1300"/>
              <a:buFont typeface="Lato"/>
              <a:buChar char="●"/>
            </a:pPr>
            <a:r>
              <a:rPr lang="en" sz="1300">
                <a:solidFill>
                  <a:srgbClr val="434343"/>
                </a:solidFill>
                <a:latin typeface="Lato"/>
                <a:ea typeface="Lato"/>
                <a:cs typeface="Lato"/>
                <a:sym typeface="Lato"/>
              </a:rPr>
              <a:t>Implementation of </a:t>
            </a:r>
            <a:r>
              <a:rPr lang="en" sz="1300">
                <a:solidFill>
                  <a:srgbClr val="23656F"/>
                </a:solidFill>
                <a:latin typeface="Lato Black"/>
                <a:ea typeface="Lato Black"/>
                <a:cs typeface="Lato Black"/>
                <a:sym typeface="Lato Black"/>
              </a:rPr>
              <a:t>Multi-level Converters </a:t>
            </a:r>
            <a:r>
              <a:rPr lang="en" sz="1300">
                <a:solidFill>
                  <a:srgbClr val="434343"/>
                </a:solidFill>
                <a:latin typeface="Lato"/>
                <a:ea typeface="Lato"/>
                <a:cs typeface="Lato"/>
                <a:sym typeface="Lato"/>
              </a:rPr>
              <a:t>for improved efficiency of inverter</a:t>
            </a:r>
            <a:endParaRPr sz="1300">
              <a:solidFill>
                <a:srgbClr val="434343"/>
              </a:solidFill>
              <a:latin typeface="Lato"/>
              <a:ea typeface="Lato"/>
              <a:cs typeface="Lato"/>
              <a:sym typeface="Lato"/>
            </a:endParaRPr>
          </a:p>
          <a:p>
            <a:pPr indent="-311150" lvl="0" marL="457200" rtl="0" algn="l">
              <a:spcBef>
                <a:spcPts val="0"/>
              </a:spcBef>
              <a:spcAft>
                <a:spcPts val="0"/>
              </a:spcAft>
              <a:buClr>
                <a:srgbClr val="434343"/>
              </a:buClr>
              <a:buSzPts val="1300"/>
              <a:buFont typeface="Lato"/>
              <a:buChar char="●"/>
            </a:pPr>
            <a:r>
              <a:rPr lang="en" sz="1300">
                <a:solidFill>
                  <a:srgbClr val="434343"/>
                </a:solidFill>
                <a:latin typeface="Lato"/>
                <a:ea typeface="Lato"/>
                <a:cs typeface="Lato"/>
                <a:sym typeface="Lato"/>
              </a:rPr>
              <a:t>Modelling variable </a:t>
            </a:r>
            <a:r>
              <a:rPr lang="en" sz="1300">
                <a:solidFill>
                  <a:srgbClr val="23656F"/>
                </a:solidFill>
                <a:latin typeface="Lato Black"/>
                <a:ea typeface="Lato Black"/>
                <a:cs typeface="Lato Black"/>
                <a:sym typeface="Lato Black"/>
              </a:rPr>
              <a:t>Auxiliary Load </a:t>
            </a:r>
            <a:r>
              <a:rPr lang="en" sz="1300">
                <a:solidFill>
                  <a:srgbClr val="434343"/>
                </a:solidFill>
                <a:latin typeface="Lato"/>
                <a:ea typeface="Lato"/>
                <a:cs typeface="Lato"/>
                <a:sym typeface="Lato"/>
              </a:rPr>
              <a:t>accurately</a:t>
            </a:r>
            <a:endParaRPr sz="1300">
              <a:solidFill>
                <a:srgbClr val="434343"/>
              </a:solidFill>
              <a:latin typeface="Lato"/>
              <a:ea typeface="Lato"/>
              <a:cs typeface="Lato"/>
              <a:sym typeface="Lato"/>
            </a:endParaRPr>
          </a:p>
        </p:txBody>
      </p:sp>
      <p:sp>
        <p:nvSpPr>
          <p:cNvPr id="900" name="Google Shape;900;p59"/>
          <p:cNvSpPr txBox="1"/>
          <p:nvPr/>
        </p:nvSpPr>
        <p:spPr>
          <a:xfrm>
            <a:off x="0" y="2998625"/>
            <a:ext cx="4111500" cy="407100"/>
          </a:xfrm>
          <a:prstGeom prst="rect">
            <a:avLst/>
          </a:prstGeom>
          <a:solidFill>
            <a:srgbClr val="23656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700">
                <a:solidFill>
                  <a:srgbClr val="EFEFEF"/>
                </a:solidFill>
                <a:latin typeface="Open Sans ExtraBold"/>
                <a:ea typeface="Open Sans ExtraBold"/>
                <a:cs typeface="Open Sans ExtraBold"/>
                <a:sym typeface="Open Sans ExtraBold"/>
              </a:rPr>
              <a:t>SCOPE OF IMPROVEMENT</a:t>
            </a:r>
            <a:endParaRPr sz="1700">
              <a:solidFill>
                <a:srgbClr val="EFEFEF"/>
              </a:solidFill>
              <a:latin typeface="Open Sans ExtraBold"/>
              <a:ea typeface="Open Sans ExtraBold"/>
              <a:cs typeface="Open Sans ExtraBold"/>
              <a:sym typeface="Open Sans ExtraBold"/>
            </a:endParaRPr>
          </a:p>
        </p:txBody>
      </p:sp>
      <p:sp>
        <p:nvSpPr>
          <p:cNvPr id="901" name="Google Shape;901;p59"/>
          <p:cNvSpPr/>
          <p:nvPr/>
        </p:nvSpPr>
        <p:spPr>
          <a:xfrm>
            <a:off x="3834275" y="2998625"/>
            <a:ext cx="399000" cy="407100"/>
          </a:xfrm>
          <a:prstGeom prst="ellipse">
            <a:avLst/>
          </a:prstGeom>
          <a:solidFill>
            <a:srgbClr val="0C343D"/>
          </a:solidFill>
          <a:ln cap="flat" cmpd="sng" w="38100">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8BACA"/>
              </a:solidFill>
            </a:endParaRPr>
          </a:p>
        </p:txBody>
      </p:sp>
      <p:pic>
        <p:nvPicPr>
          <p:cNvPr id="902" name="Google Shape;902;p59"/>
          <p:cNvPicPr preferRelativeResize="0"/>
          <p:nvPr/>
        </p:nvPicPr>
        <p:blipFill rotWithShape="1">
          <a:blip r:embed="rId5">
            <a:alphaModFix/>
          </a:blip>
          <a:srcRect b="11281" l="20956" r="20375" t="10435"/>
          <a:stretch/>
        </p:blipFill>
        <p:spPr>
          <a:xfrm>
            <a:off x="3815225" y="3042841"/>
            <a:ext cx="360900" cy="318660"/>
          </a:xfrm>
          <a:prstGeom prst="rect">
            <a:avLst/>
          </a:prstGeom>
          <a:noFill/>
          <a:ln>
            <a:noFill/>
          </a:ln>
        </p:spPr>
      </p:pic>
      <p:sp>
        <p:nvSpPr>
          <p:cNvPr id="903" name="Google Shape;903;p59"/>
          <p:cNvSpPr txBox="1"/>
          <p:nvPr/>
        </p:nvSpPr>
        <p:spPr>
          <a:xfrm>
            <a:off x="311525" y="1154350"/>
            <a:ext cx="7731000" cy="15855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rgbClr val="434343"/>
              </a:buClr>
              <a:buSzPts val="1300"/>
              <a:buFont typeface="Lato"/>
              <a:buChar char="●"/>
            </a:pPr>
            <a:r>
              <a:rPr lang="en" sz="1300">
                <a:solidFill>
                  <a:srgbClr val="434343"/>
                </a:solidFill>
                <a:latin typeface="Lato"/>
                <a:ea typeface="Lato"/>
                <a:cs typeface="Lato"/>
                <a:sym typeface="Lato"/>
              </a:rPr>
              <a:t>Modelling can help reduce complicated physical systems, like Motor Controller or an EV, to Mathematical equations that can be solved to predict their behaviour</a:t>
            </a:r>
            <a:endParaRPr sz="1300">
              <a:solidFill>
                <a:srgbClr val="434343"/>
              </a:solidFill>
              <a:latin typeface="Lato"/>
              <a:ea typeface="Lato"/>
              <a:cs typeface="Lato"/>
              <a:sym typeface="Lato"/>
            </a:endParaRPr>
          </a:p>
          <a:p>
            <a:pPr indent="-311150" lvl="0" marL="457200" rtl="0" algn="l">
              <a:spcBef>
                <a:spcPts val="0"/>
              </a:spcBef>
              <a:spcAft>
                <a:spcPts val="0"/>
              </a:spcAft>
              <a:buClr>
                <a:srgbClr val="434343"/>
              </a:buClr>
              <a:buSzPts val="1300"/>
              <a:buFont typeface="Lato"/>
              <a:buChar char="●"/>
            </a:pPr>
            <a:r>
              <a:rPr lang="en" sz="1300">
                <a:solidFill>
                  <a:srgbClr val="434343"/>
                </a:solidFill>
                <a:latin typeface="Lato"/>
                <a:ea typeface="Lato"/>
                <a:cs typeface="Lato"/>
                <a:sym typeface="Lato"/>
              </a:rPr>
              <a:t>Modelling reduces testing cost and helps optimise parameters of various models</a:t>
            </a:r>
            <a:endParaRPr sz="1300">
              <a:solidFill>
                <a:srgbClr val="434343"/>
              </a:solidFill>
              <a:latin typeface="Lato"/>
              <a:ea typeface="Lato"/>
              <a:cs typeface="Lato"/>
              <a:sym typeface="Lato"/>
            </a:endParaRPr>
          </a:p>
          <a:p>
            <a:pPr indent="-311150" lvl="0" marL="457200" rtl="0" algn="l">
              <a:spcBef>
                <a:spcPts val="0"/>
              </a:spcBef>
              <a:spcAft>
                <a:spcPts val="0"/>
              </a:spcAft>
              <a:buClr>
                <a:srgbClr val="434343"/>
              </a:buClr>
              <a:buSzPts val="1300"/>
              <a:buFont typeface="Lato"/>
              <a:buChar char="●"/>
            </a:pPr>
            <a:r>
              <a:rPr lang="en" sz="1300">
                <a:solidFill>
                  <a:srgbClr val="434343"/>
                </a:solidFill>
                <a:latin typeface="Lato"/>
                <a:ea typeface="Lato"/>
                <a:cs typeface="Lato"/>
                <a:sym typeface="Lato"/>
              </a:rPr>
              <a:t>Concept design of an Electric Vehicle comes close and close to reality as models at subsystem level become more and more complex</a:t>
            </a:r>
            <a:endParaRPr sz="1300">
              <a:solidFill>
                <a:srgbClr val="434343"/>
              </a:solidFill>
              <a:latin typeface="Lato"/>
              <a:ea typeface="Lato"/>
              <a:cs typeface="Lato"/>
              <a:sym typeface="Lato"/>
            </a:endParaRPr>
          </a:p>
          <a:p>
            <a:pPr indent="-311150" lvl="0" marL="457200" rtl="0" algn="l">
              <a:spcBef>
                <a:spcPts val="0"/>
              </a:spcBef>
              <a:spcAft>
                <a:spcPts val="0"/>
              </a:spcAft>
              <a:buClr>
                <a:srgbClr val="434343"/>
              </a:buClr>
              <a:buSzPts val="1300"/>
              <a:buFont typeface="Lato"/>
              <a:buChar char="●"/>
            </a:pPr>
            <a:r>
              <a:rPr b="1" lang="en" sz="1300">
                <a:solidFill>
                  <a:srgbClr val="434343"/>
                </a:solidFill>
                <a:latin typeface="Lato"/>
                <a:ea typeface="Lato"/>
                <a:cs typeface="Lato"/>
                <a:sym typeface="Lato"/>
              </a:rPr>
              <a:t>Remarkable optimisations can be achieved by changing parameters like Aerodynamic Drag Coefficient, Gear Ratio,  or Rolling Resistance, in a Mathematical Model</a:t>
            </a:r>
            <a:endParaRPr sz="1300">
              <a:solidFill>
                <a:srgbClr val="434343"/>
              </a:solidFill>
              <a:latin typeface="Lato"/>
              <a:ea typeface="Lato"/>
              <a:cs typeface="Lato"/>
              <a:sym typeface="Lato"/>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FEFEF"/>
        </a:solidFill>
      </p:bgPr>
    </p:bg>
    <p:spTree>
      <p:nvGrpSpPr>
        <p:cNvPr id="907" name="Shape 907"/>
        <p:cNvGrpSpPr/>
        <p:nvPr/>
      </p:nvGrpSpPr>
      <p:grpSpPr>
        <a:xfrm>
          <a:off x="0" y="0"/>
          <a:ext cx="0" cy="0"/>
          <a:chOff x="0" y="0"/>
          <a:chExt cx="0" cy="0"/>
        </a:xfrm>
      </p:grpSpPr>
      <p:pic>
        <p:nvPicPr>
          <p:cNvPr id="908" name="Google Shape;908;p60"/>
          <p:cNvPicPr preferRelativeResize="0"/>
          <p:nvPr/>
        </p:nvPicPr>
        <p:blipFill>
          <a:blip r:embed="rId3">
            <a:alphaModFix amt="26000"/>
          </a:blip>
          <a:stretch>
            <a:fillRect/>
          </a:stretch>
        </p:blipFill>
        <p:spPr>
          <a:xfrm rot="9900000">
            <a:off x="5128900" y="2442475"/>
            <a:ext cx="4289526" cy="2716700"/>
          </a:xfrm>
          <a:prstGeom prst="rect">
            <a:avLst/>
          </a:prstGeom>
          <a:noFill/>
          <a:ln>
            <a:noFill/>
          </a:ln>
        </p:spPr>
      </p:pic>
      <p:sp>
        <p:nvSpPr>
          <p:cNvPr id="909" name="Google Shape;909;p60"/>
          <p:cNvSpPr/>
          <p:nvPr/>
        </p:nvSpPr>
        <p:spPr>
          <a:xfrm>
            <a:off x="0" y="0"/>
            <a:ext cx="9144000" cy="741000"/>
          </a:xfrm>
          <a:prstGeom prst="trapezoid">
            <a:avLst>
              <a:gd fmla="val 0" name="adj"/>
            </a:avLst>
          </a:prstGeom>
          <a:solidFill>
            <a:srgbClr val="000000"/>
          </a:solidFill>
          <a:ln cap="flat" cmpd="sng" w="9525">
            <a:solidFill>
              <a:srgbClr val="595959"/>
            </a:solidFill>
            <a:prstDash val="solid"/>
            <a:round/>
            <a:headEnd len="sm" w="sm" type="none"/>
            <a:tailEnd len="sm" w="sm" type="none"/>
          </a:ln>
          <a:effectLst>
            <a:outerShdw blurRad="57150" rotWithShape="0" algn="bl" dir="7260000" dist="47625">
              <a:srgbClr val="000000">
                <a:alpha val="2275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200"/>
              <a:buFont typeface="Arial"/>
              <a:buNone/>
            </a:pPr>
            <a:r>
              <a:rPr lang="en" sz="2400">
                <a:solidFill>
                  <a:srgbClr val="48BACA"/>
                </a:solidFill>
                <a:latin typeface="Lato Black"/>
                <a:ea typeface="Lato Black"/>
                <a:cs typeface="Lato Black"/>
                <a:sym typeface="Lato Black"/>
              </a:rPr>
              <a:t>E/E </a:t>
            </a:r>
            <a:r>
              <a:rPr lang="en" sz="2400">
                <a:solidFill>
                  <a:srgbClr val="F3F3F3"/>
                </a:solidFill>
                <a:latin typeface="Lato"/>
                <a:ea typeface="Lato"/>
                <a:cs typeface="Lato"/>
                <a:sym typeface="Lato"/>
              </a:rPr>
              <a:t>Architecture</a:t>
            </a:r>
            <a:r>
              <a:rPr lang="en" sz="2400">
                <a:solidFill>
                  <a:srgbClr val="48BACA"/>
                </a:solidFill>
                <a:latin typeface="Lato Black"/>
                <a:ea typeface="Lato Black"/>
                <a:cs typeface="Lato Black"/>
                <a:sym typeface="Lato Black"/>
              </a:rPr>
              <a:t> </a:t>
            </a:r>
            <a:endParaRPr i="0" sz="2400" u="none" cap="none" strike="noStrike">
              <a:solidFill>
                <a:srgbClr val="48BACA"/>
              </a:solidFill>
              <a:latin typeface="Lato Black"/>
              <a:ea typeface="Lato Black"/>
              <a:cs typeface="Lato Black"/>
              <a:sym typeface="Lato Black"/>
            </a:endParaRPr>
          </a:p>
        </p:txBody>
      </p:sp>
      <p:pic>
        <p:nvPicPr>
          <p:cNvPr id="910" name="Google Shape;910;p60"/>
          <p:cNvPicPr preferRelativeResize="0"/>
          <p:nvPr/>
        </p:nvPicPr>
        <p:blipFill>
          <a:blip r:embed="rId4">
            <a:alphaModFix/>
          </a:blip>
          <a:stretch>
            <a:fillRect/>
          </a:stretch>
        </p:blipFill>
        <p:spPr>
          <a:xfrm>
            <a:off x="175925" y="133088"/>
            <a:ext cx="567225" cy="474824"/>
          </a:xfrm>
          <a:prstGeom prst="rect">
            <a:avLst/>
          </a:prstGeom>
          <a:noFill/>
          <a:ln>
            <a:noFill/>
          </a:ln>
        </p:spPr>
      </p:pic>
      <p:pic>
        <p:nvPicPr>
          <p:cNvPr id="911" name="Google Shape;911;p60"/>
          <p:cNvPicPr preferRelativeResize="0"/>
          <p:nvPr/>
        </p:nvPicPr>
        <p:blipFill>
          <a:blip r:embed="rId5">
            <a:alphaModFix/>
          </a:blip>
          <a:stretch>
            <a:fillRect/>
          </a:stretch>
        </p:blipFill>
        <p:spPr>
          <a:xfrm>
            <a:off x="150825" y="1077050"/>
            <a:ext cx="8842351" cy="35949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