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Franklin Gothic"/>
      <p:bold r:id="rId30"/>
    </p:embeddedFont>
    <p:embeddedFont>
      <p:font typeface="Lato"/>
      <p:regular r:id="rId31"/>
      <p:bold r:id="rId32"/>
      <p:italic r:id="rId33"/>
      <p:boldItalic r:id="rId34"/>
    </p:embeddedFont>
    <p:embeddedFont>
      <p:font typeface="Open Sans Medium"/>
      <p:regular r:id="rId35"/>
      <p:bold r:id="rId36"/>
      <p:italic r:id="rId37"/>
      <p:boldItalic r:id="rId38"/>
    </p:embeddedFont>
    <p:embeddedFont>
      <p:font typeface="Open Sans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86153D9-9945-4F4D-AA6C-52F930B618C2}">
  <a:tblStyle styleId="{686153D9-9945-4F4D-AA6C-52F930B618C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.fntdata"/><Relationship Id="rId20" Type="http://schemas.openxmlformats.org/officeDocument/2006/relationships/slide" Target="slides/slide14.xml"/><Relationship Id="rId42" Type="http://schemas.openxmlformats.org/officeDocument/2006/relationships/font" Target="fonts/OpenSans-boldItalic.fntdata"/><Relationship Id="rId41" Type="http://schemas.openxmlformats.org/officeDocument/2006/relationships/font" Target="fonts/OpenSans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regular.fntdata"/><Relationship Id="rId30" Type="http://schemas.openxmlformats.org/officeDocument/2006/relationships/font" Target="fonts/FranklinGothic-bold.fntdata"/><Relationship Id="rId11" Type="http://schemas.openxmlformats.org/officeDocument/2006/relationships/slide" Target="slides/slide5.xml"/><Relationship Id="rId33" Type="http://schemas.openxmlformats.org/officeDocument/2006/relationships/font" Target="fonts/Lato-italic.fntdata"/><Relationship Id="rId10" Type="http://schemas.openxmlformats.org/officeDocument/2006/relationships/slide" Target="slides/slide4.xml"/><Relationship Id="rId32" Type="http://schemas.openxmlformats.org/officeDocument/2006/relationships/font" Target="fonts/Lato-bold.fntdata"/><Relationship Id="rId13" Type="http://schemas.openxmlformats.org/officeDocument/2006/relationships/slide" Target="slides/slide7.xml"/><Relationship Id="rId35" Type="http://schemas.openxmlformats.org/officeDocument/2006/relationships/font" Target="fonts/OpenSansMedium-regular.fntdata"/><Relationship Id="rId12" Type="http://schemas.openxmlformats.org/officeDocument/2006/relationships/slide" Target="slides/slide6.xml"/><Relationship Id="rId34" Type="http://schemas.openxmlformats.org/officeDocument/2006/relationships/font" Target="fonts/Lato-boldItalic.fntdata"/><Relationship Id="rId15" Type="http://schemas.openxmlformats.org/officeDocument/2006/relationships/slide" Target="slides/slide9.xml"/><Relationship Id="rId37" Type="http://schemas.openxmlformats.org/officeDocument/2006/relationships/font" Target="fonts/OpenSansMedium-italic.fntdata"/><Relationship Id="rId14" Type="http://schemas.openxmlformats.org/officeDocument/2006/relationships/slide" Target="slides/slide8.xml"/><Relationship Id="rId36" Type="http://schemas.openxmlformats.org/officeDocument/2006/relationships/font" Target="fonts/OpenSansMedium-bold.fntdata"/><Relationship Id="rId17" Type="http://schemas.openxmlformats.org/officeDocument/2006/relationships/slide" Target="slides/slide11.xml"/><Relationship Id="rId39" Type="http://schemas.openxmlformats.org/officeDocument/2006/relationships/font" Target="fonts/OpenSans-regular.fntdata"/><Relationship Id="rId16" Type="http://schemas.openxmlformats.org/officeDocument/2006/relationships/slide" Target="slides/slide10.xml"/><Relationship Id="rId38" Type="http://schemas.openxmlformats.org/officeDocument/2006/relationships/font" Target="fonts/OpenSansMedium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f4dbd8378f_1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f4dbd8378f_1_6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f4dbd8378f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f4dbd8378f_0_2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f4dbd8378f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f4dbd8378f_1_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f4dbd8378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f4dbd8378f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100fd6e03da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0.0225</a:t>
            </a:r>
            <a:endParaRPr/>
          </a:p>
        </p:txBody>
      </p:sp>
      <p:sp>
        <p:nvSpPr>
          <p:cNvPr id="131" name="Google Shape;131;g100fd6e03da_2_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f4dbd8378f_1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0.0225</a:t>
            </a:r>
            <a:endParaRPr/>
          </a:p>
        </p:txBody>
      </p:sp>
      <p:sp>
        <p:nvSpPr>
          <p:cNvPr id="149" name="Google Shape;149;gf4dbd8378f_1_6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f4dbd8378f_1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0.0225</a:t>
            </a:r>
            <a:endParaRPr/>
          </a:p>
        </p:txBody>
      </p:sp>
      <p:sp>
        <p:nvSpPr>
          <p:cNvPr id="167" name="Google Shape;167;gf4dbd8378f_1_6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4dbd8378f_1_6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4dbd8378f_1_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f4dbd8378f_1_69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00fd6e03d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100fd6e03da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00fd6e03da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100fd6e03da_2_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00fd6e03da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0.0225</a:t>
            </a:r>
            <a:endParaRPr/>
          </a:p>
        </p:txBody>
      </p:sp>
      <p:sp>
        <p:nvSpPr>
          <p:cNvPr id="211" name="Google Shape;211;g100fd6e03da_2_1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00fd6e03da_2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0.0225</a:t>
            </a:r>
            <a:endParaRPr/>
          </a:p>
        </p:txBody>
      </p:sp>
      <p:sp>
        <p:nvSpPr>
          <p:cNvPr id="229" name="Google Shape;229;g100fd6e03da_2_1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fa41a7463a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fa41a7463a_0_2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fa41a7463a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0.0225</a:t>
            </a:r>
            <a:endParaRPr/>
          </a:p>
        </p:txBody>
      </p:sp>
      <p:sp>
        <p:nvSpPr>
          <p:cNvPr id="259" name="Google Shape;259;gfa41a7463a_0_1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fa41a7463a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fa41a7463a_0_2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fa41a7463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fa41a7463a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fa41a746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0.0225</a:t>
            </a:r>
            <a:endParaRPr/>
          </a:p>
        </p:txBody>
      </p:sp>
      <p:sp>
        <p:nvSpPr>
          <p:cNvPr id="300" name="Google Shape;300;gfa41a7463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fa41a7463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0.0225</a:t>
            </a:r>
            <a:endParaRPr/>
          </a:p>
        </p:txBody>
      </p:sp>
      <p:sp>
        <p:nvSpPr>
          <p:cNvPr id="313" name="Google Shape;313;gfa41a7463a_0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fa41a7463a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0.0225</a:t>
            </a:r>
            <a:endParaRPr/>
          </a:p>
        </p:txBody>
      </p:sp>
      <p:sp>
        <p:nvSpPr>
          <p:cNvPr id="326" name="Google Shape;326;gfa41a7463a_0_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fa41a74b7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fa41a74b77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fa41a74b77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0.0225</a:t>
            </a:r>
            <a:endParaRPr/>
          </a:p>
        </p:txBody>
      </p:sp>
      <p:sp>
        <p:nvSpPr>
          <p:cNvPr id="353" name="Google Shape;353;gfa41a74b77_1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0" y="0"/>
            <a:ext cx="9152400" cy="552300"/>
          </a:xfrm>
          <a:prstGeom prst="rect">
            <a:avLst/>
          </a:prstGeom>
          <a:gradFill>
            <a:gsLst>
              <a:gs pos="0">
                <a:srgbClr val="166018"/>
              </a:gs>
              <a:gs pos="1000">
                <a:srgbClr val="166018"/>
              </a:gs>
              <a:gs pos="52000">
                <a:srgbClr val="00B0F0"/>
              </a:gs>
              <a:gs pos="100000">
                <a:srgbClr val="17365D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INDIAN INSTITUTE OF TECHNOLOGY ROORKEE</a:t>
            </a:r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77895" y="-961"/>
            <a:ext cx="566871" cy="549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754613"/>
            <a:ext cx="6850298" cy="1388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">
  <p:cSld name="Content Slid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64285" y="-1110"/>
            <a:ext cx="734785" cy="7210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3"/>
          <p:cNvCxnSpPr/>
          <p:nvPr/>
        </p:nvCxnSpPr>
        <p:spPr>
          <a:xfrm>
            <a:off x="0" y="742950"/>
            <a:ext cx="9144000" cy="0"/>
          </a:xfrm>
          <a:prstGeom prst="straightConnector1">
            <a:avLst/>
          </a:prstGeom>
          <a:noFill/>
          <a:ln cap="flat" cmpd="sng" w="50800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3"/>
          <p:cNvCxnSpPr/>
          <p:nvPr/>
        </p:nvCxnSpPr>
        <p:spPr>
          <a:xfrm>
            <a:off x="0" y="5067300"/>
            <a:ext cx="9144000" cy="0"/>
          </a:xfrm>
          <a:prstGeom prst="straightConnector1">
            <a:avLst/>
          </a:prstGeom>
          <a:noFill/>
          <a:ln cap="flat" cmpd="sng" w="222250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3" name="Google Shape;2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4197" y="4835468"/>
            <a:ext cx="1250156" cy="148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73072" y="1588659"/>
            <a:ext cx="3991244" cy="263293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8382001" y="4955721"/>
            <a:ext cx="7620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180654" y="152243"/>
            <a:ext cx="70422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" type="body"/>
          </p:nvPr>
        </p:nvSpPr>
        <p:spPr>
          <a:xfrm>
            <a:off x="180653" y="880488"/>
            <a:ext cx="8768100" cy="3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Slide" type="twoTxTwoObj">
  <p:cSld name="TWO_OBJECTS_WITH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73072" y="1588659"/>
            <a:ext cx="3991244" cy="263293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title"/>
          </p:nvPr>
        </p:nvSpPr>
        <p:spPr>
          <a:xfrm>
            <a:off x="180654" y="152243"/>
            <a:ext cx="70422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180654" y="849310"/>
            <a:ext cx="42885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2" name="Google Shape;32;p4"/>
          <p:cNvSpPr txBox="1"/>
          <p:nvPr>
            <p:ph idx="2" type="body"/>
          </p:nvPr>
        </p:nvSpPr>
        <p:spPr>
          <a:xfrm>
            <a:off x="180654" y="1209782"/>
            <a:ext cx="4288500" cy="3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3" name="Google Shape;33;p4"/>
          <p:cNvSpPr txBox="1"/>
          <p:nvPr>
            <p:ph idx="3" type="body"/>
          </p:nvPr>
        </p:nvSpPr>
        <p:spPr>
          <a:xfrm>
            <a:off x="4645025" y="843875"/>
            <a:ext cx="4242000" cy="36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4" name="Google Shape;34;p4"/>
          <p:cNvSpPr txBox="1"/>
          <p:nvPr>
            <p:ph idx="4" type="body"/>
          </p:nvPr>
        </p:nvSpPr>
        <p:spPr>
          <a:xfrm>
            <a:off x="4645025" y="1209782"/>
            <a:ext cx="4242000" cy="35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4285" y="-1110"/>
            <a:ext cx="734785" cy="7210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" name="Google Shape;36;p4"/>
          <p:cNvCxnSpPr/>
          <p:nvPr/>
        </p:nvCxnSpPr>
        <p:spPr>
          <a:xfrm>
            <a:off x="0" y="742950"/>
            <a:ext cx="9144000" cy="0"/>
          </a:xfrm>
          <a:prstGeom prst="straightConnector1">
            <a:avLst/>
          </a:prstGeom>
          <a:noFill/>
          <a:ln cap="flat" cmpd="sng" w="50800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4"/>
          <p:cNvCxnSpPr/>
          <p:nvPr/>
        </p:nvCxnSpPr>
        <p:spPr>
          <a:xfrm>
            <a:off x="0" y="5067300"/>
            <a:ext cx="9144000" cy="0"/>
          </a:xfrm>
          <a:prstGeom prst="straightConnector1">
            <a:avLst/>
          </a:prstGeom>
          <a:noFill/>
          <a:ln cap="flat" cmpd="sng" w="222250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8" name="Google Shape;3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4197" y="4835468"/>
            <a:ext cx="1250156" cy="148828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 txBox="1"/>
          <p:nvPr/>
        </p:nvSpPr>
        <p:spPr>
          <a:xfrm>
            <a:off x="8382001" y="4955721"/>
            <a:ext cx="7620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73072" y="1588659"/>
            <a:ext cx="3991244" cy="2632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4285" y="-1110"/>
            <a:ext cx="734785" cy="7210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" name="Google Shape;43;p5"/>
          <p:cNvCxnSpPr/>
          <p:nvPr/>
        </p:nvCxnSpPr>
        <p:spPr>
          <a:xfrm>
            <a:off x="0" y="742950"/>
            <a:ext cx="9144000" cy="0"/>
          </a:xfrm>
          <a:prstGeom prst="straightConnector1">
            <a:avLst/>
          </a:prstGeom>
          <a:noFill/>
          <a:ln cap="flat" cmpd="sng" w="50800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" name="Google Shape;44;p5"/>
          <p:cNvCxnSpPr/>
          <p:nvPr/>
        </p:nvCxnSpPr>
        <p:spPr>
          <a:xfrm>
            <a:off x="0" y="5067300"/>
            <a:ext cx="9144000" cy="0"/>
          </a:xfrm>
          <a:prstGeom prst="straightConnector1">
            <a:avLst/>
          </a:prstGeom>
          <a:noFill/>
          <a:ln cap="flat" cmpd="sng" w="222250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5" name="Google Shape;4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4197" y="4835468"/>
            <a:ext cx="1250156" cy="148828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 txBox="1"/>
          <p:nvPr/>
        </p:nvSpPr>
        <p:spPr>
          <a:xfrm>
            <a:off x="8382001" y="4955721"/>
            <a:ext cx="7620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st Slide">
  <p:cSld name="Last Slide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/>
        </p:nvSpPr>
        <p:spPr>
          <a:xfrm>
            <a:off x="8382001" y="4955721"/>
            <a:ext cx="762000" cy="1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 txBox="1"/>
          <p:nvPr>
            <p:ph type="title"/>
          </p:nvPr>
        </p:nvSpPr>
        <p:spPr>
          <a:xfrm>
            <a:off x="3363913" y="2228851"/>
            <a:ext cx="2452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sz="36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50" name="Google Shape;50;p6"/>
          <p:cNvCxnSpPr/>
          <p:nvPr/>
        </p:nvCxnSpPr>
        <p:spPr>
          <a:xfrm>
            <a:off x="3595524" y="2714651"/>
            <a:ext cx="2009700" cy="0"/>
          </a:xfrm>
          <a:prstGeom prst="straightConnector1">
            <a:avLst/>
          </a:prstGeom>
          <a:noFill/>
          <a:ln cap="flat" cmpd="sng" w="50800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mc:AlternateContent>
    <mc:Choice Requires="p14">
      <p:transition spd="slow" p14:dur="700">
        <p:fade thruBlk="1"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9" Type="http://schemas.openxmlformats.org/officeDocument/2006/relationships/image" Target="../media/image24.png"/><Relationship Id="rId5" Type="http://schemas.openxmlformats.org/officeDocument/2006/relationships/image" Target="../media/image27.png"/><Relationship Id="rId6" Type="http://schemas.openxmlformats.org/officeDocument/2006/relationships/image" Target="../media/image18.png"/><Relationship Id="rId7" Type="http://schemas.openxmlformats.org/officeDocument/2006/relationships/image" Target="../media/image17.png"/><Relationship Id="rId8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15.png"/><Relationship Id="rId9" Type="http://schemas.openxmlformats.org/officeDocument/2006/relationships/image" Target="../media/image36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29.png"/><Relationship Id="rId8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Relationship Id="rId9" Type="http://schemas.openxmlformats.org/officeDocument/2006/relationships/image" Target="../media/image34.png"/><Relationship Id="rId5" Type="http://schemas.openxmlformats.org/officeDocument/2006/relationships/image" Target="../media/image31.png"/><Relationship Id="rId6" Type="http://schemas.openxmlformats.org/officeDocument/2006/relationships/image" Target="../media/image41.png"/><Relationship Id="rId7" Type="http://schemas.openxmlformats.org/officeDocument/2006/relationships/image" Target="../media/image30.png"/><Relationship Id="rId8" Type="http://schemas.openxmlformats.org/officeDocument/2006/relationships/image" Target="../media/image3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53.png"/><Relationship Id="rId5" Type="http://schemas.openxmlformats.org/officeDocument/2006/relationships/image" Target="../media/image37.png"/><Relationship Id="rId6" Type="http://schemas.openxmlformats.org/officeDocument/2006/relationships/image" Target="../media/image39.png"/><Relationship Id="rId7" Type="http://schemas.openxmlformats.org/officeDocument/2006/relationships/image" Target="../media/image60.png"/><Relationship Id="rId8" Type="http://schemas.openxmlformats.org/officeDocument/2006/relationships/image" Target="../media/image4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6.png"/><Relationship Id="rId4" Type="http://schemas.openxmlformats.org/officeDocument/2006/relationships/image" Target="../media/image35.png"/><Relationship Id="rId9" Type="http://schemas.openxmlformats.org/officeDocument/2006/relationships/image" Target="../media/image45.png"/><Relationship Id="rId5" Type="http://schemas.openxmlformats.org/officeDocument/2006/relationships/image" Target="../media/image52.png"/><Relationship Id="rId6" Type="http://schemas.openxmlformats.org/officeDocument/2006/relationships/image" Target="../media/image43.png"/><Relationship Id="rId7" Type="http://schemas.openxmlformats.org/officeDocument/2006/relationships/image" Target="../media/image51.png"/><Relationship Id="rId8" Type="http://schemas.openxmlformats.org/officeDocument/2006/relationships/image" Target="../media/image4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5.png"/><Relationship Id="rId4" Type="http://schemas.openxmlformats.org/officeDocument/2006/relationships/image" Target="../media/image5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59.png"/><Relationship Id="rId5" Type="http://schemas.openxmlformats.org/officeDocument/2006/relationships/image" Target="../media/image48.png"/><Relationship Id="rId6" Type="http://schemas.openxmlformats.org/officeDocument/2006/relationships/image" Target="../media/image4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67.png"/><Relationship Id="rId5" Type="http://schemas.openxmlformats.org/officeDocument/2006/relationships/image" Target="../media/image61.png"/><Relationship Id="rId6" Type="http://schemas.openxmlformats.org/officeDocument/2006/relationships/image" Target="../media/image5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6.png"/><Relationship Id="rId4" Type="http://schemas.openxmlformats.org/officeDocument/2006/relationships/image" Target="../media/image63.png"/><Relationship Id="rId5" Type="http://schemas.openxmlformats.org/officeDocument/2006/relationships/image" Target="../media/image65.png"/><Relationship Id="rId6" Type="http://schemas.openxmlformats.org/officeDocument/2006/relationships/image" Target="../media/image6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6.png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4294967295" type="title"/>
          </p:nvPr>
        </p:nvSpPr>
        <p:spPr>
          <a:xfrm>
            <a:off x="1069520" y="1462463"/>
            <a:ext cx="72471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000">
                <a:latin typeface="Open Sans"/>
                <a:ea typeface="Open Sans"/>
                <a:cs typeface="Open Sans"/>
                <a:sym typeface="Open Sans"/>
              </a:rPr>
              <a:t>Flow Analysis and Optimization of Supersonic</a:t>
            </a:r>
            <a:endParaRPr b="1" sz="2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latin typeface="Open Sans"/>
                <a:ea typeface="Open Sans"/>
                <a:cs typeface="Open Sans"/>
                <a:sym typeface="Open Sans"/>
              </a:rPr>
              <a:t>Turbojet Engine Intake and Nozzle</a:t>
            </a:r>
            <a:endParaRPr b="1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 txBox="1"/>
          <p:nvPr>
            <p:ph idx="4294967295" type="body"/>
          </p:nvPr>
        </p:nvSpPr>
        <p:spPr>
          <a:xfrm>
            <a:off x="1069520" y="2418181"/>
            <a:ext cx="7247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/>
              <a:t>MIN-345 Compressible Flow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 txBox="1"/>
          <p:nvPr>
            <p:ph idx="4294967295" type="body"/>
          </p:nvPr>
        </p:nvSpPr>
        <p:spPr>
          <a:xfrm>
            <a:off x="1069520" y="2735708"/>
            <a:ext cx="7247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US" sz="1800"/>
              <a:t>Group-2</a:t>
            </a:r>
            <a:endParaRPr b="0" i="1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16935" l="26100" r="29223" t="66831"/>
          <a:stretch/>
        </p:blipFill>
        <p:spPr>
          <a:xfrm>
            <a:off x="0" y="3629525"/>
            <a:ext cx="9144000" cy="151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type="title"/>
          </p:nvPr>
        </p:nvSpPr>
        <p:spPr>
          <a:xfrm>
            <a:off x="180654" y="152243"/>
            <a:ext cx="70422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Supersonic Ramjet Design</a:t>
            </a:r>
            <a:endParaRPr sz="2400"/>
          </a:p>
        </p:txBody>
      </p:sp>
      <p:pic>
        <p:nvPicPr>
          <p:cNvPr id="64" name="Google Shape;64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0" y="1105963"/>
            <a:ext cx="4572000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8"/>
          <p:cNvSpPr/>
          <p:nvPr/>
        </p:nvSpPr>
        <p:spPr>
          <a:xfrm>
            <a:off x="600300" y="3725350"/>
            <a:ext cx="1180800" cy="781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C343D"/>
                </a:solidFill>
                <a:latin typeface="Lato"/>
                <a:ea typeface="Lato"/>
                <a:cs typeface="Lato"/>
                <a:sym typeface="Lato"/>
              </a:rPr>
              <a:t>Supersonic Inlet</a:t>
            </a:r>
            <a:endParaRPr b="1">
              <a:solidFill>
                <a:srgbClr val="0C343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2216100" y="3741075"/>
            <a:ext cx="2104200" cy="781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C343D"/>
                </a:solidFill>
                <a:latin typeface="Lato"/>
                <a:ea typeface="Lato"/>
                <a:cs typeface="Lato"/>
                <a:sym typeface="Lato"/>
              </a:rPr>
              <a:t>Supersonic to </a:t>
            </a:r>
            <a:r>
              <a:rPr b="1" lang="en-US">
                <a:solidFill>
                  <a:srgbClr val="0C343D"/>
                </a:solidFill>
                <a:latin typeface="Lato"/>
                <a:ea typeface="Lato"/>
                <a:cs typeface="Lato"/>
                <a:sym typeface="Lato"/>
              </a:rPr>
              <a:t>Subsonic</a:t>
            </a:r>
            <a:endParaRPr b="1">
              <a:solidFill>
                <a:srgbClr val="0C343D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C343D"/>
                </a:solidFill>
                <a:latin typeface="Lato"/>
                <a:ea typeface="Lato"/>
                <a:cs typeface="Lato"/>
                <a:sym typeface="Lato"/>
              </a:rPr>
              <a:t>Diffuser</a:t>
            </a:r>
            <a:endParaRPr b="1">
              <a:solidFill>
                <a:srgbClr val="0C343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4789500" y="3741075"/>
            <a:ext cx="2104200" cy="781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C343D"/>
                </a:solidFill>
                <a:latin typeface="Lato"/>
                <a:ea typeface="Lato"/>
                <a:cs typeface="Lato"/>
                <a:sym typeface="Lato"/>
              </a:rPr>
              <a:t>Subsonic to Supersonic</a:t>
            </a:r>
            <a:endParaRPr b="1">
              <a:solidFill>
                <a:srgbClr val="0C343D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C343D"/>
                </a:solidFill>
                <a:latin typeface="Lato"/>
                <a:ea typeface="Lato"/>
                <a:cs typeface="Lato"/>
                <a:sym typeface="Lato"/>
              </a:rPr>
              <a:t>C-D Nozzle</a:t>
            </a:r>
            <a:endParaRPr b="1">
              <a:solidFill>
                <a:srgbClr val="0C343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1781100" y="4041675"/>
            <a:ext cx="435000" cy="18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C34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8"/>
          <p:cNvSpPr/>
          <p:nvPr/>
        </p:nvSpPr>
        <p:spPr>
          <a:xfrm>
            <a:off x="4320288" y="4041675"/>
            <a:ext cx="469200" cy="18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C34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8"/>
          <p:cNvSpPr/>
          <p:nvPr/>
        </p:nvSpPr>
        <p:spPr>
          <a:xfrm>
            <a:off x="7362900" y="3741075"/>
            <a:ext cx="1180800" cy="781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C343D"/>
                </a:solidFill>
                <a:latin typeface="Lato"/>
                <a:ea typeface="Lato"/>
                <a:cs typeface="Lato"/>
                <a:sym typeface="Lato"/>
              </a:rPr>
              <a:t>Supersonic Exhaust</a:t>
            </a:r>
            <a:endParaRPr b="1">
              <a:solidFill>
                <a:srgbClr val="0C343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6893700" y="4041675"/>
            <a:ext cx="469200" cy="18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C34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8"/>
          <p:cNvSpPr/>
          <p:nvPr/>
        </p:nvSpPr>
        <p:spPr>
          <a:xfrm>
            <a:off x="4618450" y="3607250"/>
            <a:ext cx="2433600" cy="10695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8"/>
          <p:cNvSpPr/>
          <p:nvPr/>
        </p:nvSpPr>
        <p:spPr>
          <a:xfrm>
            <a:off x="5026825" y="1324225"/>
            <a:ext cx="1069500" cy="16365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 txBox="1"/>
          <p:nvPr>
            <p:ph type="title"/>
          </p:nvPr>
        </p:nvSpPr>
        <p:spPr>
          <a:xfrm>
            <a:off x="180654" y="152243"/>
            <a:ext cx="70422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Compressible Flow CFD Simulations</a:t>
            </a:r>
            <a:endParaRPr sz="2400"/>
          </a:p>
        </p:txBody>
      </p:sp>
      <p:sp>
        <p:nvSpPr>
          <p:cNvPr id="79" name="Google Shape;79;p9"/>
          <p:cNvSpPr txBox="1"/>
          <p:nvPr>
            <p:ph idx="1" type="body"/>
          </p:nvPr>
        </p:nvSpPr>
        <p:spPr>
          <a:xfrm>
            <a:off x="-1" y="751975"/>
            <a:ext cx="2987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700">
                <a:latin typeface="Open Sans Medium"/>
                <a:ea typeface="Open Sans Medium"/>
                <a:cs typeface="Open Sans Medium"/>
                <a:sym typeface="Open Sans Medium"/>
              </a:rPr>
              <a:t>Simulation Flow Diagram</a:t>
            </a:r>
            <a:endParaRPr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165725" y="1651425"/>
            <a:ext cx="1052700" cy="781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C343D"/>
                </a:solidFill>
                <a:latin typeface="Lato"/>
                <a:ea typeface="Lato"/>
                <a:cs typeface="Lato"/>
                <a:sym typeface="Lato"/>
              </a:rPr>
              <a:t>Modeling</a:t>
            </a:r>
            <a:endParaRPr b="1">
              <a:solidFill>
                <a:srgbClr val="0C343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1653425" y="1667150"/>
            <a:ext cx="1052700" cy="781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C343D"/>
                </a:solidFill>
                <a:latin typeface="Lato"/>
                <a:ea typeface="Lato"/>
                <a:cs typeface="Lato"/>
                <a:sym typeface="Lato"/>
              </a:rPr>
              <a:t>Meshing</a:t>
            </a:r>
            <a:endParaRPr b="1">
              <a:solidFill>
                <a:srgbClr val="0C343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3175450" y="1651425"/>
            <a:ext cx="1549200" cy="781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C343D"/>
                </a:solidFill>
                <a:latin typeface="Lato"/>
                <a:ea typeface="Lato"/>
                <a:cs typeface="Lato"/>
                <a:sym typeface="Lato"/>
              </a:rPr>
              <a:t>Pre-Processing</a:t>
            </a:r>
            <a:endParaRPr b="1">
              <a:solidFill>
                <a:srgbClr val="0C343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1218425" y="1952025"/>
            <a:ext cx="435000" cy="18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C34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9"/>
          <p:cNvSpPr/>
          <p:nvPr/>
        </p:nvSpPr>
        <p:spPr>
          <a:xfrm>
            <a:off x="2706125" y="1952025"/>
            <a:ext cx="469200" cy="18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C34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9"/>
          <p:cNvSpPr/>
          <p:nvPr/>
        </p:nvSpPr>
        <p:spPr>
          <a:xfrm>
            <a:off x="5193975" y="1667150"/>
            <a:ext cx="1694400" cy="781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C343D"/>
                </a:solidFill>
                <a:latin typeface="Lato"/>
                <a:ea typeface="Lato"/>
                <a:cs typeface="Lato"/>
                <a:sym typeface="Lato"/>
              </a:rPr>
              <a:t>Solver/Processing</a:t>
            </a:r>
            <a:endParaRPr b="1">
              <a:solidFill>
                <a:srgbClr val="0C343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7384675" y="1667150"/>
            <a:ext cx="1593600" cy="781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C343D"/>
                </a:solidFill>
                <a:latin typeface="Lato"/>
                <a:ea typeface="Lato"/>
                <a:cs typeface="Lato"/>
                <a:sym typeface="Lato"/>
              </a:rPr>
              <a:t>Post Processing</a:t>
            </a:r>
            <a:endParaRPr b="1">
              <a:solidFill>
                <a:srgbClr val="0C343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4724650" y="1967750"/>
            <a:ext cx="469200" cy="18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C34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9"/>
          <p:cNvSpPr/>
          <p:nvPr/>
        </p:nvSpPr>
        <p:spPr>
          <a:xfrm>
            <a:off x="6888375" y="1967750"/>
            <a:ext cx="496200" cy="18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C34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9"/>
          <p:cNvPicPr preferRelativeResize="0"/>
          <p:nvPr/>
        </p:nvPicPr>
        <p:blipFill rotWithShape="1">
          <a:blip r:embed="rId3">
            <a:alphaModFix/>
          </a:blip>
          <a:srcRect b="29613" l="14793" r="51209" t="55578"/>
          <a:stretch/>
        </p:blipFill>
        <p:spPr>
          <a:xfrm>
            <a:off x="2255625" y="2756118"/>
            <a:ext cx="4632749" cy="113516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9"/>
          <p:cNvSpPr txBox="1"/>
          <p:nvPr/>
        </p:nvSpPr>
        <p:spPr>
          <a:xfrm>
            <a:off x="3087300" y="3622775"/>
            <a:ext cx="296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Fig:</a:t>
            </a:r>
            <a:r>
              <a:rPr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Ansys Workbench Component  Systems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 txBox="1"/>
          <p:nvPr>
            <p:ph type="title"/>
          </p:nvPr>
        </p:nvSpPr>
        <p:spPr>
          <a:xfrm>
            <a:off x="180654" y="152243"/>
            <a:ext cx="70422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Converging-Diverging Nozzle</a:t>
            </a:r>
            <a:endParaRPr sz="2400"/>
          </a:p>
        </p:txBody>
      </p:sp>
      <p:sp>
        <p:nvSpPr>
          <p:cNvPr id="96" name="Google Shape;96;p10"/>
          <p:cNvSpPr txBox="1"/>
          <p:nvPr>
            <p:ph idx="1" type="body"/>
          </p:nvPr>
        </p:nvSpPr>
        <p:spPr>
          <a:xfrm>
            <a:off x="2" y="751975"/>
            <a:ext cx="199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700">
                <a:latin typeface="Open Sans Medium"/>
                <a:ea typeface="Open Sans Medium"/>
                <a:cs typeface="Open Sans Medium"/>
                <a:sym typeface="Open Sans Medium"/>
              </a:rPr>
              <a:t>Initial Geometry</a:t>
            </a:r>
            <a:endParaRPr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97" name="Google Shape;97;p10"/>
          <p:cNvPicPr preferRelativeResize="0"/>
          <p:nvPr/>
        </p:nvPicPr>
        <p:blipFill rotWithShape="1">
          <a:blip r:embed="rId3">
            <a:alphaModFix/>
          </a:blip>
          <a:srcRect b="24522" l="25995" r="18341" t="31437"/>
          <a:stretch/>
        </p:blipFill>
        <p:spPr>
          <a:xfrm>
            <a:off x="133513" y="1626731"/>
            <a:ext cx="5662325" cy="189003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98" name="Google Shape;98;p10"/>
          <p:cNvGraphicFramePr/>
          <p:nvPr/>
        </p:nvGraphicFramePr>
        <p:xfrm>
          <a:off x="6055825" y="155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{686153D9-9945-4F4D-AA6C-52F930B618C2}</a:tableStyleId>
              </a:tblPr>
              <a:tblGrid>
                <a:gridCol w="2002100"/>
                <a:gridCol w="967400"/>
              </a:tblGrid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Parameter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Dimension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Total Length of Nozzle (mm)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75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Inlet Diameter (mm)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25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Outlet Diameter (mm)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35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Throat Diameter (mm)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Divergence Angle (degs)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13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Convergence Angle (degs)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20</a:t>
                      </a:r>
                      <a:endParaRPr sz="1000"/>
                    </a:p>
                  </a:txBody>
                  <a:tcPr marT="68575" marB="68575" marR="91425" marL="91425"/>
                </a:tc>
              </a:tr>
            </a:tbl>
          </a:graphicData>
        </a:graphic>
      </p:graphicFrame>
      <p:sp>
        <p:nvSpPr>
          <p:cNvPr id="99" name="Google Shape;99;p10"/>
          <p:cNvSpPr txBox="1"/>
          <p:nvPr>
            <p:ph idx="1" type="body"/>
          </p:nvPr>
        </p:nvSpPr>
        <p:spPr>
          <a:xfrm>
            <a:off x="-8" y="3913350"/>
            <a:ext cx="90012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300">
                <a:latin typeface="Open Sans Medium"/>
                <a:ea typeface="Open Sans Medium"/>
                <a:cs typeface="Open Sans Medium"/>
                <a:sym typeface="Open Sans Medium"/>
              </a:rPr>
              <a:t>Outcomes:</a:t>
            </a:r>
            <a:endParaRPr sz="13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Char char="•"/>
            </a:pPr>
            <a:r>
              <a:rPr b="1" lang="en-US" sz="1100">
                <a:latin typeface="Open Sans"/>
                <a:ea typeface="Open Sans"/>
                <a:cs typeface="Open Sans"/>
                <a:sym typeface="Open Sans"/>
              </a:rPr>
              <a:t>Solidworks </a:t>
            </a:r>
            <a:r>
              <a:rPr lang="en-US" sz="1100">
                <a:latin typeface="Open Sans Medium"/>
                <a:ea typeface="Open Sans Medium"/>
                <a:cs typeface="Open Sans Medium"/>
                <a:sym typeface="Open Sans Medium"/>
              </a:rPr>
              <a:t>used for modelling</a:t>
            </a:r>
            <a:endParaRPr sz="11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Char char="•"/>
            </a:pPr>
            <a:r>
              <a:rPr lang="en-US" sz="1100">
                <a:latin typeface="Open Sans Medium"/>
                <a:ea typeface="Open Sans Medium"/>
                <a:cs typeface="Open Sans Medium"/>
                <a:sym typeface="Open Sans Medium"/>
              </a:rPr>
              <a:t>2-D Geometry due to </a:t>
            </a:r>
            <a:r>
              <a:rPr b="1" lang="en-US" sz="1100">
                <a:latin typeface="Open Sans"/>
                <a:ea typeface="Open Sans"/>
                <a:cs typeface="Open Sans"/>
                <a:sym typeface="Open Sans"/>
              </a:rPr>
              <a:t>axi-symmetricity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10"/>
          <p:cNvSpPr txBox="1"/>
          <p:nvPr/>
        </p:nvSpPr>
        <p:spPr>
          <a:xfrm>
            <a:off x="6055875" y="3529225"/>
            <a:ext cx="296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Table:</a:t>
            </a:r>
            <a:r>
              <a:rPr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Geometry Specifications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" name="Google Shape;101;p10"/>
          <p:cNvSpPr txBox="1"/>
          <p:nvPr/>
        </p:nvSpPr>
        <p:spPr>
          <a:xfrm>
            <a:off x="1479975" y="3469075"/>
            <a:ext cx="296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Fig</a:t>
            </a:r>
            <a:r>
              <a:rPr b="1"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2D- Geometry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 txBox="1"/>
          <p:nvPr>
            <p:ph type="title"/>
          </p:nvPr>
        </p:nvSpPr>
        <p:spPr>
          <a:xfrm>
            <a:off x="180654" y="152243"/>
            <a:ext cx="70422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Converging-Diverging Nozzle</a:t>
            </a:r>
            <a:endParaRPr sz="2400"/>
          </a:p>
        </p:txBody>
      </p:sp>
      <p:sp>
        <p:nvSpPr>
          <p:cNvPr id="107" name="Google Shape;107;p11"/>
          <p:cNvSpPr txBox="1"/>
          <p:nvPr>
            <p:ph idx="1" type="body"/>
          </p:nvPr>
        </p:nvSpPr>
        <p:spPr>
          <a:xfrm>
            <a:off x="2" y="759463"/>
            <a:ext cx="199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700">
                <a:latin typeface="Open Sans Medium"/>
                <a:ea typeface="Open Sans Medium"/>
                <a:cs typeface="Open Sans Medium"/>
                <a:sym typeface="Open Sans Medium"/>
              </a:rPr>
              <a:t>Meshing</a:t>
            </a:r>
            <a:endParaRPr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graphicFrame>
        <p:nvGraphicFramePr>
          <p:cNvPr id="108" name="Google Shape;108;p11"/>
          <p:cNvGraphicFramePr/>
          <p:nvPr/>
        </p:nvGraphicFramePr>
        <p:xfrm>
          <a:off x="1063000" y="1151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{686153D9-9945-4F4D-AA6C-52F930B618C2}</a:tableStyleId>
              </a:tblPr>
              <a:tblGrid>
                <a:gridCol w="1279250"/>
                <a:gridCol w="2705775"/>
                <a:gridCol w="3032975"/>
              </a:tblGrid>
              <a:tr h="307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Specifications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Element Size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Element Quality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</a:tr>
              <a:tr h="128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Default Mesh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5mm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133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Optimized Mesh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0.1mm/0.5mm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/>
                </a:tc>
              </a:tr>
            </a:tbl>
          </a:graphicData>
        </a:graphic>
      </p:graphicFrame>
      <p:pic>
        <p:nvPicPr>
          <p:cNvPr id="109" name="Google Shape;109;p11"/>
          <p:cNvPicPr preferRelativeResize="0"/>
          <p:nvPr/>
        </p:nvPicPr>
        <p:blipFill rotWithShape="1">
          <a:blip r:embed="rId3">
            <a:alphaModFix/>
          </a:blip>
          <a:srcRect b="23271" l="36337" r="15187" t="32687"/>
          <a:stretch/>
        </p:blipFill>
        <p:spPr>
          <a:xfrm>
            <a:off x="2456825" y="1746950"/>
            <a:ext cx="2461051" cy="9432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0" name="Google Shape;110;p11"/>
          <p:cNvPicPr preferRelativeResize="0"/>
          <p:nvPr/>
        </p:nvPicPr>
        <p:blipFill rotWithShape="1">
          <a:blip r:embed="rId4">
            <a:alphaModFix/>
          </a:blip>
          <a:srcRect b="22496" l="36588" r="14835" t="33906"/>
          <a:stretch/>
        </p:blipFill>
        <p:spPr>
          <a:xfrm>
            <a:off x="2441762" y="3038025"/>
            <a:ext cx="2491176" cy="9432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1" name="Google Shape;111;p11"/>
          <p:cNvPicPr preferRelativeResize="0"/>
          <p:nvPr/>
        </p:nvPicPr>
        <p:blipFill rotWithShape="1">
          <a:blip r:embed="rId5">
            <a:alphaModFix/>
          </a:blip>
          <a:srcRect b="10094" l="23573" r="4380" t="25861"/>
          <a:stretch/>
        </p:blipFill>
        <p:spPr>
          <a:xfrm>
            <a:off x="5334375" y="1746950"/>
            <a:ext cx="2456506" cy="9432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2" name="Google Shape;112;p11"/>
          <p:cNvPicPr preferRelativeResize="0"/>
          <p:nvPr/>
        </p:nvPicPr>
        <p:blipFill rotWithShape="1">
          <a:blip r:embed="rId6">
            <a:alphaModFix/>
          </a:blip>
          <a:srcRect b="10788" l="23710" r="2358" t="22864"/>
          <a:stretch/>
        </p:blipFill>
        <p:spPr>
          <a:xfrm>
            <a:off x="5316925" y="3038023"/>
            <a:ext cx="2491406" cy="9432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3" name="Google Shape;113;p11"/>
          <p:cNvSpPr txBox="1"/>
          <p:nvPr>
            <p:ph idx="1" type="body"/>
          </p:nvPr>
        </p:nvSpPr>
        <p:spPr>
          <a:xfrm>
            <a:off x="-8" y="4121925"/>
            <a:ext cx="9001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300">
                <a:latin typeface="Open Sans Medium"/>
                <a:ea typeface="Open Sans Medium"/>
                <a:cs typeface="Open Sans Medium"/>
                <a:sym typeface="Open Sans Medium"/>
              </a:rPr>
              <a:t>Outcomes:</a:t>
            </a:r>
            <a:endParaRPr sz="13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Char char="•"/>
            </a:pPr>
            <a:r>
              <a:rPr b="1" lang="en-US" sz="1100">
                <a:latin typeface="Open Sans"/>
                <a:ea typeface="Open Sans"/>
                <a:cs typeface="Open Sans"/>
                <a:sym typeface="Open Sans"/>
              </a:rPr>
              <a:t>Hex-dominant</a:t>
            </a:r>
            <a:r>
              <a:rPr lang="en-US" sz="1100">
                <a:latin typeface="Open Sans Medium"/>
                <a:ea typeface="Open Sans Medium"/>
                <a:cs typeface="Open Sans Medium"/>
                <a:sym typeface="Open Sans Medium"/>
              </a:rPr>
              <a:t> meshing method used </a:t>
            </a:r>
            <a:endParaRPr sz="11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Char char="•"/>
            </a:pPr>
            <a:r>
              <a:rPr lang="en-US" sz="1100">
                <a:latin typeface="Open Sans Medium"/>
                <a:ea typeface="Open Sans Medium"/>
                <a:cs typeface="Open Sans Medium"/>
                <a:sym typeface="Open Sans Medium"/>
              </a:rPr>
              <a:t>Number of Nodes - </a:t>
            </a:r>
            <a:r>
              <a:rPr b="1" lang="en-US" sz="1100">
                <a:latin typeface="Open Sans"/>
                <a:ea typeface="Open Sans"/>
                <a:cs typeface="Open Sans"/>
                <a:sym typeface="Open Sans"/>
              </a:rPr>
              <a:t>11770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Char char="•"/>
            </a:pPr>
            <a:r>
              <a:rPr lang="en-US" sz="1100">
                <a:latin typeface="Open Sans Medium"/>
                <a:ea typeface="Open Sans Medium"/>
                <a:cs typeface="Open Sans Medium"/>
                <a:sym typeface="Open Sans Medium"/>
              </a:rPr>
              <a:t>Number of Elements - </a:t>
            </a:r>
            <a:r>
              <a:rPr b="1" lang="en-US" sz="1100">
                <a:latin typeface="Open Sans"/>
                <a:ea typeface="Open Sans"/>
                <a:cs typeface="Open Sans"/>
                <a:sym typeface="Open Sans"/>
              </a:rPr>
              <a:t>11551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11"/>
          <p:cNvSpPr txBox="1"/>
          <p:nvPr/>
        </p:nvSpPr>
        <p:spPr>
          <a:xfrm>
            <a:off x="1062900" y="3981300"/>
            <a:ext cx="7017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Table:</a:t>
            </a:r>
            <a:r>
              <a:rPr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Mesh Specifications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2"/>
          <p:cNvPicPr preferRelativeResize="0"/>
          <p:nvPr/>
        </p:nvPicPr>
        <p:blipFill rotWithShape="1">
          <a:blip r:embed="rId3">
            <a:alphaModFix/>
          </a:blip>
          <a:srcRect b="24397" l="24120" r="13892" t="19413"/>
          <a:stretch/>
        </p:blipFill>
        <p:spPr>
          <a:xfrm>
            <a:off x="4461394" y="1201675"/>
            <a:ext cx="4583078" cy="17525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120" name="Google Shape;120;p12"/>
          <p:cNvGraphicFramePr/>
          <p:nvPr/>
        </p:nvGraphicFramePr>
        <p:xfrm>
          <a:off x="580800" y="120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{686153D9-9945-4F4D-AA6C-52F930B618C2}</a:tableStyleId>
              </a:tblPr>
              <a:tblGrid>
                <a:gridCol w="1520375"/>
                <a:gridCol w="1449125"/>
              </a:tblGrid>
              <a:tr h="224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Specifications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Details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</a:tr>
              <a:tr h="21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Solver Type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Density Based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1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Time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Steady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1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2D Space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Planar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1322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Model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Energy Eqn. (On)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132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Viscous (Inviscid)</a:t>
                      </a:r>
                      <a:endParaRPr sz="1000"/>
                    </a:p>
                  </a:txBody>
                  <a:tcPr marT="68575" marB="68575" marR="91425" marL="91425"/>
                </a:tc>
              </a:tr>
            </a:tbl>
          </a:graphicData>
        </a:graphic>
      </p:graphicFrame>
      <p:graphicFrame>
        <p:nvGraphicFramePr>
          <p:cNvPr id="121" name="Google Shape;121;p12"/>
          <p:cNvGraphicFramePr/>
          <p:nvPr/>
        </p:nvGraphicFramePr>
        <p:xfrm>
          <a:off x="580800" y="335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{686153D9-9945-4F4D-AA6C-52F930B618C2}</a:tableStyleId>
              </a:tblPr>
              <a:tblGrid>
                <a:gridCol w="1761000"/>
                <a:gridCol w="1208500"/>
              </a:tblGrid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Specifications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Details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Density (kg/m</a:t>
                      </a:r>
                      <a:r>
                        <a:rPr baseline="30000" lang="en-US" sz="1000"/>
                        <a:t>3</a:t>
                      </a:r>
                      <a:r>
                        <a:rPr lang="en-US" sz="1000"/>
                        <a:t>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Ideal Gas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Cp (J/kg-K)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1006.43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Molecular Weight (kg/kmol)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28.966</a:t>
                      </a:r>
                      <a:endParaRPr sz="1000"/>
                    </a:p>
                  </a:txBody>
                  <a:tcPr marT="68575" marB="68575" marR="91425" marL="91425"/>
                </a:tc>
              </a:tr>
            </a:tbl>
          </a:graphicData>
        </a:graphic>
      </p:graphicFrame>
      <p:sp>
        <p:nvSpPr>
          <p:cNvPr id="122" name="Google Shape;122;p12"/>
          <p:cNvSpPr txBox="1"/>
          <p:nvPr>
            <p:ph type="title"/>
          </p:nvPr>
        </p:nvSpPr>
        <p:spPr>
          <a:xfrm>
            <a:off x="180654" y="152243"/>
            <a:ext cx="70422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Converging-Diverging Nozzle</a:t>
            </a:r>
            <a:endParaRPr sz="2400"/>
          </a:p>
        </p:txBody>
      </p:sp>
      <p:sp>
        <p:nvSpPr>
          <p:cNvPr id="123" name="Google Shape;123;p12"/>
          <p:cNvSpPr txBox="1"/>
          <p:nvPr>
            <p:ph idx="1" type="body"/>
          </p:nvPr>
        </p:nvSpPr>
        <p:spPr>
          <a:xfrm>
            <a:off x="580950" y="759475"/>
            <a:ext cx="296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700">
                <a:latin typeface="Open Sans Medium"/>
                <a:ea typeface="Open Sans Medium"/>
                <a:cs typeface="Open Sans Medium"/>
                <a:sym typeface="Open Sans Medium"/>
              </a:rPr>
              <a:t>Pre-Processing</a:t>
            </a:r>
            <a:endParaRPr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24" name="Google Shape;124;p12"/>
          <p:cNvSpPr txBox="1"/>
          <p:nvPr>
            <p:ph idx="1" type="body"/>
          </p:nvPr>
        </p:nvSpPr>
        <p:spPr>
          <a:xfrm>
            <a:off x="5440925" y="759475"/>
            <a:ext cx="2624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700">
                <a:latin typeface="Open Sans Medium"/>
                <a:ea typeface="Open Sans Medium"/>
                <a:cs typeface="Open Sans Medium"/>
                <a:sym typeface="Open Sans Medium"/>
              </a:rPr>
              <a:t>Boundary Conditions</a:t>
            </a:r>
            <a:endParaRPr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25" name="Google Shape;125;p12"/>
          <p:cNvSpPr txBox="1"/>
          <p:nvPr/>
        </p:nvSpPr>
        <p:spPr>
          <a:xfrm>
            <a:off x="580950" y="2864800"/>
            <a:ext cx="296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Table:</a:t>
            </a:r>
            <a:r>
              <a:rPr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General Specifications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" name="Google Shape;126;p12"/>
          <p:cNvSpPr txBox="1"/>
          <p:nvPr/>
        </p:nvSpPr>
        <p:spPr>
          <a:xfrm>
            <a:off x="580850" y="4472150"/>
            <a:ext cx="296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Table:</a:t>
            </a:r>
            <a:r>
              <a:rPr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Material Specifications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27" name="Google Shape;127;p12"/>
          <p:cNvGraphicFramePr/>
          <p:nvPr/>
        </p:nvGraphicFramePr>
        <p:xfrm>
          <a:off x="5268175" y="3143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{686153D9-9945-4F4D-AA6C-52F930B618C2}</a:tableStyleId>
              </a:tblPr>
              <a:tblGrid>
                <a:gridCol w="1761000"/>
                <a:gridCol w="1208500"/>
              </a:tblGrid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Specifications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Details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Inlet Gauge Pressure (Pa)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3e5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Inlet Temperature (K)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300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Outlet Gauge Pressure (Pa)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1.7e5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Outlet Temperature (K)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273</a:t>
                      </a:r>
                      <a:endParaRPr sz="1000"/>
                    </a:p>
                  </a:txBody>
                  <a:tcPr marT="68575" marB="68575" marR="91425" marL="91425"/>
                </a:tc>
              </a:tr>
            </a:tbl>
          </a:graphicData>
        </a:graphic>
      </p:graphicFrame>
      <p:sp>
        <p:nvSpPr>
          <p:cNvPr id="128" name="Google Shape;128;p12"/>
          <p:cNvSpPr txBox="1"/>
          <p:nvPr/>
        </p:nvSpPr>
        <p:spPr>
          <a:xfrm>
            <a:off x="5268275" y="4532325"/>
            <a:ext cx="296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Table:</a:t>
            </a:r>
            <a:r>
              <a:rPr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Boundary Conditions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type="title"/>
          </p:nvPr>
        </p:nvSpPr>
        <p:spPr>
          <a:xfrm>
            <a:off x="180654" y="152243"/>
            <a:ext cx="70422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Converging-Diverging Nozzle</a:t>
            </a:r>
            <a:endParaRPr sz="2400"/>
          </a:p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2" y="759463"/>
            <a:ext cx="199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700">
                <a:latin typeface="Open Sans Medium"/>
                <a:ea typeface="Open Sans Medium"/>
                <a:cs typeface="Open Sans Medium"/>
                <a:sym typeface="Open Sans Medium"/>
              </a:rPr>
              <a:t>Post-Processing</a:t>
            </a:r>
            <a:endParaRPr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35" name="Google Shape;135;p13"/>
          <p:cNvSpPr txBox="1"/>
          <p:nvPr>
            <p:ph idx="1" type="body"/>
          </p:nvPr>
        </p:nvSpPr>
        <p:spPr>
          <a:xfrm>
            <a:off x="-8" y="3829325"/>
            <a:ext cx="900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300">
                <a:latin typeface="Open Sans Medium"/>
                <a:ea typeface="Open Sans Medium"/>
                <a:cs typeface="Open Sans Medium"/>
                <a:sym typeface="Open Sans Medium"/>
              </a:rPr>
              <a:t>Outcomes:</a:t>
            </a:r>
            <a:endParaRPr sz="13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Char char="•"/>
            </a:pPr>
            <a:r>
              <a:rPr lang="en-US" sz="1100">
                <a:latin typeface="Open Sans Medium"/>
                <a:ea typeface="Open Sans Medium"/>
                <a:cs typeface="Open Sans Medium"/>
                <a:sym typeface="Open Sans Medium"/>
              </a:rPr>
              <a:t>Shock observed at </a:t>
            </a:r>
            <a:r>
              <a:rPr b="1" lang="en-US" sz="1100">
                <a:latin typeface="Open Sans"/>
                <a:ea typeface="Open Sans"/>
                <a:cs typeface="Open Sans"/>
                <a:sym typeface="Open Sans"/>
              </a:rPr>
              <a:t>30mm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36" name="Google Shape;136;p13"/>
          <p:cNvGraphicFramePr/>
          <p:nvPr/>
        </p:nvGraphicFramePr>
        <p:xfrm>
          <a:off x="2815400" y="8465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{686153D9-9945-4F4D-AA6C-52F930B618C2}</a:tableStyleId>
              </a:tblPr>
              <a:tblGrid>
                <a:gridCol w="1179550"/>
                <a:gridCol w="2856650"/>
                <a:gridCol w="2209925"/>
              </a:tblGrid>
              <a:tr h="2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Specifications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Contours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Plots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</a:tr>
              <a:tr h="125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Mach Number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120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Static Pressure</a:t>
                      </a:r>
                      <a:endParaRPr b="1"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114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Density</a:t>
                      </a:r>
                      <a:endParaRPr b="1"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/>
                </a:tc>
              </a:tr>
            </a:tbl>
          </a:graphicData>
        </a:graphic>
      </p:graphicFrame>
      <p:sp>
        <p:nvSpPr>
          <p:cNvPr id="137" name="Google Shape;137;p13"/>
          <p:cNvSpPr txBox="1"/>
          <p:nvPr>
            <p:ph idx="1" type="body"/>
          </p:nvPr>
        </p:nvSpPr>
        <p:spPr>
          <a:xfrm>
            <a:off x="959800" y="1402800"/>
            <a:ext cx="90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300"/>
              <a:t>Residuals</a:t>
            </a:r>
            <a:endParaRPr sz="1300"/>
          </a:p>
        </p:txBody>
      </p:sp>
      <p:pic>
        <p:nvPicPr>
          <p:cNvPr id="138" name="Google Shape;138;p13"/>
          <p:cNvPicPr preferRelativeResize="0"/>
          <p:nvPr/>
        </p:nvPicPr>
        <p:blipFill rotWithShape="1">
          <a:blip r:embed="rId3">
            <a:alphaModFix/>
          </a:blip>
          <a:srcRect b="35570" l="41424" r="13943" t="36061"/>
          <a:stretch/>
        </p:blipFill>
        <p:spPr>
          <a:xfrm>
            <a:off x="4037924" y="1311700"/>
            <a:ext cx="2767949" cy="9896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9" name="Google Shape;139;p13"/>
          <p:cNvPicPr preferRelativeResize="0"/>
          <p:nvPr/>
        </p:nvPicPr>
        <p:blipFill rotWithShape="1">
          <a:blip r:embed="rId4">
            <a:alphaModFix/>
          </a:blip>
          <a:srcRect b="33334" l="41642" r="13725" t="36257"/>
          <a:stretch/>
        </p:blipFill>
        <p:spPr>
          <a:xfrm>
            <a:off x="4037921" y="2481688"/>
            <a:ext cx="2767949" cy="106083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0" name="Google Shape;140;p13"/>
          <p:cNvPicPr preferRelativeResize="0"/>
          <p:nvPr/>
        </p:nvPicPr>
        <p:blipFill rotWithShape="1">
          <a:blip r:embed="rId5">
            <a:alphaModFix/>
          </a:blip>
          <a:srcRect b="33530" l="41535" r="13832" t="36060"/>
          <a:stretch/>
        </p:blipFill>
        <p:spPr>
          <a:xfrm>
            <a:off x="4037925" y="3651688"/>
            <a:ext cx="2767949" cy="106082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1" name="Google Shape;141;p13"/>
          <p:cNvPicPr preferRelativeResize="0"/>
          <p:nvPr/>
        </p:nvPicPr>
        <p:blipFill rotWithShape="1">
          <a:blip r:embed="rId6">
            <a:alphaModFix/>
          </a:blip>
          <a:srcRect b="24951" l="46384" r="4714" t="27278"/>
          <a:stretch/>
        </p:blipFill>
        <p:spPr>
          <a:xfrm>
            <a:off x="7025125" y="2487649"/>
            <a:ext cx="1908773" cy="104889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2" name="Google Shape;142;p13"/>
          <p:cNvPicPr preferRelativeResize="0"/>
          <p:nvPr/>
        </p:nvPicPr>
        <p:blipFill rotWithShape="1">
          <a:blip r:embed="rId7">
            <a:alphaModFix/>
          </a:blip>
          <a:srcRect b="24949" l="46489" r="4607" t="27275"/>
          <a:stretch/>
        </p:blipFill>
        <p:spPr>
          <a:xfrm>
            <a:off x="7025125" y="1252450"/>
            <a:ext cx="1908773" cy="104891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3" name="Google Shape;143;p13"/>
          <p:cNvPicPr preferRelativeResize="0"/>
          <p:nvPr/>
        </p:nvPicPr>
        <p:blipFill rotWithShape="1">
          <a:blip r:embed="rId8">
            <a:alphaModFix/>
          </a:blip>
          <a:srcRect b="24953" l="46818" r="4826" t="27271"/>
          <a:stretch/>
        </p:blipFill>
        <p:spPr>
          <a:xfrm>
            <a:off x="7025125" y="3651700"/>
            <a:ext cx="1908787" cy="1060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44" name="Google Shape;144;p13"/>
          <p:cNvCxnSpPr/>
          <p:nvPr/>
        </p:nvCxnSpPr>
        <p:spPr>
          <a:xfrm>
            <a:off x="8022027" y="1252450"/>
            <a:ext cx="0" cy="3400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13"/>
          <p:cNvCxnSpPr/>
          <p:nvPr/>
        </p:nvCxnSpPr>
        <p:spPr>
          <a:xfrm>
            <a:off x="5698227" y="1311713"/>
            <a:ext cx="0" cy="3400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46" name="Google Shape;146;p13"/>
          <p:cNvPicPr preferRelativeResize="0"/>
          <p:nvPr/>
        </p:nvPicPr>
        <p:blipFill rotWithShape="1">
          <a:blip r:embed="rId9">
            <a:alphaModFix/>
          </a:blip>
          <a:srcRect b="24891" l="41291" r="4798" t="20476"/>
          <a:stretch/>
        </p:blipFill>
        <p:spPr>
          <a:xfrm>
            <a:off x="53225" y="1695300"/>
            <a:ext cx="2723050" cy="1552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"/>
          <p:cNvSpPr txBox="1"/>
          <p:nvPr>
            <p:ph type="title"/>
          </p:nvPr>
        </p:nvSpPr>
        <p:spPr>
          <a:xfrm>
            <a:off x="180654" y="152243"/>
            <a:ext cx="70422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Converging-Diverging Nozzle</a:t>
            </a:r>
            <a:endParaRPr sz="2400"/>
          </a:p>
        </p:txBody>
      </p:sp>
      <p:sp>
        <p:nvSpPr>
          <p:cNvPr id="152" name="Google Shape;152;p14"/>
          <p:cNvSpPr txBox="1"/>
          <p:nvPr>
            <p:ph idx="1" type="body"/>
          </p:nvPr>
        </p:nvSpPr>
        <p:spPr>
          <a:xfrm>
            <a:off x="2" y="759463"/>
            <a:ext cx="199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700">
                <a:latin typeface="Open Sans Medium"/>
                <a:ea typeface="Open Sans Medium"/>
                <a:cs typeface="Open Sans Medium"/>
                <a:sym typeface="Open Sans Medium"/>
              </a:rPr>
              <a:t>Post-Processing</a:t>
            </a:r>
            <a:endParaRPr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53" name="Google Shape;153;p14"/>
          <p:cNvSpPr txBox="1"/>
          <p:nvPr>
            <p:ph idx="1" type="body"/>
          </p:nvPr>
        </p:nvSpPr>
        <p:spPr>
          <a:xfrm>
            <a:off x="-8" y="3829325"/>
            <a:ext cx="9001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300">
                <a:latin typeface="Open Sans Medium"/>
                <a:ea typeface="Open Sans Medium"/>
                <a:cs typeface="Open Sans Medium"/>
                <a:sym typeface="Open Sans Medium"/>
              </a:rPr>
              <a:t>Outcomes:</a:t>
            </a:r>
            <a:endParaRPr sz="13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Char char="•"/>
            </a:pPr>
            <a:r>
              <a:rPr lang="en-US" sz="1100">
                <a:latin typeface="Open Sans Medium"/>
                <a:ea typeface="Open Sans Medium"/>
                <a:cs typeface="Open Sans Medium"/>
                <a:sym typeface="Open Sans Medium"/>
              </a:rPr>
              <a:t>Outlet Pressure increased by 5e3</a:t>
            </a:r>
            <a:endParaRPr sz="11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Char char="•"/>
            </a:pPr>
            <a:r>
              <a:rPr lang="en-US" sz="1100">
                <a:latin typeface="Open Sans Medium"/>
                <a:ea typeface="Open Sans Medium"/>
                <a:cs typeface="Open Sans Medium"/>
                <a:sym typeface="Open Sans Medium"/>
              </a:rPr>
              <a:t>Shock observed at </a:t>
            </a:r>
            <a:r>
              <a:rPr b="1" lang="en-US" sz="1100">
                <a:latin typeface="Open Sans"/>
                <a:ea typeface="Open Sans"/>
                <a:cs typeface="Open Sans"/>
                <a:sym typeface="Open Sans"/>
              </a:rPr>
              <a:t>25</a:t>
            </a:r>
            <a:r>
              <a:rPr b="1" lang="en-US" sz="1100">
                <a:latin typeface="Open Sans"/>
                <a:ea typeface="Open Sans"/>
                <a:cs typeface="Open Sans"/>
                <a:sym typeface="Open Sans"/>
              </a:rPr>
              <a:t>mm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Char char="•"/>
            </a:pPr>
            <a:r>
              <a:rPr lang="en-US" sz="1100">
                <a:latin typeface="Open Sans Medium"/>
                <a:ea typeface="Open Sans Medium"/>
                <a:cs typeface="Open Sans Medium"/>
                <a:sym typeface="Open Sans Medium"/>
              </a:rPr>
              <a:t>Convergence at </a:t>
            </a:r>
            <a:r>
              <a:rPr b="1" lang="en-US" sz="1100">
                <a:latin typeface="Open Sans"/>
                <a:ea typeface="Open Sans"/>
                <a:cs typeface="Open Sans"/>
                <a:sym typeface="Open Sans"/>
              </a:rPr>
              <a:t>Step 540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54" name="Google Shape;154;p14"/>
          <p:cNvGraphicFramePr/>
          <p:nvPr/>
        </p:nvGraphicFramePr>
        <p:xfrm>
          <a:off x="2815400" y="8465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{686153D9-9945-4F4D-AA6C-52F930B618C2}</a:tableStyleId>
              </a:tblPr>
              <a:tblGrid>
                <a:gridCol w="1179550"/>
                <a:gridCol w="2856650"/>
                <a:gridCol w="2209925"/>
              </a:tblGrid>
              <a:tr h="2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Specifications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Contours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Plots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</a:tr>
              <a:tr h="125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Mach Number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120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Static Pressure</a:t>
                      </a:r>
                      <a:endParaRPr b="1"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114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Density</a:t>
                      </a:r>
                      <a:endParaRPr b="1"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/>
                </a:tc>
              </a:tr>
            </a:tbl>
          </a:graphicData>
        </a:graphic>
      </p:graphicFrame>
      <p:sp>
        <p:nvSpPr>
          <p:cNvPr id="155" name="Google Shape;155;p14"/>
          <p:cNvSpPr txBox="1"/>
          <p:nvPr>
            <p:ph idx="1" type="body"/>
          </p:nvPr>
        </p:nvSpPr>
        <p:spPr>
          <a:xfrm>
            <a:off x="959800" y="1402800"/>
            <a:ext cx="90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300"/>
              <a:t>Residuals</a:t>
            </a:r>
            <a:endParaRPr sz="1300"/>
          </a:p>
        </p:txBody>
      </p:sp>
      <p:pic>
        <p:nvPicPr>
          <p:cNvPr id="156" name="Google Shape;156;p14"/>
          <p:cNvPicPr preferRelativeResize="0"/>
          <p:nvPr/>
        </p:nvPicPr>
        <p:blipFill rotWithShape="1">
          <a:blip r:embed="rId3">
            <a:alphaModFix/>
          </a:blip>
          <a:srcRect b="25548" l="41258" r="5042" t="20415"/>
          <a:stretch/>
        </p:blipFill>
        <p:spPr>
          <a:xfrm>
            <a:off x="53225" y="1700750"/>
            <a:ext cx="2723050" cy="154129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7" name="Google Shape;157;p14"/>
          <p:cNvPicPr preferRelativeResize="0"/>
          <p:nvPr/>
        </p:nvPicPr>
        <p:blipFill rotWithShape="1">
          <a:blip r:embed="rId4">
            <a:alphaModFix/>
          </a:blip>
          <a:srcRect b="34912" l="41467" r="13659" t="36483"/>
          <a:stretch/>
        </p:blipFill>
        <p:spPr>
          <a:xfrm>
            <a:off x="4037925" y="1308821"/>
            <a:ext cx="2767949" cy="99253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8" name="Google Shape;158;p14"/>
          <p:cNvPicPr preferRelativeResize="0"/>
          <p:nvPr/>
        </p:nvPicPr>
        <p:blipFill rotWithShape="1">
          <a:blip r:embed="rId5">
            <a:alphaModFix/>
          </a:blip>
          <a:srcRect b="33528" l="41467" r="13659" t="36293"/>
          <a:stretch/>
        </p:blipFill>
        <p:spPr>
          <a:xfrm>
            <a:off x="4037925" y="2456396"/>
            <a:ext cx="2767949" cy="104710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9" name="Google Shape;159;p14"/>
          <p:cNvPicPr preferRelativeResize="0"/>
          <p:nvPr/>
        </p:nvPicPr>
        <p:blipFill rotWithShape="1">
          <a:blip r:embed="rId6">
            <a:alphaModFix/>
          </a:blip>
          <a:srcRect b="33715" l="41256" r="13870" t="36108"/>
          <a:stretch/>
        </p:blipFill>
        <p:spPr>
          <a:xfrm>
            <a:off x="4037925" y="3658541"/>
            <a:ext cx="2767949" cy="10471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0" name="Google Shape;160;p14"/>
          <p:cNvPicPr preferRelativeResize="0"/>
          <p:nvPr/>
        </p:nvPicPr>
        <p:blipFill rotWithShape="1">
          <a:blip r:embed="rId7">
            <a:alphaModFix/>
          </a:blip>
          <a:srcRect b="25551" l="46192" r="4767" t="27273"/>
          <a:stretch/>
        </p:blipFill>
        <p:spPr>
          <a:xfrm>
            <a:off x="7025125" y="2477885"/>
            <a:ext cx="1908773" cy="103287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1" name="Google Shape;161;p14"/>
          <p:cNvPicPr preferRelativeResize="0"/>
          <p:nvPr/>
        </p:nvPicPr>
        <p:blipFill rotWithShape="1">
          <a:blip r:embed="rId8">
            <a:alphaModFix/>
          </a:blip>
          <a:srcRect b="25551" l="46786" r="4621" t="27273"/>
          <a:stretch/>
        </p:blipFill>
        <p:spPr>
          <a:xfrm>
            <a:off x="7025125" y="1285338"/>
            <a:ext cx="1908773" cy="10423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2" name="Google Shape;162;p14"/>
          <p:cNvPicPr preferRelativeResize="0"/>
          <p:nvPr/>
        </p:nvPicPr>
        <p:blipFill rotWithShape="1">
          <a:blip r:embed="rId9">
            <a:alphaModFix/>
          </a:blip>
          <a:srcRect b="25551" l="46786" r="4621" t="27273"/>
          <a:stretch/>
        </p:blipFill>
        <p:spPr>
          <a:xfrm>
            <a:off x="7025125" y="3660913"/>
            <a:ext cx="1908773" cy="104237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63" name="Google Shape;163;p14"/>
          <p:cNvCxnSpPr/>
          <p:nvPr/>
        </p:nvCxnSpPr>
        <p:spPr>
          <a:xfrm>
            <a:off x="7934502" y="1293913"/>
            <a:ext cx="0" cy="3400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14"/>
          <p:cNvCxnSpPr/>
          <p:nvPr/>
        </p:nvCxnSpPr>
        <p:spPr>
          <a:xfrm>
            <a:off x="5562102" y="1308813"/>
            <a:ext cx="0" cy="3400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/>
          <p:nvPr>
            <p:ph type="title"/>
          </p:nvPr>
        </p:nvSpPr>
        <p:spPr>
          <a:xfrm>
            <a:off x="180654" y="152243"/>
            <a:ext cx="70422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Converging-Diverging Nozzle</a:t>
            </a:r>
            <a:endParaRPr sz="2400"/>
          </a:p>
        </p:txBody>
      </p:sp>
      <p:sp>
        <p:nvSpPr>
          <p:cNvPr id="170" name="Google Shape;170;p15"/>
          <p:cNvSpPr txBox="1"/>
          <p:nvPr>
            <p:ph idx="1" type="body"/>
          </p:nvPr>
        </p:nvSpPr>
        <p:spPr>
          <a:xfrm>
            <a:off x="2" y="759463"/>
            <a:ext cx="199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700">
                <a:latin typeface="Open Sans Medium"/>
                <a:ea typeface="Open Sans Medium"/>
                <a:cs typeface="Open Sans Medium"/>
                <a:sym typeface="Open Sans Medium"/>
              </a:rPr>
              <a:t>Post-Processing</a:t>
            </a:r>
            <a:endParaRPr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71" name="Google Shape;171;p15"/>
          <p:cNvSpPr txBox="1"/>
          <p:nvPr>
            <p:ph idx="1" type="body"/>
          </p:nvPr>
        </p:nvSpPr>
        <p:spPr>
          <a:xfrm>
            <a:off x="-8" y="4121925"/>
            <a:ext cx="9001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300">
                <a:latin typeface="Open Sans Medium"/>
                <a:ea typeface="Open Sans Medium"/>
                <a:cs typeface="Open Sans Medium"/>
                <a:sym typeface="Open Sans Medium"/>
              </a:rPr>
              <a:t>Outcomes:</a:t>
            </a:r>
            <a:endParaRPr sz="13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Char char="•"/>
            </a:pPr>
            <a:r>
              <a:rPr lang="en-US" sz="1100">
                <a:latin typeface="Open Sans Medium"/>
                <a:ea typeface="Open Sans Medium"/>
                <a:cs typeface="Open Sans Medium"/>
                <a:sym typeface="Open Sans Medium"/>
              </a:rPr>
              <a:t>Outlet Gauge Pressure set to 0</a:t>
            </a:r>
            <a:endParaRPr sz="11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Char char="•"/>
            </a:pPr>
            <a:r>
              <a:rPr lang="en-US" sz="1100">
                <a:latin typeface="Open Sans Medium"/>
                <a:ea typeface="Open Sans Medium"/>
                <a:cs typeface="Open Sans Medium"/>
                <a:sym typeface="Open Sans Medium"/>
              </a:rPr>
              <a:t>Convergence at </a:t>
            </a:r>
            <a:r>
              <a:rPr b="1" lang="en-US" sz="1100">
                <a:latin typeface="Open Sans"/>
                <a:ea typeface="Open Sans"/>
                <a:cs typeface="Open Sans"/>
                <a:sym typeface="Open Sans"/>
              </a:rPr>
              <a:t>Step 81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Char char="•"/>
            </a:pPr>
            <a:r>
              <a:rPr lang="en-US" sz="1100">
                <a:latin typeface="Open Sans Medium"/>
                <a:ea typeface="Open Sans Medium"/>
                <a:cs typeface="Open Sans Medium"/>
                <a:sym typeface="Open Sans Medium"/>
              </a:rPr>
              <a:t>No shock formed</a:t>
            </a:r>
            <a:endParaRPr sz="11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graphicFrame>
        <p:nvGraphicFramePr>
          <p:cNvPr id="172" name="Google Shape;172;p15"/>
          <p:cNvGraphicFramePr/>
          <p:nvPr/>
        </p:nvGraphicFramePr>
        <p:xfrm>
          <a:off x="2815400" y="8465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{686153D9-9945-4F4D-AA6C-52F930B618C2}</a:tableStyleId>
              </a:tblPr>
              <a:tblGrid>
                <a:gridCol w="1179550"/>
                <a:gridCol w="2856650"/>
                <a:gridCol w="2209925"/>
              </a:tblGrid>
              <a:tr h="2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Specifications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Contours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Plots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</a:tr>
              <a:tr h="125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Mach Number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120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Static Pressure</a:t>
                      </a:r>
                      <a:endParaRPr b="1"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114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Density</a:t>
                      </a:r>
                      <a:endParaRPr b="1"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/>
                </a:tc>
              </a:tr>
            </a:tbl>
          </a:graphicData>
        </a:graphic>
      </p:graphicFrame>
      <p:sp>
        <p:nvSpPr>
          <p:cNvPr id="173" name="Google Shape;173;p15"/>
          <p:cNvSpPr txBox="1"/>
          <p:nvPr>
            <p:ph idx="1" type="body"/>
          </p:nvPr>
        </p:nvSpPr>
        <p:spPr>
          <a:xfrm>
            <a:off x="959800" y="1402800"/>
            <a:ext cx="90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300"/>
              <a:t>Residuals</a:t>
            </a:r>
            <a:endParaRPr sz="1300"/>
          </a:p>
        </p:txBody>
      </p:sp>
      <p:pic>
        <p:nvPicPr>
          <p:cNvPr id="174" name="Google Shape;174;p15"/>
          <p:cNvPicPr preferRelativeResize="0"/>
          <p:nvPr/>
        </p:nvPicPr>
        <p:blipFill rotWithShape="1">
          <a:blip r:embed="rId3">
            <a:alphaModFix/>
          </a:blip>
          <a:srcRect b="24371" l="41211" r="4163" t="20466"/>
          <a:stretch/>
        </p:blipFill>
        <p:spPr>
          <a:xfrm>
            <a:off x="130425" y="1695300"/>
            <a:ext cx="2568648" cy="14591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5" name="Google Shape;175;p15"/>
          <p:cNvPicPr preferRelativeResize="0"/>
          <p:nvPr/>
        </p:nvPicPr>
        <p:blipFill rotWithShape="1">
          <a:blip r:embed="rId4">
            <a:alphaModFix/>
          </a:blip>
          <a:srcRect b="33985" l="41528" r="13645" t="35545"/>
          <a:stretch/>
        </p:blipFill>
        <p:spPr>
          <a:xfrm>
            <a:off x="4048475" y="1304612"/>
            <a:ext cx="2742826" cy="10487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6" name="Google Shape;176;p15"/>
          <p:cNvPicPr preferRelativeResize="0"/>
          <p:nvPr/>
        </p:nvPicPr>
        <p:blipFill rotWithShape="1">
          <a:blip r:embed="rId5">
            <a:alphaModFix/>
          </a:blip>
          <a:srcRect b="32419" l="41526" r="13649" t="36136"/>
          <a:stretch/>
        </p:blipFill>
        <p:spPr>
          <a:xfrm>
            <a:off x="4048475" y="2470937"/>
            <a:ext cx="2742826" cy="108234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7" name="Google Shape;177;p15"/>
          <p:cNvPicPr preferRelativeResize="0"/>
          <p:nvPr/>
        </p:nvPicPr>
        <p:blipFill rotWithShape="1">
          <a:blip r:embed="rId6">
            <a:alphaModFix/>
          </a:blip>
          <a:srcRect b="34958" l="41526" r="13649" t="35746"/>
          <a:stretch/>
        </p:blipFill>
        <p:spPr>
          <a:xfrm>
            <a:off x="4048475" y="3670850"/>
            <a:ext cx="2742826" cy="100839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8" name="Google Shape;178;p15"/>
          <p:cNvPicPr preferRelativeResize="0"/>
          <p:nvPr/>
        </p:nvPicPr>
        <p:blipFill rotWithShape="1">
          <a:blip r:embed="rId7">
            <a:alphaModFix/>
          </a:blip>
          <a:srcRect b="25001" l="46911" r="4861" t="27341"/>
          <a:stretch/>
        </p:blipFill>
        <p:spPr>
          <a:xfrm>
            <a:off x="7026050" y="1304600"/>
            <a:ext cx="1886904" cy="10487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9" name="Google Shape;179;p15"/>
          <p:cNvPicPr preferRelativeResize="0"/>
          <p:nvPr/>
        </p:nvPicPr>
        <p:blipFill rotWithShape="1">
          <a:blip r:embed="rId8">
            <a:alphaModFix/>
          </a:blip>
          <a:srcRect b="24609" l="46143" r="4091" t="27735"/>
          <a:stretch/>
        </p:blipFill>
        <p:spPr>
          <a:xfrm>
            <a:off x="7026050" y="2503925"/>
            <a:ext cx="1886899" cy="10163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0" name="Google Shape;180;p15"/>
          <p:cNvPicPr preferRelativeResize="0"/>
          <p:nvPr/>
        </p:nvPicPr>
        <p:blipFill rotWithShape="1">
          <a:blip r:embed="rId9">
            <a:alphaModFix/>
          </a:blip>
          <a:srcRect b="24609" l="46693" r="4419" t="27735"/>
          <a:stretch/>
        </p:blipFill>
        <p:spPr>
          <a:xfrm>
            <a:off x="7026050" y="3670849"/>
            <a:ext cx="1886899" cy="103461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6"/>
          <p:cNvSpPr txBox="1"/>
          <p:nvPr>
            <p:ph type="title"/>
          </p:nvPr>
        </p:nvSpPr>
        <p:spPr>
          <a:xfrm>
            <a:off x="3345588" y="2083001"/>
            <a:ext cx="2452800" cy="533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"/>
          <p:cNvSpPr txBox="1"/>
          <p:nvPr>
            <p:ph idx="4294967295" type="title"/>
          </p:nvPr>
        </p:nvSpPr>
        <p:spPr>
          <a:xfrm>
            <a:off x="1069520" y="1462463"/>
            <a:ext cx="72471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2000">
                <a:latin typeface="Open Sans"/>
                <a:ea typeface="Open Sans"/>
                <a:cs typeface="Open Sans"/>
                <a:sym typeface="Open Sans"/>
              </a:rPr>
              <a:t>Flow Analysis and Optimization of Supersonic</a:t>
            </a:r>
            <a:endParaRPr b="1" sz="20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latin typeface="Open Sans"/>
                <a:ea typeface="Open Sans"/>
                <a:cs typeface="Open Sans"/>
                <a:sym typeface="Open Sans"/>
              </a:rPr>
              <a:t>Turbojet Engine Intake and Nozzle</a:t>
            </a:r>
            <a:endParaRPr b="1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 txBox="1"/>
          <p:nvPr>
            <p:ph idx="4294967295" type="body"/>
          </p:nvPr>
        </p:nvSpPr>
        <p:spPr>
          <a:xfrm>
            <a:off x="1069520" y="2418181"/>
            <a:ext cx="7247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US" sz="2000"/>
              <a:t>MIN-345 Compressible Flow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 txBox="1"/>
          <p:nvPr>
            <p:ph idx="4294967295" type="body"/>
          </p:nvPr>
        </p:nvSpPr>
        <p:spPr>
          <a:xfrm>
            <a:off x="1069520" y="3164333"/>
            <a:ext cx="7247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US" sz="1800"/>
              <a:t>Group-2</a:t>
            </a:r>
            <a:endParaRPr i="1" sz="18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i="1" lang="en-US" sz="1800"/>
              <a:t>Part-2</a:t>
            </a:r>
            <a:endParaRPr i="1" sz="1800"/>
          </a:p>
        </p:txBody>
      </p:sp>
      <p:pic>
        <p:nvPicPr>
          <p:cNvPr id="194" name="Google Shape;194;p17"/>
          <p:cNvPicPr preferRelativeResize="0"/>
          <p:nvPr/>
        </p:nvPicPr>
        <p:blipFill rotWithShape="1">
          <a:blip r:embed="rId3">
            <a:alphaModFix/>
          </a:blip>
          <a:srcRect b="16935" l="26100" r="29223" t="66831"/>
          <a:stretch/>
        </p:blipFill>
        <p:spPr>
          <a:xfrm>
            <a:off x="0" y="3629525"/>
            <a:ext cx="9144000" cy="151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18"/>
          <p:cNvPicPr preferRelativeResize="0"/>
          <p:nvPr/>
        </p:nvPicPr>
        <p:blipFill rotWithShape="1">
          <a:blip r:embed="rId3">
            <a:alphaModFix/>
          </a:blip>
          <a:srcRect b="24397" l="24120" r="13892" t="19413"/>
          <a:stretch/>
        </p:blipFill>
        <p:spPr>
          <a:xfrm>
            <a:off x="4461394" y="1201675"/>
            <a:ext cx="4583078" cy="17525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200" name="Google Shape;200;p18"/>
          <p:cNvGraphicFramePr/>
          <p:nvPr/>
        </p:nvGraphicFramePr>
        <p:xfrm>
          <a:off x="580800" y="120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{686153D9-9945-4F4D-AA6C-52F930B618C2}</a:tableStyleId>
              </a:tblPr>
              <a:tblGrid>
                <a:gridCol w="1520375"/>
                <a:gridCol w="1449125"/>
              </a:tblGrid>
              <a:tr h="224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Specifications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Details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</a:tr>
              <a:tr h="21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Solver Type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Density Based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1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Time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Steady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1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2D Space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Planar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1322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Model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Energy Eqn. (On)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132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Viscous (Inviscid)</a:t>
                      </a:r>
                      <a:endParaRPr sz="1000"/>
                    </a:p>
                  </a:txBody>
                  <a:tcPr marT="68575" marB="68575" marR="91425" marL="91425"/>
                </a:tc>
              </a:tr>
            </a:tbl>
          </a:graphicData>
        </a:graphic>
      </p:graphicFrame>
      <p:graphicFrame>
        <p:nvGraphicFramePr>
          <p:cNvPr id="201" name="Google Shape;201;p18"/>
          <p:cNvGraphicFramePr/>
          <p:nvPr/>
        </p:nvGraphicFramePr>
        <p:xfrm>
          <a:off x="580800" y="335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{686153D9-9945-4F4D-AA6C-52F930B618C2}</a:tableStyleId>
              </a:tblPr>
              <a:tblGrid>
                <a:gridCol w="1761000"/>
                <a:gridCol w="1208500"/>
              </a:tblGrid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Specifications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Details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Density (kg/m</a:t>
                      </a:r>
                      <a:r>
                        <a:rPr baseline="30000" lang="en-US" sz="1000"/>
                        <a:t>3</a:t>
                      </a:r>
                      <a:r>
                        <a:rPr lang="en-US" sz="1000"/>
                        <a:t>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Ideal Gas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Cp (J/kg-K)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1006.43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Molecular Weight (kg/kmol)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28.966</a:t>
                      </a:r>
                      <a:endParaRPr sz="1000"/>
                    </a:p>
                  </a:txBody>
                  <a:tcPr marT="68575" marB="68575" marR="91425" marL="91425"/>
                </a:tc>
              </a:tr>
            </a:tbl>
          </a:graphicData>
        </a:graphic>
      </p:graphicFrame>
      <p:sp>
        <p:nvSpPr>
          <p:cNvPr id="202" name="Google Shape;202;p18"/>
          <p:cNvSpPr txBox="1"/>
          <p:nvPr>
            <p:ph type="title"/>
          </p:nvPr>
        </p:nvSpPr>
        <p:spPr>
          <a:xfrm>
            <a:off x="180654" y="152243"/>
            <a:ext cx="70422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Converging-Diverging Nozzle</a:t>
            </a:r>
            <a:endParaRPr sz="2400"/>
          </a:p>
        </p:txBody>
      </p:sp>
      <p:sp>
        <p:nvSpPr>
          <p:cNvPr id="203" name="Google Shape;203;p18"/>
          <p:cNvSpPr txBox="1"/>
          <p:nvPr>
            <p:ph idx="1" type="body"/>
          </p:nvPr>
        </p:nvSpPr>
        <p:spPr>
          <a:xfrm>
            <a:off x="580950" y="759475"/>
            <a:ext cx="296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700">
                <a:latin typeface="Open Sans Medium"/>
                <a:ea typeface="Open Sans Medium"/>
                <a:cs typeface="Open Sans Medium"/>
                <a:sym typeface="Open Sans Medium"/>
              </a:rPr>
              <a:t>Pre-Processing</a:t>
            </a:r>
            <a:endParaRPr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204" name="Google Shape;204;p18"/>
          <p:cNvSpPr txBox="1"/>
          <p:nvPr>
            <p:ph idx="1" type="body"/>
          </p:nvPr>
        </p:nvSpPr>
        <p:spPr>
          <a:xfrm>
            <a:off x="5440925" y="759475"/>
            <a:ext cx="2624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700">
                <a:latin typeface="Open Sans Medium"/>
                <a:ea typeface="Open Sans Medium"/>
                <a:cs typeface="Open Sans Medium"/>
                <a:sym typeface="Open Sans Medium"/>
              </a:rPr>
              <a:t>Boundary Conditions</a:t>
            </a:r>
            <a:endParaRPr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580950" y="2864800"/>
            <a:ext cx="296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Table:</a:t>
            </a:r>
            <a:r>
              <a:rPr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General Specifications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6" name="Google Shape;206;p18"/>
          <p:cNvSpPr txBox="1"/>
          <p:nvPr/>
        </p:nvSpPr>
        <p:spPr>
          <a:xfrm>
            <a:off x="580850" y="4472150"/>
            <a:ext cx="296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Table:</a:t>
            </a:r>
            <a:r>
              <a:rPr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Material Specifications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07" name="Google Shape;207;p18"/>
          <p:cNvGraphicFramePr/>
          <p:nvPr/>
        </p:nvGraphicFramePr>
        <p:xfrm>
          <a:off x="5268175" y="3143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{686153D9-9945-4F4D-AA6C-52F930B618C2}</a:tableStyleId>
              </a:tblPr>
              <a:tblGrid>
                <a:gridCol w="1761000"/>
                <a:gridCol w="1208500"/>
              </a:tblGrid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Specifications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Details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Inlet Gauge Pressure (Pa)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3e5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Inlet Temperature (K)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300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Outlet Gauge Pressure (Pa)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1.7e5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Outlet Temperature (K)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273</a:t>
                      </a:r>
                      <a:endParaRPr sz="1000"/>
                    </a:p>
                  </a:txBody>
                  <a:tcPr marT="68575" marB="68575" marR="91425" marL="91425"/>
                </a:tc>
              </a:tr>
            </a:tbl>
          </a:graphicData>
        </a:graphic>
      </p:graphicFrame>
      <p:sp>
        <p:nvSpPr>
          <p:cNvPr id="208" name="Google Shape;208;p18"/>
          <p:cNvSpPr txBox="1"/>
          <p:nvPr/>
        </p:nvSpPr>
        <p:spPr>
          <a:xfrm>
            <a:off x="5268275" y="4532325"/>
            <a:ext cx="296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Table:</a:t>
            </a:r>
            <a:r>
              <a:rPr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Boundary Conditions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 txBox="1"/>
          <p:nvPr>
            <p:ph type="title"/>
          </p:nvPr>
        </p:nvSpPr>
        <p:spPr>
          <a:xfrm>
            <a:off x="180654" y="152243"/>
            <a:ext cx="70422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Converging-Diverging Nozzle</a:t>
            </a:r>
            <a:endParaRPr sz="2400"/>
          </a:p>
        </p:txBody>
      </p:sp>
      <p:sp>
        <p:nvSpPr>
          <p:cNvPr id="214" name="Google Shape;214;p19"/>
          <p:cNvSpPr txBox="1"/>
          <p:nvPr>
            <p:ph idx="1" type="body"/>
          </p:nvPr>
        </p:nvSpPr>
        <p:spPr>
          <a:xfrm>
            <a:off x="2" y="759463"/>
            <a:ext cx="199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700">
                <a:latin typeface="Open Sans Medium"/>
                <a:ea typeface="Open Sans Medium"/>
                <a:cs typeface="Open Sans Medium"/>
                <a:sym typeface="Open Sans Medium"/>
              </a:rPr>
              <a:t>Post-Processing</a:t>
            </a:r>
            <a:endParaRPr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215" name="Google Shape;215;p19"/>
          <p:cNvSpPr txBox="1"/>
          <p:nvPr>
            <p:ph idx="1" type="body"/>
          </p:nvPr>
        </p:nvSpPr>
        <p:spPr>
          <a:xfrm>
            <a:off x="-8" y="3829325"/>
            <a:ext cx="900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300">
                <a:latin typeface="Open Sans Medium"/>
                <a:ea typeface="Open Sans Medium"/>
                <a:cs typeface="Open Sans Medium"/>
                <a:sym typeface="Open Sans Medium"/>
              </a:rPr>
              <a:t>Outcomes:</a:t>
            </a:r>
            <a:endParaRPr sz="13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Char char="•"/>
            </a:pPr>
            <a:r>
              <a:rPr lang="en-US" sz="1100">
                <a:latin typeface="Open Sans Medium"/>
                <a:ea typeface="Open Sans Medium"/>
                <a:cs typeface="Open Sans Medium"/>
                <a:sym typeface="Open Sans Medium"/>
              </a:rPr>
              <a:t>Shock observed at </a:t>
            </a:r>
            <a:r>
              <a:rPr b="1" lang="en-US" sz="1100">
                <a:latin typeface="Open Sans"/>
                <a:ea typeface="Open Sans"/>
                <a:cs typeface="Open Sans"/>
                <a:sym typeface="Open Sans"/>
              </a:rPr>
              <a:t>0.04m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16" name="Google Shape;216;p19"/>
          <p:cNvGraphicFramePr/>
          <p:nvPr/>
        </p:nvGraphicFramePr>
        <p:xfrm>
          <a:off x="2815400" y="8465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{686153D9-9945-4F4D-AA6C-52F930B618C2}</a:tableStyleId>
              </a:tblPr>
              <a:tblGrid>
                <a:gridCol w="1179550"/>
                <a:gridCol w="2856650"/>
                <a:gridCol w="2209925"/>
              </a:tblGrid>
              <a:tr h="2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Specifications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Contours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Plots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</a:tr>
              <a:tr h="125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Mach Number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120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Static Pressure</a:t>
                      </a:r>
                      <a:endParaRPr b="1"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114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Density</a:t>
                      </a:r>
                      <a:endParaRPr b="1"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/>
                </a:tc>
              </a:tr>
            </a:tbl>
          </a:graphicData>
        </a:graphic>
      </p:graphicFrame>
      <p:sp>
        <p:nvSpPr>
          <p:cNvPr id="217" name="Google Shape;217;p19"/>
          <p:cNvSpPr txBox="1"/>
          <p:nvPr>
            <p:ph idx="1" type="body"/>
          </p:nvPr>
        </p:nvSpPr>
        <p:spPr>
          <a:xfrm>
            <a:off x="959800" y="1402800"/>
            <a:ext cx="90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300"/>
              <a:t>Residuals</a:t>
            </a:r>
            <a:endParaRPr sz="1300"/>
          </a:p>
        </p:txBody>
      </p:sp>
      <p:pic>
        <p:nvPicPr>
          <p:cNvPr id="218" name="Google Shape;218;p19"/>
          <p:cNvPicPr preferRelativeResize="0"/>
          <p:nvPr/>
        </p:nvPicPr>
        <p:blipFill rotWithShape="1">
          <a:blip r:embed="rId3">
            <a:alphaModFix/>
          </a:blip>
          <a:srcRect b="25551" l="46984" r="4802" t="27273"/>
          <a:stretch/>
        </p:blipFill>
        <p:spPr>
          <a:xfrm>
            <a:off x="6979913" y="1256363"/>
            <a:ext cx="1999200" cy="110033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9" name="Google Shape;219;p19"/>
          <p:cNvPicPr preferRelativeResize="0"/>
          <p:nvPr/>
        </p:nvPicPr>
        <p:blipFill rotWithShape="1">
          <a:blip r:embed="rId4">
            <a:alphaModFix/>
          </a:blip>
          <a:srcRect b="25551" l="47208" r="5025" t="27273"/>
          <a:stretch/>
        </p:blipFill>
        <p:spPr>
          <a:xfrm>
            <a:off x="6979925" y="3626788"/>
            <a:ext cx="1999200" cy="11106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0" name="Google Shape;220;p19"/>
          <p:cNvPicPr preferRelativeResize="0"/>
          <p:nvPr/>
        </p:nvPicPr>
        <p:blipFill rotWithShape="1">
          <a:blip r:embed="rId5">
            <a:alphaModFix/>
          </a:blip>
          <a:srcRect b="25551" l="46431" r="4910" t="27273"/>
          <a:stretch/>
        </p:blipFill>
        <p:spPr>
          <a:xfrm>
            <a:off x="6979925" y="2446625"/>
            <a:ext cx="1999200" cy="109024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21" name="Google Shape;221;p19"/>
          <p:cNvCxnSpPr/>
          <p:nvPr/>
        </p:nvCxnSpPr>
        <p:spPr>
          <a:xfrm>
            <a:off x="8205727" y="1256375"/>
            <a:ext cx="0" cy="3400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22" name="Google Shape;222;p19"/>
          <p:cNvPicPr preferRelativeResize="0"/>
          <p:nvPr/>
        </p:nvPicPr>
        <p:blipFill rotWithShape="1">
          <a:blip r:embed="rId6">
            <a:alphaModFix/>
          </a:blip>
          <a:srcRect b="33908" l="41515" r="13507" t="35915"/>
          <a:stretch/>
        </p:blipFill>
        <p:spPr>
          <a:xfrm>
            <a:off x="4110800" y="3687288"/>
            <a:ext cx="2622202" cy="9896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3" name="Google Shape;223;p19"/>
          <p:cNvPicPr preferRelativeResize="0"/>
          <p:nvPr/>
        </p:nvPicPr>
        <p:blipFill rotWithShape="1">
          <a:blip r:embed="rId7">
            <a:alphaModFix/>
          </a:blip>
          <a:srcRect b="35316" l="41518" r="13839" t="35914"/>
          <a:stretch/>
        </p:blipFill>
        <p:spPr>
          <a:xfrm>
            <a:off x="4110800" y="1350800"/>
            <a:ext cx="2622202" cy="9505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4" name="Google Shape;224;p19"/>
          <p:cNvPicPr preferRelativeResize="0"/>
          <p:nvPr/>
        </p:nvPicPr>
        <p:blipFill rotWithShape="1">
          <a:blip r:embed="rId8">
            <a:alphaModFix/>
          </a:blip>
          <a:srcRect b="33710" l="41516" r="13617" t="36112"/>
          <a:stretch/>
        </p:blipFill>
        <p:spPr>
          <a:xfrm>
            <a:off x="4110800" y="2498275"/>
            <a:ext cx="2622202" cy="99211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25" name="Google Shape;225;p19"/>
          <p:cNvCxnSpPr/>
          <p:nvPr/>
        </p:nvCxnSpPr>
        <p:spPr>
          <a:xfrm>
            <a:off x="5881927" y="1291338"/>
            <a:ext cx="0" cy="3400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26" name="Google Shape;226;p19"/>
          <p:cNvPicPr preferRelativeResize="0"/>
          <p:nvPr/>
        </p:nvPicPr>
        <p:blipFill rotWithShape="1">
          <a:blip r:embed="rId9">
            <a:alphaModFix/>
          </a:blip>
          <a:srcRect b="25553" l="41410" r="5020" t="22382"/>
          <a:stretch/>
        </p:blipFill>
        <p:spPr>
          <a:xfrm>
            <a:off x="70175" y="1695288"/>
            <a:ext cx="2689147" cy="147013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"/>
          <p:cNvSpPr txBox="1"/>
          <p:nvPr>
            <p:ph type="title"/>
          </p:nvPr>
        </p:nvSpPr>
        <p:spPr>
          <a:xfrm>
            <a:off x="180654" y="152243"/>
            <a:ext cx="70422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Converging-Diverging Nozzle</a:t>
            </a:r>
            <a:endParaRPr sz="2400"/>
          </a:p>
        </p:txBody>
      </p:sp>
      <p:sp>
        <p:nvSpPr>
          <p:cNvPr id="232" name="Google Shape;232;p20"/>
          <p:cNvSpPr txBox="1"/>
          <p:nvPr>
            <p:ph idx="1" type="body"/>
          </p:nvPr>
        </p:nvSpPr>
        <p:spPr>
          <a:xfrm>
            <a:off x="2" y="759463"/>
            <a:ext cx="199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700">
                <a:latin typeface="Open Sans Medium"/>
                <a:ea typeface="Open Sans Medium"/>
                <a:cs typeface="Open Sans Medium"/>
                <a:sym typeface="Open Sans Medium"/>
              </a:rPr>
              <a:t>Post-Processing</a:t>
            </a:r>
            <a:endParaRPr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233" name="Google Shape;233;p20"/>
          <p:cNvSpPr txBox="1"/>
          <p:nvPr>
            <p:ph idx="1" type="body"/>
          </p:nvPr>
        </p:nvSpPr>
        <p:spPr>
          <a:xfrm>
            <a:off x="-8" y="3807400"/>
            <a:ext cx="9001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300">
                <a:latin typeface="Open Sans Medium"/>
                <a:ea typeface="Open Sans Medium"/>
                <a:cs typeface="Open Sans Medium"/>
                <a:sym typeface="Open Sans Medium"/>
              </a:rPr>
              <a:t>Outcomes:</a:t>
            </a:r>
            <a:endParaRPr sz="13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Char char="•"/>
            </a:pPr>
            <a:r>
              <a:rPr lang="en-US" sz="1100">
                <a:latin typeface="Open Sans Medium"/>
                <a:ea typeface="Open Sans Medium"/>
                <a:cs typeface="Open Sans Medium"/>
                <a:sym typeface="Open Sans Medium"/>
              </a:rPr>
              <a:t>Outlet Gauge Pressure set to 0</a:t>
            </a:r>
            <a:endParaRPr sz="11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Char char="•"/>
            </a:pPr>
            <a:r>
              <a:rPr lang="en-US" sz="1100">
                <a:latin typeface="Open Sans Medium"/>
                <a:ea typeface="Open Sans Medium"/>
                <a:cs typeface="Open Sans Medium"/>
                <a:sym typeface="Open Sans Medium"/>
              </a:rPr>
              <a:t>Convergence at </a:t>
            </a:r>
            <a:r>
              <a:rPr b="1" lang="en-US" sz="1100">
                <a:latin typeface="Open Sans"/>
                <a:ea typeface="Open Sans"/>
                <a:cs typeface="Open Sans"/>
                <a:sym typeface="Open Sans"/>
              </a:rPr>
              <a:t>Step 67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Char char="•"/>
            </a:pPr>
            <a:r>
              <a:rPr lang="en-US" sz="1100">
                <a:latin typeface="Open Sans Medium"/>
                <a:ea typeface="Open Sans Medium"/>
                <a:cs typeface="Open Sans Medium"/>
                <a:sym typeface="Open Sans Medium"/>
              </a:rPr>
              <a:t>No shock formed</a:t>
            </a:r>
            <a:endParaRPr sz="11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graphicFrame>
        <p:nvGraphicFramePr>
          <p:cNvPr id="234" name="Google Shape;234;p20"/>
          <p:cNvGraphicFramePr/>
          <p:nvPr/>
        </p:nvGraphicFramePr>
        <p:xfrm>
          <a:off x="2815400" y="8465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{686153D9-9945-4F4D-AA6C-52F930B618C2}</a:tableStyleId>
              </a:tblPr>
              <a:tblGrid>
                <a:gridCol w="1179550"/>
                <a:gridCol w="2856650"/>
                <a:gridCol w="2209925"/>
              </a:tblGrid>
              <a:tr h="2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Specifications</a:t>
                      </a:r>
                      <a:endParaRPr b="1" sz="11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Contours</a:t>
                      </a:r>
                      <a:endParaRPr b="1" sz="11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Plots</a:t>
                      </a:r>
                      <a:endParaRPr b="1" sz="11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</a:tr>
              <a:tr h="125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Mach Number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Static Pressure</a:t>
                      </a:r>
                      <a:endParaRPr b="1" sz="10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Density</a:t>
                      </a:r>
                      <a:endParaRPr b="1" sz="10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5" name="Google Shape;235;p20"/>
          <p:cNvSpPr txBox="1"/>
          <p:nvPr>
            <p:ph idx="1" type="body"/>
          </p:nvPr>
        </p:nvSpPr>
        <p:spPr>
          <a:xfrm>
            <a:off x="959800" y="1402800"/>
            <a:ext cx="90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300"/>
              <a:t>Residuals</a:t>
            </a:r>
            <a:endParaRPr sz="1300"/>
          </a:p>
        </p:txBody>
      </p:sp>
      <p:pic>
        <p:nvPicPr>
          <p:cNvPr id="236" name="Google Shape;236;p20"/>
          <p:cNvPicPr preferRelativeResize="0"/>
          <p:nvPr/>
        </p:nvPicPr>
        <p:blipFill rotWithShape="1">
          <a:blip r:embed="rId3">
            <a:alphaModFix/>
          </a:blip>
          <a:srcRect b="24605" l="46655" r="4907" t="27271"/>
          <a:stretch/>
        </p:blipFill>
        <p:spPr>
          <a:xfrm>
            <a:off x="6969900" y="1236100"/>
            <a:ext cx="1999200" cy="111725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7" name="Google Shape;237;p20"/>
          <p:cNvPicPr preferRelativeResize="0"/>
          <p:nvPr/>
        </p:nvPicPr>
        <p:blipFill rotWithShape="1">
          <a:blip r:embed="rId4">
            <a:alphaModFix/>
          </a:blip>
          <a:srcRect b="25000" l="46765" r="4910" t="27272"/>
          <a:stretch/>
        </p:blipFill>
        <p:spPr>
          <a:xfrm>
            <a:off x="6969900" y="3619750"/>
            <a:ext cx="1999200" cy="111060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8" name="Google Shape;238;p20"/>
          <p:cNvPicPr preferRelativeResize="0"/>
          <p:nvPr/>
        </p:nvPicPr>
        <p:blipFill rotWithShape="1">
          <a:blip r:embed="rId5">
            <a:alphaModFix/>
          </a:blip>
          <a:srcRect b="25975" l="46096" r="4798" t="27274"/>
          <a:stretch/>
        </p:blipFill>
        <p:spPr>
          <a:xfrm>
            <a:off x="6969900" y="2451263"/>
            <a:ext cx="1999200" cy="107058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9" name="Google Shape;239;p20"/>
          <p:cNvPicPr preferRelativeResize="0"/>
          <p:nvPr/>
        </p:nvPicPr>
        <p:blipFill rotWithShape="1">
          <a:blip r:embed="rId6">
            <a:alphaModFix/>
          </a:blip>
          <a:srcRect b="35316" l="41739" r="13729" t="36315"/>
          <a:stretch/>
        </p:blipFill>
        <p:spPr>
          <a:xfrm>
            <a:off x="4048475" y="1303288"/>
            <a:ext cx="2742826" cy="9828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0" name="Google Shape;240;p20"/>
          <p:cNvPicPr preferRelativeResize="0"/>
          <p:nvPr/>
        </p:nvPicPr>
        <p:blipFill rotWithShape="1">
          <a:blip r:embed="rId7">
            <a:alphaModFix/>
          </a:blip>
          <a:srcRect b="33929" l="41406" r="13729" t="36310"/>
          <a:stretch/>
        </p:blipFill>
        <p:spPr>
          <a:xfrm>
            <a:off x="4048475" y="2466788"/>
            <a:ext cx="2742826" cy="102344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1" name="Google Shape;241;p20"/>
          <p:cNvPicPr preferRelativeResize="0"/>
          <p:nvPr/>
        </p:nvPicPr>
        <p:blipFill rotWithShape="1">
          <a:blip r:embed="rId8">
            <a:alphaModFix/>
          </a:blip>
          <a:srcRect b="33926" l="41629" r="13952" t="35717"/>
          <a:stretch/>
        </p:blipFill>
        <p:spPr>
          <a:xfrm>
            <a:off x="4048475" y="3647850"/>
            <a:ext cx="2742826" cy="10544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2" name="Google Shape;242;p20"/>
          <p:cNvPicPr preferRelativeResize="0"/>
          <p:nvPr/>
        </p:nvPicPr>
        <p:blipFill rotWithShape="1">
          <a:blip r:embed="rId9">
            <a:alphaModFix/>
          </a:blip>
          <a:srcRect b="25975" l="41409" r="5132" t="22386"/>
          <a:stretch/>
        </p:blipFill>
        <p:spPr>
          <a:xfrm>
            <a:off x="80674" y="1735575"/>
            <a:ext cx="2668152" cy="144973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7" name="Google Shape;247;p21"/>
          <p:cNvGraphicFramePr/>
          <p:nvPr/>
        </p:nvGraphicFramePr>
        <p:xfrm>
          <a:off x="580800" y="120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{686153D9-9945-4F4D-AA6C-52F930B618C2}</a:tableStyleId>
              </a:tblPr>
              <a:tblGrid>
                <a:gridCol w="1520375"/>
                <a:gridCol w="1449125"/>
              </a:tblGrid>
              <a:tr h="224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Specifications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Details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</a:tr>
              <a:tr h="21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Solver Type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Density Based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1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Time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Steady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1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2D Space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Planar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1322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Model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Energy Eqn. (On)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132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Viscous (Inviscid)</a:t>
                      </a:r>
                      <a:endParaRPr sz="1000"/>
                    </a:p>
                  </a:txBody>
                  <a:tcPr marT="68575" marB="68575" marR="91425" marL="91425"/>
                </a:tc>
              </a:tr>
            </a:tbl>
          </a:graphicData>
        </a:graphic>
      </p:graphicFrame>
      <p:graphicFrame>
        <p:nvGraphicFramePr>
          <p:cNvPr id="248" name="Google Shape;248;p21"/>
          <p:cNvGraphicFramePr/>
          <p:nvPr/>
        </p:nvGraphicFramePr>
        <p:xfrm>
          <a:off x="580800" y="335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{686153D9-9945-4F4D-AA6C-52F930B618C2}</a:tableStyleId>
              </a:tblPr>
              <a:tblGrid>
                <a:gridCol w="1761000"/>
                <a:gridCol w="1208500"/>
              </a:tblGrid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Specifications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Details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Density (kg/m</a:t>
                      </a:r>
                      <a:r>
                        <a:rPr baseline="30000" lang="en-US" sz="1000"/>
                        <a:t>3</a:t>
                      </a:r>
                      <a:r>
                        <a:rPr lang="en-US" sz="1000"/>
                        <a:t>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Ideal Gas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Cp (J/kg-K)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1006.43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Molecular Weight (kg/kmol)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28.966</a:t>
                      </a:r>
                      <a:endParaRPr sz="1000"/>
                    </a:p>
                  </a:txBody>
                  <a:tcPr marT="68575" marB="68575" marR="91425" marL="91425"/>
                </a:tc>
              </a:tr>
            </a:tbl>
          </a:graphicData>
        </a:graphic>
      </p:graphicFrame>
      <p:sp>
        <p:nvSpPr>
          <p:cNvPr id="249" name="Google Shape;249;p21"/>
          <p:cNvSpPr txBox="1"/>
          <p:nvPr>
            <p:ph type="title"/>
          </p:nvPr>
        </p:nvSpPr>
        <p:spPr>
          <a:xfrm>
            <a:off x="180654" y="152243"/>
            <a:ext cx="70422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Converging-Diverging Nozzle - Nozzle Expansion</a:t>
            </a:r>
            <a:endParaRPr sz="2400"/>
          </a:p>
        </p:txBody>
      </p:sp>
      <p:sp>
        <p:nvSpPr>
          <p:cNvPr id="250" name="Google Shape;250;p21"/>
          <p:cNvSpPr txBox="1"/>
          <p:nvPr>
            <p:ph idx="1" type="body"/>
          </p:nvPr>
        </p:nvSpPr>
        <p:spPr>
          <a:xfrm>
            <a:off x="580950" y="759475"/>
            <a:ext cx="296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700">
                <a:latin typeface="Open Sans Medium"/>
                <a:ea typeface="Open Sans Medium"/>
                <a:cs typeface="Open Sans Medium"/>
                <a:sym typeface="Open Sans Medium"/>
              </a:rPr>
              <a:t>Pre-Processing</a:t>
            </a:r>
            <a:endParaRPr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251" name="Google Shape;251;p21"/>
          <p:cNvSpPr txBox="1"/>
          <p:nvPr>
            <p:ph idx="1" type="body"/>
          </p:nvPr>
        </p:nvSpPr>
        <p:spPr>
          <a:xfrm>
            <a:off x="5440925" y="759475"/>
            <a:ext cx="2624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700">
                <a:latin typeface="Open Sans Medium"/>
                <a:ea typeface="Open Sans Medium"/>
                <a:cs typeface="Open Sans Medium"/>
                <a:sym typeface="Open Sans Medium"/>
              </a:rPr>
              <a:t>Boundary Conditions</a:t>
            </a:r>
            <a:endParaRPr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580950" y="2864800"/>
            <a:ext cx="296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Table:</a:t>
            </a:r>
            <a:r>
              <a:rPr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General Specifications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580850" y="4472150"/>
            <a:ext cx="296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Table:</a:t>
            </a:r>
            <a:r>
              <a:rPr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Material Specifications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54" name="Google Shape;254;p21"/>
          <p:cNvGraphicFramePr/>
          <p:nvPr/>
        </p:nvGraphicFramePr>
        <p:xfrm>
          <a:off x="5268175" y="3143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{686153D9-9945-4F4D-AA6C-52F930B618C2}</a:tableStyleId>
              </a:tblPr>
              <a:tblGrid>
                <a:gridCol w="1761000"/>
                <a:gridCol w="1208500"/>
              </a:tblGrid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Specifications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Details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Inlet Gauge Pressure (Pa)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7e6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Inlet Temperature (K)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300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Outlet Gauge Pressure (Pa)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Outlet Temperature (K)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273</a:t>
                      </a:r>
                      <a:endParaRPr sz="1000"/>
                    </a:p>
                  </a:txBody>
                  <a:tcPr marT="68575" marB="68575" marR="91425" marL="91425"/>
                </a:tc>
              </a:tr>
            </a:tbl>
          </a:graphicData>
        </a:graphic>
      </p:graphicFrame>
      <p:sp>
        <p:nvSpPr>
          <p:cNvPr id="255" name="Google Shape;255;p21"/>
          <p:cNvSpPr txBox="1"/>
          <p:nvPr/>
        </p:nvSpPr>
        <p:spPr>
          <a:xfrm>
            <a:off x="5268275" y="4532325"/>
            <a:ext cx="296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Table:</a:t>
            </a:r>
            <a:r>
              <a:rPr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Boundary Conditions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6" name="Google Shape;256;p21"/>
          <p:cNvPicPr preferRelativeResize="0"/>
          <p:nvPr/>
        </p:nvPicPr>
        <p:blipFill rotWithShape="1">
          <a:blip r:embed="rId3">
            <a:alphaModFix/>
          </a:blip>
          <a:srcRect b="32577" l="23689" r="9088" t="18910"/>
          <a:stretch/>
        </p:blipFill>
        <p:spPr>
          <a:xfrm>
            <a:off x="4704432" y="1201675"/>
            <a:ext cx="4096992" cy="16631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"/>
          <p:cNvSpPr txBox="1"/>
          <p:nvPr>
            <p:ph idx="1" type="body"/>
          </p:nvPr>
        </p:nvSpPr>
        <p:spPr>
          <a:xfrm>
            <a:off x="2" y="759463"/>
            <a:ext cx="199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700">
                <a:latin typeface="Open Sans Medium"/>
                <a:ea typeface="Open Sans Medium"/>
                <a:cs typeface="Open Sans Medium"/>
                <a:sym typeface="Open Sans Medium"/>
              </a:rPr>
              <a:t>Post-Processing</a:t>
            </a:r>
            <a:endParaRPr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262" name="Google Shape;262;p22"/>
          <p:cNvSpPr txBox="1"/>
          <p:nvPr>
            <p:ph idx="1" type="body"/>
          </p:nvPr>
        </p:nvSpPr>
        <p:spPr>
          <a:xfrm>
            <a:off x="1" y="3807400"/>
            <a:ext cx="2888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300">
                <a:latin typeface="Open Sans Medium"/>
                <a:ea typeface="Open Sans Medium"/>
                <a:cs typeface="Open Sans Medium"/>
                <a:sym typeface="Open Sans Medium"/>
              </a:rPr>
              <a:t>Outcomes:</a:t>
            </a:r>
            <a:endParaRPr sz="13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Char char="•"/>
            </a:pPr>
            <a:r>
              <a:rPr lang="en-US" sz="1100">
                <a:latin typeface="Open Sans Medium"/>
                <a:ea typeface="Open Sans Medium"/>
                <a:cs typeface="Open Sans Medium"/>
                <a:sym typeface="Open Sans Medium"/>
              </a:rPr>
              <a:t>P&lt;P</a:t>
            </a:r>
            <a:r>
              <a:rPr baseline="-25000" lang="en-US" sz="1100">
                <a:latin typeface="Open Sans Medium"/>
                <a:ea typeface="Open Sans Medium"/>
                <a:cs typeface="Open Sans Medium"/>
                <a:sym typeface="Open Sans Medium"/>
              </a:rPr>
              <a:t>atm</a:t>
            </a:r>
            <a:endParaRPr sz="11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Char char="•"/>
            </a:pPr>
            <a:r>
              <a:rPr lang="en-US" sz="1100">
                <a:latin typeface="Open Sans Medium"/>
                <a:ea typeface="Open Sans Medium"/>
                <a:cs typeface="Open Sans Medium"/>
                <a:sym typeface="Open Sans Medium"/>
              </a:rPr>
              <a:t>Over-Expanded Nozzle</a:t>
            </a:r>
            <a:endParaRPr sz="11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Char char="•"/>
            </a:pPr>
            <a:r>
              <a:rPr lang="en-US" sz="1100">
                <a:latin typeface="Open Sans Medium"/>
                <a:ea typeface="Open Sans Medium"/>
                <a:cs typeface="Open Sans Medium"/>
                <a:sym typeface="Open Sans Medium"/>
              </a:rPr>
              <a:t>Convergence at </a:t>
            </a:r>
            <a:r>
              <a:rPr b="1" lang="en-US" sz="1100">
                <a:latin typeface="Open Sans"/>
                <a:ea typeface="Open Sans"/>
                <a:cs typeface="Open Sans"/>
                <a:sym typeface="Open Sans"/>
              </a:rPr>
              <a:t>Step 674</a:t>
            </a:r>
            <a:endParaRPr sz="11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graphicFrame>
        <p:nvGraphicFramePr>
          <p:cNvPr id="263" name="Google Shape;263;p22"/>
          <p:cNvGraphicFramePr/>
          <p:nvPr/>
        </p:nvGraphicFramePr>
        <p:xfrm>
          <a:off x="4034950" y="16835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{686153D9-9945-4F4D-AA6C-52F930B618C2}</a:tableStyleId>
              </a:tblPr>
              <a:tblGrid>
                <a:gridCol w="1327175"/>
                <a:gridCol w="3598250"/>
              </a:tblGrid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Specifications</a:t>
                      </a:r>
                      <a:endParaRPr b="1" sz="11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Contours</a:t>
                      </a:r>
                      <a:endParaRPr b="1" sz="11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</a:tr>
              <a:tr h="125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Mach Number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4" name="Google Shape;264;p22"/>
          <p:cNvSpPr txBox="1"/>
          <p:nvPr>
            <p:ph idx="1" type="body"/>
          </p:nvPr>
        </p:nvSpPr>
        <p:spPr>
          <a:xfrm>
            <a:off x="1500662" y="1350225"/>
            <a:ext cx="90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300"/>
              <a:t>Residuals</a:t>
            </a:r>
            <a:endParaRPr sz="1300"/>
          </a:p>
        </p:txBody>
      </p:sp>
      <p:pic>
        <p:nvPicPr>
          <p:cNvPr id="265" name="Google Shape;265;p22"/>
          <p:cNvPicPr preferRelativeResize="0"/>
          <p:nvPr/>
        </p:nvPicPr>
        <p:blipFill rotWithShape="1">
          <a:blip r:embed="rId3">
            <a:alphaModFix/>
          </a:blip>
          <a:srcRect b="25978" l="41186" r="5019" t="21647"/>
          <a:stretch/>
        </p:blipFill>
        <p:spPr>
          <a:xfrm>
            <a:off x="426950" y="1642713"/>
            <a:ext cx="3057326" cy="16743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6" name="Google Shape;266;p22"/>
          <p:cNvPicPr preferRelativeResize="0"/>
          <p:nvPr/>
        </p:nvPicPr>
        <p:blipFill rotWithShape="1">
          <a:blip r:embed="rId4">
            <a:alphaModFix/>
          </a:blip>
          <a:srcRect b="36111" l="41739" r="1565" t="34989"/>
          <a:stretch/>
        </p:blipFill>
        <p:spPr>
          <a:xfrm>
            <a:off x="5470050" y="2158613"/>
            <a:ext cx="3380174" cy="9691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7" name="Google Shape;267;p22"/>
          <p:cNvSpPr txBox="1"/>
          <p:nvPr>
            <p:ph type="title"/>
          </p:nvPr>
        </p:nvSpPr>
        <p:spPr>
          <a:xfrm>
            <a:off x="180654" y="152243"/>
            <a:ext cx="70422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Converging-Diverging Nozzle - Nozzle Expansion</a:t>
            </a:r>
            <a:endParaRPr sz="2400"/>
          </a:p>
        </p:txBody>
      </p:sp>
      <p:sp>
        <p:nvSpPr>
          <p:cNvPr id="268" name="Google Shape;268;p22"/>
          <p:cNvSpPr txBox="1"/>
          <p:nvPr>
            <p:ph idx="1" type="body"/>
          </p:nvPr>
        </p:nvSpPr>
        <p:spPr>
          <a:xfrm>
            <a:off x="4034950" y="4146100"/>
            <a:ext cx="353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300">
                <a:latin typeface="Open Sans Medium"/>
                <a:ea typeface="Open Sans Medium"/>
                <a:cs typeface="Open Sans Medium"/>
                <a:sym typeface="Open Sans Medium"/>
              </a:rPr>
              <a:t>Shortcoming</a:t>
            </a:r>
            <a:r>
              <a:rPr lang="en-US" sz="1300">
                <a:latin typeface="Open Sans Medium"/>
                <a:ea typeface="Open Sans Medium"/>
                <a:cs typeface="Open Sans Medium"/>
                <a:sym typeface="Open Sans Medium"/>
              </a:rPr>
              <a:t>:</a:t>
            </a:r>
            <a:endParaRPr sz="13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Char char="•"/>
            </a:pPr>
            <a:r>
              <a:rPr lang="en-US" sz="1100">
                <a:latin typeface="Open Sans Medium"/>
                <a:ea typeface="Open Sans Medium"/>
                <a:cs typeface="Open Sans Medium"/>
                <a:sym typeface="Open Sans Medium"/>
              </a:rPr>
              <a:t>Couldn’t analyse other type of expansions</a:t>
            </a:r>
            <a:endParaRPr sz="11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"/>
          <p:cNvSpPr txBox="1"/>
          <p:nvPr>
            <p:ph type="title"/>
          </p:nvPr>
        </p:nvSpPr>
        <p:spPr>
          <a:xfrm>
            <a:off x="180654" y="152243"/>
            <a:ext cx="70422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Supersonic Ramjet Design</a:t>
            </a:r>
            <a:endParaRPr sz="2400"/>
          </a:p>
        </p:txBody>
      </p:sp>
      <p:pic>
        <p:nvPicPr>
          <p:cNvPr id="274" name="Google Shape;27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0" y="1105963"/>
            <a:ext cx="4572000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3"/>
          <p:cNvSpPr/>
          <p:nvPr/>
        </p:nvSpPr>
        <p:spPr>
          <a:xfrm>
            <a:off x="600300" y="3725350"/>
            <a:ext cx="1180800" cy="781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C343D"/>
                </a:solidFill>
                <a:latin typeface="Lato"/>
                <a:ea typeface="Lato"/>
                <a:cs typeface="Lato"/>
                <a:sym typeface="Lato"/>
              </a:rPr>
              <a:t>Supersonic Inlet</a:t>
            </a:r>
            <a:endParaRPr b="1">
              <a:solidFill>
                <a:srgbClr val="0C343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2216100" y="3741075"/>
            <a:ext cx="2104200" cy="781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C343D"/>
                </a:solidFill>
                <a:latin typeface="Lato"/>
                <a:ea typeface="Lato"/>
                <a:cs typeface="Lato"/>
                <a:sym typeface="Lato"/>
              </a:rPr>
              <a:t>Supersonic to Subsonic</a:t>
            </a:r>
            <a:endParaRPr b="1">
              <a:solidFill>
                <a:srgbClr val="0C343D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C343D"/>
                </a:solidFill>
                <a:latin typeface="Lato"/>
                <a:ea typeface="Lato"/>
                <a:cs typeface="Lato"/>
                <a:sym typeface="Lato"/>
              </a:rPr>
              <a:t>Diffuser</a:t>
            </a:r>
            <a:endParaRPr b="1">
              <a:solidFill>
                <a:srgbClr val="0C343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4789500" y="3741075"/>
            <a:ext cx="2104200" cy="781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C343D"/>
                </a:solidFill>
                <a:latin typeface="Lato"/>
                <a:ea typeface="Lato"/>
                <a:cs typeface="Lato"/>
                <a:sym typeface="Lato"/>
              </a:rPr>
              <a:t>Subsonic to Supersonic</a:t>
            </a:r>
            <a:endParaRPr b="1">
              <a:solidFill>
                <a:srgbClr val="0C343D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C343D"/>
                </a:solidFill>
                <a:latin typeface="Lato"/>
                <a:ea typeface="Lato"/>
                <a:cs typeface="Lato"/>
                <a:sym typeface="Lato"/>
              </a:rPr>
              <a:t>C-D Nozzle</a:t>
            </a:r>
            <a:endParaRPr b="1">
              <a:solidFill>
                <a:srgbClr val="0C343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1781100" y="4041675"/>
            <a:ext cx="435000" cy="18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C34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3"/>
          <p:cNvSpPr/>
          <p:nvPr/>
        </p:nvSpPr>
        <p:spPr>
          <a:xfrm>
            <a:off x="4320288" y="4041675"/>
            <a:ext cx="469200" cy="18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C34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3"/>
          <p:cNvSpPr/>
          <p:nvPr/>
        </p:nvSpPr>
        <p:spPr>
          <a:xfrm>
            <a:off x="7362900" y="3741075"/>
            <a:ext cx="1180800" cy="7812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C343D"/>
                </a:solidFill>
                <a:latin typeface="Lato"/>
                <a:ea typeface="Lato"/>
                <a:cs typeface="Lato"/>
                <a:sym typeface="Lato"/>
              </a:rPr>
              <a:t>Supersonic Exhaust</a:t>
            </a:r>
            <a:endParaRPr b="1">
              <a:solidFill>
                <a:srgbClr val="0C343D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6893700" y="4041675"/>
            <a:ext cx="469200" cy="18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C34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3"/>
          <p:cNvSpPr/>
          <p:nvPr/>
        </p:nvSpPr>
        <p:spPr>
          <a:xfrm>
            <a:off x="469350" y="3581200"/>
            <a:ext cx="1442700" cy="10695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3"/>
          <p:cNvSpPr/>
          <p:nvPr/>
        </p:nvSpPr>
        <p:spPr>
          <a:xfrm>
            <a:off x="2434650" y="1275675"/>
            <a:ext cx="1069500" cy="15843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8" name="Google Shape;288;p24"/>
          <p:cNvGraphicFramePr/>
          <p:nvPr/>
        </p:nvGraphicFramePr>
        <p:xfrm>
          <a:off x="580800" y="120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{686153D9-9945-4F4D-AA6C-52F930B618C2}</a:tableStyleId>
              </a:tblPr>
              <a:tblGrid>
                <a:gridCol w="1520375"/>
                <a:gridCol w="1449125"/>
              </a:tblGrid>
              <a:tr h="224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Specifications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Details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</a:tr>
              <a:tr h="21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Solver Type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Density Based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1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Time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Steady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1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2D Space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Planar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1322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Model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Energy Eqn. (On)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132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Viscous (Inviscid)</a:t>
                      </a:r>
                      <a:endParaRPr sz="1000"/>
                    </a:p>
                  </a:txBody>
                  <a:tcPr marT="68575" marB="68575" marR="91425" marL="91425"/>
                </a:tc>
              </a:tr>
            </a:tbl>
          </a:graphicData>
        </a:graphic>
      </p:graphicFrame>
      <p:graphicFrame>
        <p:nvGraphicFramePr>
          <p:cNvPr id="289" name="Google Shape;289;p24"/>
          <p:cNvGraphicFramePr/>
          <p:nvPr/>
        </p:nvGraphicFramePr>
        <p:xfrm>
          <a:off x="580800" y="335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{686153D9-9945-4F4D-AA6C-52F930B618C2}</a:tableStyleId>
              </a:tblPr>
              <a:tblGrid>
                <a:gridCol w="1761000"/>
                <a:gridCol w="1208500"/>
              </a:tblGrid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Specifications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Details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Density (kg/m</a:t>
                      </a:r>
                      <a:r>
                        <a:rPr baseline="30000" lang="en-US" sz="1000"/>
                        <a:t>3</a:t>
                      </a:r>
                      <a:r>
                        <a:rPr lang="en-US" sz="1000"/>
                        <a:t>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Ideal Gas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Cp (J/kg-K)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1006.43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Molecular Weight (kg/kmol)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28.966</a:t>
                      </a:r>
                      <a:endParaRPr sz="1000"/>
                    </a:p>
                  </a:txBody>
                  <a:tcPr marT="68575" marB="68575" marR="91425" marL="91425"/>
                </a:tc>
              </a:tr>
            </a:tbl>
          </a:graphicData>
        </a:graphic>
      </p:graphicFrame>
      <p:sp>
        <p:nvSpPr>
          <p:cNvPr id="290" name="Google Shape;290;p24"/>
          <p:cNvSpPr txBox="1"/>
          <p:nvPr>
            <p:ph type="title"/>
          </p:nvPr>
        </p:nvSpPr>
        <p:spPr>
          <a:xfrm>
            <a:off x="180654" y="152243"/>
            <a:ext cx="70422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Supersonic Jet Engine - Spike Intake</a:t>
            </a:r>
            <a:endParaRPr sz="2400"/>
          </a:p>
        </p:txBody>
      </p:sp>
      <p:sp>
        <p:nvSpPr>
          <p:cNvPr id="291" name="Google Shape;291;p24"/>
          <p:cNvSpPr txBox="1"/>
          <p:nvPr>
            <p:ph idx="1" type="body"/>
          </p:nvPr>
        </p:nvSpPr>
        <p:spPr>
          <a:xfrm>
            <a:off x="580950" y="759475"/>
            <a:ext cx="296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700">
                <a:latin typeface="Open Sans Medium"/>
                <a:ea typeface="Open Sans Medium"/>
                <a:cs typeface="Open Sans Medium"/>
                <a:sym typeface="Open Sans Medium"/>
              </a:rPr>
              <a:t>Pre-Processing</a:t>
            </a:r>
            <a:endParaRPr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292" name="Google Shape;292;p24"/>
          <p:cNvSpPr txBox="1"/>
          <p:nvPr>
            <p:ph idx="1" type="body"/>
          </p:nvPr>
        </p:nvSpPr>
        <p:spPr>
          <a:xfrm>
            <a:off x="5440925" y="759475"/>
            <a:ext cx="2624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700">
                <a:latin typeface="Open Sans Medium"/>
                <a:ea typeface="Open Sans Medium"/>
                <a:cs typeface="Open Sans Medium"/>
                <a:sym typeface="Open Sans Medium"/>
              </a:rPr>
              <a:t>Boundary Conditions</a:t>
            </a:r>
            <a:endParaRPr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293" name="Google Shape;293;p24"/>
          <p:cNvSpPr txBox="1"/>
          <p:nvPr/>
        </p:nvSpPr>
        <p:spPr>
          <a:xfrm>
            <a:off x="580950" y="2864800"/>
            <a:ext cx="296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Table:</a:t>
            </a:r>
            <a:r>
              <a:rPr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General Specifications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4" name="Google Shape;294;p24"/>
          <p:cNvSpPr txBox="1"/>
          <p:nvPr/>
        </p:nvSpPr>
        <p:spPr>
          <a:xfrm>
            <a:off x="580850" y="4472150"/>
            <a:ext cx="296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Table:</a:t>
            </a:r>
            <a:r>
              <a:rPr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Material Specifications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295" name="Google Shape;295;p24"/>
          <p:cNvGraphicFramePr/>
          <p:nvPr/>
        </p:nvGraphicFramePr>
        <p:xfrm>
          <a:off x="5268225" y="335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{686153D9-9945-4F4D-AA6C-52F930B618C2}</a:tableStyleId>
              </a:tblPr>
              <a:tblGrid>
                <a:gridCol w="1761000"/>
                <a:gridCol w="1208500"/>
              </a:tblGrid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Specifications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Details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</a:tr>
              <a:tr h="28575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Pressure-Far Field</a:t>
                      </a:r>
                      <a:endParaRPr sz="1000"/>
                    </a:p>
                  </a:txBody>
                  <a:tcPr marT="68575" marB="68575" marR="91425" marL="91425"/>
                </a:tc>
                <a:tc hMerge="1"/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Gauge Pressure (Pa)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Mach Number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</a:t>
                      </a:r>
                      <a:endParaRPr sz="1000"/>
                    </a:p>
                  </a:txBody>
                  <a:tcPr marT="68575" marB="68575" marR="91425" marL="91425"/>
                </a:tc>
              </a:tr>
            </a:tbl>
          </a:graphicData>
        </a:graphic>
      </p:graphicFrame>
      <p:sp>
        <p:nvSpPr>
          <p:cNvPr id="296" name="Google Shape;296;p24"/>
          <p:cNvSpPr txBox="1"/>
          <p:nvPr/>
        </p:nvSpPr>
        <p:spPr>
          <a:xfrm>
            <a:off x="5268275" y="4532325"/>
            <a:ext cx="296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Table:</a:t>
            </a:r>
            <a:r>
              <a:rPr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Boundary Conditions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7" name="Google Shape;297;p24"/>
          <p:cNvPicPr preferRelativeResize="0"/>
          <p:nvPr/>
        </p:nvPicPr>
        <p:blipFill rotWithShape="1">
          <a:blip r:embed="rId3">
            <a:alphaModFix/>
          </a:blip>
          <a:srcRect b="20120" l="23685" r="16413" t="18912"/>
          <a:stretch/>
        </p:blipFill>
        <p:spPr>
          <a:xfrm>
            <a:off x="5145388" y="1157575"/>
            <a:ext cx="3215170" cy="18407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5"/>
          <p:cNvSpPr txBox="1"/>
          <p:nvPr>
            <p:ph type="title"/>
          </p:nvPr>
        </p:nvSpPr>
        <p:spPr>
          <a:xfrm>
            <a:off x="180654" y="152243"/>
            <a:ext cx="70422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Supersonic Jet Engine - Spike Intake</a:t>
            </a:r>
            <a:endParaRPr sz="2400"/>
          </a:p>
        </p:txBody>
      </p:sp>
      <p:sp>
        <p:nvSpPr>
          <p:cNvPr id="303" name="Google Shape;303;p25"/>
          <p:cNvSpPr txBox="1"/>
          <p:nvPr>
            <p:ph idx="1" type="body"/>
          </p:nvPr>
        </p:nvSpPr>
        <p:spPr>
          <a:xfrm>
            <a:off x="2" y="759463"/>
            <a:ext cx="199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700">
                <a:latin typeface="Open Sans Medium"/>
                <a:ea typeface="Open Sans Medium"/>
                <a:cs typeface="Open Sans Medium"/>
                <a:sym typeface="Open Sans Medium"/>
              </a:rPr>
              <a:t>Post-Processing</a:t>
            </a:r>
            <a:endParaRPr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304" name="Google Shape;304;p25"/>
          <p:cNvSpPr txBox="1"/>
          <p:nvPr>
            <p:ph idx="1" type="body"/>
          </p:nvPr>
        </p:nvSpPr>
        <p:spPr>
          <a:xfrm>
            <a:off x="-8" y="3807400"/>
            <a:ext cx="90012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300">
                <a:latin typeface="Open Sans Medium"/>
                <a:ea typeface="Open Sans Medium"/>
                <a:cs typeface="Open Sans Medium"/>
                <a:sym typeface="Open Sans Medium"/>
              </a:rPr>
              <a:t>Outcomes:</a:t>
            </a:r>
            <a:endParaRPr sz="13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Char char="•"/>
            </a:pPr>
            <a:r>
              <a:rPr lang="en-US" sz="1100">
                <a:latin typeface="Open Sans Medium"/>
                <a:ea typeface="Open Sans Medium"/>
                <a:cs typeface="Open Sans Medium"/>
                <a:sym typeface="Open Sans Medium"/>
              </a:rPr>
              <a:t>Mach Number = </a:t>
            </a:r>
            <a:r>
              <a:rPr b="1" lang="en-US" sz="1100"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Char char="•"/>
            </a:pPr>
            <a:r>
              <a:rPr lang="en-US" sz="1100">
                <a:latin typeface="Open Sans Medium"/>
                <a:ea typeface="Open Sans Medium"/>
                <a:cs typeface="Open Sans Medium"/>
                <a:sym typeface="Open Sans Medium"/>
              </a:rPr>
              <a:t>Convergence at </a:t>
            </a:r>
            <a:r>
              <a:rPr b="1" lang="en-US" sz="1100">
                <a:latin typeface="Open Sans"/>
                <a:ea typeface="Open Sans"/>
                <a:cs typeface="Open Sans"/>
                <a:sym typeface="Open Sans"/>
              </a:rPr>
              <a:t>Step 1418</a:t>
            </a:r>
            <a:endParaRPr sz="11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graphicFrame>
        <p:nvGraphicFramePr>
          <p:cNvPr id="305" name="Google Shape;305;p25"/>
          <p:cNvGraphicFramePr/>
          <p:nvPr/>
        </p:nvGraphicFramePr>
        <p:xfrm>
          <a:off x="4438050" y="8669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{686153D9-9945-4F4D-AA6C-52F930B618C2}</a:tableStyleId>
              </a:tblPr>
              <a:tblGrid>
                <a:gridCol w="1179550"/>
                <a:gridCol w="2856650"/>
              </a:tblGrid>
              <a:tr h="2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Specifications</a:t>
                      </a:r>
                      <a:endParaRPr b="1" sz="11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Contours</a:t>
                      </a:r>
                      <a:endParaRPr b="1" sz="11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</a:tr>
              <a:tr h="125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Mach Number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Static Pressure</a:t>
                      </a:r>
                      <a:endParaRPr b="1" sz="10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Density</a:t>
                      </a:r>
                      <a:endParaRPr b="1" sz="10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6" name="Google Shape;306;p25"/>
          <p:cNvSpPr txBox="1"/>
          <p:nvPr>
            <p:ph idx="1" type="body"/>
          </p:nvPr>
        </p:nvSpPr>
        <p:spPr>
          <a:xfrm>
            <a:off x="1776225" y="1464050"/>
            <a:ext cx="90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300"/>
              <a:t>Residuals</a:t>
            </a:r>
            <a:endParaRPr sz="1300"/>
          </a:p>
        </p:txBody>
      </p:sp>
      <p:pic>
        <p:nvPicPr>
          <p:cNvPr id="307" name="Google Shape;307;p25"/>
          <p:cNvPicPr preferRelativeResize="0"/>
          <p:nvPr/>
        </p:nvPicPr>
        <p:blipFill rotWithShape="1">
          <a:blip r:embed="rId3">
            <a:alphaModFix/>
          </a:blip>
          <a:srcRect b="25975" l="41405" r="4912" t="22386"/>
          <a:stretch/>
        </p:blipFill>
        <p:spPr>
          <a:xfrm>
            <a:off x="859763" y="1779638"/>
            <a:ext cx="2742826" cy="148411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8" name="Google Shape;308;p25"/>
          <p:cNvPicPr preferRelativeResize="0"/>
          <p:nvPr/>
        </p:nvPicPr>
        <p:blipFill rotWithShape="1">
          <a:blip r:embed="rId4">
            <a:alphaModFix/>
          </a:blip>
          <a:srcRect b="31528" l="41744" r="14283" t="32959"/>
          <a:stretch/>
        </p:blipFill>
        <p:spPr>
          <a:xfrm>
            <a:off x="5865899" y="3691250"/>
            <a:ext cx="2353277" cy="1069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9" name="Google Shape;309;p25"/>
          <p:cNvPicPr preferRelativeResize="0"/>
          <p:nvPr/>
        </p:nvPicPr>
        <p:blipFill rotWithShape="1">
          <a:blip r:embed="rId5">
            <a:alphaModFix/>
          </a:blip>
          <a:srcRect b="31528" l="41854" r="14398" t="32959"/>
          <a:stretch/>
        </p:blipFill>
        <p:spPr>
          <a:xfrm>
            <a:off x="5865900" y="2529963"/>
            <a:ext cx="2353277" cy="107446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0" name="Google Shape;310;p25"/>
          <p:cNvPicPr preferRelativeResize="0"/>
          <p:nvPr/>
        </p:nvPicPr>
        <p:blipFill rotWithShape="1">
          <a:blip r:embed="rId6">
            <a:alphaModFix/>
          </a:blip>
          <a:srcRect b="31528" l="41406" r="14399" t="32959"/>
          <a:stretch/>
        </p:blipFill>
        <p:spPr>
          <a:xfrm>
            <a:off x="5865900" y="1243000"/>
            <a:ext cx="2353277" cy="106361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6"/>
          <p:cNvSpPr txBox="1"/>
          <p:nvPr>
            <p:ph type="title"/>
          </p:nvPr>
        </p:nvSpPr>
        <p:spPr>
          <a:xfrm>
            <a:off x="180654" y="152243"/>
            <a:ext cx="70422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Supersonic Jet Engine - Spike Intake</a:t>
            </a:r>
            <a:endParaRPr sz="2400"/>
          </a:p>
        </p:txBody>
      </p:sp>
      <p:sp>
        <p:nvSpPr>
          <p:cNvPr id="316" name="Google Shape;316;p26"/>
          <p:cNvSpPr txBox="1"/>
          <p:nvPr>
            <p:ph idx="1" type="body"/>
          </p:nvPr>
        </p:nvSpPr>
        <p:spPr>
          <a:xfrm>
            <a:off x="2" y="759463"/>
            <a:ext cx="199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700">
                <a:latin typeface="Open Sans Medium"/>
                <a:ea typeface="Open Sans Medium"/>
                <a:cs typeface="Open Sans Medium"/>
                <a:sym typeface="Open Sans Medium"/>
              </a:rPr>
              <a:t>Post-Processing</a:t>
            </a:r>
            <a:endParaRPr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317" name="Google Shape;317;p26"/>
          <p:cNvSpPr txBox="1"/>
          <p:nvPr>
            <p:ph idx="1" type="body"/>
          </p:nvPr>
        </p:nvSpPr>
        <p:spPr>
          <a:xfrm>
            <a:off x="-8" y="3807400"/>
            <a:ext cx="90012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300">
                <a:latin typeface="Open Sans Medium"/>
                <a:ea typeface="Open Sans Medium"/>
                <a:cs typeface="Open Sans Medium"/>
                <a:sym typeface="Open Sans Medium"/>
              </a:rPr>
              <a:t>Outcomes:</a:t>
            </a:r>
            <a:endParaRPr sz="13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Char char="•"/>
            </a:pPr>
            <a:r>
              <a:rPr lang="en-US" sz="1100">
                <a:latin typeface="Open Sans Medium"/>
                <a:ea typeface="Open Sans Medium"/>
                <a:cs typeface="Open Sans Medium"/>
                <a:sym typeface="Open Sans Medium"/>
              </a:rPr>
              <a:t>Mach Number = </a:t>
            </a:r>
            <a:r>
              <a:rPr b="1" lang="en-US" sz="1100"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Char char="•"/>
            </a:pPr>
            <a:r>
              <a:rPr lang="en-US" sz="1100">
                <a:latin typeface="Open Sans Medium"/>
                <a:ea typeface="Open Sans Medium"/>
                <a:cs typeface="Open Sans Medium"/>
                <a:sym typeface="Open Sans Medium"/>
              </a:rPr>
              <a:t>Convergence at </a:t>
            </a:r>
            <a:r>
              <a:rPr b="1" lang="en-US" sz="1100">
                <a:latin typeface="Open Sans"/>
                <a:ea typeface="Open Sans"/>
                <a:cs typeface="Open Sans"/>
                <a:sym typeface="Open Sans"/>
              </a:rPr>
              <a:t>Step 212</a:t>
            </a:r>
            <a:endParaRPr sz="11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graphicFrame>
        <p:nvGraphicFramePr>
          <p:cNvPr id="318" name="Google Shape;318;p26"/>
          <p:cNvGraphicFramePr/>
          <p:nvPr/>
        </p:nvGraphicFramePr>
        <p:xfrm>
          <a:off x="4438050" y="8669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{686153D9-9945-4F4D-AA6C-52F930B618C2}</a:tableStyleId>
              </a:tblPr>
              <a:tblGrid>
                <a:gridCol w="1179550"/>
                <a:gridCol w="2856650"/>
              </a:tblGrid>
              <a:tr h="2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Specifications</a:t>
                      </a:r>
                      <a:endParaRPr b="1" sz="11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Contours</a:t>
                      </a:r>
                      <a:endParaRPr b="1" sz="11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</a:tr>
              <a:tr h="125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Mach Number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Static Pressure</a:t>
                      </a:r>
                      <a:endParaRPr b="1" sz="10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Density</a:t>
                      </a:r>
                      <a:endParaRPr b="1" sz="10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9" name="Google Shape;319;p26"/>
          <p:cNvSpPr txBox="1"/>
          <p:nvPr>
            <p:ph idx="1" type="body"/>
          </p:nvPr>
        </p:nvSpPr>
        <p:spPr>
          <a:xfrm>
            <a:off x="1776225" y="1464050"/>
            <a:ext cx="90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300"/>
              <a:t>Residuals</a:t>
            </a:r>
            <a:endParaRPr sz="1300"/>
          </a:p>
        </p:txBody>
      </p:sp>
      <p:pic>
        <p:nvPicPr>
          <p:cNvPr id="320" name="Google Shape;320;p26"/>
          <p:cNvPicPr preferRelativeResize="0"/>
          <p:nvPr/>
        </p:nvPicPr>
        <p:blipFill rotWithShape="1">
          <a:blip r:embed="rId3">
            <a:alphaModFix/>
          </a:blip>
          <a:srcRect b="30952" l="41518" r="14341" t="33136"/>
          <a:stretch/>
        </p:blipFill>
        <p:spPr>
          <a:xfrm>
            <a:off x="5865900" y="1260370"/>
            <a:ext cx="2353277" cy="107698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1" name="Google Shape;321;p26"/>
          <p:cNvPicPr preferRelativeResize="0"/>
          <p:nvPr/>
        </p:nvPicPr>
        <p:blipFill rotWithShape="1">
          <a:blip r:embed="rId4">
            <a:alphaModFix/>
          </a:blip>
          <a:srcRect b="30955" l="41518" r="14341" t="32934"/>
          <a:stretch/>
        </p:blipFill>
        <p:spPr>
          <a:xfrm>
            <a:off x="5865900" y="2472838"/>
            <a:ext cx="2353277" cy="108292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2" name="Google Shape;322;p26"/>
          <p:cNvPicPr preferRelativeResize="0"/>
          <p:nvPr/>
        </p:nvPicPr>
        <p:blipFill rotWithShape="1">
          <a:blip r:embed="rId5">
            <a:alphaModFix/>
          </a:blip>
          <a:srcRect b="31351" l="41408" r="14452" t="33332"/>
          <a:stretch/>
        </p:blipFill>
        <p:spPr>
          <a:xfrm>
            <a:off x="5865900" y="3691275"/>
            <a:ext cx="2353277" cy="10591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3" name="Google Shape;323;p26"/>
          <p:cNvPicPr preferRelativeResize="0"/>
          <p:nvPr/>
        </p:nvPicPr>
        <p:blipFill rotWithShape="1">
          <a:blip r:embed="rId6">
            <a:alphaModFix/>
          </a:blip>
          <a:srcRect b="24799" l="41410" r="5020" t="22781"/>
          <a:stretch/>
        </p:blipFill>
        <p:spPr>
          <a:xfrm>
            <a:off x="854112" y="1813837"/>
            <a:ext cx="2754125" cy="15158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7"/>
          <p:cNvSpPr txBox="1"/>
          <p:nvPr>
            <p:ph type="title"/>
          </p:nvPr>
        </p:nvSpPr>
        <p:spPr>
          <a:xfrm>
            <a:off x="180654" y="152243"/>
            <a:ext cx="70422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Supersonic Jet Engine - Spike Intake</a:t>
            </a:r>
            <a:endParaRPr sz="2400"/>
          </a:p>
        </p:txBody>
      </p:sp>
      <p:sp>
        <p:nvSpPr>
          <p:cNvPr id="329" name="Google Shape;329;p27"/>
          <p:cNvSpPr txBox="1"/>
          <p:nvPr>
            <p:ph idx="1" type="body"/>
          </p:nvPr>
        </p:nvSpPr>
        <p:spPr>
          <a:xfrm>
            <a:off x="2" y="759463"/>
            <a:ext cx="199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700">
                <a:latin typeface="Open Sans Medium"/>
                <a:ea typeface="Open Sans Medium"/>
                <a:cs typeface="Open Sans Medium"/>
                <a:sym typeface="Open Sans Medium"/>
              </a:rPr>
              <a:t>Post-Processing</a:t>
            </a:r>
            <a:endParaRPr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330" name="Google Shape;330;p27"/>
          <p:cNvSpPr txBox="1"/>
          <p:nvPr>
            <p:ph idx="1" type="body"/>
          </p:nvPr>
        </p:nvSpPr>
        <p:spPr>
          <a:xfrm>
            <a:off x="-8" y="3807400"/>
            <a:ext cx="90012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300">
                <a:latin typeface="Open Sans Medium"/>
                <a:ea typeface="Open Sans Medium"/>
                <a:cs typeface="Open Sans Medium"/>
                <a:sym typeface="Open Sans Medium"/>
              </a:rPr>
              <a:t>Outcomes:</a:t>
            </a:r>
            <a:endParaRPr sz="13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Char char="•"/>
            </a:pPr>
            <a:r>
              <a:rPr lang="en-US" sz="1100">
                <a:latin typeface="Open Sans Medium"/>
                <a:ea typeface="Open Sans Medium"/>
                <a:cs typeface="Open Sans Medium"/>
                <a:sym typeface="Open Sans Medium"/>
              </a:rPr>
              <a:t>Mach Number = </a:t>
            </a:r>
            <a:r>
              <a:rPr b="1" lang="en-US" sz="1100"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 b="1" sz="1100">
              <a:latin typeface="Open Sans"/>
              <a:ea typeface="Open Sans"/>
              <a:cs typeface="Open Sans"/>
              <a:sym typeface="Open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Char char="•"/>
            </a:pPr>
            <a:r>
              <a:rPr lang="en-US" sz="1100">
                <a:latin typeface="Open Sans Medium"/>
                <a:ea typeface="Open Sans Medium"/>
                <a:cs typeface="Open Sans Medium"/>
                <a:sym typeface="Open Sans Medium"/>
              </a:rPr>
              <a:t>Convergence at </a:t>
            </a:r>
            <a:r>
              <a:rPr b="1" lang="en-US" sz="1100">
                <a:latin typeface="Open Sans"/>
                <a:ea typeface="Open Sans"/>
                <a:cs typeface="Open Sans"/>
                <a:sym typeface="Open Sans"/>
              </a:rPr>
              <a:t>Step 115</a:t>
            </a:r>
            <a:endParaRPr sz="11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graphicFrame>
        <p:nvGraphicFramePr>
          <p:cNvPr id="331" name="Google Shape;331;p27"/>
          <p:cNvGraphicFramePr/>
          <p:nvPr/>
        </p:nvGraphicFramePr>
        <p:xfrm>
          <a:off x="4438050" y="8669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{686153D9-9945-4F4D-AA6C-52F930B618C2}</a:tableStyleId>
              </a:tblPr>
              <a:tblGrid>
                <a:gridCol w="1179550"/>
                <a:gridCol w="2856650"/>
              </a:tblGrid>
              <a:tr h="266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Specifications</a:t>
                      </a:r>
                      <a:endParaRPr b="1" sz="11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Contours</a:t>
                      </a:r>
                      <a:endParaRPr b="1" sz="11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</a:tr>
              <a:tr h="125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Mach Number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Static Pressure</a:t>
                      </a:r>
                      <a:endParaRPr b="1" sz="10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1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Density</a:t>
                      </a:r>
                      <a:endParaRPr b="1" sz="10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32" name="Google Shape;332;p27"/>
          <p:cNvSpPr txBox="1"/>
          <p:nvPr>
            <p:ph idx="1" type="body"/>
          </p:nvPr>
        </p:nvSpPr>
        <p:spPr>
          <a:xfrm>
            <a:off x="1776225" y="1464050"/>
            <a:ext cx="90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300"/>
              <a:t>Residuals</a:t>
            </a:r>
            <a:endParaRPr sz="1300"/>
          </a:p>
        </p:txBody>
      </p:sp>
      <p:pic>
        <p:nvPicPr>
          <p:cNvPr id="333" name="Google Shape;333;p27"/>
          <p:cNvPicPr preferRelativeResize="0"/>
          <p:nvPr/>
        </p:nvPicPr>
        <p:blipFill rotWithShape="1">
          <a:blip r:embed="rId3">
            <a:alphaModFix/>
          </a:blip>
          <a:srcRect b="30871" l="41408" r="14452" t="32934"/>
          <a:stretch/>
        </p:blipFill>
        <p:spPr>
          <a:xfrm>
            <a:off x="5865900" y="3631975"/>
            <a:ext cx="2353277" cy="108543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34" name="Google Shape;334;p27"/>
          <p:cNvPicPr preferRelativeResize="0"/>
          <p:nvPr/>
        </p:nvPicPr>
        <p:blipFill rotWithShape="1">
          <a:blip r:embed="rId4">
            <a:alphaModFix/>
          </a:blip>
          <a:srcRect b="30866" l="41518" r="14341" t="33138"/>
          <a:stretch/>
        </p:blipFill>
        <p:spPr>
          <a:xfrm>
            <a:off x="5865900" y="2490125"/>
            <a:ext cx="2353277" cy="1079487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35" name="Google Shape;335;p27"/>
          <p:cNvPicPr preferRelativeResize="0"/>
          <p:nvPr/>
        </p:nvPicPr>
        <p:blipFill rotWithShape="1">
          <a:blip r:embed="rId5">
            <a:alphaModFix/>
          </a:blip>
          <a:srcRect b="30871" l="41629" r="14231" t="32934"/>
          <a:stretch/>
        </p:blipFill>
        <p:spPr>
          <a:xfrm>
            <a:off x="5865900" y="1265475"/>
            <a:ext cx="2353277" cy="108543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36" name="Google Shape;336;p27"/>
          <p:cNvPicPr preferRelativeResize="0"/>
          <p:nvPr/>
        </p:nvPicPr>
        <p:blipFill rotWithShape="1">
          <a:blip r:embed="rId6">
            <a:alphaModFix/>
          </a:blip>
          <a:srcRect b="25980" l="41293" r="5025" t="22777"/>
          <a:stretch/>
        </p:blipFill>
        <p:spPr>
          <a:xfrm>
            <a:off x="793228" y="1799675"/>
            <a:ext cx="2875877" cy="15441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1" name="Google Shape;341;p28"/>
          <p:cNvGraphicFramePr/>
          <p:nvPr/>
        </p:nvGraphicFramePr>
        <p:xfrm>
          <a:off x="580800" y="120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{686153D9-9945-4F4D-AA6C-52F930B618C2}</a:tableStyleId>
              </a:tblPr>
              <a:tblGrid>
                <a:gridCol w="1520375"/>
                <a:gridCol w="1449125"/>
              </a:tblGrid>
              <a:tr h="224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Specifications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Details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</a:tr>
              <a:tr h="21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Solver Type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Density Based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1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Time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Steady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1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2D Space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Planar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13225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Model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Energy Eqn. (On)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13225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dk1"/>
                          </a:solidFill>
                        </a:rPr>
                        <a:t>Viscous (Inviscid)</a:t>
                      </a:r>
                      <a:endParaRPr sz="1000"/>
                    </a:p>
                  </a:txBody>
                  <a:tcPr marT="68575" marB="68575" marR="91425" marL="91425"/>
                </a:tc>
              </a:tr>
            </a:tbl>
          </a:graphicData>
        </a:graphic>
      </p:graphicFrame>
      <p:graphicFrame>
        <p:nvGraphicFramePr>
          <p:cNvPr id="342" name="Google Shape;342;p28"/>
          <p:cNvGraphicFramePr/>
          <p:nvPr/>
        </p:nvGraphicFramePr>
        <p:xfrm>
          <a:off x="580800" y="335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{686153D9-9945-4F4D-AA6C-52F930B618C2}</a:tableStyleId>
              </a:tblPr>
              <a:tblGrid>
                <a:gridCol w="1761000"/>
                <a:gridCol w="1208500"/>
              </a:tblGrid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Specifications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Details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Density (kg/m</a:t>
                      </a:r>
                      <a:r>
                        <a:rPr baseline="30000" lang="en-US" sz="1000"/>
                        <a:t>3</a:t>
                      </a:r>
                      <a:r>
                        <a:rPr lang="en-US" sz="1000"/>
                        <a:t>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Ideal Gas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Cp (J/kg-K)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1006.43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Molecular Weight (kg/kmol)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28.966</a:t>
                      </a:r>
                      <a:endParaRPr sz="1000"/>
                    </a:p>
                  </a:txBody>
                  <a:tcPr marT="68575" marB="68575" marR="91425" marL="91425"/>
                </a:tc>
              </a:tr>
            </a:tbl>
          </a:graphicData>
        </a:graphic>
      </p:graphicFrame>
      <p:sp>
        <p:nvSpPr>
          <p:cNvPr id="343" name="Google Shape;343;p28"/>
          <p:cNvSpPr txBox="1"/>
          <p:nvPr>
            <p:ph type="title"/>
          </p:nvPr>
        </p:nvSpPr>
        <p:spPr>
          <a:xfrm>
            <a:off x="180654" y="152243"/>
            <a:ext cx="70422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Supersonic Jet Engine - Spike Intake</a:t>
            </a:r>
            <a:endParaRPr sz="2400"/>
          </a:p>
        </p:txBody>
      </p:sp>
      <p:sp>
        <p:nvSpPr>
          <p:cNvPr id="344" name="Google Shape;344;p28"/>
          <p:cNvSpPr txBox="1"/>
          <p:nvPr>
            <p:ph idx="1" type="body"/>
          </p:nvPr>
        </p:nvSpPr>
        <p:spPr>
          <a:xfrm>
            <a:off x="580950" y="759475"/>
            <a:ext cx="2969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700">
                <a:latin typeface="Open Sans Medium"/>
                <a:ea typeface="Open Sans Medium"/>
                <a:cs typeface="Open Sans Medium"/>
                <a:sym typeface="Open Sans Medium"/>
              </a:rPr>
              <a:t>Pre-Processing</a:t>
            </a:r>
            <a:endParaRPr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345" name="Google Shape;345;p28"/>
          <p:cNvSpPr txBox="1"/>
          <p:nvPr>
            <p:ph idx="1" type="body"/>
          </p:nvPr>
        </p:nvSpPr>
        <p:spPr>
          <a:xfrm>
            <a:off x="5440925" y="759475"/>
            <a:ext cx="2624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700">
                <a:latin typeface="Open Sans Medium"/>
                <a:ea typeface="Open Sans Medium"/>
                <a:cs typeface="Open Sans Medium"/>
                <a:sym typeface="Open Sans Medium"/>
              </a:rPr>
              <a:t>Boundary Conditions</a:t>
            </a:r>
            <a:endParaRPr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346" name="Google Shape;346;p28"/>
          <p:cNvSpPr txBox="1"/>
          <p:nvPr/>
        </p:nvSpPr>
        <p:spPr>
          <a:xfrm>
            <a:off x="580950" y="2864800"/>
            <a:ext cx="296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Table:</a:t>
            </a:r>
            <a:r>
              <a:rPr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General Specifications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47" name="Google Shape;347;p28"/>
          <p:cNvSpPr txBox="1"/>
          <p:nvPr/>
        </p:nvSpPr>
        <p:spPr>
          <a:xfrm>
            <a:off x="580850" y="4472150"/>
            <a:ext cx="296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Table:</a:t>
            </a:r>
            <a:r>
              <a:rPr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Material Specifications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348" name="Google Shape;348;p28"/>
          <p:cNvGraphicFramePr/>
          <p:nvPr/>
        </p:nvGraphicFramePr>
        <p:xfrm>
          <a:off x="5268225" y="335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{686153D9-9945-4F4D-AA6C-52F930B618C2}</a:tableStyleId>
              </a:tblPr>
              <a:tblGrid>
                <a:gridCol w="1761000"/>
                <a:gridCol w="1208500"/>
              </a:tblGrid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Specifications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Details</a:t>
                      </a:r>
                      <a:endParaRPr b="1" sz="1100"/>
                    </a:p>
                  </a:txBody>
                  <a:tcPr marT="68575" marB="68575" marR="91425" marL="91425">
                    <a:solidFill>
                      <a:srgbClr val="A2C4C9"/>
                    </a:solidFill>
                  </a:tcPr>
                </a:tc>
              </a:tr>
              <a:tr h="28575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Pressure-Far Field</a:t>
                      </a:r>
                      <a:endParaRPr sz="1000"/>
                    </a:p>
                  </a:txBody>
                  <a:tcPr marT="68575" marB="68575" marR="91425" marL="91425"/>
                </a:tc>
                <a:tc hMerge="1"/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Gauge Pressure (Pa)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</a:t>
                      </a:r>
                      <a:endParaRPr sz="1000"/>
                    </a:p>
                  </a:txBody>
                  <a:tcPr marT="68575" marB="68575" marR="91425" marL="91425"/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Mach Number</a:t>
                      </a:r>
                      <a:endParaRPr sz="1000"/>
                    </a:p>
                  </a:txBody>
                  <a:tcPr marT="68575" marB="6857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</a:t>
                      </a:r>
                      <a:endParaRPr sz="1000"/>
                    </a:p>
                  </a:txBody>
                  <a:tcPr marT="68575" marB="68575" marR="91425" marL="91425"/>
                </a:tc>
              </a:tr>
            </a:tbl>
          </a:graphicData>
        </a:graphic>
      </p:graphicFrame>
      <p:sp>
        <p:nvSpPr>
          <p:cNvPr id="349" name="Google Shape;349;p28"/>
          <p:cNvSpPr txBox="1"/>
          <p:nvPr/>
        </p:nvSpPr>
        <p:spPr>
          <a:xfrm>
            <a:off x="5268275" y="4532325"/>
            <a:ext cx="296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Table:</a:t>
            </a:r>
            <a:r>
              <a:rPr lang="en-U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Boundary Conditions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50" name="Google Shape;350;p28"/>
          <p:cNvPicPr preferRelativeResize="0"/>
          <p:nvPr/>
        </p:nvPicPr>
        <p:blipFill rotWithShape="1">
          <a:blip r:embed="rId3">
            <a:alphaModFix/>
          </a:blip>
          <a:srcRect b="25346" l="23940" r="18596" t="21012"/>
          <a:stretch/>
        </p:blipFill>
        <p:spPr>
          <a:xfrm>
            <a:off x="5133589" y="1304600"/>
            <a:ext cx="3238776" cy="17006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9"/>
          <p:cNvSpPr txBox="1"/>
          <p:nvPr>
            <p:ph idx="1" type="body"/>
          </p:nvPr>
        </p:nvSpPr>
        <p:spPr>
          <a:xfrm>
            <a:off x="2" y="759463"/>
            <a:ext cx="1999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700">
                <a:latin typeface="Open Sans Medium"/>
                <a:ea typeface="Open Sans Medium"/>
                <a:cs typeface="Open Sans Medium"/>
                <a:sym typeface="Open Sans Medium"/>
              </a:rPr>
              <a:t>Post-Processing</a:t>
            </a:r>
            <a:endParaRPr sz="17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356" name="Google Shape;356;p29"/>
          <p:cNvSpPr txBox="1"/>
          <p:nvPr>
            <p:ph idx="1" type="body"/>
          </p:nvPr>
        </p:nvSpPr>
        <p:spPr>
          <a:xfrm>
            <a:off x="1" y="3807400"/>
            <a:ext cx="288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300">
                <a:latin typeface="Open Sans Medium"/>
                <a:ea typeface="Open Sans Medium"/>
                <a:cs typeface="Open Sans Medium"/>
                <a:sym typeface="Open Sans Medium"/>
              </a:rPr>
              <a:t>Outcomes:</a:t>
            </a:r>
            <a:endParaRPr sz="13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Open Sans Medium"/>
              <a:buChar char="•"/>
            </a:pPr>
            <a:r>
              <a:rPr lang="en-US" sz="1100">
                <a:latin typeface="Open Sans Medium"/>
                <a:ea typeface="Open Sans Medium"/>
                <a:cs typeface="Open Sans Medium"/>
                <a:sym typeface="Open Sans Medium"/>
              </a:rPr>
              <a:t>Convergence at </a:t>
            </a:r>
            <a:r>
              <a:rPr b="1" lang="en-US" sz="1100">
                <a:latin typeface="Open Sans"/>
                <a:ea typeface="Open Sans"/>
                <a:cs typeface="Open Sans"/>
                <a:sym typeface="Open Sans"/>
              </a:rPr>
              <a:t>Step 806</a:t>
            </a:r>
            <a:endParaRPr sz="1100"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graphicFrame>
        <p:nvGraphicFramePr>
          <p:cNvPr id="357" name="Google Shape;357;p29"/>
          <p:cNvGraphicFramePr/>
          <p:nvPr/>
        </p:nvGraphicFramePr>
        <p:xfrm>
          <a:off x="4034950" y="16835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{686153D9-9945-4F4D-AA6C-52F930B618C2}</a:tableStyleId>
              </a:tblPr>
              <a:tblGrid>
                <a:gridCol w="1327175"/>
                <a:gridCol w="3598250"/>
              </a:tblGrid>
              <a:tr h="304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Specifications</a:t>
                      </a:r>
                      <a:endParaRPr b="1" sz="11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Contours</a:t>
                      </a:r>
                      <a:endParaRPr b="1" sz="11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</a:tr>
              <a:tr h="1257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</a:rPr>
                        <a:t>Mach Number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/>
                    </a:p>
                  </a:txBody>
                  <a:tcPr marT="68575" marB="6857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8" name="Google Shape;358;p29"/>
          <p:cNvSpPr txBox="1"/>
          <p:nvPr>
            <p:ph idx="1" type="body"/>
          </p:nvPr>
        </p:nvSpPr>
        <p:spPr>
          <a:xfrm>
            <a:off x="1500662" y="1350225"/>
            <a:ext cx="90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300"/>
              <a:t>Residuals</a:t>
            </a:r>
            <a:endParaRPr sz="1300"/>
          </a:p>
        </p:txBody>
      </p:sp>
      <p:pic>
        <p:nvPicPr>
          <p:cNvPr id="359" name="Google Shape;359;p29"/>
          <p:cNvPicPr preferRelativeResize="0"/>
          <p:nvPr/>
        </p:nvPicPr>
        <p:blipFill rotWithShape="1">
          <a:blip r:embed="rId3">
            <a:alphaModFix/>
          </a:blip>
          <a:srcRect b="25003" l="41293" r="4842" t="23211"/>
          <a:stretch/>
        </p:blipFill>
        <p:spPr>
          <a:xfrm>
            <a:off x="403225" y="1732250"/>
            <a:ext cx="3104750" cy="1679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60" name="Google Shape;360;p29"/>
          <p:cNvPicPr preferRelativeResize="0"/>
          <p:nvPr/>
        </p:nvPicPr>
        <p:blipFill rotWithShape="1">
          <a:blip r:embed="rId4">
            <a:alphaModFix/>
          </a:blip>
          <a:srcRect b="33707" l="41185" r="14396" t="35913"/>
          <a:stretch/>
        </p:blipFill>
        <p:spPr>
          <a:xfrm>
            <a:off x="5766025" y="2057024"/>
            <a:ext cx="2888098" cy="11111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1" name="Google Shape;361;p29"/>
          <p:cNvSpPr txBox="1"/>
          <p:nvPr>
            <p:ph type="title"/>
          </p:nvPr>
        </p:nvSpPr>
        <p:spPr>
          <a:xfrm>
            <a:off x="180654" y="152243"/>
            <a:ext cx="70422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Supersonic Jet Engine - Spike Intake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ITR_PPT_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