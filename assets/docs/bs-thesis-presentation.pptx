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345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8633" autoAdjust="0"/>
  </p:normalViewPr>
  <p:slideViewPr>
    <p:cSldViewPr snapToGrid="0" snapToObjects="1">
      <p:cViewPr>
        <p:scale>
          <a:sx n="100" d="100"/>
          <a:sy n="100" d="100"/>
        </p:scale>
        <p:origin x="954" y="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AV JAIN" userId="0c0bf2fd-5996-4b26-8ea0-493cd03236ea" providerId="ADAL" clId="{030CDAA5-77CB-40F4-AC4B-F58BD616D113}"/>
    <pc:docChg chg="undo redo custSel addSld delSld modSld">
      <pc:chgData name="ARJAV JAIN" userId="0c0bf2fd-5996-4b26-8ea0-493cd03236ea" providerId="ADAL" clId="{030CDAA5-77CB-40F4-AC4B-F58BD616D113}" dt="2026-09-25T23:55:13.724" v="1123" actId="166"/>
      <pc:docMkLst>
        <pc:docMk/>
      </pc:docMkLst>
      <pc:sldChg chg="addSp delSp modSp mod">
        <pc:chgData name="ARJAV JAIN" userId="0c0bf2fd-5996-4b26-8ea0-493cd03236ea" providerId="ADAL" clId="{030CDAA5-77CB-40F4-AC4B-F58BD616D113}" dt="2026-09-25T23:55:13.724" v="1123" actId="166"/>
        <pc:sldMkLst>
          <pc:docMk/>
          <pc:sldMk cId="0" sldId="263"/>
        </pc:sldMkLst>
        <pc:picChg chg="mod ord">
          <ac:chgData name="ARJAV JAIN" userId="0c0bf2fd-5996-4b26-8ea0-493cd03236ea" providerId="ADAL" clId="{030CDAA5-77CB-40F4-AC4B-F58BD616D113}" dt="2026-09-25T23:55:13.724" v="1123" actId="166"/>
          <ac:picMkLst>
            <pc:docMk/>
            <pc:sldMk cId="0" sldId="263"/>
            <ac:picMk id="11" creationId="{00000000-0000-0000-0000-000000000000}"/>
          </ac:picMkLst>
        </pc:picChg>
        <pc:picChg chg="mod ord">
          <ac:chgData name="ARJAV JAIN" userId="0c0bf2fd-5996-4b26-8ea0-493cd03236ea" providerId="ADAL" clId="{030CDAA5-77CB-40F4-AC4B-F58BD616D113}" dt="2026-09-25T23:55:13.724" v="1123" actId="166"/>
          <ac:picMkLst>
            <pc:docMk/>
            <pc:sldMk cId="0" sldId="263"/>
            <ac:picMk id="13" creationId="{00000000-0000-0000-0000-000000000000}"/>
          </ac:picMkLst>
        </pc:picChg>
        <pc:picChg chg="mod ord">
          <ac:chgData name="ARJAV JAIN" userId="0c0bf2fd-5996-4b26-8ea0-493cd03236ea" providerId="ADAL" clId="{030CDAA5-77CB-40F4-AC4B-F58BD616D113}" dt="2026-09-25T23:55:13.724" v="1123" actId="166"/>
          <ac:picMkLst>
            <pc:docMk/>
            <pc:sldMk cId="0" sldId="263"/>
            <ac:picMk id="1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9ED3E-DD61-4B06-B488-0CB528053EE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FEE61-4545-481C-8901-5F66EA5AA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6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EE61-4545-481C-8901-5F66EA5AAA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01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EE61-4545-481C-8901-5F66EA5AAA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6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tiff"/><Relationship Id="rId5" Type="http://schemas.openxmlformats.org/officeDocument/2006/relationships/image" Target="../media/image11.png"/><Relationship Id="rId10" Type="http://schemas.openxmlformats.org/officeDocument/2006/relationships/image" Target="../media/image16.tiff"/><Relationship Id="rId4" Type="http://schemas.openxmlformats.org/officeDocument/2006/relationships/image" Target="../media/image10.png"/><Relationship Id="rId9" Type="http://schemas.openxmlformats.org/officeDocument/2006/relationships/image" Target="../media/image15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tiff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46304"/>
            <a:ext cx="12191695" cy="6858000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6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4296" y="4856993"/>
            <a:ext cx="10515600" cy="6309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b="1" baseline="30000" dirty="0">
                <a:solidFill>
                  <a:schemeClr val="bg1"/>
                </a:solidFill>
                <a:latin typeface="+mj-lt"/>
              </a:rPr>
              <a:t>1</a:t>
            </a:r>
            <a:r>
              <a:rPr lang="en-IN" b="1" dirty="0">
                <a:solidFill>
                  <a:schemeClr val="bg1"/>
                </a:solidFill>
                <a:latin typeface="+mj-lt"/>
              </a:rPr>
              <a:t>Department of mechanical &amp; industrial engineering, </a:t>
            </a:r>
            <a:r>
              <a:rPr lang="en-IN" b="1" i="0" dirty="0">
                <a:solidFill>
                  <a:schemeClr val="bg1"/>
                </a:solidFill>
                <a:latin typeface="+mj-lt"/>
              </a:rPr>
              <a:t>Indian Institute Of Technology Roorkee, </a:t>
            </a:r>
            <a:r>
              <a:rPr lang="en-IN" b="1" dirty="0">
                <a:solidFill>
                  <a:schemeClr val="bg1"/>
                </a:solidFill>
                <a:latin typeface="+mj-lt"/>
              </a:rPr>
              <a:t>R</a:t>
            </a:r>
            <a:r>
              <a:rPr lang="en-IN" b="1" i="0" dirty="0">
                <a:solidFill>
                  <a:schemeClr val="bg1"/>
                </a:solidFill>
                <a:latin typeface="+mj-lt"/>
              </a:rPr>
              <a:t>oorkee </a:t>
            </a:r>
            <a:r>
              <a:rPr lang="en-IN" b="1" dirty="0">
                <a:solidFill>
                  <a:schemeClr val="bg1"/>
                </a:solidFill>
                <a:latin typeface="+mj-lt"/>
              </a:rPr>
              <a:t>I</a:t>
            </a:r>
            <a:r>
              <a:rPr lang="en-IN" b="1" i="0" dirty="0">
                <a:solidFill>
                  <a:schemeClr val="bg1"/>
                </a:solidFill>
                <a:latin typeface="+mj-lt"/>
              </a:rPr>
              <a:t>ndia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IN" b="1" baseline="30000" dirty="0">
                <a:solidFill>
                  <a:schemeClr val="bg1"/>
                </a:solidFill>
                <a:latin typeface="+mj-lt"/>
              </a:rPr>
              <a:t>2</a:t>
            </a:r>
            <a:r>
              <a:rPr lang="en-IN" b="1" dirty="0">
                <a:solidFill>
                  <a:schemeClr val="bg1"/>
                </a:solidFill>
                <a:latin typeface="+mj-lt"/>
              </a:rPr>
              <a:t>Institute of Fluid Science, Tohoku University, Sendai, Japan</a:t>
            </a:r>
            <a:endParaRPr lang="en-IN" b="1" i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682981"/>
            <a:ext cx="10698480" cy="179850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 dirty="0">
                <a:solidFill>
                  <a:srgbClr val="FFFFFF"/>
                </a:solidFill>
                <a:latin typeface="Calibri"/>
              </a:rPr>
              <a:t>Evaluating Simple Models for Knock Timing and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 dirty="0">
                <a:solidFill>
                  <a:srgbClr val="FFFFFF"/>
                </a:solidFill>
                <a:latin typeface="Calibri"/>
              </a:rPr>
              <a:t>Autoignition-Mode Prediction with 2D DNS of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 dirty="0">
                <a:solidFill>
                  <a:schemeClr val="bg1"/>
                </a:solidFill>
                <a:latin typeface="Calibri"/>
              </a:rPr>
              <a:t>n-Heptane in an Enclosure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3611880"/>
            <a:ext cx="7799831" cy="25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685296"/>
            <a:ext cx="106984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 dirty="0">
                <a:solidFill>
                  <a:srgbClr val="EEF2F7"/>
                </a:solidFill>
                <a:latin typeface="Calibri"/>
              </a:rPr>
              <a:t>A unified ETD–</a:t>
            </a:r>
            <a:r>
              <a:rPr sz="1400" b="0" i="1" dirty="0" err="1">
                <a:solidFill>
                  <a:srgbClr val="EEF2F7"/>
                </a:solidFill>
                <a:latin typeface="Calibri"/>
              </a:rPr>
              <a:t>ξ</a:t>
            </a:r>
            <a:r>
              <a:rPr sz="1400" b="0" i="1" dirty="0">
                <a:solidFill>
                  <a:srgbClr val="EEF2F7"/>
                </a:solidFill>
                <a:latin typeface="Calibri"/>
              </a:rPr>
              <a:t> diagnostic pathway connecting spark-ignited flame propagation,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 dirty="0">
                <a:solidFill>
                  <a:srgbClr val="EEF2F7"/>
                </a:solidFill>
                <a:latin typeface="Calibri"/>
              </a:rPr>
              <a:t>end-gas compression and knock onset in spark-ignition engines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711" y="4399036"/>
            <a:ext cx="11297042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u="sng" dirty="0">
                <a:solidFill>
                  <a:srgbClr val="FFFFFF"/>
                </a:solidFill>
                <a:latin typeface="Calibri"/>
              </a:rPr>
              <a:t>Arjav Jain</a:t>
            </a:r>
            <a:r>
              <a:rPr b="1" i="0" u="sng" dirty="0">
                <a:solidFill>
                  <a:srgbClr val="EEF2F7"/>
                </a:solidFill>
                <a:latin typeface="Calibri"/>
              </a:rPr>
              <a:t> </a:t>
            </a:r>
            <a:r>
              <a:rPr lang="en-US" b="1" i="0" u="sng" baseline="30000" dirty="0">
                <a:solidFill>
                  <a:srgbClr val="EEF2F7"/>
                </a:solidFill>
                <a:latin typeface="Calibri"/>
              </a:rPr>
              <a:t>1</a:t>
            </a:r>
            <a:r>
              <a:rPr b="1" i="0" u="sng" dirty="0">
                <a:solidFill>
                  <a:srgbClr val="EEF2F7"/>
                </a:solidFill>
                <a:latin typeface="Calibri"/>
              </a:rPr>
              <a:t>  </a:t>
            </a:r>
            <a:r>
              <a:rPr b="1" i="0" dirty="0">
                <a:solidFill>
                  <a:srgbClr val="EEF2F7"/>
                </a:solidFill>
                <a:latin typeface="Calibri"/>
              </a:rPr>
              <a:t>•   </a:t>
            </a:r>
            <a:r>
              <a:rPr b="1" i="0" dirty="0" err="1">
                <a:solidFill>
                  <a:srgbClr val="EEF2F7"/>
                </a:solidFill>
                <a:latin typeface="Calibri"/>
              </a:rPr>
              <a:t>Shreyam</a:t>
            </a:r>
            <a:r>
              <a:rPr b="1" i="0" dirty="0">
                <a:solidFill>
                  <a:srgbClr val="EEF2F7"/>
                </a:solidFill>
                <a:latin typeface="Calibri"/>
              </a:rPr>
              <a:t> Bansal </a:t>
            </a:r>
            <a:r>
              <a:rPr lang="en-US" b="1" u="sng" baseline="30000" dirty="0">
                <a:solidFill>
                  <a:srgbClr val="EEF2F7"/>
                </a:solidFill>
              </a:rPr>
              <a:t>1</a:t>
            </a:r>
            <a:r>
              <a:rPr b="1" i="0" dirty="0">
                <a:solidFill>
                  <a:srgbClr val="EEF2F7"/>
                </a:solidFill>
                <a:latin typeface="Calibri"/>
              </a:rPr>
              <a:t>  •   Arnab Ganguly</a:t>
            </a:r>
            <a:r>
              <a:rPr lang="en-US" b="1" u="sng" baseline="30000" dirty="0">
                <a:solidFill>
                  <a:srgbClr val="EEF2F7"/>
                </a:solidFill>
              </a:rPr>
              <a:t> 1</a:t>
            </a:r>
            <a:r>
              <a:rPr b="1" i="0" dirty="0">
                <a:solidFill>
                  <a:srgbClr val="EEF2F7"/>
                </a:solidFill>
                <a:latin typeface="Calibri"/>
              </a:rPr>
              <a:t>   •   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Ajit Kumar Dubey</a:t>
            </a:r>
            <a:r>
              <a:rPr b="1" i="0" dirty="0">
                <a:solidFill>
                  <a:srgbClr val="EEF2F7"/>
                </a:solidFill>
                <a:latin typeface="Calibri"/>
              </a:rPr>
              <a:t> </a:t>
            </a:r>
            <a:r>
              <a:rPr lang="en-US" b="1" i="0" dirty="0">
                <a:solidFill>
                  <a:srgbClr val="EEF2F7"/>
                </a:solidFill>
                <a:latin typeface="Calibri"/>
              </a:rPr>
              <a:t>*</a:t>
            </a:r>
            <a:r>
              <a:rPr lang="en-US" b="1" u="sng" baseline="30000" dirty="0">
                <a:solidFill>
                  <a:srgbClr val="EEF2F7"/>
                </a:solidFill>
              </a:rPr>
              <a:t> 1</a:t>
            </a:r>
            <a:r>
              <a:rPr b="1" i="0" dirty="0">
                <a:solidFill>
                  <a:srgbClr val="EEF2F7"/>
                </a:solidFill>
                <a:latin typeface="Calibri"/>
              </a:rPr>
              <a:t>  •   </a:t>
            </a:r>
            <a:r>
              <a:rPr b="1" i="0" dirty="0" err="1">
                <a:solidFill>
                  <a:srgbClr val="EEF2F7"/>
                </a:solidFill>
                <a:latin typeface="Calibri"/>
              </a:rPr>
              <a:t>Youhi</a:t>
            </a:r>
            <a:r>
              <a:rPr b="1" i="0" dirty="0">
                <a:solidFill>
                  <a:srgbClr val="EEF2F7"/>
                </a:solidFill>
                <a:latin typeface="Calibri"/>
              </a:rPr>
              <a:t> Morii</a:t>
            </a:r>
            <a:r>
              <a:rPr lang="en-US" b="1" u="sng" baseline="30000" dirty="0">
                <a:solidFill>
                  <a:srgbClr val="EEF2F7"/>
                </a:solidFill>
              </a:rPr>
              <a:t> 2</a:t>
            </a:r>
            <a:r>
              <a:rPr b="1" i="0" dirty="0">
                <a:solidFill>
                  <a:srgbClr val="EEF2F7"/>
                </a:solidFill>
                <a:latin typeface="Calibri"/>
              </a:rPr>
              <a:t>   •   Kaoru Maruta</a:t>
            </a:r>
            <a:r>
              <a:rPr lang="en-US" b="1" u="sng" baseline="30000" dirty="0">
                <a:solidFill>
                  <a:srgbClr val="EEF2F7"/>
                </a:solidFill>
              </a:rPr>
              <a:t> 2</a:t>
            </a:r>
            <a:endParaRPr b="1" i="0" dirty="0">
              <a:solidFill>
                <a:srgbClr val="EEF2F7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643266" y="354358"/>
            <a:ext cx="1279504" cy="110597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48483" y="323523"/>
            <a:ext cx="1927528" cy="11586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logo_ii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11" y="5097378"/>
            <a:ext cx="1541166" cy="1541166"/>
          </a:xfrm>
          <a:prstGeom prst="rect">
            <a:avLst/>
          </a:prstGeom>
        </p:spPr>
      </p:pic>
      <p:pic>
        <p:nvPicPr>
          <p:cNvPr id="16" name="Picture 15" descr="logo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678" y="427510"/>
            <a:ext cx="989075" cy="989075"/>
          </a:xfrm>
          <a:prstGeom prst="rect">
            <a:avLst/>
          </a:prstGeom>
        </p:spPr>
      </p:pic>
      <p:pic>
        <p:nvPicPr>
          <p:cNvPr id="17" name="Picture 16" descr="logo_sy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738" y="299997"/>
            <a:ext cx="1423686" cy="1054180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7B8E6E39-FD94-A5B4-56E0-EA960EF59E9A}"/>
              </a:ext>
            </a:extLst>
          </p:cNvPr>
          <p:cNvSpPr txBox="1">
            <a:spLocks/>
          </p:cNvSpPr>
          <p:nvPr/>
        </p:nvSpPr>
        <p:spPr>
          <a:xfrm>
            <a:off x="844296" y="316856"/>
            <a:ext cx="7534856" cy="97849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i="1" dirty="0">
                <a:solidFill>
                  <a:srgbClr val="FFFF00"/>
                </a:solidFill>
              </a:rPr>
              <a:t>The 41</a:t>
            </a:r>
            <a:r>
              <a:rPr lang="en-US" sz="2800" i="1" baseline="30000" dirty="0">
                <a:solidFill>
                  <a:srgbClr val="FFFF00"/>
                </a:solidFill>
              </a:rPr>
              <a:t>st</a:t>
            </a:r>
            <a:r>
              <a:rPr lang="en-US" sz="2800" i="1" dirty="0">
                <a:solidFill>
                  <a:srgbClr val="FFFF00"/>
                </a:solidFill>
              </a:rPr>
              <a:t> International Symposium on Combustion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rgbClr val="FFFF00"/>
                </a:solidFill>
              </a:rPr>
              <a:t>Kyoto, Japan 26-31 July 2026</a:t>
            </a:r>
          </a:p>
          <a:p>
            <a:pPr marL="0" indent="0" algn="ctr">
              <a:buNone/>
            </a:pPr>
            <a:endParaRPr lang="en-US" sz="2800" i="1" dirty="0">
              <a:solidFill>
                <a:srgbClr val="FFFF00"/>
              </a:solidFill>
            </a:endParaRPr>
          </a:p>
        </p:txBody>
      </p:sp>
      <p:pic>
        <p:nvPicPr>
          <p:cNvPr id="20" name="Picture 19" descr="ifs.png">
            <a:extLst>
              <a:ext uri="{FF2B5EF4-FFF2-40B4-BE49-F238E27FC236}">
                <a16:creationId xmlns:a16="http://schemas.microsoft.com/office/drawing/2014/main" id="{06CC14AD-850F-B0B8-7E02-EE766438F51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27581" y="5227864"/>
            <a:ext cx="1236154" cy="1316192"/>
          </a:xfrm>
          <a:prstGeom prst="rect">
            <a:avLst/>
          </a:prstGeom>
        </p:spPr>
      </p:pic>
      <p:pic>
        <p:nvPicPr>
          <p:cNvPr id="21" name="Picture 20" descr="52.gif">
            <a:extLst>
              <a:ext uri="{FF2B5EF4-FFF2-40B4-BE49-F238E27FC236}">
                <a16:creationId xmlns:a16="http://schemas.microsoft.com/office/drawing/2014/main" id="{425ACA94-EBEF-23FC-6D2C-FAB262E165D9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744200" y="5239644"/>
            <a:ext cx="1371600" cy="1371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1328930-F5B9-0F65-DD1B-ECE89A1018FA}"/>
              </a:ext>
            </a:extLst>
          </p:cNvPr>
          <p:cNvSpPr txBox="1"/>
          <p:nvPr/>
        </p:nvSpPr>
        <p:spPr>
          <a:xfrm>
            <a:off x="222375" y="1241599"/>
            <a:ext cx="1493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Paper #2086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068A2DEF-B415-C939-D8EE-5EA93206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827" y="1195502"/>
            <a:ext cx="2921533" cy="431273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69A2D"/>
                </a:solidFill>
                <a:latin typeface="Calibri"/>
              </a:rPr>
              <a:t>01  /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Engine Knock: The Barrier to Efficient SI Engines</a:t>
            </a:r>
          </a:p>
        </p:txBody>
      </p:sp>
      <p:pic>
        <p:nvPicPr>
          <p:cNvPr id="6" name="Picture 5" descr="logo_ii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1575" y="146304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4820" y="1310396"/>
            <a:ext cx="6126480" cy="4202817"/>
          </a:xfrm>
          <a:prstGeom prst="rect">
            <a:avLst/>
          </a:prstGeom>
          <a:noFill/>
        </p:spPr>
        <p:txBody>
          <a:bodyPr wrap="square" lIns="25400" tIns="25400" rIns="2540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 dirty="0">
                <a:solidFill>
                  <a:srgbClr val="0B2345"/>
                </a:solidFill>
                <a:latin typeface="Calibri"/>
              </a:rPr>
              <a:t>▸  Knock limits high-efficiency, downsized spark-ignition (SI) engines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–  End-gas </a:t>
            </a:r>
            <a:r>
              <a:rPr sz="1400" b="1" i="0" dirty="0" err="1">
                <a:solidFill>
                  <a:srgbClr val="C0392B"/>
                </a:solidFill>
                <a:latin typeface="Calibri"/>
              </a:rPr>
              <a:t>autoignites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before the spark flame arrives → high-amplitude pressure waves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–  Damage: piston-crown melting, bore scuffing, head erosion; loss of power &amp; efficiency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 dirty="0">
                <a:solidFill>
                  <a:srgbClr val="0B2345"/>
                </a:solidFill>
                <a:latin typeface="Calibri"/>
              </a:rPr>
              <a:t>▸  Existing predictive models are incomplete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 dirty="0">
                <a:solidFill>
                  <a:srgbClr val="1F4E79"/>
                </a:solidFill>
                <a:latin typeface="Calibri"/>
              </a:rPr>
              <a:t>–  Livengood–Wu Integral (LWI)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tracks ignition chemistry only; fails for high compression, NTC fuels &amp; two-stage ignition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 dirty="0">
                <a:solidFill>
                  <a:srgbClr val="1F4E79"/>
                </a:solidFill>
                <a:latin typeface="Calibri"/>
              </a:rPr>
              <a:t>–  Zel'dovich / Bradley diagrams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classify autoignition modes but need a single well-defined hot-spot of known radius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 dirty="0">
                <a:solidFill>
                  <a:srgbClr val="0B2345"/>
                </a:solidFill>
                <a:latin typeface="Calibri"/>
              </a:rPr>
              <a:t>▸  Why multi-dimensional DNS is needed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–  1D DNS cannot capture flame wrinkling or oblique pressure-wave reflections that set the end-gas state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–  2D/3D DNS is faithful but generates massive data → demands simple, physics-based post-processing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44B53"/>
                </a:solidFill>
                <a:latin typeface="Calibri"/>
              </a:rPr>
              <a:t>End-Gas Autoignition in n-Heptane  •  ETD–ξ Framework for Knock in 2D 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Calibri"/>
              </a:rPr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A7410A-856A-08B5-7971-38A939ED663E}"/>
              </a:ext>
            </a:extLst>
          </p:cNvPr>
          <p:cNvSpPr>
            <a:spLocks noChangeAspect="1"/>
          </p:cNvSpPr>
          <p:nvPr/>
        </p:nvSpPr>
        <p:spPr>
          <a:xfrm>
            <a:off x="9994391" y="5638975"/>
            <a:ext cx="2197304" cy="12359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69A2D"/>
                </a:solidFill>
                <a:latin typeface="Calibri"/>
              </a:rPr>
              <a:t>02  /  OBJECTIVES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Research Goal and Key Contribution</a:t>
            </a:r>
          </a:p>
        </p:txBody>
      </p:sp>
      <p:pic>
        <p:nvPicPr>
          <p:cNvPr id="6" name="Picture 5" descr="logo_ii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146304"/>
            <a:ext cx="731520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325880"/>
            <a:ext cx="5532120" cy="48920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2120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212080" cy="420624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0B2345"/>
                </a:solidFill>
                <a:latin typeface="Calibri"/>
              </a:rPr>
              <a:t>▸  Perform 2D DNS of the complete knock sequence</a:t>
            </a:r>
            <a:r>
              <a:rPr sz="1450" b="0" i="0">
                <a:solidFill>
                  <a:srgbClr val="222A33"/>
                </a:solidFill>
                <a:latin typeface="Calibri"/>
              </a:rPr>
              <a:t> — spark ignition → end-gas compression → knock onset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0B2345"/>
                </a:solidFill>
                <a:latin typeface="Calibri"/>
              </a:rPr>
              <a:t>▸  Capture the three canonical autoignition modes</a:t>
            </a:r>
            <a:r>
              <a:rPr sz="1450" b="0" i="0">
                <a:solidFill>
                  <a:srgbClr val="222A33"/>
                </a:solidFill>
                <a:latin typeface="Calibri"/>
              </a:rPr>
              <a:t> by varying initial temperature and pressure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0B2345"/>
                </a:solidFill>
                <a:latin typeface="Calibri"/>
              </a:rPr>
              <a:t>▸  Test simple models for the phase-1→phase-2 transition</a:t>
            </a:r>
            <a:r>
              <a:rPr sz="1450" b="0" i="0">
                <a:solidFill>
                  <a:srgbClr val="222A33"/>
                </a:solidFill>
                <a:latin typeface="Calibri"/>
              </a:rPr>
              <a:t> (knock timing): LWI vs. ETD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0B2345"/>
                </a:solidFill>
                <a:latin typeface="Calibri"/>
              </a:rPr>
              <a:t>▸  Use reactivity-gradient metrics</a:t>
            </a:r>
            <a:r>
              <a:rPr sz="1450" b="0" i="0">
                <a:solidFill>
                  <a:srgbClr val="222A33"/>
                </a:solidFill>
                <a:latin typeface="Calibri"/>
              </a:rPr>
              <a:t> (ξ, Sa) to predict autoignition modes &amp; wave speeds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0B2345"/>
                </a:solidFill>
                <a:latin typeface="Calibri"/>
              </a:rPr>
              <a:t>▸  Deliver a tractable analysis workflow</a:t>
            </a:r>
            <a:r>
              <a:rPr sz="1450" b="0" i="0">
                <a:solidFill>
                  <a:srgbClr val="222A33"/>
                </a:solidFill>
                <a:latin typeface="Calibri"/>
              </a:rPr>
              <a:t> that collapses huge DNS data to a few physical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440680" cy="4892040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109728" cy="4892040"/>
          </a:xfrm>
          <a:prstGeom prst="rect">
            <a:avLst/>
          </a:prstGeom>
          <a:solidFill>
            <a:srgbClr val="D6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81328"/>
            <a:ext cx="49377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D69A2D"/>
                </a:solidFill>
                <a:latin typeface="Calibri"/>
              </a:rPr>
              <a:t>Novelty &amp; Significance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4983480" cy="411480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▸  Predicting knock requires the autoignition–flame relationship, not ignition progress alone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EEF2F7"/>
                </a:solidFill>
                <a:latin typeface="Calibri"/>
              </a:rPr>
              <a:t>▸  First unified </a:t>
            </a:r>
            <a:r>
              <a:rPr sz="1450" b="1" i="0">
                <a:solidFill>
                  <a:srgbClr val="D69A2D"/>
                </a:solidFill>
                <a:latin typeface="Calibri"/>
              </a:rPr>
              <a:t>ETD–ξ framework</a:t>
            </a:r>
            <a:r>
              <a:rPr sz="1450" b="0" i="0">
                <a:solidFill>
                  <a:srgbClr val="EEF2F7"/>
                </a:solidFill>
                <a:latin typeface="Calibri"/>
              </a:rPr>
              <a:t> to interpret BOTH knock timing AND autoignition modes from multi-dimensional SI-knock DNS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EEF2F7"/>
                </a:solidFill>
                <a:latin typeface="Calibri"/>
              </a:rPr>
              <a:t>▸  ETD marks the physically-grounded transition from a flame-dominated to an autoignition-dominated regime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EEF2F7"/>
                </a:solidFill>
                <a:latin typeface="Calibri"/>
              </a:rPr>
              <a:t>▸  The mode of the ξ-distribution (not the mean) predicts autoignition wave 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44B53"/>
                </a:solidFill>
                <a:latin typeface="Calibri"/>
              </a:rPr>
              <a:t>End-Gas Autoignition in n-Heptane  •  ETD–ξ Framework for Knock in 2D 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9B1D56-A44D-4718-0E19-5621E9FE5D40}"/>
              </a:ext>
            </a:extLst>
          </p:cNvPr>
          <p:cNvSpPr>
            <a:spLocks noChangeAspect="1"/>
          </p:cNvSpPr>
          <p:nvPr/>
        </p:nvSpPr>
        <p:spPr>
          <a:xfrm>
            <a:off x="9994391" y="5631160"/>
            <a:ext cx="2197304" cy="12359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69A2D"/>
                </a:solidFill>
                <a:latin typeface="Calibri"/>
              </a:rPr>
              <a:t>03  /  NUMERICAL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2D DNS Setup, Solver and Test Matrix</a:t>
            </a:r>
          </a:p>
        </p:txBody>
      </p:sp>
      <p:pic>
        <p:nvPicPr>
          <p:cNvPr id="6" name="Picture 5" descr="logo_ii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46304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325880"/>
            <a:ext cx="5989320" cy="384048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0B2345"/>
                </a:solidFill>
                <a:latin typeface="Calibri"/>
              </a:rPr>
              <a:t>▸  Configuration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–  Rectangular enclosure 8.0 × 1.4 cm; no-slip, adiabatic walls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–  Homogeneous stoichiometric n-C₇H₁₆ / O₂ / Ar  (1.00 : 11.00 : 41.382)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–  Ignition kernel: 1400 K, Ø 0.1 cm at (x=0.25, y=0.7) cm; error-function profile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0B2345"/>
                </a:solidFill>
                <a:latin typeface="Calibri"/>
              </a:rPr>
              <a:t>▸  Solver &amp; chemistry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–  PeleC</a:t>
            </a:r>
            <a:r>
              <a:rPr sz="1350" b="0" i="0">
                <a:solidFill>
                  <a:srgbClr val="222A33"/>
                </a:solidFill>
                <a:latin typeface="Calibri"/>
              </a:rPr>
              <a:t> compressible reacting Navier–Stokes, finite-volume Godunov + HLLC Riemann solver (shock-capturing)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A33"/>
                </a:solidFill>
                <a:latin typeface="Calibri"/>
              </a:rPr>
              <a:t>–  Adaptive mesh refinement (AMReX), 3 levels → Δxmin = 3.9 µm; CFL = 0.4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–  MACKS</a:t>
            </a:r>
            <a:r>
              <a:rPr sz="1350" b="0" i="0">
                <a:solidFill>
                  <a:srgbClr val="222A33"/>
                </a:solidFill>
                <a:latin typeface="Calibri"/>
              </a:rPr>
              <a:t> stiff-kinetics solver with reduced SIP gasoline-surrogate mechanism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0B2345"/>
                </a:solidFill>
                <a:latin typeface="Calibri"/>
              </a:rPr>
              <a:t>▸  ETD &amp; flame-speed inputs computed in </a:t>
            </a:r>
            <a:r>
              <a:rPr sz="1450" b="1" i="0">
                <a:solidFill>
                  <a:srgbClr val="1F4E79"/>
                </a:solidFill>
                <a:latin typeface="Calibri"/>
              </a:rPr>
              <a:t>Cantera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371600"/>
            <a:ext cx="4983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345"/>
                </a:solidFill>
                <a:latin typeface="Calibri"/>
              </a:rPr>
              <a:t>Test matrix — three thermochemical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783080"/>
            <a:ext cx="96012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783080"/>
            <a:ext cx="9601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783080"/>
            <a:ext cx="132588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1783080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T₀ (K)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783080"/>
            <a:ext cx="132588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06840" y="1783080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P₀ (atm)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0" y="1783080"/>
            <a:ext cx="137160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0" y="1783080"/>
            <a:ext cx="13716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Autoignition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350008"/>
            <a:ext cx="960120" cy="5669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350008"/>
            <a:ext cx="9601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2350008"/>
            <a:ext cx="1325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2350008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1000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2350008"/>
            <a:ext cx="1325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6840" y="2350008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2350008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32720" y="2350008"/>
            <a:ext cx="13716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A33"/>
                </a:solidFill>
                <a:latin typeface="Calibri"/>
              </a:rPr>
              <a:t>single zone,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A33"/>
                </a:solidFill>
                <a:latin typeface="Calibri"/>
              </a:rPr>
              <a:t>near end wall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2916936"/>
            <a:ext cx="960120" cy="5669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2916936"/>
            <a:ext cx="9601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916936"/>
            <a:ext cx="1325880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2916936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1150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2916936"/>
            <a:ext cx="1325880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06840" y="2916936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2916936"/>
            <a:ext cx="1371600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32720" y="2916936"/>
            <a:ext cx="13716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A33"/>
                </a:solidFill>
                <a:latin typeface="Calibri"/>
              </a:rPr>
              <a:t>two zones: end-wall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A33"/>
                </a:solidFill>
                <a:latin typeface="Calibri"/>
              </a:rPr>
              <a:t>+ ahead of flame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3483864"/>
            <a:ext cx="960120" cy="5669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3483864"/>
            <a:ext cx="9601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3483864"/>
            <a:ext cx="1325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0" y="3483864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1150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3483864"/>
            <a:ext cx="1325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06840" y="3483864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A33"/>
                </a:solidFill>
                <a:latin typeface="Calibri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20" y="3483864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32720" y="3483864"/>
            <a:ext cx="13716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A33"/>
                </a:solidFill>
                <a:latin typeface="Calibri"/>
              </a:rPr>
              <a:t>corner zones near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2A33"/>
                </a:solidFill>
                <a:latin typeface="Calibri"/>
              </a:rPr>
              <a:t>ignition kernel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4160520"/>
            <a:ext cx="4983480" cy="1402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85432" y="4279392"/>
            <a:ext cx="4654296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Key computed inputs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ETD limit:  1200 K @ 3 atm,  1224 K @ 10 atm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Conditions chosen beyond NTC / low-T chemistry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Argon dilution simplifies chemistry &amp; raises flame speed to cut cost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44B53"/>
                </a:solidFill>
                <a:latin typeface="Calibri"/>
              </a:rPr>
              <a:t>End-Gas Autoignition in n-Heptane  •  ETD–ξ Framework for Knock in 2D DNS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Calibri"/>
              </a:rPr>
              <a:t>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D994788-4713-B71C-2AF4-A098330FE76F}"/>
              </a:ext>
            </a:extLst>
          </p:cNvPr>
          <p:cNvSpPr>
            <a:spLocks noChangeAspect="1"/>
          </p:cNvSpPr>
          <p:nvPr/>
        </p:nvSpPr>
        <p:spPr>
          <a:xfrm>
            <a:off x="9994391" y="5631160"/>
            <a:ext cx="2197304" cy="12359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2CFE26CB-02D5-E04E-E05E-65D224D79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48" y="4467074"/>
            <a:ext cx="5569263" cy="16637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69A2D"/>
                </a:solidFill>
                <a:latin typeface="Calibri"/>
              </a:rPr>
              <a:t>04  /  KNOCK-TIMING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Two Models for the Flame → Autoignition Transition</a:t>
            </a:r>
          </a:p>
        </p:txBody>
      </p:sp>
      <p:pic>
        <p:nvPicPr>
          <p:cNvPr id="6" name="Picture 5" descr="logo_ii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46304"/>
            <a:ext cx="731520" cy="731520"/>
          </a:xfrm>
          <a:prstGeom prst="rect">
            <a:avLst/>
          </a:prstGeom>
        </p:spPr>
      </p:pic>
      <p:pic>
        <p:nvPicPr>
          <p:cNvPr id="7" name="Picture 6" descr="tbl_lwi_e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60" y="1817888"/>
            <a:ext cx="6126480" cy="39234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28740" y="1863608"/>
            <a:ext cx="4892040" cy="475488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0B2345"/>
                </a:solidFill>
                <a:latin typeface="Calibri"/>
              </a:rPr>
              <a:t>▸  The transition matters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222A33"/>
                </a:solidFill>
                <a:latin typeface="Calibri"/>
              </a:rPr>
              <a:t>–  Phase 1: flame compresses end-gas (track T, P)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222A33"/>
                </a:solidFill>
                <a:latin typeface="Calibri"/>
              </a:rPr>
              <a:t>–  Phase 2: hot-spots → autoignition waves (track reactivity gradients)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222A33"/>
                </a:solidFill>
                <a:latin typeface="Calibri"/>
              </a:rPr>
              <a:t>–  Knock timing = peak of </a:t>
            </a:r>
            <a:r>
              <a:rPr sz="1300" b="0" i="0" dirty="0" err="1">
                <a:solidFill>
                  <a:srgbClr val="222A33"/>
                </a:solidFill>
                <a:latin typeface="Calibri"/>
              </a:rPr>
              <a:t>dP</a:t>
            </a:r>
            <a:r>
              <a:rPr sz="1300" b="0" i="0" dirty="0">
                <a:solidFill>
                  <a:srgbClr val="222A33"/>
                </a:solidFill>
                <a:latin typeface="Calibri"/>
              </a:rPr>
              <a:t>/dt in the DNS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1F4E79"/>
                </a:solidFill>
                <a:latin typeface="Calibri"/>
              </a:rPr>
              <a:t>▸  LWI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 — chemistry-only, 0D integral = 1 at ignition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222A33"/>
                </a:solidFill>
                <a:latin typeface="Calibri"/>
              </a:rPr>
              <a:t>–  No information on flame–autoignition coupling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C0392B"/>
                </a:solidFill>
                <a:latin typeface="Calibri"/>
              </a:rPr>
              <a:t>▸  ETD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 — flame structure ceases to exist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222A33"/>
                </a:solidFill>
                <a:latin typeface="Calibri"/>
              </a:rPr>
              <a:t>–  Max. unburned-gas T sustaining a laminar premixed flame; for Le&gt;1 the flame solution itself collapses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 dirty="0">
                <a:solidFill>
                  <a:srgbClr val="0B2345"/>
                </a:solidFill>
                <a:latin typeface="Calibri"/>
              </a:rPr>
              <a:t>–  Rooted in the ignition-chemistry ↔ flame relationship → physically meaningful knock onset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44B53"/>
                </a:solidFill>
                <a:latin typeface="Calibri"/>
              </a:rPr>
              <a:t>End-Gas Autoignition in n-Heptane  •  ETD–ξ Framework for Knock in 2D DNS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Calibri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725530-F169-62D4-DAF6-C54494888583}"/>
              </a:ext>
            </a:extLst>
          </p:cNvPr>
          <p:cNvSpPr>
            <a:spLocks noChangeAspect="1"/>
          </p:cNvSpPr>
          <p:nvPr/>
        </p:nvSpPr>
        <p:spPr>
          <a:xfrm>
            <a:off x="9994391" y="5631160"/>
            <a:ext cx="2197304" cy="12359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69A2D"/>
                </a:solidFill>
                <a:latin typeface="Calibri"/>
              </a:rPr>
              <a:t>05  /  RESULTS —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Three Autoignition Modes Set by Pressure-Wave Reflections</a:t>
            </a:r>
          </a:p>
        </p:txBody>
      </p:sp>
      <p:pic>
        <p:nvPicPr>
          <p:cNvPr id="6" name="Picture 5" descr="logo_ii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46304"/>
            <a:ext cx="731520" cy="731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26557" y="3605655"/>
            <a:ext cx="5486400" cy="18330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583046" y="3743196"/>
            <a:ext cx="5157216" cy="274320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dirty="0">
                <a:solidFill>
                  <a:srgbClr val="C0392B"/>
                </a:solidFill>
                <a:latin typeface="Calibri"/>
              </a:rPr>
              <a:t>▸  Location set by chamber geometry</a:t>
            </a:r>
            <a:r>
              <a:rPr sz="1300" b="0" i="0" dirty="0">
                <a:solidFill>
                  <a:srgbClr val="222A33"/>
                </a:solidFill>
                <a:latin typeface="Calibri"/>
              </a:rPr>
              <a:t> — pressure waves reflect off all walls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dirty="0">
                <a:solidFill>
                  <a:srgbClr val="C0392B"/>
                </a:solidFill>
                <a:latin typeface="Calibri"/>
              </a:rPr>
              <a:t>▸  Timing set by flame speed</a:t>
            </a:r>
            <a:r>
              <a:rPr sz="1300" b="0" i="0" dirty="0">
                <a:solidFill>
                  <a:srgbClr val="222A33"/>
                </a:solidFill>
                <a:latin typeface="Calibri"/>
              </a:rPr>
              <a:t> — controls end-gas compression rate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dirty="0">
                <a:solidFill>
                  <a:srgbClr val="0B2345"/>
                </a:solidFill>
                <a:latin typeface="Calibri"/>
              </a:rPr>
              <a:t>▸  2D vs 1D differences: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222A33"/>
                </a:solidFill>
                <a:latin typeface="Calibri"/>
              </a:rPr>
              <a:t>–  oblique waves → weak P/T oscillations (smooth histories)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222A33"/>
                </a:solidFill>
                <a:latin typeface="Calibri"/>
              </a:rPr>
              <a:t>–  Case-2 zone-2 ignites </a:t>
            </a:r>
            <a:r>
              <a:rPr sz="1200" b="1" i="0" dirty="0">
                <a:solidFill>
                  <a:srgbClr val="0B2345"/>
                </a:solidFill>
                <a:latin typeface="Calibri"/>
              </a:rPr>
              <a:t>ahead of</a:t>
            </a:r>
            <a:r>
              <a:rPr sz="1200" b="0" i="0" dirty="0">
                <a:solidFill>
                  <a:srgbClr val="222A33"/>
                </a:solidFill>
                <a:latin typeface="Calibri"/>
              </a:rPr>
              <a:t> — not within — the flame preheat zone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 dirty="0">
                <a:solidFill>
                  <a:srgbClr val="0B2345"/>
                </a:solidFill>
                <a:latin typeface="Calibri"/>
              </a:rPr>
              <a:t>▸  No detonation develops; all cases → </a:t>
            </a:r>
            <a:r>
              <a:rPr sz="1300" b="1" i="0" dirty="0">
                <a:solidFill>
                  <a:srgbClr val="C0392B"/>
                </a:solidFill>
                <a:latin typeface="Calibri"/>
              </a:rPr>
              <a:t>supersonic deflagration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44B53"/>
                </a:solidFill>
                <a:latin typeface="Calibri"/>
              </a:rPr>
              <a:t>End-Gas Autoignition in n-Heptane  •  ETD–ξ Framework for Knock in 2D DNS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Calibri"/>
              </a:rPr>
              <a:t>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102FA4-0939-1B4E-1184-C190038EF695}"/>
              </a:ext>
            </a:extLst>
          </p:cNvPr>
          <p:cNvSpPr>
            <a:spLocks noChangeAspect="1"/>
          </p:cNvSpPr>
          <p:nvPr/>
        </p:nvSpPr>
        <p:spPr>
          <a:xfrm>
            <a:off x="9994391" y="5631160"/>
            <a:ext cx="2197304" cy="12359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0D24C14-8BC0-FCE3-0A7D-B7202E7FEAC4}"/>
              </a:ext>
            </a:extLst>
          </p:cNvPr>
          <p:cNvGrpSpPr/>
          <p:nvPr/>
        </p:nvGrpSpPr>
        <p:grpSpPr>
          <a:xfrm>
            <a:off x="634366" y="1271016"/>
            <a:ext cx="5202555" cy="2639697"/>
            <a:chOff x="0" y="0"/>
            <a:chExt cx="5199428" cy="2639596"/>
          </a:xfrm>
        </p:grpSpPr>
        <p:sp>
          <p:nvSpPr>
            <p:cNvPr id="48" name="Text Box 1">
              <a:extLst>
                <a:ext uri="{FF2B5EF4-FFF2-40B4-BE49-F238E27FC236}">
                  <a16:creationId xmlns:a16="http://schemas.microsoft.com/office/drawing/2014/main" id="{243592C5-94F3-D013-1530-47D84E19DF9C}"/>
                </a:ext>
              </a:extLst>
            </p:cNvPr>
            <p:cNvSpPr txBox="1"/>
            <p:nvPr/>
          </p:nvSpPr>
          <p:spPr>
            <a:xfrm>
              <a:off x="0" y="2172256"/>
              <a:ext cx="5197524" cy="467340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algn="just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8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Fig. 2: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 Spatial distribution of temperature (left) and pressure (right) near auto-ignition timing for (a) Case 1: </a:t>
              </a:r>
              <a:b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</a:b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T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 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= 1000K, P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 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= 3 atm, (b) Case 2: T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 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= 1150 K, P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 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= 3 atm, (c) Case 3: T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 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= 1150 K, P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 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= 10 atm. Distinct ignition zones for Case 2 are also shown.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endParaRPr>
            </a:p>
            <a:p>
              <a:pPr marL="0" marR="0"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 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A6A28DD-C4E1-B8B3-3C80-85B4AECB58F1}"/>
                </a:ext>
              </a:extLst>
            </p:cNvPr>
            <p:cNvGrpSpPr/>
            <p:nvPr/>
          </p:nvGrpSpPr>
          <p:grpSpPr>
            <a:xfrm>
              <a:off x="0" y="36998"/>
              <a:ext cx="2445343" cy="2130424"/>
              <a:chOff x="0" y="-33196"/>
              <a:chExt cx="2445699" cy="2138425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633CFB42-F9F7-F0B8-465F-6787F9A3E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-33196"/>
                <a:ext cx="2445386" cy="6807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54E80D4F-1B20-7D06-B0A0-3025813D1C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423239"/>
                <a:ext cx="2445385" cy="68199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35CD797-22DA-186F-481C-0A60CAEFE15D}"/>
                  </a:ext>
                </a:extLst>
              </p:cNvPr>
              <p:cNvGrpSpPr/>
              <p:nvPr/>
            </p:nvGrpSpPr>
            <p:grpSpPr>
              <a:xfrm>
                <a:off x="0" y="685800"/>
                <a:ext cx="2445699" cy="681346"/>
                <a:chOff x="0" y="0"/>
                <a:chExt cx="2446020" cy="681355"/>
              </a:xfrm>
            </p:grpSpPr>
            <p:pic>
              <p:nvPicPr>
                <p:cNvPr id="61" name="Picture 60">
                  <a:extLst>
                    <a:ext uri="{FF2B5EF4-FFF2-40B4-BE49-F238E27FC236}">
                      <a16:creationId xmlns:a16="http://schemas.microsoft.com/office/drawing/2014/main" id="{34E86AD2-AF2A-C431-DDF4-29BF1C1A68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2446020" cy="6813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0BB06A38-2027-3D01-B293-191DC56F2AF6}"/>
                    </a:ext>
                  </a:extLst>
                </p:cNvPr>
                <p:cNvSpPr/>
                <p:nvPr/>
              </p:nvSpPr>
              <p:spPr>
                <a:xfrm>
                  <a:off x="572494" y="0"/>
                  <a:ext cx="667184" cy="51528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  <a:buNone/>
                  </a:pPr>
                  <a:r>
                    <a:rPr lang="en-US" sz="1100" b="1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Vrinda" panose="020B0502040204020203" pitchFamily="34" charset="0"/>
                    </a:rPr>
                    <a:t>Zone 1</a:t>
                  </a:r>
                  <a:endParaRPr lang="en-US" sz="1100">
                    <a:effectLst/>
                    <a:ea typeface="Calibri" panose="020F0502020204030204" pitchFamily="34" charset="0"/>
                    <a:cs typeface="Vrinda" panose="020B0502040204020203" pitchFamily="34" charset="0"/>
                  </a:endParaRP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529733C-CB9B-9DD0-9A6A-C7EE5B3A72F1}"/>
                    </a:ext>
                  </a:extLst>
                </p:cNvPr>
                <p:cNvSpPr/>
                <p:nvPr/>
              </p:nvSpPr>
              <p:spPr>
                <a:xfrm>
                  <a:off x="1534602" y="0"/>
                  <a:ext cx="616115" cy="51528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  <a:buNone/>
                  </a:pPr>
                  <a:r>
                    <a:rPr lang="en-US" sz="1100" b="1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Vrinda" panose="020B0502040204020203" pitchFamily="34" charset="0"/>
                    </a:rPr>
                    <a:t>Zone 2</a:t>
                  </a:r>
                  <a:endParaRPr lang="en-US" sz="1100">
                    <a:effectLst/>
                    <a:ea typeface="Calibri" panose="020F0502020204030204" pitchFamily="34" charset="0"/>
                    <a:cs typeface="Vrinda" panose="020B0502040204020203" pitchFamily="34" charset="0"/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5C37DCA-859C-7FD8-7B79-22D57F172DE3}"/>
                </a:ext>
              </a:extLst>
            </p:cNvPr>
            <p:cNvGrpSpPr/>
            <p:nvPr/>
          </p:nvGrpSpPr>
          <p:grpSpPr>
            <a:xfrm>
              <a:off x="2753771" y="0"/>
              <a:ext cx="2445657" cy="2169160"/>
              <a:chOff x="0" y="0"/>
              <a:chExt cx="2445699" cy="2169160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CC76201D-148D-487C-FA74-78C6A2F6E8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50" y="0"/>
                <a:ext cx="2437765" cy="7213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C7BD47A8-9904-8A1D-9218-871F3B0224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050" y="1447800"/>
                <a:ext cx="2355215" cy="72136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67A960E9-7EDB-8BF6-B560-BE8050CF0005}"/>
                  </a:ext>
                </a:extLst>
              </p:cNvPr>
              <p:cNvGrpSpPr/>
              <p:nvPr/>
            </p:nvGrpSpPr>
            <p:grpSpPr>
              <a:xfrm>
                <a:off x="0" y="723900"/>
                <a:ext cx="2445699" cy="724526"/>
                <a:chOff x="0" y="0"/>
                <a:chExt cx="2446020" cy="724535"/>
              </a:xfrm>
            </p:grpSpPr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8FB35A1B-FF47-E816-2053-2D67921DF2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2446020" cy="7245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40A22DC-799F-6CE5-6371-C232DF922DC5}"/>
                    </a:ext>
                  </a:extLst>
                </p:cNvPr>
                <p:cNvSpPr/>
                <p:nvPr/>
              </p:nvSpPr>
              <p:spPr>
                <a:xfrm>
                  <a:off x="564542" y="39757"/>
                  <a:ext cx="666750" cy="5149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  <a:buNone/>
                  </a:pPr>
                  <a:r>
                    <a:rPr lang="en-US" sz="1100" b="1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Vrinda" panose="020B0502040204020203" pitchFamily="34" charset="0"/>
                    </a:rPr>
                    <a:t>Zone 1</a:t>
                  </a:r>
                  <a:endParaRPr lang="en-US" sz="1100">
                    <a:effectLst/>
                    <a:ea typeface="Calibri" panose="020F0502020204030204" pitchFamily="34" charset="0"/>
                    <a:cs typeface="Vrinda" panose="020B0502040204020203" pitchFamily="34" charset="0"/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EE00EAEE-89B8-16B9-0622-184B3D60AABF}"/>
                    </a:ext>
                  </a:extLst>
                </p:cNvPr>
                <p:cNvSpPr/>
                <p:nvPr/>
              </p:nvSpPr>
              <p:spPr>
                <a:xfrm>
                  <a:off x="1518699" y="39757"/>
                  <a:ext cx="615950" cy="514985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Aft>
                      <a:spcPts val="800"/>
                    </a:spcAft>
                    <a:buNone/>
                  </a:pPr>
                  <a:r>
                    <a:rPr lang="en-US" sz="1100" b="1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Vrinda" panose="020B0502040204020203" pitchFamily="34" charset="0"/>
                    </a:rPr>
                    <a:t>Zone 2</a:t>
                  </a:r>
                  <a:endParaRPr lang="en-US" sz="1100">
                    <a:effectLst/>
                    <a:ea typeface="Calibri" panose="020F0502020204030204" pitchFamily="34" charset="0"/>
                    <a:cs typeface="Vrinda" panose="020B0502040204020203" pitchFamily="34" charset="0"/>
                  </a:endParaRPr>
                </a:p>
              </p:txBody>
            </p:sp>
          </p:grpSp>
        </p:grpSp>
      </p:grpSp>
      <p:sp>
        <p:nvSpPr>
          <p:cNvPr id="23" name="Text Box 1">
            <a:extLst>
              <a:ext uri="{FF2B5EF4-FFF2-40B4-BE49-F238E27FC236}">
                <a16:creationId xmlns:a16="http://schemas.microsoft.com/office/drawing/2014/main" id="{DCFD924B-0448-29D8-F7AE-F6F6E8B90EB9}"/>
              </a:ext>
            </a:extLst>
          </p:cNvPr>
          <p:cNvSpPr txBox="1"/>
          <p:nvPr/>
        </p:nvSpPr>
        <p:spPr>
          <a:xfrm>
            <a:off x="718292" y="5863375"/>
            <a:ext cx="5177177" cy="281393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Fig. 3:</a:t>
            </a:r>
            <a: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 Temperature, pressure, and X-velocity along center lines for (a) Case 1: T</a:t>
            </a:r>
            <a:r>
              <a:rPr lang="en-US" sz="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0</a:t>
            </a:r>
            <a: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 = 1000K, P</a:t>
            </a:r>
            <a:r>
              <a:rPr lang="en-US" sz="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0</a:t>
            </a:r>
            <a: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 = 3 atm, (b) Case 2:</a:t>
            </a:r>
            <a:b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</a:br>
            <a: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T</a:t>
            </a:r>
            <a:r>
              <a:rPr lang="en-US" sz="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0</a:t>
            </a:r>
            <a: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 = 1150 K, P</a:t>
            </a:r>
            <a:r>
              <a:rPr lang="en-US" sz="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0</a:t>
            </a:r>
            <a: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 = 3 atm, and along line connecting ignition kernel center to corner for (c) Case 3: T</a:t>
            </a:r>
            <a:r>
              <a:rPr lang="en-US" sz="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0</a:t>
            </a:r>
            <a: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 = 1150 K, P</a:t>
            </a:r>
            <a:r>
              <a:rPr lang="en-US" sz="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0</a:t>
            </a:r>
            <a: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 = 10 atm.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872F296-B6F2-6A17-B90A-AA499D87914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15" y="4111928"/>
            <a:ext cx="1682811" cy="17338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C00DC7-212F-B147-C2AE-6D9589EF2E5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716" y="4111526"/>
            <a:ext cx="1682881" cy="173389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5275B01-6743-820B-0F90-15B9351B558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173" y="4111501"/>
            <a:ext cx="1682707" cy="1733896"/>
          </a:xfrm>
          <a:prstGeom prst="rect">
            <a:avLst/>
          </a:prstGeom>
        </p:spPr>
      </p:pic>
      <p:sp>
        <p:nvSpPr>
          <p:cNvPr id="12" name="Text Box 1">
            <a:extLst>
              <a:ext uri="{FF2B5EF4-FFF2-40B4-BE49-F238E27FC236}">
                <a16:creationId xmlns:a16="http://schemas.microsoft.com/office/drawing/2014/main" id="{D9467209-74D8-6A92-0B20-B5DBEEEA5E87}"/>
              </a:ext>
            </a:extLst>
          </p:cNvPr>
          <p:cNvSpPr txBox="1"/>
          <p:nvPr/>
        </p:nvSpPr>
        <p:spPr>
          <a:xfrm>
            <a:off x="6648758" y="3234043"/>
            <a:ext cx="5177177" cy="281393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Fig. 4:</a:t>
            </a:r>
            <a:r>
              <a:rPr lang="en-US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 Pressure history at en</a:t>
            </a:r>
            <a:r>
              <a:rPr lang="en-US" sz="800" dirty="0">
                <a:latin typeface="Times New Roman" panose="02020603050405020304" pitchFamily="18" charset="0"/>
                <a:ea typeface="Calibri" panose="020F0502020204030204" pitchFamily="34" charset="0"/>
                <a:cs typeface="Vrinda" panose="020B0502040204020203" pitchFamily="34" charset="0"/>
              </a:rPr>
              <a:t>d gas in one of the reference studies conducted by Morii et al [7] showcasing the difference between 1D, 2D and experimental observations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079BC7-2B43-C5C0-2D17-5B5AC1B73F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4251" y="1182786"/>
            <a:ext cx="3091011" cy="2047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69A2D"/>
                </a:solidFill>
                <a:latin typeface="Calibri"/>
              </a:rPr>
              <a:t>06  /  RESULTS — KNOCK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ETD and LWI Both Bracket the DNS Knock Onset</a:t>
            </a:r>
          </a:p>
        </p:txBody>
      </p:sp>
      <p:pic>
        <p:nvPicPr>
          <p:cNvPr id="6" name="Picture 5" descr="logo_ii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46304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2258568"/>
            <a:ext cx="5074920" cy="457200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▸  Autoignition occurs sooner in 2D DNS than in a 0D reactor → flow &amp; pressure-wave effects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▸  Higher T (Case 1→2) and higher P (Case 2→3) advance end-gas autoignition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C0392B"/>
                </a:solidFill>
                <a:latin typeface="Calibri"/>
              </a:rPr>
              <a:t>▸  ETD</a:t>
            </a:r>
            <a:r>
              <a:rPr sz="1450" b="0" i="0">
                <a:solidFill>
                  <a:srgbClr val="222A33"/>
                </a:solidFill>
                <a:latin typeface="Calibri"/>
              </a:rPr>
              <a:t> predicts closest for Cases 1 &amp; 3; </a:t>
            </a:r>
            <a:r>
              <a:rPr sz="1450" b="1" i="0">
                <a:solidFill>
                  <a:srgbClr val="1F4E79"/>
                </a:solidFill>
                <a:latin typeface="Calibri"/>
              </a:rPr>
              <a:t>LWI</a:t>
            </a:r>
            <a:r>
              <a:rPr sz="1450" b="0" i="0">
                <a:solidFill>
                  <a:srgbClr val="222A33"/>
                </a:solidFill>
                <a:latin typeface="Calibri"/>
              </a:rPr>
              <a:t> closest for Case 2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0B2345"/>
                </a:solidFill>
                <a:latin typeface="Calibri"/>
              </a:rPr>
              <a:t>▸  LWI's apparent accuracy here is conditional</a:t>
            </a:r>
            <a:r>
              <a:rPr sz="1450" b="0" i="0">
                <a:solidFill>
                  <a:srgbClr val="222A33"/>
                </a:solidFill>
                <a:latin typeface="Calibri"/>
              </a:rPr>
              <a:t> — high T₀ gives single-stage ignition &amp; short delays, keeping the end-gas near its initial state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22A33"/>
                </a:solidFill>
                <a:latin typeface="Calibri"/>
              </a:rPr>
              <a:t>▸  In real engines (NTC, cool flames, long delays) LWI degrades; </a:t>
            </a:r>
            <a:r>
              <a:rPr sz="1450" b="1" i="0">
                <a:solidFill>
                  <a:srgbClr val="0B2345"/>
                </a:solidFill>
                <a:latin typeface="Calibri"/>
              </a:rPr>
              <a:t>ETD tracks the actual flame-to-autoignition coupling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44B53"/>
                </a:solidFill>
                <a:latin typeface="Calibri"/>
              </a:rPr>
              <a:t>End-Gas Autoignition in n-Heptane  •  ETD–ξ Framework for Knock in 2D DNS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Calibri"/>
              </a:rPr>
              <a:t>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1FE8E3-B9FA-E7B2-664E-9B5DAC26A808}"/>
              </a:ext>
            </a:extLst>
          </p:cNvPr>
          <p:cNvSpPr>
            <a:spLocks noChangeAspect="1"/>
          </p:cNvSpPr>
          <p:nvPr/>
        </p:nvSpPr>
        <p:spPr>
          <a:xfrm>
            <a:off x="9994391" y="5631160"/>
            <a:ext cx="2197304" cy="12359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5C6C0D-3939-CCDC-280B-E3BB18E477E4}"/>
              </a:ext>
            </a:extLst>
          </p:cNvPr>
          <p:cNvGrpSpPr/>
          <p:nvPr/>
        </p:nvGrpSpPr>
        <p:grpSpPr>
          <a:xfrm>
            <a:off x="288036" y="1460499"/>
            <a:ext cx="6309360" cy="4709391"/>
            <a:chOff x="31749" y="0"/>
            <a:chExt cx="5342467" cy="3370172"/>
          </a:xfrm>
        </p:grpSpPr>
        <p:sp>
          <p:nvSpPr>
            <p:cNvPr id="18" name="Text Box 1">
              <a:extLst>
                <a:ext uri="{FF2B5EF4-FFF2-40B4-BE49-F238E27FC236}">
                  <a16:creationId xmlns:a16="http://schemas.microsoft.com/office/drawing/2014/main" id="{9B2512E1-1B57-A2F3-3C66-73B8D91CDE35}"/>
                </a:ext>
              </a:extLst>
            </p:cNvPr>
            <p:cNvSpPr txBox="1"/>
            <p:nvPr/>
          </p:nvSpPr>
          <p:spPr>
            <a:xfrm>
              <a:off x="31749" y="3014505"/>
              <a:ext cx="5342467" cy="355667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8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Fig. 4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: Temporal evolution of pressure (blue),  dP/dt (red) and temperature (black), LWI (red) from DNS (solid) and 0D constant-volume reactor (dashed) at the center point of the respective autoignition zones for (a) Case 1: T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 = 1000K, P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 = 3 atm, (b) Case 2: T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 = 1150 K, P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 = 3 atm, Zone 1, (c) Case 2: T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 = 1150 K, P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 = 3 atm, Zone 2, and (d) Case 3: T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 = 1150 K, P</a:t>
              </a:r>
              <a:r>
                <a:rPr lang="en-US" sz="8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0</a:t>
              </a: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 = 10 atm.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endParaRPr>
            </a:p>
            <a:p>
              <a:pPr marL="0" marR="0" algn="just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8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Vrinda" panose="020B0502040204020203" pitchFamily="34" charset="0"/>
                </a:rPr>
                <a:t> 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1B57C5-9F39-BE68-3C3B-223DC40E1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094" y="0"/>
              <a:ext cx="2044700" cy="149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9C280B5-158D-17CF-08D8-E824357C5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0505" y="0"/>
              <a:ext cx="2044700" cy="145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1446523-8030-81A6-7CC0-3E4DF5C0B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70" y="1502229"/>
              <a:ext cx="2044700" cy="145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DD715AA-23E0-9857-1FEB-F4A9BC6C1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0505" y="1537398"/>
              <a:ext cx="2044700" cy="14687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69A2D"/>
                </a:solidFill>
                <a:latin typeface="Calibri"/>
              </a:rPr>
              <a:t>07  /  RESULTS — MODE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Reactivity-Gradient (ξ) Distribution at the Transition</a:t>
            </a:r>
          </a:p>
        </p:txBody>
      </p:sp>
      <p:pic>
        <p:nvPicPr>
          <p:cNvPr id="6" name="Picture 5" descr="logo_ii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46304"/>
            <a:ext cx="731520" cy="731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2971800"/>
            <a:ext cx="2788920" cy="29718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2560320" cy="270452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 dirty="0">
                <a:solidFill>
                  <a:srgbClr val="C0392B"/>
                </a:solidFill>
                <a:latin typeface="Calibri"/>
              </a:rPr>
              <a:t>ξ ≈ 0</a:t>
            </a:r>
            <a:r>
              <a:rPr sz="1250" b="0" i="0" dirty="0">
                <a:solidFill>
                  <a:srgbClr val="222A33"/>
                </a:solidFill>
                <a:latin typeface="Calibri"/>
              </a:rPr>
              <a:t>  homogeneous ignition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 dirty="0">
                <a:solidFill>
                  <a:srgbClr val="C0392B"/>
                </a:solidFill>
                <a:latin typeface="Calibri"/>
              </a:rPr>
              <a:t>ξ &lt; 1</a:t>
            </a:r>
            <a:r>
              <a:rPr sz="1250" b="0" i="0" dirty="0">
                <a:solidFill>
                  <a:srgbClr val="222A33"/>
                </a:solidFill>
                <a:latin typeface="Calibri"/>
              </a:rPr>
              <a:t>  supersonic deflagration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 dirty="0">
                <a:solidFill>
                  <a:srgbClr val="C0392B"/>
                </a:solidFill>
                <a:latin typeface="Calibri"/>
              </a:rPr>
              <a:t>ξ ~ O(1–10)</a:t>
            </a:r>
            <a:r>
              <a:rPr sz="1250" b="0" i="0" dirty="0">
                <a:solidFill>
                  <a:srgbClr val="222A33"/>
                </a:solidFill>
                <a:latin typeface="Calibri"/>
              </a:rPr>
              <a:t>  detonation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 dirty="0">
                <a:solidFill>
                  <a:srgbClr val="C0392B"/>
                </a:solidFill>
                <a:latin typeface="Calibri"/>
              </a:rPr>
              <a:t>ξ ~ O(100)</a:t>
            </a:r>
            <a:r>
              <a:rPr sz="1250" b="0" i="0" dirty="0">
                <a:solidFill>
                  <a:srgbClr val="222A33"/>
                </a:solidFill>
                <a:latin typeface="Calibri"/>
              </a:rPr>
              <a:t>  deflagration</a:t>
            </a:r>
            <a:endParaRPr lang="en-US" sz="1250" b="0" i="0" dirty="0">
              <a:solidFill>
                <a:srgbClr val="222A33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C0392B"/>
                </a:solidFill>
              </a:rPr>
              <a:t>Sa &lt; 1</a:t>
            </a:r>
            <a:r>
              <a:rPr lang="en-US" sz="1250" dirty="0">
                <a:solidFill>
                  <a:srgbClr val="222A33"/>
                </a:solidFill>
              </a:rPr>
              <a:t>  Strong ignition</a:t>
            </a:r>
            <a:endParaRPr lang="en-US" sz="1250" dirty="0">
              <a:solidFill>
                <a:srgbClr val="222A33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C0392B"/>
                </a:solidFill>
              </a:rPr>
              <a:t>Sa &gt; 1</a:t>
            </a:r>
            <a:r>
              <a:rPr lang="en-US" sz="1250" dirty="0">
                <a:solidFill>
                  <a:srgbClr val="222A33"/>
                </a:solidFill>
              </a:rPr>
              <a:t>  Weak ignition/Deflagration</a:t>
            </a:r>
            <a:endParaRPr lang="en-US" sz="1250" dirty="0">
              <a:solidFill>
                <a:srgbClr val="222A33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sz="1250" b="0" i="0" dirty="0">
              <a:solidFill>
                <a:srgbClr val="222A33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1" dirty="0">
                <a:solidFill>
                  <a:srgbClr val="222A33"/>
                </a:solidFill>
                <a:latin typeface="Calibri"/>
              </a:rPr>
              <a:t>Evaluated at ETD (or LWI) —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1" dirty="0">
                <a:solidFill>
                  <a:srgbClr val="222A33"/>
                </a:solidFill>
                <a:latin typeface="Calibri"/>
              </a:rPr>
              <a:t>physically-defined transition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2390" y="1135380"/>
            <a:ext cx="45720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345"/>
                </a:solidFill>
                <a:latin typeface="Calibri"/>
              </a:rPr>
              <a:t>Case 1: 1000 K, 3 atm</a:t>
            </a:r>
          </a:p>
        </p:txBody>
      </p:sp>
      <p:pic>
        <p:nvPicPr>
          <p:cNvPr id="11" name="Picture 10" descr="xi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390" y="1373124"/>
            <a:ext cx="3760510" cy="1078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82390" y="2616708"/>
            <a:ext cx="45720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345"/>
                </a:solidFill>
                <a:latin typeface="Calibri"/>
              </a:rPr>
              <a:t>Case 2: 1150 K, 3 atm</a:t>
            </a:r>
          </a:p>
        </p:txBody>
      </p:sp>
      <p:pic>
        <p:nvPicPr>
          <p:cNvPr id="13" name="Picture 12" descr="xi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390" y="2854452"/>
            <a:ext cx="3744736" cy="1078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2390" y="4098036"/>
            <a:ext cx="45720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345"/>
                </a:solidFill>
                <a:latin typeface="Calibri"/>
              </a:rPr>
              <a:t>Case 3: 1150 K, 10 atm</a:t>
            </a:r>
          </a:p>
        </p:txBody>
      </p:sp>
      <p:pic>
        <p:nvPicPr>
          <p:cNvPr id="15" name="Picture 14" descr="xi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2390" y="4335780"/>
            <a:ext cx="3738389" cy="1078992"/>
          </a:xfrm>
          <a:prstGeom prst="rect">
            <a:avLst/>
          </a:prstGeom>
        </p:spPr>
      </p:pic>
      <p:pic>
        <p:nvPicPr>
          <p:cNvPr id="17" name="Picture 16" descr="fig7_p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0489" y="1738752"/>
            <a:ext cx="2129839" cy="1490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86310" y="3279473"/>
            <a:ext cx="2558195" cy="1872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 dirty="0">
                <a:solidFill>
                  <a:srgbClr val="444B53"/>
                </a:solidFill>
                <a:latin typeface="Calibri"/>
              </a:rPr>
              <a:t>PDF of energy-release strength ε/mm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2951" y="3780710"/>
            <a:ext cx="2175260" cy="1120500"/>
          </a:xfrm>
          <a:prstGeom prst="rect">
            <a:avLst/>
          </a:prstGeom>
          <a:solidFill>
            <a:srgbClr val="0B2345"/>
          </a:solidFill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 dirty="0">
                <a:solidFill>
                  <a:srgbClr val="D69A2D"/>
                </a:solidFill>
                <a:latin typeface="Calibri"/>
              </a:rPr>
              <a:t>Use the mode, not the mean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 dirty="0">
                <a:solidFill>
                  <a:srgbClr val="EEF2F7"/>
                </a:solidFill>
                <a:latin typeface="Calibri"/>
              </a:rPr>
              <a:t>ξ-distribution is right-skewed; high-ξ outliers from large-T-gradient regions pull the average 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444B53"/>
                </a:solidFill>
                <a:latin typeface="Calibri"/>
              </a:rPr>
              <a:t>End-Gas Autoignition in n-Heptane  •  ETD–ξ Framework for Knock in 2D DNS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Calibri"/>
              </a:rPr>
              <a:t>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BB0C81-CAB7-32AE-E400-728DCC757969}"/>
              </a:ext>
            </a:extLst>
          </p:cNvPr>
          <p:cNvSpPr>
            <a:spLocks noChangeAspect="1"/>
          </p:cNvSpPr>
          <p:nvPr/>
        </p:nvSpPr>
        <p:spPr>
          <a:xfrm>
            <a:off x="9994391" y="5631160"/>
            <a:ext cx="2197304" cy="12359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24BBA03-E9BF-4E66-7185-4FE5760AB8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1140101"/>
            <a:ext cx="2788920" cy="1585596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AD91A8E-6333-E5EC-835F-CC833EB8E953}"/>
              </a:ext>
            </a:extLst>
          </p:cNvPr>
          <p:cNvGrpSpPr/>
          <p:nvPr/>
        </p:nvGrpSpPr>
        <p:grpSpPr>
          <a:xfrm>
            <a:off x="7819451" y="1136146"/>
            <a:ext cx="1690310" cy="4283225"/>
            <a:chOff x="-42216" y="113561"/>
            <a:chExt cx="1687830" cy="4283892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799D5EE-7527-8CF7-5519-ED67B9572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0" y="3116023"/>
              <a:ext cx="1528920" cy="12814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83EBFE3-C4E3-CE30-21C0-739E3EE0E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949" y="113561"/>
              <a:ext cx="1573498" cy="12960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BD85702-F5A0-8F33-D078-9735938CA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2216" y="1703028"/>
              <a:ext cx="1687830" cy="1281430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26359" y="5486019"/>
                <a:ext cx="6276592" cy="841449"/>
              </a:xfrm>
              <a:prstGeom prst="rect">
                <a:avLst/>
              </a:prstGeom>
              <a:noFill/>
            </p:spPr>
            <p:txBody>
              <a:bodyPr wrap="square" lIns="25400" tIns="12700" rIns="25400" bIns="1270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</a:pPr>
                <a:r>
                  <a:rPr sz="1200" b="0" i="1" dirty="0">
                    <a:solidFill>
                      <a:srgbClr val="444B53"/>
                    </a:solidFill>
                    <a:latin typeface="Calibri"/>
                  </a:rPr>
                  <a:t>ξ &lt; 1 across most of the end-gas in all cases → supersonic-deflagration mode; low Sa ⇒ strong, near-homogeneous ignition</a:t>
                </a:r>
                <a:r>
                  <a:rPr lang="en-US" sz="1200" i="1" dirty="0">
                    <a:solidFill>
                      <a:srgbClr val="444B53"/>
                    </a:solidFill>
                    <a:latin typeface="Calibri"/>
                  </a:rPr>
                  <a:t>. </a:t>
                </a:r>
              </a:p>
              <a:p>
                <a:pPr>
                  <a:spcAft>
                    <a:spcPts val="400"/>
                  </a:spcAft>
                </a:pPr>
                <a:r>
                  <a:rPr lang="en-US" sz="1200" i="1" dirty="0">
                    <a:ea typeface="Calibri" panose="020F0502020204030204" pitchFamily="34" charset="0"/>
                    <a:cs typeface="Vrinda" panose="020B0502040204020203" pitchFamily="34" charset="0"/>
                  </a:rPr>
                  <a:t>Time history of zone-averaged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𝜉</m:t>
                    </m:r>
                  </m:oMath>
                </a14:m>
                <a:r>
                  <a:rPr lang="en-US" sz="1200" i="1" dirty="0">
                    <a:ea typeface="Calibri" panose="020F0502020204030204" pitchFamily="34" charset="0"/>
                    <a:cs typeface="Vrinda" panose="020B0502040204020203" pitchFamily="34" charset="0"/>
                  </a:rPr>
                  <a:t> (black) and LWI (red) shows that ξ distribution evaluated at ETD or LWI gives a good qualitative idea of the autoignition mode.</a:t>
                </a:r>
                <a:endParaRPr sz="1200" b="0" i="1" dirty="0">
                  <a:solidFill>
                    <a:srgbClr val="444B5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359" y="5486019"/>
                <a:ext cx="6276592" cy="841449"/>
              </a:xfrm>
              <a:prstGeom prst="rect">
                <a:avLst/>
              </a:prstGeom>
              <a:blipFill>
                <a:blip r:embed="rId11"/>
                <a:stretch>
                  <a:fillRect l="-1069" t="-4348" r="-680" b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69A2D"/>
                </a:solidFill>
                <a:latin typeface="Calibri"/>
              </a:rPr>
              <a:t>08  /  KEY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Most-Probable ξ Predicts the Autoignition-Wave Speed</a:t>
            </a:r>
          </a:p>
        </p:txBody>
      </p:sp>
      <p:pic>
        <p:nvPicPr>
          <p:cNvPr id="6" name="Picture 5" descr="logo_ii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46304"/>
            <a:ext cx="731520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8620" y="1371600"/>
            <a:ext cx="58064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8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65" y="1481328"/>
            <a:ext cx="4758550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620" y="5943600"/>
            <a:ext cx="58064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444B53"/>
                </a:solidFill>
                <a:latin typeface="Calibri"/>
              </a:rPr>
              <a:t>AI wave speed vs ξ at LWI &amp; ETD timings, with hyperbolic fits ξ = C /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58568"/>
            <a:ext cx="5166360" cy="457200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 dirty="0">
                <a:solidFill>
                  <a:srgbClr val="0B2345"/>
                </a:solidFill>
                <a:latin typeface="Calibri"/>
              </a:rPr>
              <a:t>▸  AI wave speed increases as the most-probable ξ decreases</a:t>
            </a:r>
            <a:r>
              <a:rPr sz="1450" b="0" i="0" dirty="0">
                <a:solidFill>
                  <a:srgbClr val="222A33"/>
                </a:solidFill>
                <a:latin typeface="Calibri"/>
              </a:rPr>
              <a:t> — a clean hyperbolic correlation (ξ = C/S)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 dirty="0">
                <a:solidFill>
                  <a:srgbClr val="C0392B"/>
                </a:solidFill>
                <a:latin typeface="Calibri"/>
              </a:rPr>
              <a:t>▸  Most-probable ξ ≫ zone-averaged ξ</a:t>
            </a:r>
            <a:r>
              <a:rPr sz="1450" b="0" i="0" dirty="0">
                <a:solidFill>
                  <a:srgbClr val="222A33"/>
                </a:solidFill>
                <a:latin typeface="Calibri"/>
              </a:rPr>
              <a:t> as a predictor; the mean gives inverted, unphysical trends (compare Cases 1 &amp; 3)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▸  Holds whether ξ is read at ETD or LWI (fit marginally better at LWI for these cases)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 dirty="0">
                <a:solidFill>
                  <a:srgbClr val="0B2345"/>
                </a:solidFill>
                <a:latin typeface="Calibri"/>
              </a:rPr>
              <a:t>▸  Limitations of a simple ξ metric: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 dirty="0">
                <a:solidFill>
                  <a:srgbClr val="222A33"/>
                </a:solidFill>
                <a:latin typeface="Calibri"/>
              </a:rPr>
              <a:t>–  waves crossing strong T-gradient regions, and post-merging waves, fall off the curve</a:t>
            </a:r>
          </a:p>
          <a:p>
            <a:pPr lvl="1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 dirty="0">
                <a:solidFill>
                  <a:srgbClr val="222A33"/>
                </a:solidFill>
                <a:latin typeface="Calibri"/>
              </a:rPr>
              <a:t>–  expected — ξ is built for single hot-spots in an isothermal background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44B53"/>
                </a:solidFill>
                <a:latin typeface="Calibri"/>
              </a:rPr>
              <a:t>End-Gas Autoignition in n-Heptane  •  ETD–ξ Framework for Knock in 2D DNS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Calibri"/>
              </a:rPr>
              <a:t>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8514E-C74E-9E49-336C-0BFF7DC628CE}"/>
              </a:ext>
            </a:extLst>
          </p:cNvPr>
          <p:cNvSpPr>
            <a:spLocks noChangeAspect="1"/>
          </p:cNvSpPr>
          <p:nvPr/>
        </p:nvSpPr>
        <p:spPr>
          <a:xfrm>
            <a:off x="9994391" y="5631160"/>
            <a:ext cx="2197304" cy="12359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0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7899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69A2D"/>
                </a:solidFill>
                <a:latin typeface="Calibri"/>
              </a:rPr>
              <a:t>09  / 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 Tractable ETD–ξ Workflow for Knocking-Combustion DNS</a:t>
            </a:r>
          </a:p>
        </p:txBody>
      </p:sp>
      <p:pic>
        <p:nvPicPr>
          <p:cNvPr id="6" name="Picture 5" descr="logo_ii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146304"/>
            <a:ext cx="731520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325880"/>
            <a:ext cx="6446520" cy="41605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6126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6126480" cy="281654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 dirty="0">
                <a:solidFill>
                  <a:srgbClr val="0B2345"/>
                </a:solidFill>
                <a:latin typeface="Calibri"/>
              </a:rPr>
              <a:t>▸  2D DNS reproduced the full knock sequence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— spark flame → end-gas compression → hot-spots → autoignition — for all three cases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 dirty="0">
                <a:solidFill>
                  <a:srgbClr val="1F4E79"/>
                </a:solidFill>
                <a:latin typeface="Calibri"/>
              </a:rPr>
              <a:t>▸  ETD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gives a physically-grounded </a:t>
            </a:r>
            <a:r>
              <a:rPr sz="1400" b="0" i="0" dirty="0" err="1">
                <a:solidFill>
                  <a:srgbClr val="222A33"/>
                </a:solidFill>
                <a:latin typeface="Calibri"/>
              </a:rPr>
              <a:t>flame→autoignition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transition criterion for knock onset, superior to chemistry-only LWI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 dirty="0">
                <a:solidFill>
                  <a:srgbClr val="1F4E79"/>
                </a:solidFill>
                <a:latin typeface="Calibri"/>
              </a:rPr>
              <a:t>▸  The mode of the ξ-distribution at ETD/LWI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predicts the autoignition-wave speed; all cases evolve as supersonic deflagration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 dirty="0">
                <a:solidFill>
                  <a:srgbClr val="C0392B"/>
                </a:solidFill>
                <a:latin typeface="Calibri"/>
              </a:rPr>
              <a:t>▸  Net result:</a:t>
            </a:r>
            <a:r>
              <a:rPr sz="1400" b="0" i="0" dirty="0">
                <a:solidFill>
                  <a:srgbClr val="222A33"/>
                </a:solidFill>
                <a:latin typeface="Calibri"/>
              </a:rPr>
              <a:t> high-fidelity 2D/3D knock DNS reduced to a few simple, physical metrics — ETD finds the transition, ξ predicts the mode</a:t>
            </a:r>
            <a:endParaRPr lang="en-US" sz="1400" b="0" i="0" dirty="0">
              <a:solidFill>
                <a:srgbClr val="222A33"/>
              </a:solidFill>
              <a:latin typeface="Calibri"/>
            </a:endParaRP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b="1" dirty="0">
                <a:solidFill>
                  <a:srgbClr val="C0392B"/>
                </a:solidFill>
              </a:rPr>
              <a:t>▸  Simplifications assumed:</a:t>
            </a:r>
            <a:r>
              <a:rPr lang="en-US" sz="1400" dirty="0">
                <a:solidFill>
                  <a:srgbClr val="222A33"/>
                </a:solidFill>
              </a:rPr>
              <a:t> laminar flame, initial homogeneous mixture, no turbulence, no heat transfer from wall</a:t>
            </a:r>
            <a:endParaRPr lang="en-US" sz="1400" b="0" i="0" dirty="0">
              <a:solidFill>
                <a:srgbClr val="222A33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78040" y="1325880"/>
            <a:ext cx="4526280" cy="4160520"/>
          </a:xfrm>
          <a:prstGeom prst="rect">
            <a:avLst/>
          </a:prstGeom>
          <a:solidFill>
            <a:srgbClr val="0B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78040" y="1325880"/>
            <a:ext cx="109728" cy="4160520"/>
          </a:xfrm>
          <a:prstGeom prst="rect">
            <a:avLst/>
          </a:prstGeom>
          <a:solidFill>
            <a:srgbClr val="D69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4927" y="1435608"/>
            <a:ext cx="4114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D69A2D"/>
                </a:solidFill>
                <a:latin typeface="Calibri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1901952"/>
            <a:ext cx="4114800" cy="352044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EEF2F7"/>
                </a:solidFill>
                <a:latin typeface="Calibri"/>
              </a:rPr>
              <a:t>▸  Extend to turbulent, 3D SI-engine DNS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EEF2F7"/>
                </a:solidFill>
                <a:latin typeface="Calibri"/>
              </a:rPr>
              <a:t>▸  Test ξ on post-merging waves &amp; strong-gradient regions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EEF2F7"/>
                </a:solidFill>
                <a:latin typeface="Calibri"/>
              </a:rPr>
              <a:t>▸  Validate LWI–ξ correlation over wider, more complex conditions (NTC, cool flames)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EEF2F7"/>
                </a:solidFill>
                <a:latin typeface="Calibri"/>
              </a:rPr>
              <a:t>▸  Link the workflow to knock-intensity &amp; SACI prediction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669280"/>
            <a:ext cx="11201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550" y="5742432"/>
            <a:ext cx="9310832" cy="5950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dirty="0">
                <a:solidFill>
                  <a:srgbClr val="0B2345"/>
                </a:solidFill>
                <a:latin typeface="Calibri"/>
              </a:rPr>
              <a:t>Acknowledgements:  </a:t>
            </a:r>
            <a:r>
              <a:rPr sz="1150" b="0" i="0" dirty="0">
                <a:solidFill>
                  <a:srgbClr val="444B53"/>
                </a:solidFill>
                <a:latin typeface="Calibri"/>
              </a:rPr>
              <a:t>IFS Tohoku University – IIT Roorkee collaboration (CX02SEP23); HYCOMBS / CREATE Thematic </a:t>
            </a:r>
            <a:r>
              <a:rPr sz="1150" b="0" i="0" dirty="0" err="1">
                <a:solidFill>
                  <a:srgbClr val="444B53"/>
                </a:solidFill>
                <a:latin typeface="Calibri"/>
              </a:rPr>
              <a:t>Programme</a:t>
            </a:r>
            <a:r>
              <a:rPr sz="1150" b="0" i="0" dirty="0">
                <a:solidFill>
                  <a:srgbClr val="444B53"/>
                </a:solidFill>
                <a:latin typeface="Calibri"/>
              </a:rPr>
              <a:t> in </a:t>
            </a:r>
            <a:r>
              <a:rPr sz="1150" b="0" i="0" dirty="0" err="1">
                <a:solidFill>
                  <a:srgbClr val="444B53"/>
                </a:solidFill>
                <a:latin typeface="Calibri"/>
              </a:rPr>
              <a:t>Decarbonisation</a:t>
            </a:r>
            <a:r>
              <a:rPr sz="1150" b="0" i="0" dirty="0">
                <a:solidFill>
                  <a:srgbClr val="444B53"/>
                </a:solidFill>
                <a:latin typeface="Calibri"/>
              </a:rPr>
              <a:t>, </a:t>
            </a:r>
            <a:br>
              <a:rPr lang="en-US" sz="1150" b="0" i="0" dirty="0">
                <a:solidFill>
                  <a:srgbClr val="444B53"/>
                </a:solidFill>
                <a:latin typeface="Calibri"/>
              </a:rPr>
            </a:br>
            <a:r>
              <a:rPr sz="1150" b="0" i="0" dirty="0">
                <a:solidFill>
                  <a:srgbClr val="444B53"/>
                </a:solidFill>
                <a:latin typeface="Calibri"/>
              </a:rPr>
              <a:t>NRF Singapore.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dirty="0">
                <a:solidFill>
                  <a:srgbClr val="0B2345"/>
                </a:solidFill>
                <a:latin typeface="Calibri"/>
              </a:rPr>
              <a:t>Tools: </a:t>
            </a:r>
            <a:r>
              <a:rPr sz="1150" b="0" i="0" dirty="0" err="1">
                <a:solidFill>
                  <a:srgbClr val="444B53"/>
                </a:solidFill>
                <a:latin typeface="Calibri"/>
              </a:rPr>
              <a:t>PeleC</a:t>
            </a:r>
            <a:r>
              <a:rPr sz="1150" b="0" i="0" dirty="0">
                <a:solidFill>
                  <a:srgbClr val="444B53"/>
                </a:solidFill>
                <a:latin typeface="Calibri"/>
              </a:rPr>
              <a:t> + </a:t>
            </a:r>
            <a:r>
              <a:rPr sz="1150" b="0" i="0" dirty="0" err="1">
                <a:solidFill>
                  <a:srgbClr val="444B53"/>
                </a:solidFill>
                <a:latin typeface="Calibri"/>
              </a:rPr>
              <a:t>AMReX</a:t>
            </a:r>
            <a:r>
              <a:rPr sz="1150" b="0" i="0" dirty="0">
                <a:solidFill>
                  <a:srgbClr val="444B53"/>
                </a:solidFill>
                <a:latin typeface="Calibri"/>
              </a:rPr>
              <a:t>  •  MACKS  •  Cantera  •  reduced SIP gasoline-surrogate mechanism.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6556248"/>
            <a:ext cx="9144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44B53"/>
                </a:solidFill>
                <a:latin typeface="Calibri"/>
              </a:rPr>
              <a:t>End-Gas Autoignition in n-Heptane  •  ETD–ξ Framework for Knock in 2D DNS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Calibri"/>
              </a:rPr>
              <a:t>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4AF294-5478-093D-4543-D4329C39B010}"/>
              </a:ext>
            </a:extLst>
          </p:cNvPr>
          <p:cNvSpPr>
            <a:spLocks noChangeAspect="1"/>
          </p:cNvSpPr>
          <p:nvPr/>
        </p:nvSpPr>
        <p:spPr>
          <a:xfrm>
            <a:off x="9994391" y="5631160"/>
            <a:ext cx="2197304" cy="12359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1869</Words>
  <Application>Microsoft Office PowerPoint</Application>
  <PresentationFormat>Widescreen</PresentationFormat>
  <Paragraphs>169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Jain, Arjav</cp:lastModifiedBy>
  <cp:revision>3</cp:revision>
  <dcterms:created xsi:type="dcterms:W3CDTF">2013-01-27T09:14:16Z</dcterms:created>
  <dcterms:modified xsi:type="dcterms:W3CDTF">2026-09-25T23:55:15Z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494b15-2884-42b7-a283-b08ec0f18ca1_Enabled">
    <vt:lpwstr>true</vt:lpwstr>
  </property>
  <property fmtid="{D5CDD505-2E9C-101B-9397-08002B2CF9AE}" pid="3" name="MSIP_Label_68494b15-2884-42b7-a283-b08ec0f18ca1_SetDate">
    <vt:lpwstr>2026-06-20T06:08:57Z</vt:lpwstr>
  </property>
  <property fmtid="{D5CDD505-2E9C-101B-9397-08002B2CF9AE}" pid="4" name="MSIP_Label_68494b15-2884-42b7-a283-b08ec0f18ca1_Method">
    <vt:lpwstr>Privileged</vt:lpwstr>
  </property>
  <property fmtid="{D5CDD505-2E9C-101B-9397-08002B2CF9AE}" pid="5" name="MSIP_Label_68494b15-2884-42b7-a283-b08ec0f18ca1_Name">
    <vt:lpwstr>Public</vt:lpwstr>
  </property>
  <property fmtid="{D5CDD505-2E9C-101B-9397-08002B2CF9AE}" pid="6" name="MSIP_Label_68494b15-2884-42b7-a283-b08ec0f18ca1_SiteId">
    <vt:lpwstr>9026c5f4-86d0-4b9f-bd39-b7d4d0fb4674</vt:lpwstr>
  </property>
  <property fmtid="{D5CDD505-2E9C-101B-9397-08002B2CF9AE}" pid="7" name="MSIP_Label_68494b15-2884-42b7-a283-b08ec0f18ca1_ActionId">
    <vt:lpwstr>cc94d1e7-9cc1-40c3-a946-63b987ba4083</vt:lpwstr>
  </property>
  <property fmtid="{D5CDD505-2E9C-101B-9397-08002B2CF9AE}" pid="8" name="MSIP_Label_68494b15-2884-42b7-a283-b08ec0f18ca1_ContentBits">
    <vt:lpwstr>0</vt:lpwstr>
  </property>
  <property fmtid="{D5CDD505-2E9C-101B-9397-08002B2CF9AE}" pid="9" name="MSIP_Label_68494b15-2884-42b7-a283-b08ec0f18ca1_Tag">
    <vt:lpwstr>10, 0, 1, 1</vt:lpwstr>
  </property>
</Properties>
</file>