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4"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y="6858000" cx="9144000"/>
  <p:notesSz cx="6858000" cy="9144000"/>
  <p:embeddedFontLst>
    <p:embeddedFont>
      <p:font typeface="Franklin Gothic"/>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7" roundtripDataSignature="AMtx7mhBqDZzqTQztluQj6uOGZ4Y6v+a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FED0A7-9E25-4529-9F8A-1AB4A261515C}">
  <a:tblStyle styleId="{3CFED0A7-9E25-4529-9F8A-1AB4A261515C}"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customschemas.google.com/relationships/presentationmetadata" Target="metadata"/><Relationship Id="rId16" Type="http://schemas.openxmlformats.org/officeDocument/2006/relationships/font" Target="fonts/FranklinGothic-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4:notes"/>
          <p:cNvSpPr/>
          <p:nvPr>
            <p:ph idx="2" type="sldImg"/>
          </p:nvPr>
        </p:nvSpPr>
        <p:spPr>
          <a:xfrm>
            <a:off x="1143309" y="685800"/>
            <a:ext cx="4572056"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sp>
        <p:nvSpPr>
          <p:cNvPr id="16" name="Google Shape;16;p38"/>
          <p:cNvSpPr/>
          <p:nvPr/>
        </p:nvSpPr>
        <p:spPr>
          <a:xfrm>
            <a:off x="0" y="0"/>
            <a:ext cx="9152400" cy="736200"/>
          </a:xfrm>
          <a:prstGeom prst="rect">
            <a:avLst/>
          </a:prstGeom>
          <a:gradFill>
            <a:gsLst>
              <a:gs pos="0">
                <a:srgbClr val="166018"/>
              </a:gs>
              <a:gs pos="1000">
                <a:srgbClr val="166018"/>
              </a:gs>
              <a:gs pos="52000">
                <a:srgbClr val="00B0F0"/>
              </a:gs>
              <a:gs pos="100000">
                <a:srgbClr val="17365D"/>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Franklin Gothic"/>
                <a:ea typeface="Franklin Gothic"/>
                <a:cs typeface="Franklin Gothic"/>
                <a:sym typeface="Franklin Gothic"/>
              </a:rPr>
              <a:t>INDIAN INSTITUTE OF TECHNOLOGY ROORKEE</a:t>
            </a:r>
            <a:endParaRPr b="0" i="0" sz="1400" u="none" cap="none" strike="noStrike">
              <a:solidFill>
                <a:srgbClr val="000000"/>
              </a:solidFill>
              <a:latin typeface="Arial"/>
              <a:ea typeface="Arial"/>
              <a:cs typeface="Arial"/>
              <a:sym typeface="Arial"/>
            </a:endParaRPr>
          </a:p>
        </p:txBody>
      </p:sp>
      <p:pic>
        <p:nvPicPr>
          <p:cNvPr id="17" name="Google Shape;17;p38"/>
          <p:cNvPicPr preferRelativeResize="0"/>
          <p:nvPr/>
        </p:nvPicPr>
        <p:blipFill rotWithShape="1">
          <a:blip r:embed="rId2">
            <a:alphaModFix/>
          </a:blip>
          <a:srcRect b="0" l="0" r="0" t="0"/>
          <a:stretch/>
        </p:blipFill>
        <p:spPr>
          <a:xfrm>
            <a:off x="8377895" y="-1281"/>
            <a:ext cx="755828" cy="732103"/>
          </a:xfrm>
          <a:prstGeom prst="rect">
            <a:avLst/>
          </a:prstGeom>
          <a:noFill/>
          <a:ln>
            <a:noFill/>
          </a:ln>
        </p:spPr>
      </p:pic>
      <p:pic>
        <p:nvPicPr>
          <p:cNvPr id="18" name="Google Shape;18;p38"/>
          <p:cNvPicPr preferRelativeResize="0"/>
          <p:nvPr/>
        </p:nvPicPr>
        <p:blipFill rotWithShape="1">
          <a:blip r:embed="rId3">
            <a:alphaModFix/>
          </a:blip>
          <a:srcRect b="0" l="0" r="0" t="0"/>
          <a:stretch/>
        </p:blipFill>
        <p:spPr>
          <a:xfrm>
            <a:off x="0" y="5006150"/>
            <a:ext cx="9133729" cy="1851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p:cSld name="Content Slide">
    <p:spTree>
      <p:nvGrpSpPr>
        <p:cNvPr id="19" name="Shape 19"/>
        <p:cNvGrpSpPr/>
        <p:nvPr/>
      </p:nvGrpSpPr>
      <p:grpSpPr>
        <a:xfrm>
          <a:off x="0" y="0"/>
          <a:ext cx="0" cy="0"/>
          <a:chOff x="0" y="0"/>
          <a:chExt cx="0" cy="0"/>
        </a:xfrm>
      </p:grpSpPr>
      <p:pic>
        <p:nvPicPr>
          <p:cNvPr id="20" name="Google Shape;20;p39"/>
          <p:cNvPicPr preferRelativeResize="0"/>
          <p:nvPr/>
        </p:nvPicPr>
        <p:blipFill rotWithShape="1">
          <a:blip r:embed="rId2">
            <a:alphaModFix/>
          </a:blip>
          <a:srcRect b="0" l="0" r="0" t="0"/>
          <a:stretch/>
        </p:blipFill>
        <p:spPr>
          <a:xfrm>
            <a:off x="8164285" y="-1480"/>
            <a:ext cx="979715" cy="961360"/>
          </a:xfrm>
          <a:prstGeom prst="rect">
            <a:avLst/>
          </a:prstGeom>
          <a:noFill/>
          <a:ln>
            <a:noFill/>
          </a:ln>
        </p:spPr>
      </p:pic>
      <p:cxnSp>
        <p:nvCxnSpPr>
          <p:cNvPr id="21" name="Google Shape;21;p39"/>
          <p:cNvCxnSpPr/>
          <p:nvPr/>
        </p:nvCxnSpPr>
        <p:spPr>
          <a:xfrm>
            <a:off x="0" y="990600"/>
            <a:ext cx="9144000" cy="0"/>
          </a:xfrm>
          <a:prstGeom prst="straightConnector1">
            <a:avLst/>
          </a:prstGeom>
          <a:noFill/>
          <a:ln cap="flat" cmpd="sng" w="50800">
            <a:solidFill>
              <a:srgbClr val="366092"/>
            </a:solidFill>
            <a:prstDash val="solid"/>
            <a:round/>
            <a:headEnd len="sm" w="sm" type="none"/>
            <a:tailEnd len="sm" w="sm" type="none"/>
          </a:ln>
        </p:spPr>
      </p:cxnSp>
      <p:cxnSp>
        <p:nvCxnSpPr>
          <p:cNvPr id="22" name="Google Shape;22;p39"/>
          <p:cNvCxnSpPr/>
          <p:nvPr/>
        </p:nvCxnSpPr>
        <p:spPr>
          <a:xfrm>
            <a:off x="0" y="6756400"/>
            <a:ext cx="9144000" cy="0"/>
          </a:xfrm>
          <a:prstGeom prst="straightConnector1">
            <a:avLst/>
          </a:prstGeom>
          <a:noFill/>
          <a:ln cap="flat" cmpd="sng" w="222250">
            <a:solidFill>
              <a:srgbClr val="366092"/>
            </a:solidFill>
            <a:prstDash val="solid"/>
            <a:round/>
            <a:headEnd len="sm" w="sm" type="none"/>
            <a:tailEnd len="sm" w="sm" type="none"/>
          </a:ln>
        </p:spPr>
      </p:cxnSp>
      <p:pic>
        <p:nvPicPr>
          <p:cNvPr id="23" name="Google Shape;23;p39"/>
          <p:cNvPicPr preferRelativeResize="0"/>
          <p:nvPr/>
        </p:nvPicPr>
        <p:blipFill rotWithShape="1">
          <a:blip r:embed="rId3">
            <a:alphaModFix/>
          </a:blip>
          <a:srcRect b="0" l="0" r="0" t="0"/>
          <a:stretch/>
        </p:blipFill>
        <p:spPr>
          <a:xfrm>
            <a:off x="7464197" y="6447291"/>
            <a:ext cx="1666875" cy="198437"/>
          </a:xfrm>
          <a:prstGeom prst="rect">
            <a:avLst/>
          </a:prstGeom>
          <a:noFill/>
          <a:ln>
            <a:noFill/>
          </a:ln>
        </p:spPr>
      </p:pic>
      <p:pic>
        <p:nvPicPr>
          <p:cNvPr id="24" name="Google Shape;24;p39"/>
          <p:cNvPicPr preferRelativeResize="0"/>
          <p:nvPr/>
        </p:nvPicPr>
        <p:blipFill rotWithShape="1">
          <a:blip r:embed="rId4">
            <a:alphaModFix/>
          </a:blip>
          <a:srcRect b="0" l="0" r="0" t="0"/>
          <a:stretch/>
        </p:blipFill>
        <p:spPr>
          <a:xfrm>
            <a:off x="1873072" y="2118212"/>
            <a:ext cx="5321658" cy="3510578"/>
          </a:xfrm>
          <a:prstGeom prst="rect">
            <a:avLst/>
          </a:prstGeom>
          <a:noFill/>
          <a:ln>
            <a:noFill/>
          </a:ln>
        </p:spPr>
      </p:pic>
      <p:sp>
        <p:nvSpPr>
          <p:cNvPr id="25" name="Google Shape;25;p39"/>
          <p:cNvSpPr txBox="1"/>
          <p:nvPr/>
        </p:nvSpPr>
        <p:spPr>
          <a:xfrm>
            <a:off x="8382001" y="6607628"/>
            <a:ext cx="762000" cy="1989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1" i="0" lang="en-US" sz="1400" u="none" cap="none" strike="noStrike">
                <a:solidFill>
                  <a:schemeClr val="lt1"/>
                </a:solidFill>
                <a:latin typeface="Calibri"/>
                <a:ea typeface="Calibri"/>
                <a:cs typeface="Calibri"/>
                <a:sym typeface="Calibri"/>
              </a:rPr>
              <a:t>‹#›</a:t>
            </a:fld>
            <a:endParaRPr b="1" i="0" sz="1400" u="none" cap="none" strike="noStrike">
              <a:solidFill>
                <a:schemeClr val="lt1"/>
              </a:solidFill>
              <a:latin typeface="Calibri"/>
              <a:ea typeface="Calibri"/>
              <a:cs typeface="Calibri"/>
              <a:sym typeface="Calibri"/>
            </a:endParaRPr>
          </a:p>
        </p:txBody>
      </p:sp>
      <p:sp>
        <p:nvSpPr>
          <p:cNvPr id="26" name="Google Shape;26;p39"/>
          <p:cNvSpPr txBox="1"/>
          <p:nvPr>
            <p:ph type="title"/>
          </p:nvPr>
        </p:nvSpPr>
        <p:spPr>
          <a:xfrm>
            <a:off x="180654" y="202990"/>
            <a:ext cx="7042200" cy="554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1"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 name="Google Shape;27;p39"/>
          <p:cNvSpPr txBox="1"/>
          <p:nvPr>
            <p:ph idx="1" type="body"/>
          </p:nvPr>
        </p:nvSpPr>
        <p:spPr>
          <a:xfrm>
            <a:off x="180653" y="1173984"/>
            <a:ext cx="8768100" cy="52233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atin typeface="Arial"/>
                <a:ea typeface="Arial"/>
                <a:cs typeface="Arial"/>
                <a:sym typeface="Arial"/>
              </a:defRPr>
            </a:lvl1pPr>
            <a:lvl2pPr indent="-355600" lvl="1" marL="914400" algn="l">
              <a:lnSpc>
                <a:spcPct val="100000"/>
              </a:lnSpc>
              <a:spcBef>
                <a:spcPts val="400"/>
              </a:spcBef>
              <a:spcAft>
                <a:spcPts val="0"/>
              </a:spcAft>
              <a:buClr>
                <a:schemeClr val="dk1"/>
              </a:buClr>
              <a:buSzPts val="2000"/>
              <a:buChar char="–"/>
              <a:defRPr sz="20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Char char="•"/>
              <a:defRPr sz="1800">
                <a:latin typeface="Arial"/>
                <a:ea typeface="Arial"/>
                <a:cs typeface="Arial"/>
                <a:sym typeface="Arial"/>
              </a:defRPr>
            </a:lvl3pPr>
            <a:lvl4pPr indent="-330200" lvl="3" marL="1828800" algn="l">
              <a:lnSpc>
                <a:spcPct val="100000"/>
              </a:lnSpc>
              <a:spcBef>
                <a:spcPts val="320"/>
              </a:spcBef>
              <a:spcAft>
                <a:spcPts val="0"/>
              </a:spcAft>
              <a:buClr>
                <a:schemeClr val="dk1"/>
              </a:buClr>
              <a:buSzPts val="1600"/>
              <a:buChar char="–"/>
              <a:defRPr sz="1600">
                <a:latin typeface="Arial"/>
                <a:ea typeface="Arial"/>
                <a:cs typeface="Arial"/>
                <a:sym typeface="Arial"/>
              </a:defRPr>
            </a:lvl4pPr>
            <a:lvl5pPr indent="-330200" lvl="4" marL="2286000" algn="l">
              <a:lnSpc>
                <a:spcPct val="100000"/>
              </a:lnSpc>
              <a:spcBef>
                <a:spcPts val="320"/>
              </a:spcBef>
              <a:spcAft>
                <a:spcPts val="0"/>
              </a:spcAft>
              <a:buClr>
                <a:schemeClr val="dk1"/>
              </a:buClr>
              <a:buSzPts val="1600"/>
              <a:buChar char="»"/>
              <a:defRPr sz="1600">
                <a:latin typeface="Arial"/>
                <a:ea typeface="Arial"/>
                <a:cs typeface="Arial"/>
                <a:sym typeface="Arial"/>
              </a:defRPr>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st Slide">
  <p:cSld name="Last Slide">
    <p:spTree>
      <p:nvGrpSpPr>
        <p:cNvPr id="28" name="Shape 28"/>
        <p:cNvGrpSpPr/>
        <p:nvPr/>
      </p:nvGrpSpPr>
      <p:grpSpPr>
        <a:xfrm>
          <a:off x="0" y="0"/>
          <a:ext cx="0" cy="0"/>
          <a:chOff x="0" y="0"/>
          <a:chExt cx="0" cy="0"/>
        </a:xfrm>
      </p:grpSpPr>
      <p:sp>
        <p:nvSpPr>
          <p:cNvPr id="29" name="Google Shape;29;p42"/>
          <p:cNvSpPr txBox="1"/>
          <p:nvPr/>
        </p:nvSpPr>
        <p:spPr>
          <a:xfrm>
            <a:off x="8382001" y="6607628"/>
            <a:ext cx="762000" cy="1989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1" i="0" lang="en-US" sz="1400" u="none" cap="none" strike="noStrike">
                <a:solidFill>
                  <a:schemeClr val="lt1"/>
                </a:solidFill>
                <a:latin typeface="Calibri"/>
                <a:ea typeface="Calibri"/>
                <a:cs typeface="Calibri"/>
                <a:sym typeface="Calibri"/>
              </a:rPr>
              <a:t>‹#›</a:t>
            </a:fld>
            <a:endParaRPr b="1" i="0" sz="1400" u="none" cap="none" strike="noStrike">
              <a:solidFill>
                <a:schemeClr val="lt1"/>
              </a:solidFill>
              <a:latin typeface="Calibri"/>
              <a:ea typeface="Calibri"/>
              <a:cs typeface="Calibri"/>
              <a:sym typeface="Calibri"/>
            </a:endParaRPr>
          </a:p>
        </p:txBody>
      </p:sp>
      <p:sp>
        <p:nvSpPr>
          <p:cNvPr id="30" name="Google Shape;30;p42"/>
          <p:cNvSpPr txBox="1"/>
          <p:nvPr>
            <p:ph type="title"/>
          </p:nvPr>
        </p:nvSpPr>
        <p:spPr>
          <a:xfrm>
            <a:off x="3363913" y="2971801"/>
            <a:ext cx="2452800" cy="7113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36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cxnSp>
        <p:nvCxnSpPr>
          <p:cNvPr id="31" name="Google Shape;31;p42"/>
          <p:cNvCxnSpPr/>
          <p:nvPr/>
        </p:nvCxnSpPr>
        <p:spPr>
          <a:xfrm>
            <a:off x="3595524" y="3619535"/>
            <a:ext cx="2009700" cy="0"/>
          </a:xfrm>
          <a:prstGeom prst="straightConnector1">
            <a:avLst/>
          </a:prstGeom>
          <a:noFill/>
          <a:ln cap="flat" cmpd="sng" w="50800">
            <a:solidFill>
              <a:srgbClr val="366092"/>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lide" type="twoTxTwoObj">
  <p:cSld name="TWO_OBJECTS_WITH_TEXT">
    <p:spTree>
      <p:nvGrpSpPr>
        <p:cNvPr id="32" name="Shape 32"/>
        <p:cNvGrpSpPr/>
        <p:nvPr/>
      </p:nvGrpSpPr>
      <p:grpSpPr>
        <a:xfrm>
          <a:off x="0" y="0"/>
          <a:ext cx="0" cy="0"/>
          <a:chOff x="0" y="0"/>
          <a:chExt cx="0" cy="0"/>
        </a:xfrm>
      </p:grpSpPr>
      <p:pic>
        <p:nvPicPr>
          <p:cNvPr id="33" name="Google Shape;33;p43"/>
          <p:cNvPicPr preferRelativeResize="0"/>
          <p:nvPr/>
        </p:nvPicPr>
        <p:blipFill rotWithShape="1">
          <a:blip r:embed="rId2">
            <a:alphaModFix/>
          </a:blip>
          <a:srcRect b="0" l="0" r="0" t="0"/>
          <a:stretch/>
        </p:blipFill>
        <p:spPr>
          <a:xfrm>
            <a:off x="1873072" y="2118212"/>
            <a:ext cx="5321658" cy="3510578"/>
          </a:xfrm>
          <a:prstGeom prst="rect">
            <a:avLst/>
          </a:prstGeom>
          <a:noFill/>
          <a:ln>
            <a:noFill/>
          </a:ln>
        </p:spPr>
      </p:pic>
      <p:sp>
        <p:nvSpPr>
          <p:cNvPr id="34" name="Google Shape;34;p43"/>
          <p:cNvSpPr txBox="1"/>
          <p:nvPr>
            <p:ph type="title"/>
          </p:nvPr>
        </p:nvSpPr>
        <p:spPr>
          <a:xfrm>
            <a:off x="180654" y="202990"/>
            <a:ext cx="7042200" cy="554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1"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43"/>
          <p:cNvSpPr txBox="1"/>
          <p:nvPr>
            <p:ph idx="1" type="body"/>
          </p:nvPr>
        </p:nvSpPr>
        <p:spPr>
          <a:xfrm>
            <a:off x="180654" y="1132413"/>
            <a:ext cx="4288500" cy="4806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6" name="Google Shape;36;p43"/>
          <p:cNvSpPr txBox="1"/>
          <p:nvPr>
            <p:ph idx="2" type="body"/>
          </p:nvPr>
        </p:nvSpPr>
        <p:spPr>
          <a:xfrm>
            <a:off x="180654" y="1613043"/>
            <a:ext cx="4288500" cy="47841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7" name="Google Shape;37;p43"/>
          <p:cNvSpPr txBox="1"/>
          <p:nvPr>
            <p:ph idx="3" type="body"/>
          </p:nvPr>
        </p:nvSpPr>
        <p:spPr>
          <a:xfrm>
            <a:off x="4645025" y="1125166"/>
            <a:ext cx="4242000" cy="4878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8" name="Google Shape;38;p43"/>
          <p:cNvSpPr txBox="1"/>
          <p:nvPr>
            <p:ph idx="4" type="body"/>
          </p:nvPr>
        </p:nvSpPr>
        <p:spPr>
          <a:xfrm>
            <a:off x="4645025" y="1613043"/>
            <a:ext cx="4242000" cy="47841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pic>
        <p:nvPicPr>
          <p:cNvPr id="39" name="Google Shape;39;p43"/>
          <p:cNvPicPr preferRelativeResize="0"/>
          <p:nvPr/>
        </p:nvPicPr>
        <p:blipFill rotWithShape="1">
          <a:blip r:embed="rId3">
            <a:alphaModFix/>
          </a:blip>
          <a:srcRect b="0" l="0" r="0" t="0"/>
          <a:stretch/>
        </p:blipFill>
        <p:spPr>
          <a:xfrm>
            <a:off x="8164285" y="-1480"/>
            <a:ext cx="979715" cy="961360"/>
          </a:xfrm>
          <a:prstGeom prst="rect">
            <a:avLst/>
          </a:prstGeom>
          <a:noFill/>
          <a:ln>
            <a:noFill/>
          </a:ln>
        </p:spPr>
      </p:pic>
      <p:cxnSp>
        <p:nvCxnSpPr>
          <p:cNvPr id="40" name="Google Shape;40;p43"/>
          <p:cNvCxnSpPr/>
          <p:nvPr/>
        </p:nvCxnSpPr>
        <p:spPr>
          <a:xfrm>
            <a:off x="0" y="990600"/>
            <a:ext cx="9144000" cy="0"/>
          </a:xfrm>
          <a:prstGeom prst="straightConnector1">
            <a:avLst/>
          </a:prstGeom>
          <a:noFill/>
          <a:ln cap="flat" cmpd="sng" w="50800">
            <a:solidFill>
              <a:srgbClr val="366092"/>
            </a:solidFill>
            <a:prstDash val="solid"/>
            <a:round/>
            <a:headEnd len="sm" w="sm" type="none"/>
            <a:tailEnd len="sm" w="sm" type="none"/>
          </a:ln>
        </p:spPr>
      </p:cxnSp>
      <p:cxnSp>
        <p:nvCxnSpPr>
          <p:cNvPr id="41" name="Google Shape;41;p43"/>
          <p:cNvCxnSpPr/>
          <p:nvPr/>
        </p:nvCxnSpPr>
        <p:spPr>
          <a:xfrm>
            <a:off x="0" y="6756400"/>
            <a:ext cx="9144000" cy="0"/>
          </a:xfrm>
          <a:prstGeom prst="straightConnector1">
            <a:avLst/>
          </a:prstGeom>
          <a:noFill/>
          <a:ln cap="flat" cmpd="sng" w="222250">
            <a:solidFill>
              <a:srgbClr val="366092"/>
            </a:solidFill>
            <a:prstDash val="solid"/>
            <a:round/>
            <a:headEnd len="sm" w="sm" type="none"/>
            <a:tailEnd len="sm" w="sm" type="none"/>
          </a:ln>
        </p:spPr>
      </p:cxnSp>
      <p:pic>
        <p:nvPicPr>
          <p:cNvPr id="42" name="Google Shape;42;p43"/>
          <p:cNvPicPr preferRelativeResize="0"/>
          <p:nvPr/>
        </p:nvPicPr>
        <p:blipFill rotWithShape="1">
          <a:blip r:embed="rId4">
            <a:alphaModFix/>
          </a:blip>
          <a:srcRect b="0" l="0" r="0" t="0"/>
          <a:stretch/>
        </p:blipFill>
        <p:spPr>
          <a:xfrm>
            <a:off x="7464197" y="6447291"/>
            <a:ext cx="1666875" cy="198437"/>
          </a:xfrm>
          <a:prstGeom prst="rect">
            <a:avLst/>
          </a:prstGeom>
          <a:noFill/>
          <a:ln>
            <a:noFill/>
          </a:ln>
        </p:spPr>
      </p:pic>
      <p:sp>
        <p:nvSpPr>
          <p:cNvPr id="43" name="Google Shape;43;p43"/>
          <p:cNvSpPr txBox="1"/>
          <p:nvPr/>
        </p:nvSpPr>
        <p:spPr>
          <a:xfrm>
            <a:off x="8382001" y="6607628"/>
            <a:ext cx="762000" cy="1989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1" i="0" lang="en-US" sz="1400" u="none" cap="none" strike="noStrike">
                <a:solidFill>
                  <a:schemeClr val="lt1"/>
                </a:solidFill>
                <a:latin typeface="Calibri"/>
                <a:ea typeface="Calibri"/>
                <a:cs typeface="Calibri"/>
                <a:sym typeface="Calibri"/>
              </a:rPr>
              <a:t>‹#›</a:t>
            </a:fld>
            <a:endParaRPr b="1" i="0" sz="14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4" name="Shape 44"/>
        <p:cNvGrpSpPr/>
        <p:nvPr/>
      </p:nvGrpSpPr>
      <p:grpSpPr>
        <a:xfrm>
          <a:off x="0" y="0"/>
          <a:ext cx="0" cy="0"/>
          <a:chOff x="0" y="0"/>
          <a:chExt cx="0" cy="0"/>
        </a:xfrm>
      </p:grpSpPr>
      <p:pic>
        <p:nvPicPr>
          <p:cNvPr id="45" name="Google Shape;45;p44"/>
          <p:cNvPicPr preferRelativeResize="0"/>
          <p:nvPr/>
        </p:nvPicPr>
        <p:blipFill rotWithShape="1">
          <a:blip r:embed="rId2">
            <a:alphaModFix/>
          </a:blip>
          <a:srcRect b="0" l="0" r="0" t="0"/>
          <a:stretch/>
        </p:blipFill>
        <p:spPr>
          <a:xfrm>
            <a:off x="1873072" y="2118212"/>
            <a:ext cx="5321658" cy="3510578"/>
          </a:xfrm>
          <a:prstGeom prst="rect">
            <a:avLst/>
          </a:prstGeom>
          <a:noFill/>
          <a:ln>
            <a:noFill/>
          </a:ln>
        </p:spPr>
      </p:pic>
      <p:pic>
        <p:nvPicPr>
          <p:cNvPr id="46" name="Google Shape;46;p44"/>
          <p:cNvPicPr preferRelativeResize="0"/>
          <p:nvPr/>
        </p:nvPicPr>
        <p:blipFill rotWithShape="1">
          <a:blip r:embed="rId3">
            <a:alphaModFix/>
          </a:blip>
          <a:srcRect b="0" l="0" r="0" t="0"/>
          <a:stretch/>
        </p:blipFill>
        <p:spPr>
          <a:xfrm>
            <a:off x="8164285" y="-1480"/>
            <a:ext cx="979715" cy="961360"/>
          </a:xfrm>
          <a:prstGeom prst="rect">
            <a:avLst/>
          </a:prstGeom>
          <a:noFill/>
          <a:ln>
            <a:noFill/>
          </a:ln>
        </p:spPr>
      </p:pic>
      <p:cxnSp>
        <p:nvCxnSpPr>
          <p:cNvPr id="47" name="Google Shape;47;p44"/>
          <p:cNvCxnSpPr/>
          <p:nvPr/>
        </p:nvCxnSpPr>
        <p:spPr>
          <a:xfrm>
            <a:off x="0" y="990600"/>
            <a:ext cx="9144000" cy="0"/>
          </a:xfrm>
          <a:prstGeom prst="straightConnector1">
            <a:avLst/>
          </a:prstGeom>
          <a:noFill/>
          <a:ln cap="flat" cmpd="sng" w="50800">
            <a:solidFill>
              <a:srgbClr val="366092"/>
            </a:solidFill>
            <a:prstDash val="solid"/>
            <a:round/>
            <a:headEnd len="sm" w="sm" type="none"/>
            <a:tailEnd len="sm" w="sm" type="none"/>
          </a:ln>
        </p:spPr>
      </p:cxnSp>
      <p:cxnSp>
        <p:nvCxnSpPr>
          <p:cNvPr id="48" name="Google Shape;48;p44"/>
          <p:cNvCxnSpPr/>
          <p:nvPr/>
        </p:nvCxnSpPr>
        <p:spPr>
          <a:xfrm>
            <a:off x="0" y="6756400"/>
            <a:ext cx="9144000" cy="0"/>
          </a:xfrm>
          <a:prstGeom prst="straightConnector1">
            <a:avLst/>
          </a:prstGeom>
          <a:noFill/>
          <a:ln cap="flat" cmpd="sng" w="222250">
            <a:solidFill>
              <a:srgbClr val="366092"/>
            </a:solidFill>
            <a:prstDash val="solid"/>
            <a:round/>
            <a:headEnd len="sm" w="sm" type="none"/>
            <a:tailEnd len="sm" w="sm" type="none"/>
          </a:ln>
        </p:spPr>
      </p:cxnSp>
      <p:pic>
        <p:nvPicPr>
          <p:cNvPr id="49" name="Google Shape;49;p44"/>
          <p:cNvPicPr preferRelativeResize="0"/>
          <p:nvPr/>
        </p:nvPicPr>
        <p:blipFill rotWithShape="1">
          <a:blip r:embed="rId4">
            <a:alphaModFix/>
          </a:blip>
          <a:srcRect b="0" l="0" r="0" t="0"/>
          <a:stretch/>
        </p:blipFill>
        <p:spPr>
          <a:xfrm>
            <a:off x="7464197" y="6447291"/>
            <a:ext cx="1666875" cy="198437"/>
          </a:xfrm>
          <a:prstGeom prst="rect">
            <a:avLst/>
          </a:prstGeom>
          <a:noFill/>
          <a:ln>
            <a:noFill/>
          </a:ln>
        </p:spPr>
      </p:pic>
      <p:sp>
        <p:nvSpPr>
          <p:cNvPr id="50" name="Google Shape;50;p44"/>
          <p:cNvSpPr txBox="1"/>
          <p:nvPr/>
        </p:nvSpPr>
        <p:spPr>
          <a:xfrm>
            <a:off x="8382001" y="6607628"/>
            <a:ext cx="762000" cy="1989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1" i="0" lang="en-US" sz="1400" u="none" cap="none" strike="noStrike">
                <a:solidFill>
                  <a:schemeClr val="lt1"/>
                </a:solidFill>
                <a:latin typeface="Calibri"/>
                <a:ea typeface="Calibri"/>
                <a:cs typeface="Calibri"/>
                <a:sym typeface="Calibri"/>
              </a:rPr>
              <a:t>‹#›</a:t>
            </a:fld>
            <a:endParaRPr b="1" i="0" sz="14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p:cSld name="Content Slide">
    <p:spTree>
      <p:nvGrpSpPr>
        <p:cNvPr id="57" name="Shape 57"/>
        <p:cNvGrpSpPr/>
        <p:nvPr/>
      </p:nvGrpSpPr>
      <p:grpSpPr>
        <a:xfrm>
          <a:off x="0" y="0"/>
          <a:ext cx="0" cy="0"/>
          <a:chOff x="0" y="0"/>
          <a:chExt cx="0" cy="0"/>
        </a:xfrm>
      </p:grpSpPr>
      <p:pic>
        <p:nvPicPr>
          <p:cNvPr id="58" name="Google Shape;58;p41"/>
          <p:cNvPicPr preferRelativeResize="0"/>
          <p:nvPr/>
        </p:nvPicPr>
        <p:blipFill rotWithShape="1">
          <a:blip r:embed="rId2">
            <a:alphaModFix/>
          </a:blip>
          <a:srcRect b="0" l="0" r="0" t="0"/>
          <a:stretch/>
        </p:blipFill>
        <p:spPr>
          <a:xfrm>
            <a:off x="8164286" y="-1480"/>
            <a:ext cx="979715" cy="961360"/>
          </a:xfrm>
          <a:prstGeom prst="rect">
            <a:avLst/>
          </a:prstGeom>
          <a:noFill/>
          <a:ln>
            <a:noFill/>
          </a:ln>
        </p:spPr>
      </p:pic>
      <p:cxnSp>
        <p:nvCxnSpPr>
          <p:cNvPr id="59" name="Google Shape;59;p41"/>
          <p:cNvCxnSpPr/>
          <p:nvPr/>
        </p:nvCxnSpPr>
        <p:spPr>
          <a:xfrm>
            <a:off x="0" y="990600"/>
            <a:ext cx="9144000" cy="0"/>
          </a:xfrm>
          <a:prstGeom prst="straightConnector1">
            <a:avLst/>
          </a:prstGeom>
          <a:noFill/>
          <a:ln cap="flat" cmpd="sng" w="50800">
            <a:solidFill>
              <a:srgbClr val="366092"/>
            </a:solidFill>
            <a:prstDash val="solid"/>
            <a:round/>
            <a:headEnd len="sm" w="sm" type="none"/>
            <a:tailEnd len="sm" w="sm" type="none"/>
          </a:ln>
        </p:spPr>
      </p:cxnSp>
      <p:cxnSp>
        <p:nvCxnSpPr>
          <p:cNvPr id="60" name="Google Shape;60;p41"/>
          <p:cNvCxnSpPr/>
          <p:nvPr/>
        </p:nvCxnSpPr>
        <p:spPr>
          <a:xfrm>
            <a:off x="0" y="6756400"/>
            <a:ext cx="9144000" cy="0"/>
          </a:xfrm>
          <a:prstGeom prst="straightConnector1">
            <a:avLst/>
          </a:prstGeom>
          <a:noFill/>
          <a:ln cap="flat" cmpd="sng" w="222250">
            <a:solidFill>
              <a:srgbClr val="366092"/>
            </a:solidFill>
            <a:prstDash val="solid"/>
            <a:round/>
            <a:headEnd len="sm" w="sm" type="none"/>
            <a:tailEnd len="sm" w="sm" type="none"/>
          </a:ln>
        </p:spPr>
      </p:cxnSp>
      <p:pic>
        <p:nvPicPr>
          <p:cNvPr id="61" name="Google Shape;61;p41"/>
          <p:cNvPicPr preferRelativeResize="0"/>
          <p:nvPr/>
        </p:nvPicPr>
        <p:blipFill rotWithShape="1">
          <a:blip r:embed="rId3">
            <a:alphaModFix/>
          </a:blip>
          <a:srcRect b="0" l="0" r="0" t="0"/>
          <a:stretch/>
        </p:blipFill>
        <p:spPr>
          <a:xfrm>
            <a:off x="7464197" y="6447292"/>
            <a:ext cx="1666875" cy="198437"/>
          </a:xfrm>
          <a:prstGeom prst="rect">
            <a:avLst/>
          </a:prstGeom>
          <a:noFill/>
          <a:ln>
            <a:noFill/>
          </a:ln>
        </p:spPr>
      </p:pic>
      <p:pic>
        <p:nvPicPr>
          <p:cNvPr id="62" name="Google Shape;62;p41"/>
          <p:cNvPicPr preferRelativeResize="0"/>
          <p:nvPr/>
        </p:nvPicPr>
        <p:blipFill rotWithShape="1">
          <a:blip r:embed="rId4">
            <a:alphaModFix/>
          </a:blip>
          <a:srcRect b="0" l="0" r="0" t="0"/>
          <a:stretch/>
        </p:blipFill>
        <p:spPr>
          <a:xfrm>
            <a:off x="1873073" y="2118212"/>
            <a:ext cx="5321658" cy="3510578"/>
          </a:xfrm>
          <a:prstGeom prst="rect">
            <a:avLst/>
          </a:prstGeom>
          <a:noFill/>
          <a:ln>
            <a:noFill/>
          </a:ln>
        </p:spPr>
      </p:pic>
      <p:sp>
        <p:nvSpPr>
          <p:cNvPr id="63" name="Google Shape;63;p41"/>
          <p:cNvSpPr txBox="1"/>
          <p:nvPr/>
        </p:nvSpPr>
        <p:spPr>
          <a:xfrm>
            <a:off x="8382001" y="6607628"/>
            <a:ext cx="762000" cy="1989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US" sz="1100" u="none" cap="none" strike="noStrike">
                <a:solidFill>
                  <a:schemeClr val="lt1"/>
                </a:solidFill>
                <a:latin typeface="Calibri"/>
                <a:ea typeface="Calibri"/>
                <a:cs typeface="Calibri"/>
                <a:sym typeface="Calibri"/>
              </a:rPr>
              <a:t>‹#›</a:t>
            </a:fld>
            <a:endParaRPr b="1" i="0" sz="1100" u="none" cap="none" strike="noStrike">
              <a:solidFill>
                <a:schemeClr val="lt1"/>
              </a:solidFill>
              <a:latin typeface="Calibri"/>
              <a:ea typeface="Calibri"/>
              <a:cs typeface="Calibri"/>
              <a:sym typeface="Calibri"/>
            </a:endParaRPr>
          </a:p>
        </p:txBody>
      </p:sp>
      <p:sp>
        <p:nvSpPr>
          <p:cNvPr id="64" name="Google Shape;64;p41"/>
          <p:cNvSpPr txBox="1"/>
          <p:nvPr>
            <p:ph type="title"/>
          </p:nvPr>
        </p:nvSpPr>
        <p:spPr>
          <a:xfrm>
            <a:off x="180654" y="202991"/>
            <a:ext cx="7042200" cy="5547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b="1" sz="2400">
                <a:latin typeface="Times New Roman"/>
                <a:ea typeface="Times New Roman"/>
                <a:cs typeface="Times New Roman"/>
                <a:sym typeface="Times New Roman"/>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65" name="Google Shape;65;p41"/>
          <p:cNvSpPr txBox="1"/>
          <p:nvPr>
            <p:ph idx="1" type="body"/>
          </p:nvPr>
        </p:nvSpPr>
        <p:spPr>
          <a:xfrm>
            <a:off x="180654" y="1173984"/>
            <a:ext cx="8768100" cy="5223300"/>
          </a:xfrm>
          <a:prstGeom prst="rect">
            <a:avLst/>
          </a:prstGeom>
          <a:noFill/>
          <a:ln>
            <a:noFill/>
          </a:ln>
        </p:spPr>
        <p:txBody>
          <a:bodyPr anchorCtr="0" anchor="t" bIns="34275" lIns="68575" spcFirstLastPara="1" rIns="68575" wrap="square" tIns="34275">
            <a:noAutofit/>
          </a:bodyPr>
          <a:lstStyle>
            <a:lvl1pPr indent="-323850" lvl="0" marL="457200" algn="l">
              <a:lnSpc>
                <a:spcPct val="100000"/>
              </a:lnSpc>
              <a:spcBef>
                <a:spcPts val="300"/>
              </a:spcBef>
              <a:spcAft>
                <a:spcPts val="0"/>
              </a:spcAft>
              <a:buClr>
                <a:schemeClr val="dk1"/>
              </a:buClr>
              <a:buSzPts val="1500"/>
              <a:buChar char="•"/>
              <a:defRPr sz="1500">
                <a:latin typeface="Times New Roman"/>
                <a:ea typeface="Times New Roman"/>
                <a:cs typeface="Times New Roman"/>
                <a:sym typeface="Times New Roman"/>
              </a:defRPr>
            </a:lvl1pPr>
            <a:lvl2pPr indent="-323850" lvl="1" marL="914400" algn="l">
              <a:lnSpc>
                <a:spcPct val="100000"/>
              </a:lnSpc>
              <a:spcBef>
                <a:spcPts val="300"/>
              </a:spcBef>
              <a:spcAft>
                <a:spcPts val="0"/>
              </a:spcAft>
              <a:buClr>
                <a:schemeClr val="dk1"/>
              </a:buClr>
              <a:buSzPts val="1500"/>
              <a:buChar char="–"/>
              <a:defRPr sz="1500">
                <a:latin typeface="Times New Roman"/>
                <a:ea typeface="Times New Roman"/>
                <a:cs typeface="Times New Roman"/>
                <a:sym typeface="Times New Roman"/>
              </a:defRPr>
            </a:lvl2pPr>
            <a:lvl3pPr indent="-317500" lvl="2" marL="1371600" algn="l">
              <a:lnSpc>
                <a:spcPct val="100000"/>
              </a:lnSpc>
              <a:spcBef>
                <a:spcPts val="300"/>
              </a:spcBef>
              <a:spcAft>
                <a:spcPts val="0"/>
              </a:spcAft>
              <a:buClr>
                <a:schemeClr val="dk1"/>
              </a:buClr>
              <a:buSzPts val="1400"/>
              <a:buChar char="•"/>
              <a:defRPr sz="1400">
                <a:latin typeface="Times New Roman"/>
                <a:ea typeface="Times New Roman"/>
                <a:cs typeface="Times New Roman"/>
                <a:sym typeface="Times New Roman"/>
              </a:defRPr>
            </a:lvl3pPr>
            <a:lvl4pPr indent="-304800" lvl="3" marL="1828800" algn="l">
              <a:lnSpc>
                <a:spcPct val="100000"/>
              </a:lnSpc>
              <a:spcBef>
                <a:spcPts val="200"/>
              </a:spcBef>
              <a:spcAft>
                <a:spcPts val="0"/>
              </a:spcAft>
              <a:buClr>
                <a:schemeClr val="dk1"/>
              </a:buClr>
              <a:buSzPts val="1200"/>
              <a:buChar char="–"/>
              <a:defRPr sz="1200">
                <a:latin typeface="Arial"/>
                <a:ea typeface="Arial"/>
                <a:cs typeface="Arial"/>
                <a:sym typeface="Arial"/>
              </a:defRPr>
            </a:lvl4pPr>
            <a:lvl5pPr indent="-304800" lvl="4" marL="2286000" algn="l">
              <a:lnSpc>
                <a:spcPct val="100000"/>
              </a:lnSpc>
              <a:spcBef>
                <a:spcPts val="200"/>
              </a:spcBef>
              <a:spcAft>
                <a:spcPts val="0"/>
              </a:spcAft>
              <a:buClr>
                <a:schemeClr val="dk1"/>
              </a:buClr>
              <a:buSzPts val="1200"/>
              <a:buChar char="»"/>
              <a:defRPr sz="1200">
                <a:latin typeface="Arial"/>
                <a:ea typeface="Arial"/>
                <a:cs typeface="Arial"/>
                <a:sym typeface="Arial"/>
              </a:defRPr>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6" name="Shape 66"/>
        <p:cNvGrpSpPr/>
        <p:nvPr/>
      </p:nvGrpSpPr>
      <p:grpSpPr>
        <a:xfrm>
          <a:off x="0" y="0"/>
          <a:ext cx="0" cy="0"/>
          <a:chOff x="0" y="0"/>
          <a:chExt cx="0" cy="0"/>
        </a:xfrm>
      </p:grpSpPr>
      <p:sp>
        <p:nvSpPr>
          <p:cNvPr id="67" name="Google Shape;67;p45"/>
          <p:cNvSpPr/>
          <p:nvPr/>
        </p:nvSpPr>
        <p:spPr>
          <a:xfrm>
            <a:off x="1" y="0"/>
            <a:ext cx="9152400" cy="736200"/>
          </a:xfrm>
          <a:prstGeom prst="rect">
            <a:avLst/>
          </a:prstGeom>
          <a:gradFill>
            <a:gsLst>
              <a:gs pos="0">
                <a:srgbClr val="166018"/>
              </a:gs>
              <a:gs pos="1000">
                <a:srgbClr val="166018"/>
              </a:gs>
              <a:gs pos="52000">
                <a:srgbClr val="00B0F0"/>
              </a:gs>
              <a:gs pos="100000">
                <a:srgbClr val="17365D"/>
              </a:gs>
            </a:gsLst>
            <a:path path="circle">
              <a:fillToRect l="100%" t="100%"/>
            </a:path>
            <a:tileRect b="-100%" r="-10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Franklin Gothic"/>
                <a:ea typeface="Franklin Gothic"/>
                <a:cs typeface="Franklin Gothic"/>
                <a:sym typeface="Franklin Gothic"/>
              </a:rPr>
              <a:t>INDIAN INSTITUTE OF TECHNOLOGY ROORKEE</a:t>
            </a:r>
            <a:endParaRPr b="0" i="0" sz="1100" u="none" cap="none" strike="noStrike">
              <a:solidFill>
                <a:srgbClr val="000000"/>
              </a:solidFill>
              <a:latin typeface="Arial"/>
              <a:ea typeface="Arial"/>
              <a:cs typeface="Arial"/>
              <a:sym typeface="Arial"/>
            </a:endParaRPr>
          </a:p>
        </p:txBody>
      </p:sp>
      <p:pic>
        <p:nvPicPr>
          <p:cNvPr id="68" name="Google Shape;68;p45"/>
          <p:cNvPicPr preferRelativeResize="0"/>
          <p:nvPr/>
        </p:nvPicPr>
        <p:blipFill rotWithShape="1">
          <a:blip r:embed="rId2">
            <a:alphaModFix/>
          </a:blip>
          <a:srcRect b="0" l="0" r="0" t="0"/>
          <a:stretch/>
        </p:blipFill>
        <p:spPr>
          <a:xfrm>
            <a:off x="8377895" y="-1281"/>
            <a:ext cx="755828" cy="732103"/>
          </a:xfrm>
          <a:prstGeom prst="rect">
            <a:avLst/>
          </a:prstGeom>
          <a:noFill/>
          <a:ln>
            <a:noFill/>
          </a:ln>
        </p:spPr>
      </p:pic>
      <p:pic>
        <p:nvPicPr>
          <p:cNvPr id="69" name="Google Shape;69;p45"/>
          <p:cNvPicPr preferRelativeResize="0"/>
          <p:nvPr/>
        </p:nvPicPr>
        <p:blipFill rotWithShape="1">
          <a:blip r:embed="rId3">
            <a:alphaModFix/>
          </a:blip>
          <a:srcRect b="0" l="0" r="0" t="0"/>
          <a:stretch/>
        </p:blipFill>
        <p:spPr>
          <a:xfrm>
            <a:off x="1" y="5006151"/>
            <a:ext cx="9133729" cy="185185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0" name="Shape 70"/>
        <p:cNvGrpSpPr/>
        <p:nvPr/>
      </p:nvGrpSpPr>
      <p:grpSpPr>
        <a:xfrm>
          <a:off x="0" y="0"/>
          <a:ext cx="0" cy="0"/>
          <a:chOff x="0" y="0"/>
          <a:chExt cx="0" cy="0"/>
        </a:xfrm>
      </p:grpSpPr>
      <p:pic>
        <p:nvPicPr>
          <p:cNvPr id="71" name="Google Shape;71;p46"/>
          <p:cNvPicPr preferRelativeResize="0"/>
          <p:nvPr/>
        </p:nvPicPr>
        <p:blipFill rotWithShape="1">
          <a:blip r:embed="rId2">
            <a:alphaModFix/>
          </a:blip>
          <a:srcRect b="0" l="0" r="0" t="0"/>
          <a:stretch/>
        </p:blipFill>
        <p:spPr>
          <a:xfrm>
            <a:off x="1873073" y="2118212"/>
            <a:ext cx="5321658" cy="3510578"/>
          </a:xfrm>
          <a:prstGeom prst="rect">
            <a:avLst/>
          </a:prstGeom>
          <a:noFill/>
          <a:ln>
            <a:noFill/>
          </a:ln>
        </p:spPr>
      </p:pic>
      <p:pic>
        <p:nvPicPr>
          <p:cNvPr id="72" name="Google Shape;72;p46"/>
          <p:cNvPicPr preferRelativeResize="0"/>
          <p:nvPr/>
        </p:nvPicPr>
        <p:blipFill rotWithShape="1">
          <a:blip r:embed="rId3">
            <a:alphaModFix/>
          </a:blip>
          <a:srcRect b="0" l="0" r="0" t="0"/>
          <a:stretch/>
        </p:blipFill>
        <p:spPr>
          <a:xfrm>
            <a:off x="8164286" y="-1480"/>
            <a:ext cx="979715" cy="961360"/>
          </a:xfrm>
          <a:prstGeom prst="rect">
            <a:avLst/>
          </a:prstGeom>
          <a:noFill/>
          <a:ln>
            <a:noFill/>
          </a:ln>
        </p:spPr>
      </p:pic>
      <p:cxnSp>
        <p:nvCxnSpPr>
          <p:cNvPr id="73" name="Google Shape;73;p46"/>
          <p:cNvCxnSpPr/>
          <p:nvPr/>
        </p:nvCxnSpPr>
        <p:spPr>
          <a:xfrm>
            <a:off x="0" y="990600"/>
            <a:ext cx="9144000" cy="0"/>
          </a:xfrm>
          <a:prstGeom prst="straightConnector1">
            <a:avLst/>
          </a:prstGeom>
          <a:noFill/>
          <a:ln cap="flat" cmpd="sng" w="50800">
            <a:solidFill>
              <a:srgbClr val="366092"/>
            </a:solidFill>
            <a:prstDash val="solid"/>
            <a:round/>
            <a:headEnd len="sm" w="sm" type="none"/>
            <a:tailEnd len="sm" w="sm" type="none"/>
          </a:ln>
        </p:spPr>
      </p:cxnSp>
      <p:cxnSp>
        <p:nvCxnSpPr>
          <p:cNvPr id="74" name="Google Shape;74;p46"/>
          <p:cNvCxnSpPr/>
          <p:nvPr/>
        </p:nvCxnSpPr>
        <p:spPr>
          <a:xfrm>
            <a:off x="0" y="6756400"/>
            <a:ext cx="9144000" cy="0"/>
          </a:xfrm>
          <a:prstGeom prst="straightConnector1">
            <a:avLst/>
          </a:prstGeom>
          <a:noFill/>
          <a:ln cap="flat" cmpd="sng" w="222250">
            <a:solidFill>
              <a:srgbClr val="366092"/>
            </a:solidFill>
            <a:prstDash val="solid"/>
            <a:round/>
            <a:headEnd len="sm" w="sm" type="none"/>
            <a:tailEnd len="sm" w="sm" type="none"/>
          </a:ln>
        </p:spPr>
      </p:cxnSp>
      <p:pic>
        <p:nvPicPr>
          <p:cNvPr id="75" name="Google Shape;75;p46"/>
          <p:cNvPicPr preferRelativeResize="0"/>
          <p:nvPr/>
        </p:nvPicPr>
        <p:blipFill rotWithShape="1">
          <a:blip r:embed="rId4">
            <a:alphaModFix/>
          </a:blip>
          <a:srcRect b="0" l="0" r="0" t="0"/>
          <a:stretch/>
        </p:blipFill>
        <p:spPr>
          <a:xfrm>
            <a:off x="7464197" y="6447292"/>
            <a:ext cx="1666875" cy="198437"/>
          </a:xfrm>
          <a:prstGeom prst="rect">
            <a:avLst/>
          </a:prstGeom>
          <a:noFill/>
          <a:ln>
            <a:noFill/>
          </a:ln>
        </p:spPr>
      </p:pic>
      <p:sp>
        <p:nvSpPr>
          <p:cNvPr id="76" name="Google Shape;76;p46"/>
          <p:cNvSpPr txBox="1"/>
          <p:nvPr/>
        </p:nvSpPr>
        <p:spPr>
          <a:xfrm>
            <a:off x="8382001" y="6607628"/>
            <a:ext cx="762000" cy="1989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US" sz="1100" u="none" cap="none" strike="noStrike">
                <a:solidFill>
                  <a:schemeClr val="lt1"/>
                </a:solidFill>
                <a:latin typeface="Calibri"/>
                <a:ea typeface="Calibri"/>
                <a:cs typeface="Calibri"/>
                <a:sym typeface="Calibri"/>
              </a:rPr>
              <a:t>‹#›</a:t>
            </a:fld>
            <a:endParaRPr b="1" i="0" sz="11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lide" type="twoTxTwoObj">
  <p:cSld name="TWO_OBJECTS_WITH_TEXT">
    <p:spTree>
      <p:nvGrpSpPr>
        <p:cNvPr id="77" name="Shape 77"/>
        <p:cNvGrpSpPr/>
        <p:nvPr/>
      </p:nvGrpSpPr>
      <p:grpSpPr>
        <a:xfrm>
          <a:off x="0" y="0"/>
          <a:ext cx="0" cy="0"/>
          <a:chOff x="0" y="0"/>
          <a:chExt cx="0" cy="0"/>
        </a:xfrm>
      </p:grpSpPr>
      <p:pic>
        <p:nvPicPr>
          <p:cNvPr id="78" name="Google Shape;78;p47"/>
          <p:cNvPicPr preferRelativeResize="0"/>
          <p:nvPr/>
        </p:nvPicPr>
        <p:blipFill rotWithShape="1">
          <a:blip r:embed="rId2">
            <a:alphaModFix/>
          </a:blip>
          <a:srcRect b="0" l="0" r="0" t="0"/>
          <a:stretch/>
        </p:blipFill>
        <p:spPr>
          <a:xfrm>
            <a:off x="1873073" y="2118212"/>
            <a:ext cx="5321658" cy="3510578"/>
          </a:xfrm>
          <a:prstGeom prst="rect">
            <a:avLst/>
          </a:prstGeom>
          <a:noFill/>
          <a:ln>
            <a:noFill/>
          </a:ln>
        </p:spPr>
      </p:pic>
      <p:sp>
        <p:nvSpPr>
          <p:cNvPr id="79" name="Google Shape;79;p47"/>
          <p:cNvSpPr txBox="1"/>
          <p:nvPr>
            <p:ph type="title"/>
          </p:nvPr>
        </p:nvSpPr>
        <p:spPr>
          <a:xfrm>
            <a:off x="180654" y="202991"/>
            <a:ext cx="7042200" cy="5547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b="1" sz="2400"/>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80" name="Google Shape;80;p47"/>
          <p:cNvSpPr txBox="1"/>
          <p:nvPr>
            <p:ph idx="1" type="body"/>
          </p:nvPr>
        </p:nvSpPr>
        <p:spPr>
          <a:xfrm>
            <a:off x="180654" y="1132413"/>
            <a:ext cx="4288500" cy="4806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81" name="Google Shape;81;p47"/>
          <p:cNvSpPr txBox="1"/>
          <p:nvPr>
            <p:ph idx="2" type="body"/>
          </p:nvPr>
        </p:nvSpPr>
        <p:spPr>
          <a:xfrm>
            <a:off x="180654" y="1613044"/>
            <a:ext cx="4288500" cy="4784100"/>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82" name="Google Shape;82;p47"/>
          <p:cNvSpPr txBox="1"/>
          <p:nvPr>
            <p:ph idx="3" type="body"/>
          </p:nvPr>
        </p:nvSpPr>
        <p:spPr>
          <a:xfrm>
            <a:off x="4645026" y="1125167"/>
            <a:ext cx="4242000" cy="4878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83" name="Google Shape;83;p47"/>
          <p:cNvSpPr txBox="1"/>
          <p:nvPr>
            <p:ph idx="4" type="body"/>
          </p:nvPr>
        </p:nvSpPr>
        <p:spPr>
          <a:xfrm>
            <a:off x="4645026" y="1613044"/>
            <a:ext cx="4242000" cy="4784100"/>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pic>
        <p:nvPicPr>
          <p:cNvPr id="84" name="Google Shape;84;p47"/>
          <p:cNvPicPr preferRelativeResize="0"/>
          <p:nvPr/>
        </p:nvPicPr>
        <p:blipFill rotWithShape="1">
          <a:blip r:embed="rId3">
            <a:alphaModFix/>
          </a:blip>
          <a:srcRect b="0" l="0" r="0" t="0"/>
          <a:stretch/>
        </p:blipFill>
        <p:spPr>
          <a:xfrm>
            <a:off x="8164286" y="-1480"/>
            <a:ext cx="979715" cy="961360"/>
          </a:xfrm>
          <a:prstGeom prst="rect">
            <a:avLst/>
          </a:prstGeom>
          <a:noFill/>
          <a:ln>
            <a:noFill/>
          </a:ln>
        </p:spPr>
      </p:pic>
      <p:cxnSp>
        <p:nvCxnSpPr>
          <p:cNvPr id="85" name="Google Shape;85;p47"/>
          <p:cNvCxnSpPr/>
          <p:nvPr/>
        </p:nvCxnSpPr>
        <p:spPr>
          <a:xfrm>
            <a:off x="0" y="990600"/>
            <a:ext cx="9144000" cy="0"/>
          </a:xfrm>
          <a:prstGeom prst="straightConnector1">
            <a:avLst/>
          </a:prstGeom>
          <a:noFill/>
          <a:ln cap="flat" cmpd="sng" w="50800">
            <a:solidFill>
              <a:srgbClr val="366092"/>
            </a:solidFill>
            <a:prstDash val="solid"/>
            <a:round/>
            <a:headEnd len="sm" w="sm" type="none"/>
            <a:tailEnd len="sm" w="sm" type="none"/>
          </a:ln>
        </p:spPr>
      </p:cxnSp>
      <p:cxnSp>
        <p:nvCxnSpPr>
          <p:cNvPr id="86" name="Google Shape;86;p47"/>
          <p:cNvCxnSpPr/>
          <p:nvPr/>
        </p:nvCxnSpPr>
        <p:spPr>
          <a:xfrm>
            <a:off x="0" y="6756400"/>
            <a:ext cx="9144000" cy="0"/>
          </a:xfrm>
          <a:prstGeom prst="straightConnector1">
            <a:avLst/>
          </a:prstGeom>
          <a:noFill/>
          <a:ln cap="flat" cmpd="sng" w="222250">
            <a:solidFill>
              <a:srgbClr val="366092"/>
            </a:solidFill>
            <a:prstDash val="solid"/>
            <a:round/>
            <a:headEnd len="sm" w="sm" type="none"/>
            <a:tailEnd len="sm" w="sm" type="none"/>
          </a:ln>
        </p:spPr>
      </p:cxnSp>
      <p:pic>
        <p:nvPicPr>
          <p:cNvPr id="87" name="Google Shape;87;p47"/>
          <p:cNvPicPr preferRelativeResize="0"/>
          <p:nvPr/>
        </p:nvPicPr>
        <p:blipFill rotWithShape="1">
          <a:blip r:embed="rId4">
            <a:alphaModFix/>
          </a:blip>
          <a:srcRect b="0" l="0" r="0" t="0"/>
          <a:stretch/>
        </p:blipFill>
        <p:spPr>
          <a:xfrm>
            <a:off x="7464197" y="6447292"/>
            <a:ext cx="1666875" cy="198437"/>
          </a:xfrm>
          <a:prstGeom prst="rect">
            <a:avLst/>
          </a:prstGeom>
          <a:noFill/>
          <a:ln>
            <a:noFill/>
          </a:ln>
        </p:spPr>
      </p:pic>
      <p:sp>
        <p:nvSpPr>
          <p:cNvPr id="88" name="Google Shape;88;p47"/>
          <p:cNvSpPr txBox="1"/>
          <p:nvPr/>
        </p:nvSpPr>
        <p:spPr>
          <a:xfrm>
            <a:off x="8382001" y="6607628"/>
            <a:ext cx="762000" cy="1989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US" sz="1100" u="none" cap="none" strike="noStrike">
                <a:solidFill>
                  <a:schemeClr val="lt1"/>
                </a:solidFill>
                <a:latin typeface="Calibri"/>
                <a:ea typeface="Calibri"/>
                <a:cs typeface="Calibri"/>
                <a:sym typeface="Calibri"/>
              </a:rPr>
              <a:t>‹#›</a:t>
            </a:fld>
            <a:endParaRPr b="1" i="0" sz="11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st Slide">
  <p:cSld name="Last Slide">
    <p:spTree>
      <p:nvGrpSpPr>
        <p:cNvPr id="89" name="Shape 89"/>
        <p:cNvGrpSpPr/>
        <p:nvPr/>
      </p:nvGrpSpPr>
      <p:grpSpPr>
        <a:xfrm>
          <a:off x="0" y="0"/>
          <a:ext cx="0" cy="0"/>
          <a:chOff x="0" y="0"/>
          <a:chExt cx="0" cy="0"/>
        </a:xfrm>
      </p:grpSpPr>
      <p:sp>
        <p:nvSpPr>
          <p:cNvPr id="90" name="Google Shape;90;p48"/>
          <p:cNvSpPr txBox="1"/>
          <p:nvPr/>
        </p:nvSpPr>
        <p:spPr>
          <a:xfrm>
            <a:off x="8382001" y="6607628"/>
            <a:ext cx="762000" cy="1989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US" sz="1100" u="none" cap="none" strike="noStrike">
                <a:solidFill>
                  <a:schemeClr val="lt1"/>
                </a:solidFill>
                <a:latin typeface="Calibri"/>
                <a:ea typeface="Calibri"/>
                <a:cs typeface="Calibri"/>
                <a:sym typeface="Calibri"/>
              </a:rPr>
              <a:t>‹#›</a:t>
            </a:fld>
            <a:endParaRPr b="1" i="0" sz="1100" u="none" cap="none" strike="noStrike">
              <a:solidFill>
                <a:schemeClr val="lt1"/>
              </a:solidFill>
              <a:latin typeface="Calibri"/>
              <a:ea typeface="Calibri"/>
              <a:cs typeface="Calibri"/>
              <a:sym typeface="Calibri"/>
            </a:endParaRPr>
          </a:p>
        </p:txBody>
      </p:sp>
      <p:sp>
        <p:nvSpPr>
          <p:cNvPr id="91" name="Google Shape;91;p48"/>
          <p:cNvSpPr txBox="1"/>
          <p:nvPr>
            <p:ph type="title"/>
          </p:nvPr>
        </p:nvSpPr>
        <p:spPr>
          <a:xfrm>
            <a:off x="3363914" y="2971801"/>
            <a:ext cx="2452800" cy="7113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b="1" sz="2700" cap="none"/>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cxnSp>
        <p:nvCxnSpPr>
          <p:cNvPr id="92" name="Google Shape;92;p48"/>
          <p:cNvCxnSpPr/>
          <p:nvPr/>
        </p:nvCxnSpPr>
        <p:spPr>
          <a:xfrm>
            <a:off x="3595525" y="3619535"/>
            <a:ext cx="2009700" cy="0"/>
          </a:xfrm>
          <a:prstGeom prst="straightConnector1">
            <a:avLst/>
          </a:prstGeom>
          <a:noFill/>
          <a:ln cap="flat" cmpd="sng" w="50800">
            <a:solidFill>
              <a:srgbClr val="366092"/>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3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sp>
        <p:nvSpPr>
          <p:cNvPr id="52" name="Google Shape;52;p40"/>
          <p:cNvSpPr txBox="1"/>
          <p:nvPr>
            <p:ph type="title"/>
          </p:nvPr>
        </p:nvSpPr>
        <p:spPr>
          <a:xfrm>
            <a:off x="457200" y="274637"/>
            <a:ext cx="8229600" cy="11430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9pPr>
          </a:lstStyle>
          <a:p/>
        </p:txBody>
      </p:sp>
      <p:sp>
        <p:nvSpPr>
          <p:cNvPr id="53" name="Google Shape;53;p40"/>
          <p:cNvSpPr txBox="1"/>
          <p:nvPr>
            <p:ph idx="1" type="body"/>
          </p:nvPr>
        </p:nvSpPr>
        <p:spPr>
          <a:xfrm>
            <a:off x="457200" y="1600201"/>
            <a:ext cx="8229600" cy="4526100"/>
          </a:xfrm>
          <a:prstGeom prst="rect">
            <a:avLst/>
          </a:prstGeom>
          <a:noFill/>
          <a:ln>
            <a:noFill/>
          </a:ln>
        </p:spPr>
        <p:txBody>
          <a:bodyPr anchorCtr="0" anchor="t" bIns="34275" lIns="68575" spcFirstLastPara="1" rIns="68575" wrap="square" tIns="34275">
            <a:no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4" name="Google Shape;54;p40"/>
          <p:cNvSpPr txBox="1"/>
          <p:nvPr>
            <p:ph idx="10" type="dt"/>
          </p:nvPr>
        </p:nvSpPr>
        <p:spPr>
          <a:xfrm>
            <a:off x="457200" y="6356351"/>
            <a:ext cx="2133600" cy="3651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5" name="Google Shape;55;p40"/>
          <p:cNvSpPr txBox="1"/>
          <p:nvPr>
            <p:ph idx="11" type="ftr"/>
          </p:nvPr>
        </p:nvSpPr>
        <p:spPr>
          <a:xfrm>
            <a:off x="3124200" y="6356351"/>
            <a:ext cx="2895600" cy="365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6" name="Google Shape;56;p40"/>
          <p:cNvSpPr txBox="1"/>
          <p:nvPr>
            <p:ph idx="12" type="sldNum"/>
          </p:nvPr>
        </p:nvSpPr>
        <p:spPr>
          <a:xfrm>
            <a:off x="6553200" y="6356351"/>
            <a:ext cx="2133600" cy="3651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txBox="1"/>
          <p:nvPr>
            <p:ph idx="4294967295" type="title"/>
          </p:nvPr>
        </p:nvSpPr>
        <p:spPr>
          <a:xfrm>
            <a:off x="1069520" y="1111751"/>
            <a:ext cx="7247100" cy="499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2800"/>
              <a:t>MIN-629: COURSE PROJECT</a:t>
            </a:r>
            <a:endParaRPr b="1" i="0" sz="2800" u="none" cap="none" strike="noStrike">
              <a:solidFill>
                <a:schemeClr val="dk1"/>
              </a:solidFill>
              <a:latin typeface="Calibri"/>
              <a:ea typeface="Calibri"/>
              <a:cs typeface="Calibri"/>
              <a:sym typeface="Calibri"/>
            </a:endParaRPr>
          </a:p>
        </p:txBody>
      </p:sp>
      <p:sp>
        <p:nvSpPr>
          <p:cNvPr id="98" name="Google Shape;98;p1"/>
          <p:cNvSpPr txBox="1"/>
          <p:nvPr>
            <p:ph idx="4294967295" type="body"/>
          </p:nvPr>
        </p:nvSpPr>
        <p:spPr>
          <a:xfrm>
            <a:off x="1069525" y="2733161"/>
            <a:ext cx="7247100" cy="191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lang="en-US" sz="1800"/>
              <a:t>Submitted By:-</a:t>
            </a:r>
            <a:r>
              <a:rPr lang="en-US" sz="1800"/>
              <a:t>                                                                   </a:t>
            </a:r>
            <a:r>
              <a:rPr b="1" lang="en-US" sz="1800"/>
              <a:t>Under the guidance of-</a:t>
            </a:r>
            <a:endParaRPr b="1" sz="1800"/>
          </a:p>
          <a:p>
            <a:pPr indent="0" lvl="0" marL="0" marR="0" rtl="0" algn="l">
              <a:lnSpc>
                <a:spcPct val="100000"/>
              </a:lnSpc>
              <a:spcBef>
                <a:spcPts val="0"/>
              </a:spcBef>
              <a:spcAft>
                <a:spcPts val="0"/>
              </a:spcAft>
              <a:buClr>
                <a:schemeClr val="dk1"/>
              </a:buClr>
              <a:buSzPts val="1800"/>
              <a:buFont typeface="Arial"/>
              <a:buNone/>
            </a:pPr>
            <a:r>
              <a:rPr lang="en-US" sz="1800"/>
              <a:t>Arjav Jain(19117017)                                                         Prof. Varun Sharma</a:t>
            </a:r>
            <a:endParaRPr sz="1800"/>
          </a:p>
          <a:p>
            <a:pPr indent="0" lvl="0" marL="0" marR="0" rtl="0" algn="l">
              <a:lnSpc>
                <a:spcPct val="100000"/>
              </a:lnSpc>
              <a:spcBef>
                <a:spcPts val="0"/>
              </a:spcBef>
              <a:spcAft>
                <a:spcPts val="0"/>
              </a:spcAft>
              <a:buClr>
                <a:schemeClr val="dk1"/>
              </a:buClr>
              <a:buSzPts val="1800"/>
              <a:buFont typeface="Arial"/>
              <a:buNone/>
            </a:pPr>
            <a:r>
              <a:rPr lang="en-US" sz="1800"/>
              <a:t>Rohit Bade(19117027)</a:t>
            </a:r>
            <a:endParaRPr sz="1800"/>
          </a:p>
          <a:p>
            <a:pPr indent="0" lvl="0" marL="0" marR="0" rtl="0" algn="l">
              <a:lnSpc>
                <a:spcPct val="100000"/>
              </a:lnSpc>
              <a:spcBef>
                <a:spcPts val="0"/>
              </a:spcBef>
              <a:spcAft>
                <a:spcPts val="0"/>
              </a:spcAft>
              <a:buClr>
                <a:schemeClr val="dk1"/>
              </a:buClr>
              <a:buSzPts val="1800"/>
              <a:buFont typeface="Arial"/>
              <a:buNone/>
            </a:pPr>
            <a:r>
              <a:rPr lang="en-US" sz="1800"/>
              <a:t>Ruthik K. Jadhav(19119030)</a:t>
            </a:r>
            <a:endParaRPr sz="1800"/>
          </a:p>
          <a:p>
            <a:pPr indent="0" lvl="0" marL="0" marR="0" rtl="0" algn="l">
              <a:lnSpc>
                <a:spcPct val="100000"/>
              </a:lnSpc>
              <a:spcBef>
                <a:spcPts val="0"/>
              </a:spcBef>
              <a:spcAft>
                <a:spcPts val="0"/>
              </a:spcAft>
              <a:buClr>
                <a:schemeClr val="dk1"/>
              </a:buClr>
              <a:buSzPts val="1800"/>
              <a:buFont typeface="Arial"/>
              <a:buNone/>
            </a:pPr>
            <a:r>
              <a:rPr lang="en-US" sz="1800"/>
              <a:t>Shreyam Bansal(19119038)</a:t>
            </a:r>
            <a:endParaRPr sz="1800"/>
          </a:p>
          <a:p>
            <a:pPr indent="0" lvl="0" marL="0" marR="0" rtl="0" algn="l">
              <a:lnSpc>
                <a:spcPct val="100000"/>
              </a:lnSpc>
              <a:spcBef>
                <a:spcPts val="0"/>
              </a:spcBef>
              <a:spcAft>
                <a:spcPts val="0"/>
              </a:spcAft>
              <a:buClr>
                <a:schemeClr val="dk1"/>
              </a:buClr>
              <a:buSzPts val="1800"/>
              <a:buFont typeface="Arial"/>
              <a:buNone/>
            </a:pPr>
            <a:r>
              <a:rPr lang="en-US" sz="1800"/>
              <a:t>Vaibhav Saini(19119046)</a:t>
            </a:r>
            <a:endParaRPr sz="1800"/>
          </a:p>
        </p:txBody>
      </p:sp>
      <p:sp>
        <p:nvSpPr>
          <p:cNvPr id="99" name="Google Shape;99;p1"/>
          <p:cNvSpPr txBox="1"/>
          <p:nvPr>
            <p:ph idx="4294967295" type="body"/>
          </p:nvPr>
        </p:nvSpPr>
        <p:spPr>
          <a:xfrm>
            <a:off x="1069520" y="1611087"/>
            <a:ext cx="7247100" cy="423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99"/>
              </a:buClr>
              <a:buSzPts val="2000"/>
              <a:buFont typeface="Arial"/>
              <a:buNone/>
            </a:pPr>
            <a:r>
              <a:rPr b="1" lang="en-US" sz="2000">
                <a:solidFill>
                  <a:srgbClr val="000099"/>
                </a:solidFill>
              </a:rPr>
              <a:t>Rapid Tooling of Cast Magnesium Wheels for FSAE</a:t>
            </a:r>
            <a:endParaRPr b="1" sz="2000" u="none" cap="none" strike="noStrike">
              <a:solidFill>
                <a:srgbClr val="00009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9"/>
          <p:cNvSpPr txBox="1"/>
          <p:nvPr>
            <p:ph type="title"/>
          </p:nvPr>
        </p:nvSpPr>
        <p:spPr>
          <a:xfrm>
            <a:off x="180654" y="202990"/>
            <a:ext cx="7042200" cy="554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Introduction</a:t>
            </a:r>
            <a:endParaRPr/>
          </a:p>
        </p:txBody>
      </p:sp>
      <p:sp>
        <p:nvSpPr>
          <p:cNvPr id="106" name="Google Shape;106;p9"/>
          <p:cNvSpPr txBox="1"/>
          <p:nvPr>
            <p:ph idx="1" type="body"/>
          </p:nvPr>
        </p:nvSpPr>
        <p:spPr>
          <a:xfrm>
            <a:off x="180653" y="1173984"/>
            <a:ext cx="8768100" cy="5223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480"/>
              </a:spcBef>
              <a:spcAft>
                <a:spcPts val="0"/>
              </a:spcAft>
              <a:buSzPts val="1400"/>
              <a:buChar char="•"/>
            </a:pPr>
            <a:r>
              <a:rPr lang="en-US" sz="1400"/>
              <a:t>IIT Roorkee Motorsports</a:t>
            </a:r>
            <a:r>
              <a:rPr lang="en-US" sz="1400"/>
              <a:t> Formula SAE team</a:t>
            </a:r>
            <a:br>
              <a:rPr lang="en-US" sz="1400"/>
            </a:br>
            <a:endParaRPr sz="1400"/>
          </a:p>
          <a:p>
            <a:pPr indent="-317500" lvl="0" marL="457200" rtl="0" algn="l">
              <a:lnSpc>
                <a:spcPct val="100000"/>
              </a:lnSpc>
              <a:spcBef>
                <a:spcPts val="0"/>
              </a:spcBef>
              <a:spcAft>
                <a:spcPts val="0"/>
              </a:spcAft>
              <a:buSzPts val="1400"/>
              <a:buChar char="•"/>
            </a:pPr>
            <a:r>
              <a:rPr lang="en-US" sz="1400"/>
              <a:t>Reduce the unsprung rotating mass &amp; inertia</a:t>
            </a:r>
            <a:br>
              <a:rPr lang="en-US" sz="1400"/>
            </a:br>
            <a:endParaRPr sz="1400"/>
          </a:p>
          <a:p>
            <a:pPr indent="-317500" lvl="0" marL="457200" rtl="0" algn="l">
              <a:lnSpc>
                <a:spcPct val="100000"/>
              </a:lnSpc>
              <a:spcBef>
                <a:spcPts val="0"/>
              </a:spcBef>
              <a:spcAft>
                <a:spcPts val="0"/>
              </a:spcAft>
              <a:buSzPts val="1400"/>
              <a:buChar char="•"/>
            </a:pPr>
            <a:r>
              <a:rPr lang="en-US" sz="1400"/>
              <a:t>The wheels were designed with the aid of 3D modeling software and finite element analysis, and cast out of magnesium using a sand-casting process. The tooling was made using rapid prototyping</a:t>
            </a:r>
            <a:br>
              <a:rPr lang="en-US" sz="1400"/>
            </a:br>
            <a:endParaRPr sz="1400"/>
          </a:p>
          <a:p>
            <a:pPr indent="-317500" lvl="0" marL="457200" rtl="0" algn="l">
              <a:lnSpc>
                <a:spcPct val="100000"/>
              </a:lnSpc>
              <a:spcBef>
                <a:spcPts val="0"/>
              </a:spcBef>
              <a:spcAft>
                <a:spcPts val="0"/>
              </a:spcAft>
              <a:buSzPts val="1400"/>
              <a:buChar char="•"/>
            </a:pPr>
            <a:r>
              <a:rPr lang="en-US" sz="1400"/>
              <a:t>The wheels currently used on the IITRMS FSAE car are a </a:t>
            </a:r>
            <a:r>
              <a:rPr b="1" lang="en-US" sz="1400"/>
              <a:t>13 inch diameter, three piece aluminum design</a:t>
            </a:r>
            <a:r>
              <a:rPr lang="en-US" sz="1400"/>
              <a:t> consisting of a machined aluminum center and spun aluminum shells. The three sections are bolted together using twelve 3/16 inch bolts and cost roughly $120 2 a piece. The primary problem with these wheels is their weight</a:t>
            </a:r>
            <a:br>
              <a:rPr lang="en-US" sz="1400"/>
            </a:br>
            <a:endParaRPr sz="1400"/>
          </a:p>
          <a:p>
            <a:pPr indent="-317500" lvl="0" marL="457200" rtl="0" algn="l">
              <a:lnSpc>
                <a:spcPct val="100000"/>
              </a:lnSpc>
              <a:spcBef>
                <a:spcPts val="0"/>
              </a:spcBef>
              <a:spcAft>
                <a:spcPts val="0"/>
              </a:spcAft>
              <a:buSzPts val="1400"/>
              <a:buChar char="•"/>
            </a:pPr>
            <a:r>
              <a:rPr lang="en-US" sz="1400"/>
              <a:t>Many motorsports use magnesium for its </a:t>
            </a:r>
            <a:r>
              <a:rPr b="1" lang="en-US" sz="1400"/>
              <a:t>high specific stiffness and low weight</a:t>
            </a:r>
            <a:r>
              <a:rPr lang="en-US" sz="1400"/>
              <a:t>. Currently it is used to make Formula One wheels, Moto GP wheels. Other benefits of magnesium are its </a:t>
            </a:r>
            <a:r>
              <a:rPr b="1" lang="en-US" sz="1400"/>
              <a:t>cost and versatility</a:t>
            </a:r>
            <a:r>
              <a:rPr lang="en-US" sz="1400"/>
              <a:t>. Of the primary light alloy metals magnesium is </a:t>
            </a:r>
            <a:r>
              <a:rPr b="1" lang="en-US" sz="1400"/>
              <a:t>one of the cheapest</a:t>
            </a:r>
            <a:r>
              <a:rPr lang="en-US" sz="1400"/>
              <a:t>, and currently costs less to cast than aluminum</a:t>
            </a:r>
            <a:br>
              <a:rPr lang="en-US" sz="1400"/>
            </a:br>
            <a:endParaRPr sz="1400"/>
          </a:p>
          <a:p>
            <a:pPr indent="-317500" lvl="0" marL="457200" rtl="0" algn="l">
              <a:lnSpc>
                <a:spcPct val="100000"/>
              </a:lnSpc>
              <a:spcBef>
                <a:spcPts val="0"/>
              </a:spcBef>
              <a:spcAft>
                <a:spcPts val="0"/>
              </a:spcAft>
              <a:buSzPts val="1400"/>
              <a:buChar char="•"/>
            </a:pPr>
            <a:r>
              <a:rPr lang="en-US" sz="1400"/>
              <a:t>It is also </a:t>
            </a:r>
            <a:r>
              <a:rPr b="1" lang="en-US" sz="1400"/>
              <a:t>applicable to many manufacturing processes</a:t>
            </a:r>
            <a:r>
              <a:rPr lang="en-US" sz="1400"/>
              <a:t>. Unlike other metals, magnesium can be cast, machined, laser cut and welded. This makes it very appealing to any situation where several machining processes are required.</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0"/>
          <p:cNvSpPr txBox="1"/>
          <p:nvPr>
            <p:ph type="title"/>
          </p:nvPr>
        </p:nvSpPr>
        <p:spPr>
          <a:xfrm>
            <a:off x="180654" y="202990"/>
            <a:ext cx="7042200" cy="554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Concept Generation</a:t>
            </a:r>
            <a:endParaRPr/>
          </a:p>
        </p:txBody>
      </p:sp>
      <p:sp>
        <p:nvSpPr>
          <p:cNvPr id="113" name="Google Shape;113;p10"/>
          <p:cNvSpPr txBox="1"/>
          <p:nvPr>
            <p:ph idx="1" type="body"/>
          </p:nvPr>
        </p:nvSpPr>
        <p:spPr>
          <a:xfrm>
            <a:off x="180652" y="1173975"/>
            <a:ext cx="4087800" cy="5223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480"/>
              </a:spcBef>
              <a:spcAft>
                <a:spcPts val="0"/>
              </a:spcAft>
              <a:buSzPts val="1400"/>
              <a:buChar char="•"/>
            </a:pPr>
            <a:r>
              <a:rPr lang="en-US" sz="1400"/>
              <a:t>We benchmarked the Kodiak wheels currently used on the car using FEA software</a:t>
            </a:r>
            <a:br>
              <a:rPr lang="en-US" sz="1400"/>
            </a:br>
            <a:endParaRPr sz="1400"/>
          </a:p>
          <a:p>
            <a:pPr indent="-317500" lvl="0" marL="457200" rtl="0" algn="l">
              <a:lnSpc>
                <a:spcPct val="100000"/>
              </a:lnSpc>
              <a:spcBef>
                <a:spcPts val="0"/>
              </a:spcBef>
              <a:spcAft>
                <a:spcPts val="0"/>
              </a:spcAft>
              <a:buSzPts val="1400"/>
              <a:buChar char="•"/>
            </a:pPr>
            <a:r>
              <a:rPr lang="en-US" sz="1400"/>
              <a:t>QFD was created. The QFD helped us determine which engineering specifications should be focused on in order to fulfill the customer’s specifications</a:t>
            </a:r>
            <a:br>
              <a:rPr lang="en-US" sz="1400"/>
            </a:br>
            <a:endParaRPr sz="1400"/>
          </a:p>
          <a:p>
            <a:pPr indent="-317500" lvl="0" marL="457200" rtl="0" algn="l">
              <a:lnSpc>
                <a:spcPct val="100000"/>
              </a:lnSpc>
              <a:spcBef>
                <a:spcPts val="0"/>
              </a:spcBef>
              <a:spcAft>
                <a:spcPts val="0"/>
              </a:spcAft>
              <a:buSzPts val="1400"/>
              <a:buChar char="•"/>
            </a:pPr>
            <a:r>
              <a:rPr lang="en-US" sz="1400"/>
              <a:t>The input to the wheel is torque from the studs, which is then transmitted through the wheel to the tire. As the torque is being transmitted through the wheel, three things can happen: </a:t>
            </a:r>
            <a:endParaRPr sz="1400"/>
          </a:p>
          <a:p>
            <a:pPr indent="-317500" lvl="1" marL="914400" rtl="0" algn="l">
              <a:lnSpc>
                <a:spcPct val="100000"/>
              </a:lnSpc>
              <a:spcBef>
                <a:spcPts val="0"/>
              </a:spcBef>
              <a:spcAft>
                <a:spcPts val="0"/>
              </a:spcAft>
              <a:buSzPts val="1400"/>
              <a:buChar char="–"/>
            </a:pPr>
            <a:r>
              <a:rPr lang="en-US" sz="1400"/>
              <a:t>the wheel can crack due to material failure</a:t>
            </a:r>
            <a:endParaRPr sz="1400"/>
          </a:p>
          <a:p>
            <a:pPr indent="-317500" lvl="1" marL="914400" rtl="0" algn="l">
              <a:lnSpc>
                <a:spcPct val="100000"/>
              </a:lnSpc>
              <a:spcBef>
                <a:spcPts val="0"/>
              </a:spcBef>
              <a:spcAft>
                <a:spcPts val="0"/>
              </a:spcAft>
              <a:buSzPts val="1400"/>
              <a:buChar char="–"/>
            </a:pPr>
            <a:r>
              <a:rPr lang="en-US" sz="1400"/>
              <a:t>the tire can blowout due to improper seating between the wheel and the tire</a:t>
            </a:r>
            <a:endParaRPr sz="1400"/>
          </a:p>
          <a:p>
            <a:pPr indent="-317500" lvl="1" marL="914400" rtl="0" algn="l">
              <a:lnSpc>
                <a:spcPct val="100000"/>
              </a:lnSpc>
              <a:spcBef>
                <a:spcPts val="0"/>
              </a:spcBef>
              <a:spcAft>
                <a:spcPts val="0"/>
              </a:spcAft>
              <a:buSzPts val="1400"/>
              <a:buChar char="–"/>
            </a:pPr>
            <a:r>
              <a:rPr lang="en-US" sz="1400"/>
              <a:t>or everything can function as designed and a force can be placed on the ground, leading to acceleration of the car. </a:t>
            </a:r>
            <a:endParaRPr sz="1400"/>
          </a:p>
        </p:txBody>
      </p:sp>
      <p:pic>
        <p:nvPicPr>
          <p:cNvPr id="114" name="Google Shape;114;p10"/>
          <p:cNvPicPr preferRelativeResize="0"/>
          <p:nvPr/>
        </p:nvPicPr>
        <p:blipFill rotWithShape="1">
          <a:blip r:embed="rId3">
            <a:alphaModFix/>
          </a:blip>
          <a:srcRect b="0" l="0" r="0" t="0"/>
          <a:stretch/>
        </p:blipFill>
        <p:spPr>
          <a:xfrm>
            <a:off x="4392300" y="1173970"/>
            <a:ext cx="4556449" cy="1678375"/>
          </a:xfrm>
          <a:prstGeom prst="rect">
            <a:avLst/>
          </a:prstGeom>
          <a:noFill/>
          <a:ln>
            <a:noFill/>
          </a:ln>
        </p:spPr>
      </p:pic>
      <p:pic>
        <p:nvPicPr>
          <p:cNvPr id="115" name="Google Shape;115;p10"/>
          <p:cNvPicPr preferRelativeResize="0"/>
          <p:nvPr/>
        </p:nvPicPr>
        <p:blipFill rotWithShape="1">
          <a:blip r:embed="rId4">
            <a:alphaModFix/>
          </a:blip>
          <a:srcRect b="0" l="0" r="0" t="0"/>
          <a:stretch/>
        </p:blipFill>
        <p:spPr>
          <a:xfrm>
            <a:off x="4709339" y="2925220"/>
            <a:ext cx="3922366" cy="370085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1"/>
          <p:cNvSpPr txBox="1"/>
          <p:nvPr>
            <p:ph type="title"/>
          </p:nvPr>
        </p:nvSpPr>
        <p:spPr>
          <a:xfrm>
            <a:off x="180654" y="202990"/>
            <a:ext cx="7042200" cy="554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Concept Selection &amp; FEM</a:t>
            </a:r>
            <a:endParaRPr/>
          </a:p>
        </p:txBody>
      </p:sp>
      <p:sp>
        <p:nvSpPr>
          <p:cNvPr id="122" name="Google Shape;122;p11"/>
          <p:cNvSpPr txBox="1"/>
          <p:nvPr>
            <p:ph idx="1" type="body"/>
          </p:nvPr>
        </p:nvSpPr>
        <p:spPr>
          <a:xfrm>
            <a:off x="180651" y="1173975"/>
            <a:ext cx="4644600" cy="5223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480"/>
              </a:spcBef>
              <a:spcAft>
                <a:spcPts val="0"/>
              </a:spcAft>
              <a:buSzPts val="1400"/>
              <a:buChar char="•"/>
            </a:pPr>
            <a:r>
              <a:rPr lang="en-US" sz="1400"/>
              <a:t>Finite element analysis was used both to validate and optimize the design. Similar models were created for our design as well as the Kodiak wheel. Both models were then run with identical forces and constraints so the results could be directly compared. The models were run under four different loading conditions:</a:t>
            </a:r>
            <a:endParaRPr sz="1400"/>
          </a:p>
          <a:p>
            <a:pPr indent="-317500" lvl="1" marL="914400" rtl="0" algn="l">
              <a:lnSpc>
                <a:spcPct val="100000"/>
              </a:lnSpc>
              <a:spcBef>
                <a:spcPts val="0"/>
              </a:spcBef>
              <a:spcAft>
                <a:spcPts val="0"/>
              </a:spcAft>
              <a:buSzPts val="1400"/>
              <a:buChar char="–"/>
            </a:pPr>
            <a:r>
              <a:rPr lang="en-US" sz="1400"/>
              <a:t>1000 lb torsion load</a:t>
            </a:r>
            <a:endParaRPr sz="1400"/>
          </a:p>
          <a:p>
            <a:pPr indent="-317500" lvl="1" marL="914400" rtl="0" algn="l">
              <a:lnSpc>
                <a:spcPct val="100000"/>
              </a:lnSpc>
              <a:spcBef>
                <a:spcPts val="0"/>
              </a:spcBef>
              <a:spcAft>
                <a:spcPts val="0"/>
              </a:spcAft>
              <a:buSzPts val="1400"/>
              <a:buChar char="–"/>
            </a:pPr>
            <a:r>
              <a:rPr lang="en-US" sz="1400"/>
              <a:t>1000 lb lateral load</a:t>
            </a:r>
            <a:endParaRPr sz="1400"/>
          </a:p>
          <a:p>
            <a:pPr indent="-317500" lvl="1" marL="914400" rtl="0" algn="l">
              <a:lnSpc>
                <a:spcPct val="100000"/>
              </a:lnSpc>
              <a:spcBef>
                <a:spcPts val="0"/>
              </a:spcBef>
              <a:spcAft>
                <a:spcPts val="0"/>
              </a:spcAft>
              <a:buSzPts val="1400"/>
              <a:buChar char="–"/>
            </a:pPr>
            <a:r>
              <a:rPr lang="en-US" sz="1400"/>
              <a:t>1000 lb longitudinal load</a:t>
            </a:r>
            <a:endParaRPr sz="1400"/>
          </a:p>
          <a:p>
            <a:pPr indent="-317500" lvl="1" marL="914400" rtl="0" algn="l">
              <a:lnSpc>
                <a:spcPct val="100000"/>
              </a:lnSpc>
              <a:spcBef>
                <a:spcPts val="0"/>
              </a:spcBef>
              <a:spcAft>
                <a:spcPts val="0"/>
              </a:spcAft>
              <a:buSzPts val="1400"/>
              <a:buChar char="–"/>
            </a:pPr>
            <a:r>
              <a:rPr lang="en-US" sz="1400"/>
              <a:t>100 lb mounting load. </a:t>
            </a:r>
            <a:br>
              <a:rPr lang="en-US" sz="1400"/>
            </a:br>
            <a:endParaRPr sz="1400"/>
          </a:p>
          <a:p>
            <a:pPr indent="-317500" lvl="0" marL="457200" rtl="0" algn="l">
              <a:lnSpc>
                <a:spcPct val="100000"/>
              </a:lnSpc>
              <a:spcBef>
                <a:spcPts val="0"/>
              </a:spcBef>
              <a:spcAft>
                <a:spcPts val="0"/>
              </a:spcAft>
              <a:buSzPts val="1400"/>
              <a:buChar char="•"/>
            </a:pPr>
            <a:r>
              <a:rPr lang="en-US" sz="1400"/>
              <a:t>The relative strength and stiffness of our design was then compared to the Kodiak wheel. We calculated worst case loads for each loading condition</a:t>
            </a:r>
            <a:endParaRPr sz="1400"/>
          </a:p>
        </p:txBody>
      </p:sp>
      <p:pic>
        <p:nvPicPr>
          <p:cNvPr id="123" name="Google Shape;123;p11"/>
          <p:cNvPicPr preferRelativeResize="0"/>
          <p:nvPr/>
        </p:nvPicPr>
        <p:blipFill rotWithShape="1">
          <a:blip r:embed="rId3">
            <a:alphaModFix/>
          </a:blip>
          <a:srcRect b="0" l="0" r="0" t="0"/>
          <a:stretch/>
        </p:blipFill>
        <p:spPr>
          <a:xfrm>
            <a:off x="5422214" y="1173975"/>
            <a:ext cx="3018700" cy="3125500"/>
          </a:xfrm>
          <a:prstGeom prst="rect">
            <a:avLst/>
          </a:prstGeom>
          <a:noFill/>
          <a:ln>
            <a:noFill/>
          </a:ln>
        </p:spPr>
      </p:pic>
      <p:pic>
        <p:nvPicPr>
          <p:cNvPr id="124" name="Google Shape;124;p11"/>
          <p:cNvPicPr preferRelativeResize="0"/>
          <p:nvPr/>
        </p:nvPicPr>
        <p:blipFill rotWithShape="1">
          <a:blip r:embed="rId4">
            <a:alphaModFix/>
          </a:blip>
          <a:srcRect b="0" l="0" r="0" t="0"/>
          <a:stretch/>
        </p:blipFill>
        <p:spPr>
          <a:xfrm>
            <a:off x="4914375" y="4299475"/>
            <a:ext cx="4034375" cy="2190575"/>
          </a:xfrm>
          <a:prstGeom prst="rect">
            <a:avLst/>
          </a:prstGeom>
          <a:noFill/>
          <a:ln>
            <a:noFill/>
          </a:ln>
        </p:spPr>
      </p:pic>
      <p:pic>
        <p:nvPicPr>
          <p:cNvPr id="125" name="Google Shape;125;p11"/>
          <p:cNvPicPr preferRelativeResize="0"/>
          <p:nvPr/>
        </p:nvPicPr>
        <p:blipFill rotWithShape="1">
          <a:blip r:embed="rId5">
            <a:alphaModFix/>
          </a:blip>
          <a:srcRect b="0" l="0" r="0" t="0"/>
          <a:stretch/>
        </p:blipFill>
        <p:spPr>
          <a:xfrm>
            <a:off x="740739" y="4883175"/>
            <a:ext cx="3524425" cy="1780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180654" y="202991"/>
            <a:ext cx="7042080" cy="554587"/>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1100"/>
              <a:buNone/>
            </a:pPr>
            <a:r>
              <a:rPr lang="en-US">
                <a:latin typeface="Arial"/>
                <a:ea typeface="Arial"/>
                <a:cs typeface="Arial"/>
                <a:sym typeface="Arial"/>
              </a:rPr>
              <a:t>FDM vs SLA vs SLS</a:t>
            </a:r>
            <a:endParaRPr>
              <a:latin typeface="Arial"/>
              <a:ea typeface="Arial"/>
              <a:cs typeface="Arial"/>
              <a:sym typeface="Arial"/>
            </a:endParaRPr>
          </a:p>
        </p:txBody>
      </p:sp>
      <p:graphicFrame>
        <p:nvGraphicFramePr>
          <p:cNvPr id="131" name="Google Shape;131;p4"/>
          <p:cNvGraphicFramePr/>
          <p:nvPr/>
        </p:nvGraphicFramePr>
        <p:xfrm>
          <a:off x="1578187" y="1171223"/>
          <a:ext cx="3000000" cy="3000000"/>
        </p:xfrm>
        <a:graphic>
          <a:graphicData uri="http://schemas.openxmlformats.org/drawingml/2006/table">
            <a:tbl>
              <a:tblPr bandRow="1" firstRow="1">
                <a:noFill/>
                <a:tableStyleId>{3CFED0A7-9E25-4529-9F8A-1AB4A261515C}</a:tableStyleId>
              </a:tblPr>
              <a:tblGrid>
                <a:gridCol w="1554975"/>
                <a:gridCol w="1554975"/>
                <a:gridCol w="1554975"/>
                <a:gridCol w="1554975"/>
              </a:tblGrid>
              <a:tr h="410600">
                <a:tc>
                  <a:txBody>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Criteria</a:t>
                      </a:r>
                      <a:endParaRPr sz="19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FDM</a:t>
                      </a:r>
                      <a:endParaRPr sz="19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SLA</a:t>
                      </a:r>
                      <a:endParaRPr sz="19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SLS</a:t>
                      </a:r>
                      <a:endParaRPr sz="1900" u="none" cap="none" strike="noStrike"/>
                    </a:p>
                  </a:txBody>
                  <a:tcPr marT="60975" marB="60975" marR="91450" marL="91450"/>
                </a:tc>
              </a:tr>
              <a:tr h="937825">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Material</a:t>
                      </a:r>
                      <a:endParaRPr sz="15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ABS, PLA, Nylon</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Photosensitive Resins</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Polyamide (Nylon), Polystyrenes,</a:t>
                      </a:r>
                      <a:br>
                        <a:rPr lang="en-US" sz="1200" u="none" cap="none" strike="noStrike"/>
                      </a:br>
                      <a:r>
                        <a:rPr b="0" i="0" lang="en-US" sz="1200" u="none" cap="none" strike="noStrike">
                          <a:solidFill>
                            <a:schemeClr val="dk1"/>
                          </a:solidFill>
                          <a:latin typeface="Arial"/>
                          <a:ea typeface="Arial"/>
                          <a:cs typeface="Arial"/>
                          <a:sym typeface="Arial"/>
                        </a:rPr>
                        <a:t>Thermoplastic Polyurethane, Metal</a:t>
                      </a:r>
                      <a:endParaRPr sz="1200" u="none" cap="none" strike="noStrike"/>
                    </a:p>
                  </a:txBody>
                  <a:tcPr marT="60975" marB="60975" marR="91450" marL="91450"/>
                </a:tc>
              </a:tr>
              <a:tr h="524100">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Layer Thickness</a:t>
                      </a:r>
                      <a:endParaRPr sz="15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0.5 to 0.127 mm</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0.05 to 0.015 mm</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0.05 to 0.01 mm</a:t>
                      </a:r>
                      <a:endParaRPr sz="1200" u="none" cap="none" strike="noStrike"/>
                    </a:p>
                  </a:txBody>
                  <a:tcPr marT="60975" marB="60975" marR="91450" marL="91450"/>
                </a:tc>
              </a:tr>
              <a:tr h="772325">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Surface Texture</a:t>
                      </a:r>
                      <a:endParaRPr sz="15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Rough (can be post-</a:t>
                      </a:r>
                      <a:br>
                        <a:rPr lang="en-US" sz="1200" u="none" cap="none" strike="noStrike"/>
                      </a:br>
                      <a:r>
                        <a:rPr b="0" i="0" lang="en-US" sz="1200" u="none" cap="none" strike="noStrike">
                          <a:solidFill>
                            <a:schemeClr val="dk1"/>
                          </a:solidFill>
                          <a:latin typeface="Arial"/>
                          <a:ea typeface="Arial"/>
                          <a:cs typeface="Arial"/>
                          <a:sym typeface="Arial"/>
                        </a:rPr>
                        <a:t>processed for fine surface)</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Smooth</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Slightly rough</a:t>
                      </a:r>
                      <a:endParaRPr sz="1200" u="none" cap="none" strike="noStrike"/>
                    </a:p>
                  </a:txBody>
                  <a:tcPr marT="60975" marB="60975" marR="91450" marL="91450"/>
                </a:tc>
              </a:tr>
              <a:tr h="524100">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Support Structures</a:t>
                      </a:r>
                      <a:endParaRPr sz="15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Required</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Required</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Not required</a:t>
                      </a:r>
                      <a:endParaRPr sz="1200" u="none" cap="none" strike="noStrike"/>
                    </a:p>
                  </a:txBody>
                  <a:tcPr marT="60975" marB="60975" marR="91450" marL="91450"/>
                </a:tc>
              </a:tr>
              <a:tr h="937825">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Post-Processing</a:t>
                      </a:r>
                      <a:endParaRPr sz="15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Sanding, Polishing, Painting</a:t>
                      </a:r>
                      <a:br>
                        <a:rPr lang="en-US" sz="1200" u="none" cap="none" strike="noStrike"/>
                      </a:br>
                      <a:r>
                        <a:rPr b="0" i="0" lang="en-US" sz="1200" u="none" cap="none" strike="noStrike">
                          <a:solidFill>
                            <a:schemeClr val="dk1"/>
                          </a:solidFill>
                          <a:latin typeface="Arial"/>
                          <a:ea typeface="Arial"/>
                          <a:cs typeface="Arial"/>
                          <a:sym typeface="Arial"/>
                        </a:rPr>
                        <a:t>Smoothing (with acetone</a:t>
                      </a:r>
                      <a:br>
                        <a:rPr lang="en-US" sz="1200" u="none" cap="none" strike="noStrike"/>
                      </a:br>
                      <a:r>
                        <a:rPr b="0" i="0" lang="en-US" sz="1200" u="none" cap="none" strike="noStrike">
                          <a:solidFill>
                            <a:schemeClr val="dk1"/>
                          </a:solidFill>
                          <a:latin typeface="Arial"/>
                          <a:ea typeface="Arial"/>
                          <a:cs typeface="Arial"/>
                          <a:sym typeface="Arial"/>
                        </a:rPr>
                        <a:t>vapor)</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Painting, Dyeing</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Polishing,</a:t>
                      </a:r>
                      <a:br>
                        <a:rPr lang="en-US" sz="1200" u="none" cap="none" strike="noStrike"/>
                      </a:br>
                      <a:r>
                        <a:rPr b="0" i="0" lang="en-US" sz="1200" u="none" cap="none" strike="noStrike">
                          <a:solidFill>
                            <a:schemeClr val="dk1"/>
                          </a:solidFill>
                          <a:latin typeface="Arial"/>
                          <a:ea typeface="Arial"/>
                          <a:cs typeface="Arial"/>
                          <a:sym typeface="Arial"/>
                        </a:rPr>
                        <a:t>Varnishing, Dyeing, Painting</a:t>
                      </a:r>
                      <a:endParaRPr sz="1200" u="none" cap="none" strike="noStrike"/>
                    </a:p>
                  </a:txBody>
                  <a:tcPr marT="60975" marB="60975" marR="91450" marL="91450"/>
                </a:tc>
              </a:tr>
              <a:tr h="410600">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Cost</a:t>
                      </a:r>
                      <a:endParaRPr sz="15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Cheapest</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Medium Price</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Costly</a:t>
                      </a:r>
                      <a:endParaRPr sz="1200" u="none" cap="none" strike="noStrike"/>
                    </a:p>
                  </a:txBody>
                  <a:tcPr marT="60975" marB="60975" marR="91450" marL="91450"/>
                </a:tc>
              </a:tr>
              <a:tr h="410600">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strike="noStrike"/>
                        <a:t>Ease of Use</a:t>
                      </a:r>
                      <a:endParaRPr b="1" sz="15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Beginner Friendly</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Beginner-Moderate</a:t>
                      </a:r>
                      <a:endParaRPr sz="1200" u="none" cap="none" strike="noStrike"/>
                    </a:p>
                  </a:txBody>
                  <a:tcPr marT="60975" marB="6097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Highly Skilled</a:t>
                      </a:r>
                      <a:endParaRPr sz="1200" u="none" cap="none" strike="noStrike"/>
                    </a:p>
                  </a:txBody>
                  <a:tcPr marT="60975" marB="6097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ph type="title"/>
          </p:nvPr>
        </p:nvSpPr>
        <p:spPr>
          <a:xfrm>
            <a:off x="180654" y="202990"/>
            <a:ext cx="7042200" cy="554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Tooling &amp; Manufacturing</a:t>
            </a:r>
            <a:endParaRPr/>
          </a:p>
        </p:txBody>
      </p:sp>
      <p:sp>
        <p:nvSpPr>
          <p:cNvPr id="138" name="Google Shape;138;p12"/>
          <p:cNvSpPr txBox="1"/>
          <p:nvPr>
            <p:ph idx="1" type="body"/>
          </p:nvPr>
        </p:nvSpPr>
        <p:spPr>
          <a:xfrm>
            <a:off x="180651" y="1173975"/>
            <a:ext cx="6562500" cy="5223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480"/>
              </a:spcBef>
              <a:spcAft>
                <a:spcPts val="0"/>
              </a:spcAft>
              <a:buSzPts val="1400"/>
              <a:buChar char="•"/>
            </a:pPr>
            <a:r>
              <a:rPr lang="en-US" sz="1400"/>
              <a:t>In addition to designing the wheels, we are also responsible for designing and manufacturing the tooling that will be used to create the sand molds for casting the wheels</a:t>
            </a:r>
            <a:br>
              <a:rPr lang="en-US" sz="1400"/>
            </a:br>
            <a:endParaRPr sz="1400"/>
          </a:p>
          <a:p>
            <a:pPr indent="-317500" lvl="0" marL="457200" rtl="0" algn="l">
              <a:lnSpc>
                <a:spcPct val="100000"/>
              </a:lnSpc>
              <a:spcBef>
                <a:spcPts val="0"/>
              </a:spcBef>
              <a:spcAft>
                <a:spcPts val="0"/>
              </a:spcAft>
              <a:buSzPts val="1400"/>
              <a:buChar char="•"/>
            </a:pPr>
            <a:r>
              <a:rPr lang="en-US" sz="1400"/>
              <a:t>We chose to use rapid prototyping to create the necessary tooling because of the huge savings in both time and cost over traditional tool making methods. One case study showed that using RP to create tooling resulted in a </a:t>
            </a:r>
            <a:r>
              <a:rPr b="1" lang="en-US" sz="1400"/>
              <a:t>54.0% time savings and 49.6% cost savings</a:t>
            </a:r>
            <a:r>
              <a:rPr lang="en-US" sz="1400"/>
              <a:t> over traditional aluminum tooling. Specifically, we used an </a:t>
            </a:r>
            <a:r>
              <a:rPr b="1" lang="en-US" sz="1400"/>
              <a:t>RP technique called 3D printing</a:t>
            </a:r>
            <a:r>
              <a:rPr lang="en-US" sz="1400"/>
              <a:t> to create the tools. 3D printing is one of the </a:t>
            </a:r>
            <a:r>
              <a:rPr b="1" lang="en-US" sz="1400"/>
              <a:t>fastest and most cost effective</a:t>
            </a:r>
            <a:r>
              <a:rPr lang="en-US" sz="1400"/>
              <a:t> RP methods available</a:t>
            </a:r>
            <a:br>
              <a:rPr lang="en-US" sz="1400"/>
            </a:br>
            <a:endParaRPr sz="1400"/>
          </a:p>
          <a:p>
            <a:pPr indent="-317500" lvl="0" marL="457200" rtl="0" algn="l">
              <a:lnSpc>
                <a:spcPct val="100000"/>
              </a:lnSpc>
              <a:spcBef>
                <a:spcPts val="0"/>
              </a:spcBef>
              <a:spcAft>
                <a:spcPts val="0"/>
              </a:spcAft>
              <a:buSzPts val="1400"/>
              <a:buChar char="•"/>
            </a:pPr>
            <a:r>
              <a:rPr lang="en-US" sz="1400"/>
              <a:t>When creating the tooling for the wheels, several factors had to be taken into consideration. First, the tooling needed to be scaled larger than the wheels to account for </a:t>
            </a:r>
            <a:r>
              <a:rPr b="1" lang="en-US" sz="1400"/>
              <a:t>shrinkage during cooling</a:t>
            </a:r>
            <a:r>
              <a:rPr lang="en-US" sz="1400"/>
              <a:t>. In the case of the alloy the wheels will be cast in, </a:t>
            </a:r>
            <a:r>
              <a:rPr b="1" lang="en-US" sz="1400"/>
              <a:t>AZ91C-T4, a 2% linear shrinkage</a:t>
            </a:r>
            <a:r>
              <a:rPr lang="en-US" sz="1400"/>
              <a:t> was quoted from our foundry. The tooling also needed to </a:t>
            </a:r>
            <a:r>
              <a:rPr b="1" lang="en-US" sz="1400"/>
              <a:t>provide extra material on surfaces which will be post-machined</a:t>
            </a:r>
            <a:br>
              <a:rPr lang="en-US" sz="1400"/>
            </a:br>
            <a:endParaRPr sz="1400"/>
          </a:p>
          <a:p>
            <a:pPr indent="-317500" lvl="0" marL="457200" rtl="0" algn="l">
              <a:lnSpc>
                <a:spcPct val="100000"/>
              </a:lnSpc>
              <a:spcBef>
                <a:spcPts val="0"/>
              </a:spcBef>
              <a:spcAft>
                <a:spcPts val="0"/>
              </a:spcAft>
              <a:buSzPts val="1400"/>
              <a:buChar char="•"/>
            </a:pPr>
            <a:r>
              <a:rPr lang="en-US" sz="1400"/>
              <a:t>Another consideration was that all of the tooling for the wheel is significantly larger than the 8” x 10” x 8” build volume of the </a:t>
            </a:r>
            <a:r>
              <a:rPr b="1" lang="en-US" sz="1400"/>
              <a:t>ZCorp ZPrinter 310</a:t>
            </a:r>
            <a:r>
              <a:rPr lang="en-US" sz="1400"/>
              <a:t> we used. We therefore had to break up each section of the tooling into </a:t>
            </a:r>
            <a:r>
              <a:rPr b="1" lang="en-US" sz="1400"/>
              <a:t>four parts to be joined later using epoxy</a:t>
            </a:r>
            <a:r>
              <a:rPr lang="en-US" sz="1400"/>
              <a:t>.</a:t>
            </a:r>
            <a:endParaRPr sz="1400"/>
          </a:p>
        </p:txBody>
      </p:sp>
      <p:pic>
        <p:nvPicPr>
          <p:cNvPr id="139" name="Google Shape;139;p12"/>
          <p:cNvPicPr preferRelativeResize="0"/>
          <p:nvPr/>
        </p:nvPicPr>
        <p:blipFill rotWithShape="1">
          <a:blip r:embed="rId3">
            <a:alphaModFix/>
          </a:blip>
          <a:srcRect b="0" l="0" r="0" t="0"/>
          <a:stretch/>
        </p:blipFill>
        <p:spPr>
          <a:xfrm>
            <a:off x="6929550" y="1085599"/>
            <a:ext cx="2160600" cy="1713409"/>
          </a:xfrm>
          <a:prstGeom prst="rect">
            <a:avLst/>
          </a:prstGeom>
          <a:noFill/>
          <a:ln>
            <a:noFill/>
          </a:ln>
        </p:spPr>
      </p:pic>
      <p:pic>
        <p:nvPicPr>
          <p:cNvPr id="140" name="Google Shape;140;p12"/>
          <p:cNvPicPr preferRelativeResize="0"/>
          <p:nvPr/>
        </p:nvPicPr>
        <p:blipFill rotWithShape="1">
          <a:blip r:embed="rId4">
            <a:alphaModFix/>
          </a:blip>
          <a:srcRect b="0" l="0" r="0" t="0"/>
          <a:stretch/>
        </p:blipFill>
        <p:spPr>
          <a:xfrm>
            <a:off x="6929549" y="2799000"/>
            <a:ext cx="2160600" cy="1705971"/>
          </a:xfrm>
          <a:prstGeom prst="rect">
            <a:avLst/>
          </a:prstGeom>
          <a:noFill/>
          <a:ln>
            <a:noFill/>
          </a:ln>
        </p:spPr>
      </p:pic>
      <p:pic>
        <p:nvPicPr>
          <p:cNvPr id="141" name="Google Shape;141;p12"/>
          <p:cNvPicPr preferRelativeResize="0"/>
          <p:nvPr/>
        </p:nvPicPr>
        <p:blipFill rotWithShape="1">
          <a:blip r:embed="rId5">
            <a:alphaModFix/>
          </a:blip>
          <a:srcRect b="0" l="0" r="0" t="0"/>
          <a:stretch/>
        </p:blipFill>
        <p:spPr>
          <a:xfrm>
            <a:off x="6929550" y="4504975"/>
            <a:ext cx="2160600" cy="1711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title"/>
          </p:nvPr>
        </p:nvSpPr>
        <p:spPr>
          <a:xfrm>
            <a:off x="180654" y="202990"/>
            <a:ext cx="7042200" cy="554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Conclusion</a:t>
            </a:r>
            <a:endParaRPr/>
          </a:p>
        </p:txBody>
      </p:sp>
      <p:sp>
        <p:nvSpPr>
          <p:cNvPr id="148" name="Google Shape;148;p13"/>
          <p:cNvSpPr txBox="1"/>
          <p:nvPr>
            <p:ph idx="1" type="body"/>
          </p:nvPr>
        </p:nvSpPr>
        <p:spPr>
          <a:xfrm>
            <a:off x="180653" y="1554984"/>
            <a:ext cx="8768100" cy="5223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480"/>
              </a:spcBef>
              <a:spcAft>
                <a:spcPts val="0"/>
              </a:spcAft>
              <a:buSzPts val="1400"/>
              <a:buChar char="•"/>
            </a:pPr>
            <a:r>
              <a:rPr lang="en-US" sz="1400"/>
              <a:t>The goal of our project was to design and manufacture a set of wheels lighter than those currently in use on the IITRMS Formula SAE car without sacrificing stiffness</a:t>
            </a:r>
            <a:br>
              <a:rPr lang="en-US" sz="1400"/>
            </a:br>
            <a:endParaRPr sz="1400"/>
          </a:p>
          <a:p>
            <a:pPr indent="-317500" lvl="0" marL="457200" rtl="0" algn="l">
              <a:lnSpc>
                <a:spcPct val="100000"/>
              </a:lnSpc>
              <a:spcBef>
                <a:spcPts val="0"/>
              </a:spcBef>
              <a:spcAft>
                <a:spcPts val="0"/>
              </a:spcAft>
              <a:buSzPts val="1400"/>
              <a:buChar char="•"/>
            </a:pPr>
            <a:r>
              <a:rPr lang="en-US" sz="1400"/>
              <a:t>To achieve our design goal, we intended to be the first FSAE team to design and manufacture a set of one piece cast magnesium wheels. The design needed to satisfy requirements in three areas: mechanics, manufacturing, and aesthetics</a:t>
            </a:r>
            <a:br>
              <a:rPr lang="en-US" sz="1400"/>
            </a:br>
            <a:endParaRPr sz="1400"/>
          </a:p>
          <a:p>
            <a:pPr indent="-317500" lvl="0" marL="457200" rtl="0" algn="l">
              <a:lnSpc>
                <a:spcPct val="100000"/>
              </a:lnSpc>
              <a:spcBef>
                <a:spcPts val="0"/>
              </a:spcBef>
              <a:spcAft>
                <a:spcPts val="0"/>
              </a:spcAft>
              <a:buSzPts val="1400"/>
              <a:buChar char="•"/>
            </a:pPr>
            <a:r>
              <a:rPr lang="en-US" sz="1400"/>
              <a:t>In considering the requirements in the areas of mechanics, manufacturing, and aesthetics, the chosen design concept has many smaller spokes, as opposed to the larger-spoke design of the wheels currently in use by the team. Using FEA software and the determined loads, the design was validated and optimized, netting a weight of approximately 4 lbs (25% reduction), and similar stiffness values</a:t>
            </a:r>
            <a:br>
              <a:rPr lang="en-US" sz="1400"/>
            </a:br>
            <a:endParaRPr sz="1400"/>
          </a:p>
          <a:p>
            <a:pPr indent="-317500" lvl="0" marL="457200" rtl="0" algn="l">
              <a:lnSpc>
                <a:spcPct val="100000"/>
              </a:lnSpc>
              <a:spcBef>
                <a:spcPts val="0"/>
              </a:spcBef>
              <a:spcAft>
                <a:spcPts val="0"/>
              </a:spcAft>
              <a:buSzPts val="1400"/>
              <a:buChar char="•"/>
            </a:pPr>
            <a:r>
              <a:rPr lang="en-US" sz="1400"/>
              <a:t>We also designed and manufactured the tooling for the casting process using rapid prototyping methods</a:t>
            </a:r>
            <a:br>
              <a:rPr lang="en-US" sz="1400"/>
            </a:br>
            <a:endParaRPr sz="1400"/>
          </a:p>
          <a:p>
            <a:pPr indent="-317500" lvl="0" marL="457200" rtl="0" algn="l">
              <a:lnSpc>
                <a:spcPct val="100000"/>
              </a:lnSpc>
              <a:spcBef>
                <a:spcPts val="0"/>
              </a:spcBef>
              <a:spcAft>
                <a:spcPts val="0"/>
              </a:spcAft>
              <a:buSzPts val="1400"/>
              <a:buChar char="•"/>
            </a:pPr>
            <a:r>
              <a:rPr lang="en-US" sz="1400"/>
              <a:t>The wheels were cast and need to be physically tested</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6"/>
          <p:cNvSpPr txBox="1"/>
          <p:nvPr>
            <p:ph type="title"/>
          </p:nvPr>
        </p:nvSpPr>
        <p:spPr>
          <a:xfrm>
            <a:off x="3363913" y="2971801"/>
            <a:ext cx="2452800" cy="7113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ITR_PPT_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ITR_PPT_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