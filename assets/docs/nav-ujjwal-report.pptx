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y="5143500" cx="9144000"/>
  <p:notesSz cx="6858000" cy="9144000"/>
  <p:embeddedFontLst>
    <p:embeddedFont>
      <p:font typeface="Raleway"/>
      <p:regular r:id="rId31"/>
      <p:bold r:id="rId32"/>
      <p:italic r:id="rId33"/>
      <p:boldItalic r:id="rId34"/>
    </p:embeddedFont>
    <p:embeddedFont>
      <p:font typeface="Proxima Nova"/>
      <p:regular r:id="rId35"/>
      <p:bold r:id="rId36"/>
      <p:italic r:id="rId37"/>
      <p:boldItalic r:id="rId38"/>
    </p:embeddedFont>
    <p:embeddedFont>
      <p:font typeface="Roboto"/>
      <p:regular r:id="rId39"/>
      <p:bold r:id="rId40"/>
      <p:italic r:id="rId41"/>
      <p:boldItalic r:id="rId42"/>
    </p:embeddedFont>
    <p:embeddedFont>
      <p:font typeface="Lato"/>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A7051A-2C27-4AC7-A5FB-3AE3238F6B53}">
  <a:tblStyle styleId="{95A7051A-2C27-4AC7-A5FB-3AE3238F6B5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3.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5.xml"/><Relationship Id="rId44" Type="http://schemas.openxmlformats.org/officeDocument/2006/relationships/font" Target="fonts/Lato-bold.fntdata"/><Relationship Id="rId21" Type="http://schemas.openxmlformats.org/officeDocument/2006/relationships/slide" Target="slides/slide14.xml"/><Relationship Id="rId43" Type="http://schemas.openxmlformats.org/officeDocument/2006/relationships/font" Target="fonts/Lato-regular.fntdata"/><Relationship Id="rId24" Type="http://schemas.openxmlformats.org/officeDocument/2006/relationships/slide" Target="slides/slide17.xml"/><Relationship Id="rId46" Type="http://schemas.openxmlformats.org/officeDocument/2006/relationships/font" Target="fonts/Lato-boldItalic.fntdata"/><Relationship Id="rId23" Type="http://schemas.openxmlformats.org/officeDocument/2006/relationships/slide" Target="slides/slide16.xml"/><Relationship Id="rId45"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aleway-regular.fntdata"/><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aleway-italic.fntdata"/><Relationship Id="rId10" Type="http://schemas.openxmlformats.org/officeDocument/2006/relationships/slide" Target="slides/slide3.xml"/><Relationship Id="rId32" Type="http://schemas.openxmlformats.org/officeDocument/2006/relationships/font" Target="fonts/Raleway-bold.fntdata"/><Relationship Id="rId13" Type="http://schemas.openxmlformats.org/officeDocument/2006/relationships/slide" Target="slides/slide6.xml"/><Relationship Id="rId35" Type="http://schemas.openxmlformats.org/officeDocument/2006/relationships/font" Target="fonts/ProximaNova-regular.fntdata"/><Relationship Id="rId12" Type="http://schemas.openxmlformats.org/officeDocument/2006/relationships/slide" Target="slides/slide5.xml"/><Relationship Id="rId34" Type="http://schemas.openxmlformats.org/officeDocument/2006/relationships/font" Target="fonts/Raleway-boldItalic.fntdata"/><Relationship Id="rId15" Type="http://schemas.openxmlformats.org/officeDocument/2006/relationships/slide" Target="slides/slide8.xml"/><Relationship Id="rId37" Type="http://schemas.openxmlformats.org/officeDocument/2006/relationships/font" Target="fonts/ProximaNova-italic.fntdata"/><Relationship Id="rId14" Type="http://schemas.openxmlformats.org/officeDocument/2006/relationships/slide" Target="slides/slide7.xml"/><Relationship Id="rId36" Type="http://schemas.openxmlformats.org/officeDocument/2006/relationships/font" Target="fonts/ProximaNova-bold.fntdata"/><Relationship Id="rId17" Type="http://schemas.openxmlformats.org/officeDocument/2006/relationships/slide" Target="slides/slide10.xml"/><Relationship Id="rId39" Type="http://schemas.openxmlformats.org/officeDocument/2006/relationships/font" Target="fonts/Roboto-regular.fntdata"/><Relationship Id="rId16" Type="http://schemas.openxmlformats.org/officeDocument/2006/relationships/slide" Target="slides/slide9.xml"/><Relationship Id="rId38" Type="http://schemas.openxmlformats.org/officeDocument/2006/relationships/font" Target="fonts/ProximaNova-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742e3e7cd_1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742e3e7cd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8f46587783_0_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8f4658778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cbab3a369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cbab3a369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8f46587783_6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8f46587783_6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8f46587783_6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8f46587783_6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8f46587783_6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8f46587783_6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8f46587783_6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8f46587783_6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8f46587783_6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8f46587783_6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8f46587783_6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8f46587783_6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8f46587783_6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8f46587783_6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8f46587783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8f46587783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8f46587783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8f46587783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8f46587783_6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8f46587783_6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8f46587783_6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8f46587783_6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8f46587783_6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8f46587783_6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8f46587783_6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8f46587783_6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d9c40d9f9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d9c40d9f9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8f46587783_5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8f46587783_5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8f46587783_6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8f46587783_6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8f46587783_6_7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8f46587783_6_7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742e3e7cd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742e3e7cd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8f46587783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8f46587783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8f46587783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8f46587783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4" name="Shape 54"/>
        <p:cNvGrpSpPr/>
        <p:nvPr/>
      </p:nvGrpSpPr>
      <p:grpSpPr>
        <a:xfrm>
          <a:off x="0" y="0"/>
          <a:ext cx="0" cy="0"/>
          <a:chOff x="0" y="0"/>
          <a:chExt cx="0" cy="0"/>
        </a:xfrm>
      </p:grpSpPr>
      <p:cxnSp>
        <p:nvCxnSpPr>
          <p:cNvPr id="55" name="Google Shape;55;p14"/>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56" name="Google Shape;56;p14"/>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57" name="Google Shape;57;p14"/>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58" name="Google Shape;58;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9" name="Shape 59"/>
        <p:cNvGrpSpPr/>
        <p:nvPr/>
      </p:nvGrpSpPr>
      <p:grpSpPr>
        <a:xfrm>
          <a:off x="0" y="0"/>
          <a:ext cx="0" cy="0"/>
          <a:chOff x="0" y="0"/>
          <a:chExt cx="0" cy="0"/>
        </a:xfrm>
      </p:grpSpPr>
      <p:cxnSp>
        <p:nvCxnSpPr>
          <p:cNvPr id="60" name="Google Shape;60;p15"/>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61" name="Google Shape;61;p15"/>
          <p:cNvSpPr txBox="1"/>
          <p:nvPr>
            <p:ph type="title"/>
          </p:nvPr>
        </p:nvSpPr>
        <p:spPr>
          <a:xfrm>
            <a:off x="510450" y="2057400"/>
            <a:ext cx="8123100" cy="778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2" name="Google Shape;6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7" name="Google Shape;6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 name="Google Shape;70;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1" name="Google Shape;71;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2" name="Google Shape;72;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6" name="Shape 76"/>
        <p:cNvGrpSpPr/>
        <p:nvPr/>
      </p:nvGrpSpPr>
      <p:grpSpPr>
        <a:xfrm>
          <a:off x="0" y="0"/>
          <a:ext cx="0" cy="0"/>
          <a:chOff x="0" y="0"/>
          <a:chExt cx="0" cy="0"/>
        </a:xfrm>
      </p:grpSpPr>
      <p:sp>
        <p:nvSpPr>
          <p:cNvPr id="77" name="Google Shape;77;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8" name="Google Shape;78;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9" name="Google Shape;79;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80" name="Shape 80"/>
        <p:cNvGrpSpPr/>
        <p:nvPr/>
      </p:nvGrpSpPr>
      <p:grpSpPr>
        <a:xfrm>
          <a:off x="0" y="0"/>
          <a:ext cx="0" cy="0"/>
          <a:chOff x="0" y="0"/>
          <a:chExt cx="0" cy="0"/>
        </a:xfrm>
      </p:grpSpPr>
      <p:sp>
        <p:nvSpPr>
          <p:cNvPr id="81" name="Google Shape;81;p20"/>
          <p:cNvSpPr txBox="1"/>
          <p:nvPr>
            <p:ph type="title"/>
          </p:nvPr>
        </p:nvSpPr>
        <p:spPr>
          <a:xfrm>
            <a:off x="490250" y="526350"/>
            <a:ext cx="57975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2" name="Google Shape;82;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5" name="Google Shape;85;p21"/>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86" name="Google Shape;86;p21"/>
          <p:cNvSpPr txBox="1"/>
          <p:nvPr>
            <p:ph type="title"/>
          </p:nvPr>
        </p:nvSpPr>
        <p:spPr>
          <a:xfrm>
            <a:off x="265500" y="1205825"/>
            <a:ext cx="4045200" cy="1509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7" name="Google Shape;87;p21"/>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8" name="Google Shape;88;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89" name="Google Shape;8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0" name="Shape 90"/>
        <p:cNvGrpSpPr/>
        <p:nvPr/>
      </p:nvGrpSpPr>
      <p:grpSpPr>
        <a:xfrm>
          <a:off x="0" y="0"/>
          <a:ext cx="0" cy="0"/>
          <a:chOff x="0" y="0"/>
          <a:chExt cx="0" cy="0"/>
        </a:xfrm>
      </p:grpSpPr>
      <p:sp>
        <p:nvSpPr>
          <p:cNvPr id="91" name="Google Shape;91;p22"/>
          <p:cNvSpPr txBox="1"/>
          <p:nvPr>
            <p:ph idx="1" type="body"/>
          </p:nvPr>
        </p:nvSpPr>
        <p:spPr>
          <a:xfrm>
            <a:off x="311700" y="4236825"/>
            <a:ext cx="5998800" cy="5988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2100"/>
              <a:buNone/>
              <a:defRPr sz="2100"/>
            </a:lvl1pPr>
          </a:lstStyle>
          <a:p/>
        </p:txBody>
      </p:sp>
      <p:sp>
        <p:nvSpPr>
          <p:cNvPr id="92" name="Google Shape;92;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3" name="Shape 93"/>
        <p:cNvGrpSpPr/>
        <p:nvPr/>
      </p:nvGrpSpPr>
      <p:grpSpPr>
        <a:xfrm>
          <a:off x="0" y="0"/>
          <a:ext cx="0" cy="0"/>
          <a:chOff x="0" y="0"/>
          <a:chExt cx="0" cy="0"/>
        </a:xfrm>
      </p:grpSpPr>
      <p:sp>
        <p:nvSpPr>
          <p:cNvPr id="94" name="Google Shape;94;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3"/>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0"/>
              <a:buNone/>
              <a:defRPr b="1" sz="14000"/>
            </a:lvl1pPr>
            <a:lvl2pPr lvl="1" rtl="0" algn="ctr">
              <a:spcBef>
                <a:spcPts val="0"/>
              </a:spcBef>
              <a:spcAft>
                <a:spcPts val="0"/>
              </a:spcAft>
              <a:buSzPts val="14000"/>
              <a:buNone/>
              <a:defRPr b="1" sz="14000"/>
            </a:lvl2pPr>
            <a:lvl3pPr lvl="2" rtl="0" algn="ctr">
              <a:spcBef>
                <a:spcPts val="0"/>
              </a:spcBef>
              <a:spcAft>
                <a:spcPts val="0"/>
              </a:spcAft>
              <a:buSzPts val="14000"/>
              <a:buNone/>
              <a:defRPr b="1" sz="14000"/>
            </a:lvl3pPr>
            <a:lvl4pPr lvl="3" rtl="0" algn="ctr">
              <a:spcBef>
                <a:spcPts val="0"/>
              </a:spcBef>
              <a:spcAft>
                <a:spcPts val="0"/>
              </a:spcAft>
              <a:buSzPts val="14000"/>
              <a:buNone/>
              <a:defRPr b="1" sz="14000"/>
            </a:lvl4pPr>
            <a:lvl5pPr lvl="4" rtl="0" algn="ctr">
              <a:spcBef>
                <a:spcPts val="0"/>
              </a:spcBef>
              <a:spcAft>
                <a:spcPts val="0"/>
              </a:spcAft>
              <a:buSzPts val="14000"/>
              <a:buNone/>
              <a:defRPr b="1" sz="14000"/>
            </a:lvl5pPr>
            <a:lvl6pPr lvl="5" rtl="0" algn="ctr">
              <a:spcBef>
                <a:spcPts val="0"/>
              </a:spcBef>
              <a:spcAft>
                <a:spcPts val="0"/>
              </a:spcAft>
              <a:buSzPts val="14000"/>
              <a:buNone/>
              <a:defRPr b="1" sz="14000"/>
            </a:lvl6pPr>
            <a:lvl7pPr lvl="6" rtl="0" algn="ctr">
              <a:spcBef>
                <a:spcPts val="0"/>
              </a:spcBef>
              <a:spcAft>
                <a:spcPts val="0"/>
              </a:spcAft>
              <a:buSzPts val="14000"/>
              <a:buNone/>
              <a:defRPr b="1" sz="14000"/>
            </a:lvl7pPr>
            <a:lvl8pPr lvl="7" rtl="0" algn="ctr">
              <a:spcBef>
                <a:spcPts val="0"/>
              </a:spcBef>
              <a:spcAft>
                <a:spcPts val="0"/>
              </a:spcAft>
              <a:buSzPts val="14000"/>
              <a:buNone/>
              <a:defRPr b="1" sz="14000"/>
            </a:lvl8pPr>
            <a:lvl9pPr lvl="8" rtl="0" algn="ctr">
              <a:spcBef>
                <a:spcPts val="0"/>
              </a:spcBef>
              <a:spcAft>
                <a:spcPts val="0"/>
              </a:spcAft>
              <a:buSzPts val="14000"/>
              <a:buNone/>
              <a:defRPr b="1" sz="14000"/>
            </a:lvl9pPr>
          </a:lstStyle>
          <a:p>
            <a:r>
              <a:t>xx%</a:t>
            </a:r>
          </a:p>
        </p:txBody>
      </p:sp>
      <p:sp>
        <p:nvSpPr>
          <p:cNvPr id="96" name="Google Shape;96;p23"/>
          <p:cNvSpPr txBox="1"/>
          <p:nvPr>
            <p:ph idx="1" type="body"/>
          </p:nvPr>
        </p:nvSpPr>
        <p:spPr>
          <a:xfrm>
            <a:off x="311700" y="3071300"/>
            <a:ext cx="8520600" cy="901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rtl="0">
              <a:lnSpc>
                <a:spcPct val="115000"/>
              </a:lnSpc>
              <a:spcBef>
                <a:spcPts val="160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rtl="0">
              <a:lnSpc>
                <a:spcPct val="115000"/>
              </a:lnSpc>
              <a:spcBef>
                <a:spcPts val="1600"/>
              </a:spcBef>
              <a:spcAft>
                <a:spcPts val="160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Proxima Nova"/>
                <a:ea typeface="Proxima Nova"/>
                <a:cs typeface="Proxima Nova"/>
                <a:sym typeface="Proxima Nova"/>
              </a:defRPr>
            </a:lvl1pPr>
            <a:lvl2pPr lvl="1" rtl="0" algn="r">
              <a:buNone/>
              <a:defRPr sz="1000">
                <a:solidFill>
                  <a:schemeClr val="dk1"/>
                </a:solidFill>
                <a:latin typeface="Proxima Nova"/>
                <a:ea typeface="Proxima Nova"/>
                <a:cs typeface="Proxima Nova"/>
                <a:sym typeface="Proxima Nova"/>
              </a:defRPr>
            </a:lvl2pPr>
            <a:lvl3pPr lvl="2" rtl="0" algn="r">
              <a:buNone/>
              <a:defRPr sz="1000">
                <a:solidFill>
                  <a:schemeClr val="dk1"/>
                </a:solidFill>
                <a:latin typeface="Proxima Nova"/>
                <a:ea typeface="Proxima Nova"/>
                <a:cs typeface="Proxima Nova"/>
                <a:sym typeface="Proxima Nova"/>
              </a:defRPr>
            </a:lvl3pPr>
            <a:lvl4pPr lvl="3" rtl="0" algn="r">
              <a:buNone/>
              <a:defRPr sz="1000">
                <a:solidFill>
                  <a:schemeClr val="dk1"/>
                </a:solidFill>
                <a:latin typeface="Proxima Nova"/>
                <a:ea typeface="Proxima Nova"/>
                <a:cs typeface="Proxima Nova"/>
                <a:sym typeface="Proxima Nova"/>
              </a:defRPr>
            </a:lvl4pPr>
            <a:lvl5pPr lvl="4" rtl="0" algn="r">
              <a:buNone/>
              <a:defRPr sz="1000">
                <a:solidFill>
                  <a:schemeClr val="dk1"/>
                </a:solidFill>
                <a:latin typeface="Proxima Nova"/>
                <a:ea typeface="Proxima Nova"/>
                <a:cs typeface="Proxima Nova"/>
                <a:sym typeface="Proxima Nova"/>
              </a:defRPr>
            </a:lvl5pPr>
            <a:lvl6pPr lvl="5" rtl="0" algn="r">
              <a:buNone/>
              <a:defRPr sz="1000">
                <a:solidFill>
                  <a:schemeClr val="dk1"/>
                </a:solidFill>
                <a:latin typeface="Proxima Nova"/>
                <a:ea typeface="Proxima Nova"/>
                <a:cs typeface="Proxima Nova"/>
                <a:sym typeface="Proxima Nova"/>
              </a:defRPr>
            </a:lvl6pPr>
            <a:lvl7pPr lvl="6" rtl="0" algn="r">
              <a:buNone/>
              <a:defRPr sz="1000">
                <a:solidFill>
                  <a:schemeClr val="dk1"/>
                </a:solidFill>
                <a:latin typeface="Proxima Nova"/>
                <a:ea typeface="Proxima Nova"/>
                <a:cs typeface="Proxima Nova"/>
                <a:sym typeface="Proxima Nova"/>
              </a:defRPr>
            </a:lvl7pPr>
            <a:lvl8pPr lvl="7" rtl="0" algn="r">
              <a:buNone/>
              <a:defRPr sz="1000">
                <a:solidFill>
                  <a:schemeClr val="dk1"/>
                </a:solidFill>
                <a:latin typeface="Proxima Nova"/>
                <a:ea typeface="Proxima Nova"/>
                <a:cs typeface="Proxima Nova"/>
                <a:sym typeface="Proxima Nova"/>
              </a:defRPr>
            </a:lvl8pPr>
            <a:lvl9pPr lvl="8" rtl="0"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5"/>
          <p:cNvPicPr preferRelativeResize="0"/>
          <p:nvPr/>
        </p:nvPicPr>
        <p:blipFill rotWithShape="1">
          <a:blip r:embed="rId3">
            <a:alphaModFix/>
          </a:blip>
          <a:srcRect b="0" l="826" r="826" t="0"/>
          <a:stretch/>
        </p:blipFill>
        <p:spPr>
          <a:xfrm>
            <a:off x="0" y="-126476"/>
            <a:ext cx="10272950" cy="5778525"/>
          </a:xfrm>
          <a:prstGeom prst="rect">
            <a:avLst/>
          </a:prstGeom>
          <a:noFill/>
          <a:ln>
            <a:noFill/>
          </a:ln>
        </p:spPr>
      </p:pic>
      <p:sp>
        <p:nvSpPr>
          <p:cNvPr id="105" name="Google Shape;105;p25"/>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600">
                <a:latin typeface="Raleway"/>
                <a:ea typeface="Raleway"/>
                <a:cs typeface="Raleway"/>
                <a:sym typeface="Raleway"/>
              </a:rPr>
              <a:t>No Contact Delivery</a:t>
            </a:r>
            <a:br>
              <a:rPr b="1" lang="en" sz="3600">
                <a:latin typeface="Raleway"/>
                <a:ea typeface="Raleway"/>
                <a:cs typeface="Raleway"/>
                <a:sym typeface="Raleway"/>
              </a:rPr>
            </a:br>
            <a:r>
              <a:rPr b="1" lang="en" sz="3600">
                <a:latin typeface="Raleway"/>
                <a:ea typeface="Raleway"/>
                <a:cs typeface="Raleway"/>
                <a:sym typeface="Raleway"/>
              </a:rPr>
              <a:t>Using</a:t>
            </a:r>
            <a:br>
              <a:rPr b="1" lang="en" sz="3600">
                <a:latin typeface="Raleway"/>
                <a:ea typeface="Raleway"/>
                <a:cs typeface="Raleway"/>
                <a:sym typeface="Raleway"/>
              </a:rPr>
            </a:br>
            <a:r>
              <a:rPr b="1" lang="en" sz="3600">
                <a:latin typeface="Raleway"/>
                <a:ea typeface="Raleway"/>
                <a:cs typeface="Raleway"/>
                <a:sym typeface="Raleway"/>
              </a:rPr>
              <a:t>Autonomous Drone</a:t>
            </a:r>
            <a:endParaRPr b="1" sz="3600">
              <a:latin typeface="Raleway"/>
              <a:ea typeface="Raleway"/>
              <a:cs typeface="Raleway"/>
              <a:sym typeface="Raleway"/>
            </a:endParaRPr>
          </a:p>
        </p:txBody>
      </p:sp>
      <p:sp>
        <p:nvSpPr>
          <p:cNvPr id="106" name="Google Shape;106;p25"/>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aleway"/>
                <a:ea typeface="Raleway"/>
                <a:cs typeface="Raleway"/>
                <a:sym typeface="Raleway"/>
              </a:rPr>
              <a:t>Team Excelsior</a:t>
            </a:r>
            <a:endParaRPr>
              <a:latin typeface="Raleway"/>
              <a:ea typeface="Raleway"/>
              <a:cs typeface="Raleway"/>
              <a:sym typeface="Raleway"/>
            </a:endParaRPr>
          </a:p>
        </p:txBody>
      </p:sp>
      <p:cxnSp>
        <p:nvCxnSpPr>
          <p:cNvPr id="107" name="Google Shape;107;p25"/>
          <p:cNvCxnSpPr/>
          <p:nvPr/>
        </p:nvCxnSpPr>
        <p:spPr>
          <a:xfrm>
            <a:off x="615150" y="2998025"/>
            <a:ext cx="5004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6"/>
          <p:cNvPicPr preferRelativeResize="0"/>
          <p:nvPr/>
        </p:nvPicPr>
        <p:blipFill rotWithShape="1">
          <a:blip r:embed="rId3">
            <a:alphaModFix/>
          </a:blip>
          <a:srcRect b="7834" l="0" r="0" t="7834"/>
          <a:stretch/>
        </p:blipFill>
        <p:spPr>
          <a:xfrm>
            <a:off x="0" y="-126476"/>
            <a:ext cx="10272950" cy="5778524"/>
          </a:xfrm>
          <a:prstGeom prst="rect">
            <a:avLst/>
          </a:prstGeom>
          <a:noFill/>
          <a:ln>
            <a:noFill/>
          </a:ln>
        </p:spPr>
      </p:pic>
      <p:sp>
        <p:nvSpPr>
          <p:cNvPr id="113" name="Google Shape;113;p26"/>
          <p:cNvSpPr txBox="1"/>
          <p:nvPr>
            <p:ph type="ctrTitle"/>
          </p:nvPr>
        </p:nvSpPr>
        <p:spPr>
          <a:xfrm>
            <a:off x="510450" y="1257300"/>
            <a:ext cx="8123100" cy="1588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About Us</a:t>
            </a:r>
            <a:endParaRPr b="1" sz="3600">
              <a:solidFill>
                <a:schemeClr val="lt2"/>
              </a:solidFill>
              <a:latin typeface="Raleway"/>
              <a:ea typeface="Raleway"/>
              <a:cs typeface="Raleway"/>
              <a:sym typeface="Raleway"/>
            </a:endParaRPr>
          </a:p>
        </p:txBody>
      </p:sp>
      <p:sp>
        <p:nvSpPr>
          <p:cNvPr id="114" name="Google Shape;114;p26"/>
          <p:cNvSpPr txBox="1"/>
          <p:nvPr>
            <p:ph idx="1" type="subTitle"/>
          </p:nvPr>
        </p:nvSpPr>
        <p:spPr>
          <a:xfrm>
            <a:off x="510450" y="3182313"/>
            <a:ext cx="8123100" cy="63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aleway"/>
                <a:ea typeface="Raleway"/>
                <a:cs typeface="Raleway"/>
                <a:sym typeface="Raleway"/>
              </a:rPr>
              <a:t>We are members of the FSAE team at IIT Roorkee. We have extensive experience in designing, simulating and manufacturing structural as well as functional parts. </a:t>
            </a:r>
            <a:endParaRPr sz="1800">
              <a:latin typeface="Raleway"/>
              <a:ea typeface="Raleway"/>
              <a:cs typeface="Raleway"/>
              <a:sym typeface="Raleway"/>
            </a:endParaRPr>
          </a:p>
          <a:p>
            <a:pPr indent="0" lvl="0" marL="0" rtl="0" algn="l">
              <a:spcBef>
                <a:spcPts val="0"/>
              </a:spcBef>
              <a:spcAft>
                <a:spcPts val="0"/>
              </a:spcAft>
              <a:buNone/>
            </a:pPr>
            <a:r>
              <a:t/>
            </a:r>
            <a:endParaRPr>
              <a:latin typeface="Raleway"/>
              <a:ea typeface="Raleway"/>
              <a:cs typeface="Raleway"/>
              <a:sym typeface="Raleway"/>
            </a:endParaRPr>
          </a:p>
        </p:txBody>
      </p:sp>
      <p:cxnSp>
        <p:nvCxnSpPr>
          <p:cNvPr id="115" name="Google Shape;115;p26"/>
          <p:cNvCxnSpPr/>
          <p:nvPr/>
        </p:nvCxnSpPr>
        <p:spPr>
          <a:xfrm>
            <a:off x="615150" y="2998025"/>
            <a:ext cx="5004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Our Solution</a:t>
            </a:r>
            <a:endParaRPr b="1" sz="3600">
              <a:solidFill>
                <a:schemeClr val="lt2"/>
              </a:solidFill>
              <a:latin typeface="Raleway"/>
              <a:ea typeface="Raleway"/>
              <a:cs typeface="Raleway"/>
              <a:sym typeface="Raleway"/>
            </a:endParaRPr>
          </a:p>
        </p:txBody>
      </p:sp>
      <p:sp>
        <p:nvSpPr>
          <p:cNvPr id="121" name="Google Shape;121;p27"/>
          <p:cNvSpPr txBox="1"/>
          <p:nvPr>
            <p:ph idx="1" type="body"/>
          </p:nvPr>
        </p:nvSpPr>
        <p:spPr>
          <a:xfrm>
            <a:off x="311700" y="1309600"/>
            <a:ext cx="5426700" cy="3172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solidFill>
                  <a:srgbClr val="000000"/>
                </a:solidFill>
                <a:latin typeface="Lato"/>
                <a:ea typeface="Lato"/>
                <a:cs typeface="Lato"/>
                <a:sym typeface="Lato"/>
              </a:rPr>
              <a:t>The COVID-19 pandemic has fostered people to re-evaluate their primacies very quickly. The cash flow in the ecosystem hai slowed down due to increased risk of transmission in person to person communication. To make human intervention minimal in door to door delivery systems we aim at building autonomous drone capable of delivery items which weigh upto 2.5 kgs through a predefined path with capability to avoid unforeseen obstacles (like birds) and feature of real time data downlink</a:t>
            </a:r>
            <a:endParaRPr b="1">
              <a:solidFill>
                <a:srgbClr val="000000"/>
              </a:solidFill>
              <a:latin typeface="Lato"/>
              <a:ea typeface="Lato"/>
              <a:cs typeface="Lato"/>
              <a:sym typeface="Lato"/>
            </a:endParaRPr>
          </a:p>
          <a:p>
            <a:pPr indent="0" lvl="0" marL="0" rtl="0" algn="l">
              <a:spcBef>
                <a:spcPts val="0"/>
              </a:spcBef>
              <a:spcAft>
                <a:spcPts val="1600"/>
              </a:spcAft>
              <a:buNone/>
            </a:pPr>
            <a:r>
              <a:t/>
            </a:r>
            <a:endParaRPr sz="2400"/>
          </a:p>
        </p:txBody>
      </p:sp>
      <p:pic>
        <p:nvPicPr>
          <p:cNvPr id="122" name="Google Shape;122;p27"/>
          <p:cNvPicPr preferRelativeResize="0"/>
          <p:nvPr/>
        </p:nvPicPr>
        <p:blipFill>
          <a:blip r:embed="rId3">
            <a:alphaModFix/>
          </a:blip>
          <a:stretch>
            <a:fillRect/>
          </a:stretch>
        </p:blipFill>
        <p:spPr>
          <a:xfrm>
            <a:off x="5890800" y="1170125"/>
            <a:ext cx="3100801" cy="283090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Drone Visualisation</a:t>
            </a:r>
            <a:endParaRPr b="1" sz="3600">
              <a:solidFill>
                <a:schemeClr val="lt2"/>
              </a:solidFill>
              <a:latin typeface="Raleway"/>
              <a:ea typeface="Raleway"/>
              <a:cs typeface="Raleway"/>
              <a:sym typeface="Raleway"/>
            </a:endParaRPr>
          </a:p>
        </p:txBody>
      </p:sp>
      <p:sp>
        <p:nvSpPr>
          <p:cNvPr id="128" name="Google Shape;128;p28"/>
          <p:cNvSpPr txBox="1"/>
          <p:nvPr/>
        </p:nvSpPr>
        <p:spPr>
          <a:xfrm>
            <a:off x="311700" y="1245050"/>
            <a:ext cx="8227800" cy="2895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666666"/>
              </a:buClr>
              <a:buSzPts val="1800"/>
              <a:buChar char="➔"/>
            </a:pPr>
            <a:r>
              <a:rPr b="1" lang="en" sz="1800">
                <a:solidFill>
                  <a:srgbClr val="434343"/>
                </a:solidFill>
                <a:latin typeface="Raleway"/>
                <a:ea typeface="Raleway"/>
                <a:cs typeface="Raleway"/>
                <a:sym typeface="Raleway"/>
              </a:rPr>
              <a:t>Number of Rotors:</a:t>
            </a:r>
            <a:r>
              <a:rPr b="1" lang="en" sz="1800">
                <a:solidFill>
                  <a:srgbClr val="666666"/>
                </a:solidFill>
                <a:latin typeface="Raleway"/>
                <a:ea typeface="Raleway"/>
                <a:cs typeface="Raleway"/>
                <a:sym typeface="Raleway"/>
              </a:rPr>
              <a:t> </a:t>
            </a:r>
            <a:r>
              <a:rPr lang="en" sz="1800">
                <a:solidFill>
                  <a:srgbClr val="666666"/>
                </a:solidFill>
                <a:latin typeface="Raleway"/>
                <a:ea typeface="Raleway"/>
                <a:cs typeface="Raleway"/>
                <a:sym typeface="Raleway"/>
              </a:rPr>
              <a:t>4</a:t>
            </a:r>
            <a:endParaRPr sz="1800">
              <a:solidFill>
                <a:srgbClr val="666666"/>
              </a:solidFill>
              <a:latin typeface="Raleway"/>
              <a:ea typeface="Raleway"/>
              <a:cs typeface="Raleway"/>
              <a:sym typeface="Raleway"/>
            </a:endParaRPr>
          </a:p>
          <a:p>
            <a:pPr indent="-342900" lvl="0" marL="457200" rtl="0" algn="l">
              <a:lnSpc>
                <a:spcPct val="115000"/>
              </a:lnSpc>
              <a:spcBef>
                <a:spcPts val="0"/>
              </a:spcBef>
              <a:spcAft>
                <a:spcPts val="0"/>
              </a:spcAft>
              <a:buClr>
                <a:srgbClr val="666666"/>
              </a:buClr>
              <a:buSzPts val="1800"/>
              <a:buChar char="➔"/>
            </a:pPr>
            <a:r>
              <a:rPr b="1" lang="en" sz="1800">
                <a:solidFill>
                  <a:srgbClr val="434343"/>
                </a:solidFill>
                <a:latin typeface="Raleway"/>
                <a:ea typeface="Raleway"/>
                <a:cs typeface="Raleway"/>
                <a:sym typeface="Raleway"/>
              </a:rPr>
              <a:t>Dimensions:</a:t>
            </a:r>
            <a:r>
              <a:rPr lang="en" sz="1800">
                <a:solidFill>
                  <a:srgbClr val="666666"/>
                </a:solidFill>
                <a:latin typeface="Raleway"/>
                <a:ea typeface="Raleway"/>
                <a:cs typeface="Raleway"/>
                <a:sym typeface="Raleway"/>
              </a:rPr>
              <a:t> 75x75x20cm</a:t>
            </a:r>
            <a:endParaRPr sz="1800">
              <a:solidFill>
                <a:srgbClr val="666666"/>
              </a:solidFill>
              <a:latin typeface="Raleway"/>
              <a:ea typeface="Raleway"/>
              <a:cs typeface="Raleway"/>
              <a:sym typeface="Raleway"/>
            </a:endParaRPr>
          </a:p>
          <a:p>
            <a:pPr indent="-342900" lvl="0" marL="457200" rtl="0" algn="l">
              <a:lnSpc>
                <a:spcPct val="115000"/>
              </a:lnSpc>
              <a:spcBef>
                <a:spcPts val="0"/>
              </a:spcBef>
              <a:spcAft>
                <a:spcPts val="0"/>
              </a:spcAft>
              <a:buClr>
                <a:srgbClr val="666666"/>
              </a:buClr>
              <a:buSzPts val="1800"/>
              <a:buChar char="➔"/>
            </a:pPr>
            <a:r>
              <a:rPr b="1" lang="en" sz="1800">
                <a:solidFill>
                  <a:srgbClr val="434343"/>
                </a:solidFill>
                <a:latin typeface="Raleway"/>
                <a:ea typeface="Raleway"/>
                <a:cs typeface="Raleway"/>
                <a:sym typeface="Raleway"/>
              </a:rPr>
              <a:t>Theoretical Weight (without payload):</a:t>
            </a:r>
            <a:r>
              <a:rPr lang="en" sz="1800">
                <a:solidFill>
                  <a:srgbClr val="434343"/>
                </a:solidFill>
                <a:latin typeface="Raleway"/>
                <a:ea typeface="Raleway"/>
                <a:cs typeface="Raleway"/>
                <a:sym typeface="Raleway"/>
              </a:rPr>
              <a:t> </a:t>
            </a:r>
            <a:r>
              <a:rPr lang="en" sz="1800">
                <a:solidFill>
                  <a:srgbClr val="666666"/>
                </a:solidFill>
                <a:latin typeface="Raleway"/>
                <a:ea typeface="Raleway"/>
                <a:cs typeface="Raleway"/>
                <a:sym typeface="Raleway"/>
              </a:rPr>
              <a:t>2.3 kg</a:t>
            </a:r>
            <a:endParaRPr sz="1800">
              <a:solidFill>
                <a:srgbClr val="666666"/>
              </a:solidFill>
              <a:latin typeface="Raleway"/>
              <a:ea typeface="Raleway"/>
              <a:cs typeface="Raleway"/>
              <a:sym typeface="Raleway"/>
            </a:endParaRPr>
          </a:p>
          <a:p>
            <a:pPr indent="-342900" lvl="0" marL="457200" rtl="0" algn="l">
              <a:lnSpc>
                <a:spcPct val="115000"/>
              </a:lnSpc>
              <a:spcBef>
                <a:spcPts val="0"/>
              </a:spcBef>
              <a:spcAft>
                <a:spcPts val="0"/>
              </a:spcAft>
              <a:buClr>
                <a:srgbClr val="666666"/>
              </a:buClr>
              <a:buSzPts val="1800"/>
              <a:buChar char="➔"/>
            </a:pPr>
            <a:r>
              <a:rPr b="1" lang="en" sz="1800">
                <a:solidFill>
                  <a:srgbClr val="434343"/>
                </a:solidFill>
                <a:latin typeface="Raleway"/>
                <a:ea typeface="Raleway"/>
                <a:cs typeface="Raleway"/>
                <a:sym typeface="Raleway"/>
              </a:rPr>
              <a:t>Max payload capacity :</a:t>
            </a:r>
            <a:r>
              <a:rPr b="1" lang="en" sz="1800">
                <a:solidFill>
                  <a:srgbClr val="666666"/>
                </a:solidFill>
                <a:latin typeface="Raleway"/>
                <a:ea typeface="Raleway"/>
                <a:cs typeface="Raleway"/>
                <a:sym typeface="Raleway"/>
              </a:rPr>
              <a:t> </a:t>
            </a:r>
            <a:r>
              <a:rPr lang="en" sz="1800">
                <a:solidFill>
                  <a:srgbClr val="666666"/>
                </a:solidFill>
                <a:latin typeface="Raleway"/>
                <a:ea typeface="Raleway"/>
                <a:cs typeface="Raleway"/>
                <a:sym typeface="Raleway"/>
              </a:rPr>
              <a:t>3.5 kg</a:t>
            </a:r>
            <a:endParaRPr sz="1800">
              <a:solidFill>
                <a:srgbClr val="666666"/>
              </a:solidFill>
              <a:latin typeface="Raleway"/>
              <a:ea typeface="Raleway"/>
              <a:cs typeface="Raleway"/>
              <a:sym typeface="Raleway"/>
            </a:endParaRPr>
          </a:p>
          <a:p>
            <a:pPr indent="-342900" lvl="0" marL="457200" rtl="0" algn="l">
              <a:lnSpc>
                <a:spcPct val="115000"/>
              </a:lnSpc>
              <a:spcBef>
                <a:spcPts val="0"/>
              </a:spcBef>
              <a:spcAft>
                <a:spcPts val="0"/>
              </a:spcAft>
              <a:buClr>
                <a:srgbClr val="666666"/>
              </a:buClr>
              <a:buSzPts val="1800"/>
              <a:buChar char="➔"/>
            </a:pPr>
            <a:r>
              <a:rPr b="1" lang="en" sz="1800">
                <a:solidFill>
                  <a:srgbClr val="434343"/>
                </a:solidFill>
                <a:latin typeface="Raleway"/>
                <a:ea typeface="Raleway"/>
                <a:cs typeface="Raleway"/>
                <a:sym typeface="Raleway"/>
              </a:rPr>
              <a:t>Propeller Size:</a:t>
            </a:r>
            <a:r>
              <a:rPr lang="en" sz="1800">
                <a:solidFill>
                  <a:srgbClr val="434343"/>
                </a:solidFill>
                <a:latin typeface="Raleway"/>
                <a:ea typeface="Raleway"/>
                <a:cs typeface="Raleway"/>
                <a:sym typeface="Raleway"/>
              </a:rPr>
              <a:t> </a:t>
            </a:r>
            <a:r>
              <a:rPr lang="en" sz="1800">
                <a:solidFill>
                  <a:srgbClr val="666666"/>
                </a:solidFill>
                <a:latin typeface="Raleway"/>
                <a:ea typeface="Raleway"/>
                <a:cs typeface="Raleway"/>
                <a:sym typeface="Raleway"/>
              </a:rPr>
              <a:t>38.1cm</a:t>
            </a:r>
            <a:endParaRPr sz="1800">
              <a:solidFill>
                <a:srgbClr val="666666"/>
              </a:solidFill>
              <a:latin typeface="Raleway"/>
              <a:ea typeface="Raleway"/>
              <a:cs typeface="Raleway"/>
              <a:sym typeface="Raleway"/>
            </a:endParaRPr>
          </a:p>
          <a:p>
            <a:pPr indent="-342900" lvl="0" marL="457200" rtl="0" algn="l">
              <a:lnSpc>
                <a:spcPct val="115000"/>
              </a:lnSpc>
              <a:spcBef>
                <a:spcPts val="0"/>
              </a:spcBef>
              <a:spcAft>
                <a:spcPts val="0"/>
              </a:spcAft>
              <a:buClr>
                <a:srgbClr val="666666"/>
              </a:buClr>
              <a:buSzPts val="1800"/>
              <a:buFont typeface="Raleway"/>
              <a:buChar char="➔"/>
            </a:pPr>
            <a:r>
              <a:rPr b="1" lang="en" sz="1800">
                <a:solidFill>
                  <a:srgbClr val="434343"/>
                </a:solidFill>
                <a:latin typeface="Raleway"/>
                <a:ea typeface="Raleway"/>
                <a:cs typeface="Raleway"/>
                <a:sym typeface="Raleway"/>
              </a:rPr>
              <a:t>Battery Life:</a:t>
            </a:r>
            <a:endParaRPr b="1" sz="1800">
              <a:solidFill>
                <a:srgbClr val="434343"/>
              </a:solidFill>
              <a:latin typeface="Raleway"/>
              <a:ea typeface="Raleway"/>
              <a:cs typeface="Raleway"/>
              <a:sym typeface="Raleway"/>
            </a:endParaRPr>
          </a:p>
          <a:p>
            <a:pPr indent="-342900" lvl="1" marL="914400" rtl="0" algn="l">
              <a:lnSpc>
                <a:spcPct val="115000"/>
              </a:lnSpc>
              <a:spcBef>
                <a:spcPts val="0"/>
              </a:spcBef>
              <a:spcAft>
                <a:spcPts val="0"/>
              </a:spcAft>
              <a:buClr>
                <a:srgbClr val="666666"/>
              </a:buClr>
              <a:buSzPts val="1800"/>
              <a:buFont typeface="Raleway"/>
              <a:buChar char="◆"/>
            </a:pPr>
            <a:r>
              <a:rPr lang="en" sz="1800">
                <a:solidFill>
                  <a:srgbClr val="666666"/>
                </a:solidFill>
                <a:latin typeface="Raleway"/>
                <a:ea typeface="Raleway"/>
                <a:cs typeface="Raleway"/>
                <a:sym typeface="Raleway"/>
              </a:rPr>
              <a:t>20 mins with 2kg payload</a:t>
            </a:r>
            <a:endParaRPr sz="1800">
              <a:solidFill>
                <a:srgbClr val="666666"/>
              </a:solidFill>
              <a:latin typeface="Raleway"/>
              <a:ea typeface="Raleway"/>
              <a:cs typeface="Raleway"/>
              <a:sym typeface="Raleway"/>
            </a:endParaRPr>
          </a:p>
          <a:p>
            <a:pPr indent="-342900" lvl="1" marL="914400" rtl="0" algn="l">
              <a:lnSpc>
                <a:spcPct val="115000"/>
              </a:lnSpc>
              <a:spcBef>
                <a:spcPts val="0"/>
              </a:spcBef>
              <a:spcAft>
                <a:spcPts val="0"/>
              </a:spcAft>
              <a:buClr>
                <a:srgbClr val="666666"/>
              </a:buClr>
              <a:buSzPts val="1800"/>
              <a:buFont typeface="Raleway"/>
              <a:buChar char="◆"/>
            </a:pPr>
            <a:r>
              <a:rPr lang="en" sz="1800">
                <a:solidFill>
                  <a:srgbClr val="666666"/>
                </a:solidFill>
                <a:latin typeface="Raleway"/>
                <a:ea typeface="Raleway"/>
                <a:cs typeface="Raleway"/>
                <a:sym typeface="Raleway"/>
              </a:rPr>
              <a:t>35 mins without payload</a:t>
            </a:r>
            <a:endParaRPr sz="1800">
              <a:solidFill>
                <a:srgbClr val="666666"/>
              </a:solidFill>
              <a:latin typeface="Raleway"/>
              <a:ea typeface="Raleway"/>
              <a:cs typeface="Raleway"/>
              <a:sym typeface="Raleway"/>
            </a:endParaRPr>
          </a:p>
          <a:p>
            <a:pPr indent="-342900" lvl="0" marL="457200" rtl="0" algn="l">
              <a:lnSpc>
                <a:spcPct val="115000"/>
              </a:lnSpc>
              <a:spcBef>
                <a:spcPts val="0"/>
              </a:spcBef>
              <a:spcAft>
                <a:spcPts val="0"/>
              </a:spcAft>
              <a:buClr>
                <a:srgbClr val="666666"/>
              </a:buClr>
              <a:buSzPts val="1800"/>
              <a:buChar char="➔"/>
            </a:pPr>
            <a:r>
              <a:rPr b="1" lang="en" sz="1800">
                <a:solidFill>
                  <a:srgbClr val="434343"/>
                </a:solidFill>
                <a:latin typeface="Raleway"/>
                <a:ea typeface="Raleway"/>
                <a:cs typeface="Raleway"/>
                <a:sym typeface="Raleway"/>
              </a:rPr>
              <a:t>Frame:</a:t>
            </a:r>
            <a:r>
              <a:rPr lang="en" sz="1800">
                <a:solidFill>
                  <a:srgbClr val="434343"/>
                </a:solidFill>
                <a:latin typeface="Raleway"/>
                <a:ea typeface="Raleway"/>
                <a:cs typeface="Raleway"/>
                <a:sym typeface="Raleway"/>
              </a:rPr>
              <a:t> </a:t>
            </a:r>
            <a:endParaRPr sz="1800">
              <a:solidFill>
                <a:srgbClr val="434343"/>
              </a:solidFill>
              <a:latin typeface="Raleway"/>
              <a:ea typeface="Raleway"/>
              <a:cs typeface="Raleway"/>
              <a:sym typeface="Raleway"/>
            </a:endParaRPr>
          </a:p>
          <a:p>
            <a:pPr indent="-342900" lvl="1" marL="914400" rtl="0" algn="l">
              <a:lnSpc>
                <a:spcPct val="115000"/>
              </a:lnSpc>
              <a:spcBef>
                <a:spcPts val="0"/>
              </a:spcBef>
              <a:spcAft>
                <a:spcPts val="0"/>
              </a:spcAft>
              <a:buClr>
                <a:srgbClr val="666666"/>
              </a:buClr>
              <a:buSzPts val="1800"/>
              <a:buFont typeface="Raleway"/>
              <a:buChar char="◆"/>
            </a:pPr>
            <a:r>
              <a:rPr lang="en" sz="1800">
                <a:solidFill>
                  <a:srgbClr val="666666"/>
                </a:solidFill>
                <a:latin typeface="Raleway"/>
                <a:ea typeface="Raleway"/>
                <a:cs typeface="Raleway"/>
                <a:sym typeface="Raleway"/>
              </a:rPr>
              <a:t>Material: CFRP Sandwich Panel for central pod and 3D printed arms</a:t>
            </a:r>
            <a:endParaRPr sz="1800">
              <a:solidFill>
                <a:srgbClr val="666666"/>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p29"/>
          <p:cNvPicPr preferRelativeResize="0"/>
          <p:nvPr/>
        </p:nvPicPr>
        <p:blipFill>
          <a:blip r:embed="rId3">
            <a:alphaModFix/>
          </a:blip>
          <a:stretch>
            <a:fillRect/>
          </a:stretch>
        </p:blipFill>
        <p:spPr>
          <a:xfrm>
            <a:off x="152400" y="140000"/>
            <a:ext cx="8839201" cy="47503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0"/>
          <p:cNvSpPr txBox="1"/>
          <p:nvPr>
            <p:ph type="title"/>
          </p:nvPr>
        </p:nvSpPr>
        <p:spPr>
          <a:xfrm>
            <a:off x="311700" y="345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Mechanical Advancements</a:t>
            </a:r>
            <a:endParaRPr b="1" sz="3600">
              <a:solidFill>
                <a:schemeClr val="lt2"/>
              </a:solidFill>
              <a:latin typeface="Raleway"/>
              <a:ea typeface="Raleway"/>
              <a:cs typeface="Raleway"/>
              <a:sym typeface="Raleway"/>
            </a:endParaRPr>
          </a:p>
        </p:txBody>
      </p:sp>
      <p:sp>
        <p:nvSpPr>
          <p:cNvPr id="139" name="Google Shape;139;p30"/>
          <p:cNvSpPr txBox="1"/>
          <p:nvPr/>
        </p:nvSpPr>
        <p:spPr>
          <a:xfrm>
            <a:off x="495775" y="1524450"/>
            <a:ext cx="5279700" cy="2565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800">
                <a:latin typeface="Lato"/>
                <a:ea typeface="Lato"/>
                <a:cs typeface="Lato"/>
                <a:sym typeface="Lato"/>
              </a:rPr>
              <a:t>Gimbal</a:t>
            </a:r>
            <a:endParaRPr b="1" sz="1800">
              <a:latin typeface="Lato"/>
              <a:ea typeface="Lato"/>
              <a:cs typeface="Lato"/>
              <a:sym typeface="Lato"/>
            </a:endParaRPr>
          </a:p>
          <a:p>
            <a:pPr indent="0" lvl="0" marL="0" rtl="0" algn="just">
              <a:spcBef>
                <a:spcPts val="0"/>
              </a:spcBef>
              <a:spcAft>
                <a:spcPts val="0"/>
              </a:spcAft>
              <a:buNone/>
            </a:pPr>
            <a:r>
              <a:rPr lang="en" sz="1800">
                <a:latin typeface="Lato"/>
                <a:ea typeface="Lato"/>
                <a:cs typeface="Lato"/>
                <a:sym typeface="Lato"/>
              </a:rPr>
              <a:t>Instead of purchasing a readymade gimbal from the market, we decided to make a custom gimbal that suits our specific requirements. The gimbal is made using 3d printing techniques and employs servo motors controlled by Raspberry Pi using data from a gyroscope and accelerometer. This reduces cost and effort for adapting the gimbal to the frame.</a:t>
            </a:r>
            <a:endParaRPr sz="1800">
              <a:latin typeface="Lato"/>
              <a:ea typeface="Lato"/>
              <a:cs typeface="Lato"/>
              <a:sym typeface="Lato"/>
            </a:endParaRPr>
          </a:p>
          <a:p>
            <a:pPr indent="0" lvl="0" marL="0" rtl="0" algn="l">
              <a:spcBef>
                <a:spcPts val="0"/>
              </a:spcBef>
              <a:spcAft>
                <a:spcPts val="0"/>
              </a:spcAft>
              <a:buNone/>
            </a:pPr>
            <a:r>
              <a:t/>
            </a:r>
            <a:endParaRPr>
              <a:latin typeface="Proxima Nova"/>
              <a:ea typeface="Proxima Nova"/>
              <a:cs typeface="Proxima Nova"/>
              <a:sym typeface="Proxima Nova"/>
            </a:endParaRPr>
          </a:p>
        </p:txBody>
      </p:sp>
      <p:pic>
        <p:nvPicPr>
          <p:cNvPr id="140" name="Google Shape;140;p30"/>
          <p:cNvPicPr preferRelativeResize="0"/>
          <p:nvPr/>
        </p:nvPicPr>
        <p:blipFill>
          <a:blip r:embed="rId3">
            <a:alphaModFix/>
          </a:blip>
          <a:stretch>
            <a:fillRect/>
          </a:stretch>
        </p:blipFill>
        <p:spPr>
          <a:xfrm>
            <a:off x="6155075" y="1773287"/>
            <a:ext cx="2677226" cy="20679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1"/>
          <p:cNvSpPr txBox="1"/>
          <p:nvPr>
            <p:ph type="title"/>
          </p:nvPr>
        </p:nvSpPr>
        <p:spPr>
          <a:xfrm>
            <a:off x="311700" y="345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Mechanical Advancements</a:t>
            </a:r>
            <a:endParaRPr b="1" sz="3600">
              <a:solidFill>
                <a:schemeClr val="lt2"/>
              </a:solidFill>
              <a:latin typeface="Raleway"/>
              <a:ea typeface="Raleway"/>
              <a:cs typeface="Raleway"/>
              <a:sym typeface="Raleway"/>
            </a:endParaRPr>
          </a:p>
        </p:txBody>
      </p:sp>
      <p:sp>
        <p:nvSpPr>
          <p:cNvPr id="146" name="Google Shape;146;p31"/>
          <p:cNvSpPr txBox="1"/>
          <p:nvPr/>
        </p:nvSpPr>
        <p:spPr>
          <a:xfrm>
            <a:off x="495775" y="1524450"/>
            <a:ext cx="5279700" cy="2565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b="1" sz="1800">
              <a:latin typeface="Lato"/>
              <a:ea typeface="Lato"/>
              <a:cs typeface="Lato"/>
              <a:sym typeface="Lato"/>
            </a:endParaRPr>
          </a:p>
          <a:p>
            <a:pPr indent="0" lvl="0" marL="0" rtl="0" algn="just">
              <a:spcBef>
                <a:spcPts val="0"/>
              </a:spcBef>
              <a:spcAft>
                <a:spcPts val="0"/>
              </a:spcAft>
              <a:buNone/>
            </a:pPr>
            <a:r>
              <a:rPr b="1" lang="en" sz="1800">
                <a:latin typeface="Lato"/>
                <a:ea typeface="Lato"/>
                <a:cs typeface="Lato"/>
                <a:sym typeface="Lato"/>
              </a:rPr>
              <a:t>Motor and Propeller:  </a:t>
            </a:r>
            <a:endParaRPr b="1" sz="1800">
              <a:latin typeface="Lato"/>
              <a:ea typeface="Lato"/>
              <a:cs typeface="Lato"/>
              <a:sym typeface="Lato"/>
            </a:endParaRPr>
          </a:p>
          <a:p>
            <a:pPr indent="0" lvl="0" marL="0" rtl="0" algn="just">
              <a:spcBef>
                <a:spcPts val="0"/>
              </a:spcBef>
              <a:spcAft>
                <a:spcPts val="0"/>
              </a:spcAft>
              <a:buNone/>
            </a:pPr>
            <a:r>
              <a:rPr lang="en" sz="1800">
                <a:latin typeface="Lato"/>
                <a:ea typeface="Lato"/>
                <a:cs typeface="Lato"/>
                <a:sym typeface="Lato"/>
              </a:rPr>
              <a:t>We have replaced the motors and propellers selected earlier with new ones that are cheaper and similar in thrust capabilities. This helps in reducing costs.</a:t>
            </a:r>
            <a:endParaRPr sz="1800">
              <a:latin typeface="Lato"/>
              <a:ea typeface="Lato"/>
              <a:cs typeface="Lato"/>
              <a:sym typeface="Lato"/>
            </a:endParaRPr>
          </a:p>
          <a:p>
            <a:pPr indent="0" lvl="0" marL="0" rtl="0" algn="just">
              <a:spcBef>
                <a:spcPts val="0"/>
              </a:spcBef>
              <a:spcAft>
                <a:spcPts val="0"/>
              </a:spcAft>
              <a:buNone/>
            </a:pPr>
            <a:r>
              <a:t/>
            </a:r>
            <a:endParaRPr sz="1800">
              <a:latin typeface="Lato"/>
              <a:ea typeface="Lato"/>
              <a:cs typeface="Lato"/>
              <a:sym typeface="Lato"/>
            </a:endParaRPr>
          </a:p>
          <a:p>
            <a:pPr indent="0" lvl="0" marL="0" rtl="0" algn="l">
              <a:spcBef>
                <a:spcPts val="0"/>
              </a:spcBef>
              <a:spcAft>
                <a:spcPts val="0"/>
              </a:spcAft>
              <a:buNone/>
            </a:pPr>
            <a:r>
              <a:t/>
            </a:r>
            <a:endParaRPr>
              <a:latin typeface="Proxima Nova"/>
              <a:ea typeface="Proxima Nova"/>
              <a:cs typeface="Proxima Nova"/>
              <a:sym typeface="Proxima Nova"/>
            </a:endParaRPr>
          </a:p>
        </p:txBody>
      </p:sp>
      <p:pic>
        <p:nvPicPr>
          <p:cNvPr id="147" name="Google Shape;147;p31"/>
          <p:cNvPicPr preferRelativeResize="0"/>
          <p:nvPr/>
        </p:nvPicPr>
        <p:blipFill>
          <a:blip r:embed="rId3">
            <a:alphaModFix/>
          </a:blip>
          <a:stretch>
            <a:fillRect/>
          </a:stretch>
        </p:blipFill>
        <p:spPr>
          <a:xfrm>
            <a:off x="6154350" y="1045600"/>
            <a:ext cx="1852225" cy="1852225"/>
          </a:xfrm>
          <a:prstGeom prst="rect">
            <a:avLst/>
          </a:prstGeom>
          <a:noFill/>
          <a:ln>
            <a:noFill/>
          </a:ln>
        </p:spPr>
      </p:pic>
      <p:pic>
        <p:nvPicPr>
          <p:cNvPr id="148" name="Google Shape;148;p31"/>
          <p:cNvPicPr preferRelativeResize="0"/>
          <p:nvPr/>
        </p:nvPicPr>
        <p:blipFill>
          <a:blip r:embed="rId4">
            <a:alphaModFix/>
          </a:blip>
          <a:stretch>
            <a:fillRect/>
          </a:stretch>
        </p:blipFill>
        <p:spPr>
          <a:xfrm>
            <a:off x="5842925" y="2897825"/>
            <a:ext cx="2334425" cy="2126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2"/>
          <p:cNvSpPr txBox="1"/>
          <p:nvPr>
            <p:ph type="title"/>
          </p:nvPr>
        </p:nvSpPr>
        <p:spPr>
          <a:xfrm>
            <a:off x="311700" y="345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Structural Analysis</a:t>
            </a:r>
            <a:endParaRPr b="1" sz="3600">
              <a:solidFill>
                <a:schemeClr val="lt2"/>
              </a:solidFill>
              <a:latin typeface="Raleway"/>
              <a:ea typeface="Raleway"/>
              <a:cs typeface="Raleway"/>
              <a:sym typeface="Raleway"/>
            </a:endParaRPr>
          </a:p>
        </p:txBody>
      </p:sp>
      <p:pic>
        <p:nvPicPr>
          <p:cNvPr id="154" name="Google Shape;154;p32"/>
          <p:cNvPicPr preferRelativeResize="0"/>
          <p:nvPr/>
        </p:nvPicPr>
        <p:blipFill rotWithShape="1">
          <a:blip r:embed="rId3">
            <a:alphaModFix/>
          </a:blip>
          <a:srcRect b="36716" l="27424" r="13952" t="20307"/>
          <a:stretch/>
        </p:blipFill>
        <p:spPr>
          <a:xfrm>
            <a:off x="717700" y="1129250"/>
            <a:ext cx="7708576" cy="3692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3"/>
          <p:cNvSpPr txBox="1"/>
          <p:nvPr>
            <p:ph type="title"/>
          </p:nvPr>
        </p:nvSpPr>
        <p:spPr>
          <a:xfrm>
            <a:off x="311700" y="345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Structural Analysis</a:t>
            </a:r>
            <a:endParaRPr b="1" sz="3600">
              <a:solidFill>
                <a:schemeClr val="lt2"/>
              </a:solidFill>
              <a:latin typeface="Raleway"/>
              <a:ea typeface="Raleway"/>
              <a:cs typeface="Raleway"/>
              <a:sym typeface="Raleway"/>
            </a:endParaRPr>
          </a:p>
        </p:txBody>
      </p:sp>
      <p:pic>
        <p:nvPicPr>
          <p:cNvPr id="160" name="Google Shape;160;p33"/>
          <p:cNvPicPr preferRelativeResize="0"/>
          <p:nvPr/>
        </p:nvPicPr>
        <p:blipFill rotWithShape="1">
          <a:blip r:embed="rId3">
            <a:alphaModFix/>
          </a:blip>
          <a:srcRect b="36562" l="27202" r="13995" t="20464"/>
          <a:stretch/>
        </p:blipFill>
        <p:spPr>
          <a:xfrm>
            <a:off x="645225" y="1165050"/>
            <a:ext cx="7853526" cy="3509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4"/>
          <p:cNvSpPr txBox="1"/>
          <p:nvPr>
            <p:ph type="title"/>
          </p:nvPr>
        </p:nvSpPr>
        <p:spPr>
          <a:xfrm>
            <a:off x="311700" y="345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Structural Analysis</a:t>
            </a:r>
            <a:endParaRPr b="1" sz="3600">
              <a:solidFill>
                <a:schemeClr val="lt2"/>
              </a:solidFill>
              <a:latin typeface="Raleway"/>
              <a:ea typeface="Raleway"/>
              <a:cs typeface="Raleway"/>
              <a:sym typeface="Raleway"/>
            </a:endParaRPr>
          </a:p>
        </p:txBody>
      </p:sp>
      <p:pic>
        <p:nvPicPr>
          <p:cNvPr id="166" name="Google Shape;166;p34"/>
          <p:cNvPicPr preferRelativeResize="0"/>
          <p:nvPr/>
        </p:nvPicPr>
        <p:blipFill rotWithShape="1">
          <a:blip r:embed="rId3">
            <a:alphaModFix/>
          </a:blip>
          <a:srcRect b="39819" l="27256" r="12813" t="20186"/>
          <a:stretch/>
        </p:blipFill>
        <p:spPr>
          <a:xfrm>
            <a:off x="756250" y="1264175"/>
            <a:ext cx="7631501" cy="33363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5"/>
          <p:cNvSpPr txBox="1"/>
          <p:nvPr>
            <p:ph type="title"/>
          </p:nvPr>
        </p:nvSpPr>
        <p:spPr>
          <a:xfrm>
            <a:off x="311700" y="790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rPr>
              <a:t>Hardware Architecture</a:t>
            </a:r>
            <a:endParaRPr b="1" sz="3600">
              <a:solidFill>
                <a:schemeClr val="lt2"/>
              </a:solidFill>
            </a:endParaRPr>
          </a:p>
        </p:txBody>
      </p:sp>
      <p:pic>
        <p:nvPicPr>
          <p:cNvPr id="172" name="Google Shape;172;p35"/>
          <p:cNvPicPr preferRelativeResize="0"/>
          <p:nvPr/>
        </p:nvPicPr>
        <p:blipFill>
          <a:blip r:embed="rId3">
            <a:alphaModFix/>
          </a:blip>
          <a:stretch>
            <a:fillRect/>
          </a:stretch>
        </p:blipFill>
        <p:spPr>
          <a:xfrm>
            <a:off x="1079913" y="768500"/>
            <a:ext cx="7167176" cy="42286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6"/>
          <p:cNvSpPr txBox="1"/>
          <p:nvPr>
            <p:ph type="title"/>
          </p:nvPr>
        </p:nvSpPr>
        <p:spPr>
          <a:xfrm>
            <a:off x="3842625" y="983775"/>
            <a:ext cx="5331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3600">
                <a:solidFill>
                  <a:schemeClr val="lt2"/>
                </a:solidFill>
                <a:latin typeface="Raleway"/>
                <a:ea typeface="Raleway"/>
                <a:cs typeface="Raleway"/>
                <a:sym typeface="Raleway"/>
              </a:rPr>
              <a:t>Software Architecture</a:t>
            </a:r>
            <a:endParaRPr b="1" sz="3600">
              <a:solidFill>
                <a:schemeClr val="lt2"/>
              </a:solidFill>
            </a:endParaRPr>
          </a:p>
        </p:txBody>
      </p:sp>
      <p:pic>
        <p:nvPicPr>
          <p:cNvPr id="178" name="Google Shape;178;p36"/>
          <p:cNvPicPr preferRelativeResize="0"/>
          <p:nvPr/>
        </p:nvPicPr>
        <p:blipFill>
          <a:blip r:embed="rId3">
            <a:alphaModFix/>
          </a:blip>
          <a:stretch>
            <a:fillRect/>
          </a:stretch>
        </p:blipFill>
        <p:spPr>
          <a:xfrm>
            <a:off x="41100" y="0"/>
            <a:ext cx="3742324" cy="4997124"/>
          </a:xfrm>
          <a:prstGeom prst="rect">
            <a:avLst/>
          </a:prstGeom>
          <a:noFill/>
          <a:ln>
            <a:noFill/>
          </a:ln>
        </p:spPr>
      </p:pic>
      <p:pic>
        <p:nvPicPr>
          <p:cNvPr id="179" name="Google Shape;179;p36"/>
          <p:cNvPicPr preferRelativeResize="0"/>
          <p:nvPr/>
        </p:nvPicPr>
        <p:blipFill>
          <a:blip r:embed="rId4">
            <a:alphaModFix/>
          </a:blip>
          <a:stretch>
            <a:fillRect/>
          </a:stretch>
        </p:blipFill>
        <p:spPr>
          <a:xfrm>
            <a:off x="3842625" y="2676425"/>
            <a:ext cx="5244426" cy="1527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7"/>
          <p:cNvSpPr txBox="1"/>
          <p:nvPr>
            <p:ph type="title"/>
          </p:nvPr>
        </p:nvSpPr>
        <p:spPr>
          <a:xfrm>
            <a:off x="311700" y="1720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Navigation Control</a:t>
            </a:r>
            <a:endParaRPr b="1" sz="3600">
              <a:solidFill>
                <a:schemeClr val="lt2"/>
              </a:solidFill>
              <a:latin typeface="Raleway"/>
              <a:ea typeface="Raleway"/>
              <a:cs typeface="Raleway"/>
              <a:sym typeface="Raleway"/>
            </a:endParaRPr>
          </a:p>
        </p:txBody>
      </p:sp>
      <p:pic>
        <p:nvPicPr>
          <p:cNvPr id="185" name="Google Shape;185;p37"/>
          <p:cNvPicPr preferRelativeResize="0"/>
          <p:nvPr/>
        </p:nvPicPr>
        <p:blipFill>
          <a:blip r:embed="rId3">
            <a:alphaModFix/>
          </a:blip>
          <a:stretch>
            <a:fillRect/>
          </a:stretch>
        </p:blipFill>
        <p:spPr>
          <a:xfrm>
            <a:off x="-5475" y="930175"/>
            <a:ext cx="9154949" cy="4077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8"/>
          <p:cNvPicPr preferRelativeResize="0"/>
          <p:nvPr/>
        </p:nvPicPr>
        <p:blipFill>
          <a:blip r:embed="rId3">
            <a:alphaModFix/>
          </a:blip>
          <a:stretch>
            <a:fillRect/>
          </a:stretch>
        </p:blipFill>
        <p:spPr>
          <a:xfrm>
            <a:off x="117300" y="68100"/>
            <a:ext cx="5334000" cy="2867025"/>
          </a:xfrm>
          <a:prstGeom prst="rect">
            <a:avLst/>
          </a:prstGeom>
          <a:noFill/>
          <a:ln>
            <a:noFill/>
          </a:ln>
        </p:spPr>
      </p:pic>
      <p:pic>
        <p:nvPicPr>
          <p:cNvPr id="191" name="Google Shape;191;p38"/>
          <p:cNvPicPr preferRelativeResize="0"/>
          <p:nvPr/>
        </p:nvPicPr>
        <p:blipFill>
          <a:blip r:embed="rId4">
            <a:alphaModFix/>
          </a:blip>
          <a:stretch>
            <a:fillRect/>
          </a:stretch>
        </p:blipFill>
        <p:spPr>
          <a:xfrm>
            <a:off x="5507525" y="68100"/>
            <a:ext cx="3413799" cy="2373007"/>
          </a:xfrm>
          <a:prstGeom prst="rect">
            <a:avLst/>
          </a:prstGeom>
          <a:noFill/>
          <a:ln>
            <a:noFill/>
          </a:ln>
        </p:spPr>
      </p:pic>
      <p:graphicFrame>
        <p:nvGraphicFramePr>
          <p:cNvPr id="192" name="Google Shape;192;p38"/>
          <p:cNvGraphicFramePr/>
          <p:nvPr/>
        </p:nvGraphicFramePr>
        <p:xfrm>
          <a:off x="6043850" y="2525400"/>
          <a:ext cx="3000000" cy="3000000"/>
        </p:xfrm>
        <a:graphic>
          <a:graphicData uri="http://schemas.openxmlformats.org/drawingml/2006/table">
            <a:tbl>
              <a:tblPr>
                <a:noFill/>
                <a:tableStyleId>{95A7051A-2C27-4AC7-A5FB-3AE3238F6B53}</a:tableStyleId>
              </a:tblPr>
              <a:tblGrid>
                <a:gridCol w="1170575"/>
                <a:gridCol w="1170575"/>
              </a:tblGrid>
              <a:tr h="357125">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Pixhawk</a:t>
                      </a:r>
                      <a:endParaRPr/>
                    </a:p>
                  </a:txBody>
                  <a:tcPr marT="91425" marB="91425" marR="91425" marL="91425"/>
                </a:tc>
              </a:tr>
              <a:tr h="357125">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Telemetry</a:t>
                      </a:r>
                      <a:endParaRPr/>
                    </a:p>
                  </a:txBody>
                  <a:tcPr marT="91425" marB="91425" marR="91425" marL="91425"/>
                </a:tc>
              </a:tr>
              <a:tr h="357125">
                <a:tc>
                  <a:txBody>
                    <a:bodyPr/>
                    <a:lstStyle/>
                    <a:p>
                      <a:pPr indent="0" lvl="0" marL="0" rtl="0" algn="ctr">
                        <a:spcBef>
                          <a:spcPts val="0"/>
                        </a:spcBef>
                        <a:spcAft>
                          <a:spcPts val="0"/>
                        </a:spcAft>
                        <a:buNone/>
                      </a:pPr>
                      <a:r>
                        <a:rPr lang="en"/>
                        <a:t>3</a:t>
                      </a:r>
                      <a:endParaRPr/>
                    </a:p>
                  </a:txBody>
                  <a:tcPr marT="91425" marB="91425" marR="91425" marL="91425"/>
                </a:tc>
                <a:tc>
                  <a:txBody>
                    <a:bodyPr/>
                    <a:lstStyle/>
                    <a:p>
                      <a:pPr indent="0" lvl="0" marL="0" rtl="0" algn="ctr">
                        <a:spcBef>
                          <a:spcPts val="0"/>
                        </a:spcBef>
                        <a:spcAft>
                          <a:spcPts val="0"/>
                        </a:spcAft>
                        <a:buNone/>
                      </a:pPr>
                      <a:r>
                        <a:rPr lang="en"/>
                        <a:t>Receiver</a:t>
                      </a:r>
                      <a:endParaRPr/>
                    </a:p>
                  </a:txBody>
                  <a:tcPr marT="91425" marB="91425" marR="91425" marL="91425"/>
                </a:tc>
              </a:tr>
              <a:tr h="357125">
                <a:tc>
                  <a:txBody>
                    <a:bodyPr/>
                    <a:lstStyle/>
                    <a:p>
                      <a:pPr indent="0" lvl="0" marL="0" rtl="0" algn="ctr">
                        <a:spcBef>
                          <a:spcPts val="0"/>
                        </a:spcBef>
                        <a:spcAft>
                          <a:spcPts val="0"/>
                        </a:spcAft>
                        <a:buNone/>
                      </a:pPr>
                      <a:r>
                        <a:rPr lang="en"/>
                        <a:t>4</a:t>
                      </a:r>
                      <a:endParaRPr/>
                    </a:p>
                  </a:txBody>
                  <a:tcPr marT="91425" marB="91425" marR="91425" marL="91425"/>
                </a:tc>
                <a:tc>
                  <a:txBody>
                    <a:bodyPr/>
                    <a:lstStyle/>
                    <a:p>
                      <a:pPr indent="0" lvl="0" marL="0" rtl="0" algn="ctr">
                        <a:spcBef>
                          <a:spcPts val="0"/>
                        </a:spcBef>
                        <a:spcAft>
                          <a:spcPts val="0"/>
                        </a:spcAft>
                        <a:buNone/>
                      </a:pPr>
                      <a:r>
                        <a:rPr lang="en"/>
                        <a:t>Lidar</a:t>
                      </a:r>
                      <a:endParaRPr/>
                    </a:p>
                  </a:txBody>
                  <a:tcPr marT="91425" marB="91425" marR="91425" marL="91425"/>
                </a:tc>
              </a:tr>
              <a:tr h="357125">
                <a:tc>
                  <a:txBody>
                    <a:bodyPr/>
                    <a:lstStyle/>
                    <a:p>
                      <a:pPr indent="0" lvl="0" marL="0" rtl="0" algn="ctr">
                        <a:spcBef>
                          <a:spcPts val="0"/>
                        </a:spcBef>
                        <a:spcAft>
                          <a:spcPts val="0"/>
                        </a:spcAft>
                        <a:buNone/>
                      </a:pPr>
                      <a:r>
                        <a:rPr lang="en"/>
                        <a:t>5</a:t>
                      </a:r>
                      <a:endParaRPr/>
                    </a:p>
                  </a:txBody>
                  <a:tcPr marT="91425" marB="91425" marR="91425" marL="91425"/>
                </a:tc>
                <a:tc>
                  <a:txBody>
                    <a:bodyPr/>
                    <a:lstStyle/>
                    <a:p>
                      <a:pPr indent="0" lvl="0" marL="0" rtl="0" algn="ctr">
                        <a:spcBef>
                          <a:spcPts val="0"/>
                        </a:spcBef>
                        <a:spcAft>
                          <a:spcPts val="0"/>
                        </a:spcAft>
                        <a:buNone/>
                      </a:pPr>
                      <a:r>
                        <a:rPr lang="en"/>
                        <a:t>GPS</a:t>
                      </a:r>
                      <a:endParaRPr/>
                    </a:p>
                  </a:txBody>
                  <a:tcPr marT="91425" marB="91425" marR="91425" marL="91425"/>
                </a:tc>
              </a:tr>
              <a:tr h="357125">
                <a:tc>
                  <a:txBody>
                    <a:bodyPr/>
                    <a:lstStyle/>
                    <a:p>
                      <a:pPr indent="0" lvl="0" marL="0" rtl="0" algn="ctr">
                        <a:spcBef>
                          <a:spcPts val="0"/>
                        </a:spcBef>
                        <a:spcAft>
                          <a:spcPts val="0"/>
                        </a:spcAft>
                        <a:buNone/>
                      </a:pPr>
                      <a:r>
                        <a:rPr lang="en"/>
                        <a:t>6</a:t>
                      </a:r>
                      <a:endParaRPr/>
                    </a:p>
                  </a:txBody>
                  <a:tcPr marT="91425" marB="91425" marR="91425" marL="91425"/>
                </a:tc>
                <a:tc>
                  <a:txBody>
                    <a:bodyPr/>
                    <a:lstStyle/>
                    <a:p>
                      <a:pPr indent="0" lvl="0" marL="0" rtl="0" algn="ctr">
                        <a:spcBef>
                          <a:spcPts val="0"/>
                        </a:spcBef>
                        <a:spcAft>
                          <a:spcPts val="0"/>
                        </a:spcAft>
                        <a:buNone/>
                      </a:pPr>
                      <a:r>
                        <a:rPr lang="en"/>
                        <a:t>Pi</a:t>
                      </a:r>
                      <a:endParaRPr/>
                    </a:p>
                  </a:txBody>
                  <a:tcPr marT="91425" marB="91425" marR="91425" marL="91425"/>
                </a:tc>
              </a:tr>
            </a:tbl>
          </a:graphicData>
        </a:graphic>
      </p:graphicFrame>
      <p:pic>
        <p:nvPicPr>
          <p:cNvPr id="193" name="Google Shape;193;p38"/>
          <p:cNvPicPr preferRelativeResize="0"/>
          <p:nvPr/>
        </p:nvPicPr>
        <p:blipFill>
          <a:blip r:embed="rId5">
            <a:alphaModFix/>
          </a:blip>
          <a:stretch>
            <a:fillRect/>
          </a:stretch>
        </p:blipFill>
        <p:spPr>
          <a:xfrm>
            <a:off x="1908813" y="2917800"/>
            <a:ext cx="3070725" cy="2057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9"/>
          <p:cNvSpPr txBox="1"/>
          <p:nvPr>
            <p:ph type="title"/>
          </p:nvPr>
        </p:nvSpPr>
        <p:spPr>
          <a:xfrm>
            <a:off x="311700" y="1720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Obstacle</a:t>
            </a:r>
            <a:r>
              <a:rPr b="1" lang="en" sz="3600">
                <a:solidFill>
                  <a:schemeClr val="lt2"/>
                </a:solidFill>
                <a:latin typeface="Raleway"/>
                <a:ea typeface="Raleway"/>
                <a:cs typeface="Raleway"/>
                <a:sym typeface="Raleway"/>
              </a:rPr>
              <a:t> Avoidance Overview</a:t>
            </a:r>
            <a:endParaRPr b="1" sz="3600">
              <a:solidFill>
                <a:schemeClr val="lt2"/>
              </a:solidFill>
              <a:latin typeface="Raleway"/>
              <a:ea typeface="Raleway"/>
              <a:cs typeface="Raleway"/>
              <a:sym typeface="Raleway"/>
            </a:endParaRPr>
          </a:p>
        </p:txBody>
      </p:sp>
      <p:pic>
        <p:nvPicPr>
          <p:cNvPr id="199" name="Google Shape;199;p39"/>
          <p:cNvPicPr preferRelativeResize="0"/>
          <p:nvPr/>
        </p:nvPicPr>
        <p:blipFill>
          <a:blip r:embed="rId3">
            <a:alphaModFix/>
          </a:blip>
          <a:stretch>
            <a:fillRect/>
          </a:stretch>
        </p:blipFill>
        <p:spPr>
          <a:xfrm>
            <a:off x="1073625" y="879575"/>
            <a:ext cx="7372426" cy="4061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0"/>
          <p:cNvSpPr txBox="1"/>
          <p:nvPr>
            <p:ph idx="2" type="body"/>
          </p:nvPr>
        </p:nvSpPr>
        <p:spPr>
          <a:xfrm>
            <a:off x="5029400" y="602300"/>
            <a:ext cx="3837000" cy="3695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4200">
                <a:solidFill>
                  <a:schemeClr val="lt2"/>
                </a:solidFill>
              </a:rPr>
              <a:t>SWOT Analysis</a:t>
            </a:r>
            <a:endParaRPr sz="4200">
              <a:solidFill>
                <a:schemeClr val="lt2"/>
              </a:solidFill>
            </a:endParaRPr>
          </a:p>
        </p:txBody>
      </p:sp>
      <p:pic>
        <p:nvPicPr>
          <p:cNvPr id="205" name="Google Shape;205;p40"/>
          <p:cNvPicPr preferRelativeResize="0"/>
          <p:nvPr/>
        </p:nvPicPr>
        <p:blipFill>
          <a:blip r:embed="rId3">
            <a:alphaModFix/>
          </a:blip>
          <a:stretch>
            <a:fillRect/>
          </a:stretch>
        </p:blipFill>
        <p:spPr>
          <a:xfrm>
            <a:off x="925325" y="1242813"/>
            <a:ext cx="2870500" cy="26578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grpSp>
        <p:nvGrpSpPr>
          <p:cNvPr id="210" name="Google Shape;210;p41"/>
          <p:cNvGrpSpPr/>
          <p:nvPr/>
        </p:nvGrpSpPr>
        <p:grpSpPr>
          <a:xfrm>
            <a:off x="4568616" y="347327"/>
            <a:ext cx="2758998" cy="2226948"/>
            <a:chOff x="3216519" y="1002150"/>
            <a:chExt cx="1944600" cy="1569600"/>
          </a:xfrm>
        </p:grpSpPr>
        <p:sp>
          <p:nvSpPr>
            <p:cNvPr id="211" name="Google Shape;211;p41"/>
            <p:cNvSpPr/>
            <p:nvPr/>
          </p:nvSpPr>
          <p:spPr>
            <a:xfrm flipH="1">
              <a:off x="3216519" y="1002150"/>
              <a:ext cx="1944600" cy="1569600"/>
            </a:xfrm>
            <a:prstGeom prst="round2DiagRect">
              <a:avLst>
                <a:gd fmla="val 0" name="adj1"/>
                <a:gd fmla="val 17764" name="adj2"/>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1"/>
            <p:cNvSpPr txBox="1"/>
            <p:nvPr/>
          </p:nvSpPr>
          <p:spPr>
            <a:xfrm>
              <a:off x="3389923" y="1078692"/>
              <a:ext cx="1451700" cy="459900"/>
            </a:xfrm>
            <a:prstGeom prst="rect">
              <a:avLst/>
            </a:prstGeom>
            <a:solidFill>
              <a:srgbClr val="0E945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aleway"/>
                  <a:ea typeface="Raleway"/>
                  <a:cs typeface="Raleway"/>
                  <a:sym typeface="Raleway"/>
                </a:rPr>
                <a:t>Weakness</a:t>
              </a:r>
              <a:endParaRPr b="1">
                <a:solidFill>
                  <a:srgbClr val="FFFFFF"/>
                </a:solidFill>
                <a:latin typeface="Raleway"/>
                <a:ea typeface="Raleway"/>
                <a:cs typeface="Raleway"/>
                <a:sym typeface="Raleway"/>
              </a:endParaRPr>
            </a:p>
          </p:txBody>
        </p:sp>
        <p:sp>
          <p:nvSpPr>
            <p:cNvPr id="213" name="Google Shape;213;p41"/>
            <p:cNvSpPr txBox="1"/>
            <p:nvPr/>
          </p:nvSpPr>
          <p:spPr>
            <a:xfrm>
              <a:off x="3462969" y="1297980"/>
              <a:ext cx="1451700" cy="512400"/>
            </a:xfrm>
            <a:prstGeom prst="rect">
              <a:avLst/>
            </a:prstGeom>
            <a:solidFill>
              <a:srgbClr val="0E9453"/>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  </a:t>
              </a:r>
              <a:r>
                <a:rPr lang="en" sz="1100">
                  <a:solidFill>
                    <a:schemeClr val="lt1"/>
                  </a:solidFill>
                  <a:latin typeface="Lato"/>
                  <a:ea typeface="Lato"/>
                  <a:cs typeface="Lato"/>
                  <a:sym typeface="Lato"/>
                </a:rPr>
                <a:t>Lack of proper backup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    systems for onboard failures</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 Limited thrust when battery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   is not fully charged</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 Self mounting and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   detachment of payload </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    not-available.</a:t>
              </a:r>
              <a:endParaRPr sz="1100">
                <a:solidFill>
                  <a:schemeClr val="lt1"/>
                </a:solidFill>
                <a:latin typeface="Lato"/>
                <a:ea typeface="Lato"/>
                <a:cs typeface="Lato"/>
                <a:sym typeface="Lato"/>
              </a:endParaRPr>
            </a:p>
            <a:p>
              <a:pPr indent="0" lvl="0" marL="0" rtl="0" algn="l">
                <a:lnSpc>
                  <a:spcPct val="115000"/>
                </a:lnSpc>
                <a:spcBef>
                  <a:spcPts val="0"/>
                </a:spcBef>
                <a:spcAft>
                  <a:spcPts val="0"/>
                </a:spcAft>
                <a:buNone/>
              </a:pPr>
              <a:r>
                <a:rPr lang="en" sz="1100">
                  <a:solidFill>
                    <a:schemeClr val="lt1"/>
                  </a:solidFill>
                  <a:latin typeface="Lato"/>
                  <a:ea typeface="Lato"/>
                  <a:cs typeface="Lato"/>
                  <a:sym typeface="Lato"/>
                </a:rPr>
                <a:t>- Weather Constraints</a:t>
              </a:r>
              <a:endParaRPr sz="1100">
                <a:solidFill>
                  <a:schemeClr val="lt1"/>
                </a:solidFill>
                <a:latin typeface="Lato"/>
                <a:ea typeface="Lato"/>
                <a:cs typeface="Lato"/>
                <a:sym typeface="Lato"/>
              </a:endParaRPr>
            </a:p>
          </p:txBody>
        </p:sp>
      </p:grpSp>
      <p:grpSp>
        <p:nvGrpSpPr>
          <p:cNvPr id="214" name="Google Shape;214;p41"/>
          <p:cNvGrpSpPr/>
          <p:nvPr/>
        </p:nvGrpSpPr>
        <p:grpSpPr>
          <a:xfrm>
            <a:off x="1816382" y="2569208"/>
            <a:ext cx="2758998" cy="2226948"/>
            <a:chOff x="1271925" y="2571750"/>
            <a:chExt cx="1944600" cy="1569600"/>
          </a:xfrm>
        </p:grpSpPr>
        <p:sp>
          <p:nvSpPr>
            <p:cNvPr id="215" name="Google Shape;215;p41"/>
            <p:cNvSpPr/>
            <p:nvPr/>
          </p:nvSpPr>
          <p:spPr>
            <a:xfrm flipH="1">
              <a:off x="1271925" y="2571750"/>
              <a:ext cx="1944600" cy="1569600"/>
            </a:xfrm>
            <a:prstGeom prst="round2DiagRect">
              <a:avLst>
                <a:gd fmla="val 0" name="adj1"/>
                <a:gd fmla="val 17764" name="adj2"/>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1"/>
            <p:cNvSpPr txBox="1"/>
            <p:nvPr/>
          </p:nvSpPr>
          <p:spPr>
            <a:xfrm>
              <a:off x="1496688" y="2612135"/>
              <a:ext cx="1451700" cy="459900"/>
            </a:xfrm>
            <a:prstGeom prst="rect">
              <a:avLst/>
            </a:prstGeom>
            <a:solidFill>
              <a:srgbClr val="0E945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aleway"/>
                  <a:ea typeface="Raleway"/>
                  <a:cs typeface="Raleway"/>
                  <a:sym typeface="Raleway"/>
                </a:rPr>
                <a:t>Opportunities</a:t>
              </a:r>
              <a:endParaRPr b="1">
                <a:solidFill>
                  <a:srgbClr val="FFFFFF"/>
                </a:solidFill>
                <a:latin typeface="Raleway"/>
                <a:ea typeface="Raleway"/>
                <a:cs typeface="Raleway"/>
                <a:sym typeface="Raleway"/>
              </a:endParaRPr>
            </a:p>
          </p:txBody>
        </p:sp>
        <p:sp>
          <p:nvSpPr>
            <p:cNvPr id="217" name="Google Shape;217;p41"/>
            <p:cNvSpPr txBox="1"/>
            <p:nvPr/>
          </p:nvSpPr>
          <p:spPr>
            <a:xfrm>
              <a:off x="1432143" y="2833109"/>
              <a:ext cx="1743600" cy="512400"/>
            </a:xfrm>
            <a:prstGeom prst="rect">
              <a:avLst/>
            </a:prstGeom>
            <a:solidFill>
              <a:srgbClr val="0E9453"/>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000">
                  <a:solidFill>
                    <a:srgbClr val="FFFFFF"/>
                  </a:solidFill>
                </a:rPr>
                <a:t>India’s e-commerce market is growing at exponential rates, accelerated even further because of  the current covid-19 crisis. To deal with this, efficient delivery systems are required that have the least amount of human involvement. Can help in developing guidelines for delivery drones with the government which are non-existent as of now.</a:t>
              </a:r>
              <a:r>
                <a:rPr lang="en" sz="400">
                  <a:solidFill>
                    <a:srgbClr val="FFFFFF"/>
                  </a:solidFill>
                  <a:latin typeface="Roboto"/>
                  <a:ea typeface="Roboto"/>
                  <a:cs typeface="Roboto"/>
                  <a:sym typeface="Roboto"/>
                </a:rPr>
                <a:t> </a:t>
              </a:r>
              <a:r>
                <a:rPr lang="en" sz="900">
                  <a:solidFill>
                    <a:srgbClr val="FFFFFF"/>
                  </a:solidFill>
                  <a:latin typeface="Roboto"/>
                  <a:ea typeface="Roboto"/>
                  <a:cs typeface="Roboto"/>
                  <a:sym typeface="Roboto"/>
                </a:rPr>
                <a:t>       </a:t>
              </a:r>
              <a:endParaRPr sz="900">
                <a:solidFill>
                  <a:srgbClr val="FFFFFF"/>
                </a:solidFill>
                <a:latin typeface="Roboto"/>
                <a:ea typeface="Roboto"/>
                <a:cs typeface="Roboto"/>
                <a:sym typeface="Roboto"/>
              </a:endParaRPr>
            </a:p>
          </p:txBody>
        </p:sp>
      </p:grpSp>
      <p:grpSp>
        <p:nvGrpSpPr>
          <p:cNvPr id="218" name="Google Shape;218;p41"/>
          <p:cNvGrpSpPr/>
          <p:nvPr/>
        </p:nvGrpSpPr>
        <p:grpSpPr>
          <a:xfrm>
            <a:off x="4568616" y="2569208"/>
            <a:ext cx="2758998" cy="2226948"/>
            <a:chOff x="3216519" y="2571750"/>
            <a:chExt cx="1944600" cy="1569600"/>
          </a:xfrm>
        </p:grpSpPr>
        <p:sp>
          <p:nvSpPr>
            <p:cNvPr id="219" name="Google Shape;219;p41"/>
            <p:cNvSpPr/>
            <p:nvPr/>
          </p:nvSpPr>
          <p:spPr>
            <a:xfrm rot="10800000">
              <a:off x="3216519" y="2571750"/>
              <a:ext cx="1944600" cy="1569600"/>
            </a:xfrm>
            <a:prstGeom prst="round2DiagRect">
              <a:avLst>
                <a:gd fmla="val 0" name="adj1"/>
                <a:gd fmla="val 17764" name="adj2"/>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1"/>
            <p:cNvSpPr txBox="1"/>
            <p:nvPr/>
          </p:nvSpPr>
          <p:spPr>
            <a:xfrm>
              <a:off x="3408742" y="2694828"/>
              <a:ext cx="1451700" cy="459900"/>
            </a:xfrm>
            <a:prstGeom prst="rect">
              <a:avLst/>
            </a:prstGeom>
            <a:solidFill>
              <a:srgbClr val="08563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aleway"/>
                  <a:ea typeface="Raleway"/>
                  <a:cs typeface="Raleway"/>
                  <a:sym typeface="Raleway"/>
                </a:rPr>
                <a:t>Threats</a:t>
              </a:r>
              <a:endParaRPr b="1">
                <a:solidFill>
                  <a:srgbClr val="FFFFFF"/>
                </a:solidFill>
                <a:latin typeface="Raleway"/>
                <a:ea typeface="Raleway"/>
                <a:cs typeface="Raleway"/>
                <a:sym typeface="Raleway"/>
              </a:endParaRPr>
            </a:p>
          </p:txBody>
        </p:sp>
        <p:sp>
          <p:nvSpPr>
            <p:cNvPr id="221" name="Google Shape;221;p41"/>
            <p:cNvSpPr txBox="1"/>
            <p:nvPr/>
          </p:nvSpPr>
          <p:spPr>
            <a:xfrm>
              <a:off x="3462967" y="2878006"/>
              <a:ext cx="1592400" cy="564000"/>
            </a:xfrm>
            <a:prstGeom prst="rect">
              <a:avLst/>
            </a:prstGeom>
            <a:solidFill>
              <a:srgbClr val="08563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FFFFFF"/>
                  </a:solidFill>
                </a:rPr>
                <a:t>A</a:t>
              </a:r>
              <a:r>
                <a:rPr lang="en" sz="1100">
                  <a:solidFill>
                    <a:srgbClr val="FFFFFF"/>
                  </a:solidFill>
                </a:rPr>
                <a:t>s the structure of the drone is quite rigid, it can cause minor injuries if it crashes into people (although it is very unlikely to happen). If the battery overheats too much, it can explode, causing damage to sensitive things in close proximity. Fire hazard.</a:t>
              </a:r>
              <a:endParaRPr sz="500">
                <a:solidFill>
                  <a:srgbClr val="FFFFFF"/>
                </a:solidFill>
                <a:latin typeface="Roboto"/>
                <a:ea typeface="Roboto"/>
                <a:cs typeface="Roboto"/>
                <a:sym typeface="Roboto"/>
              </a:endParaRPr>
            </a:p>
          </p:txBody>
        </p:sp>
      </p:grpSp>
      <p:grpSp>
        <p:nvGrpSpPr>
          <p:cNvPr id="222" name="Google Shape;222;p41"/>
          <p:cNvGrpSpPr/>
          <p:nvPr/>
        </p:nvGrpSpPr>
        <p:grpSpPr>
          <a:xfrm>
            <a:off x="1816382" y="347327"/>
            <a:ext cx="2758998" cy="2226948"/>
            <a:chOff x="1271925" y="1002150"/>
            <a:chExt cx="1944600" cy="1569600"/>
          </a:xfrm>
        </p:grpSpPr>
        <p:sp>
          <p:nvSpPr>
            <p:cNvPr id="223" name="Google Shape;223;p41"/>
            <p:cNvSpPr/>
            <p:nvPr/>
          </p:nvSpPr>
          <p:spPr>
            <a:xfrm rot="10800000">
              <a:off x="1271925" y="1002150"/>
              <a:ext cx="1944600" cy="1569600"/>
            </a:xfrm>
            <a:prstGeom prst="round2DiagRect">
              <a:avLst>
                <a:gd fmla="val 0" name="adj1"/>
                <a:gd fmla="val 17764" name="adj2"/>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1"/>
            <p:cNvSpPr txBox="1"/>
            <p:nvPr/>
          </p:nvSpPr>
          <p:spPr>
            <a:xfrm>
              <a:off x="1400092" y="1093828"/>
              <a:ext cx="1451700" cy="459900"/>
            </a:xfrm>
            <a:prstGeom prst="rect">
              <a:avLst/>
            </a:prstGeom>
            <a:solidFill>
              <a:srgbClr val="08563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Raleway"/>
                  <a:ea typeface="Raleway"/>
                  <a:cs typeface="Raleway"/>
                  <a:sym typeface="Raleway"/>
                </a:rPr>
                <a:t>Strengths</a:t>
              </a:r>
              <a:endParaRPr b="1" sz="1800">
                <a:solidFill>
                  <a:schemeClr val="lt1"/>
                </a:solidFill>
                <a:latin typeface="Raleway"/>
                <a:ea typeface="Raleway"/>
                <a:cs typeface="Raleway"/>
                <a:sym typeface="Raleway"/>
              </a:endParaRPr>
            </a:p>
          </p:txBody>
        </p:sp>
        <p:sp>
          <p:nvSpPr>
            <p:cNvPr id="225" name="Google Shape;225;p41"/>
            <p:cNvSpPr txBox="1"/>
            <p:nvPr/>
          </p:nvSpPr>
          <p:spPr>
            <a:xfrm>
              <a:off x="1400092" y="1401183"/>
              <a:ext cx="1644900" cy="960900"/>
            </a:xfrm>
            <a:prstGeom prst="rect">
              <a:avLst/>
            </a:prstGeom>
            <a:solidFill>
              <a:srgbClr val="08563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aleway"/>
                  <a:ea typeface="Raleway"/>
                  <a:cs typeface="Raleway"/>
                  <a:sym typeface="Raleway"/>
                </a:rPr>
                <a:t>-</a:t>
              </a:r>
              <a:r>
                <a:rPr lang="en" sz="1500">
                  <a:solidFill>
                    <a:schemeClr val="lt1"/>
                  </a:solidFill>
                  <a:latin typeface="Raleway"/>
                  <a:ea typeface="Raleway"/>
                  <a:cs typeface="Raleway"/>
                  <a:sym typeface="Raleway"/>
                </a:rPr>
                <a:t>V</a:t>
              </a:r>
              <a:r>
                <a:rPr lang="en" sz="1500">
                  <a:solidFill>
                    <a:schemeClr val="lt1"/>
                  </a:solidFill>
                  <a:latin typeface="Raleway"/>
                  <a:ea typeface="Raleway"/>
                  <a:cs typeface="Raleway"/>
                  <a:sym typeface="Raleway"/>
                </a:rPr>
                <a:t>ery durable structure -Easy and cheap   </a:t>
              </a:r>
              <a:endParaRPr sz="1500">
                <a:solidFill>
                  <a:schemeClr val="lt1"/>
                </a:solidFill>
                <a:latin typeface="Raleway"/>
                <a:ea typeface="Raleway"/>
                <a:cs typeface="Raleway"/>
                <a:sym typeface="Raleway"/>
              </a:endParaRPr>
            </a:p>
            <a:p>
              <a:pPr indent="0" lvl="0" marL="0" rtl="0" algn="l">
                <a:spcBef>
                  <a:spcPts val="0"/>
                </a:spcBef>
                <a:spcAft>
                  <a:spcPts val="0"/>
                </a:spcAft>
                <a:buNone/>
              </a:pPr>
              <a:r>
                <a:rPr lang="en" sz="1500">
                  <a:solidFill>
                    <a:schemeClr val="lt1"/>
                  </a:solidFill>
                  <a:latin typeface="Raleway"/>
                  <a:ea typeface="Raleway"/>
                  <a:cs typeface="Raleway"/>
                  <a:sym typeface="Raleway"/>
                </a:rPr>
                <a:t>  maintenance </a:t>
              </a:r>
              <a:br>
                <a:rPr lang="en" sz="1500">
                  <a:solidFill>
                    <a:schemeClr val="lt1"/>
                  </a:solidFill>
                  <a:latin typeface="Raleway"/>
                  <a:ea typeface="Raleway"/>
                  <a:cs typeface="Raleway"/>
                  <a:sym typeface="Raleway"/>
                </a:rPr>
              </a:br>
              <a:r>
                <a:rPr lang="en" sz="1500">
                  <a:solidFill>
                    <a:schemeClr val="lt1"/>
                  </a:solidFill>
                  <a:latin typeface="Raleway"/>
                  <a:ea typeface="Raleway"/>
                  <a:cs typeface="Raleway"/>
                  <a:sym typeface="Raleway"/>
                </a:rPr>
                <a:t>-Robust control  </a:t>
              </a:r>
              <a:endParaRPr sz="1500">
                <a:solidFill>
                  <a:schemeClr val="lt1"/>
                </a:solidFill>
                <a:latin typeface="Raleway"/>
                <a:ea typeface="Raleway"/>
                <a:cs typeface="Raleway"/>
                <a:sym typeface="Raleway"/>
              </a:endParaRPr>
            </a:p>
            <a:p>
              <a:pPr indent="0" lvl="0" marL="0" rtl="0" algn="l">
                <a:spcBef>
                  <a:spcPts val="0"/>
                </a:spcBef>
                <a:spcAft>
                  <a:spcPts val="0"/>
                </a:spcAft>
                <a:buNone/>
              </a:pPr>
              <a:r>
                <a:rPr lang="en" sz="1500">
                  <a:solidFill>
                    <a:schemeClr val="lt1"/>
                  </a:solidFill>
                  <a:latin typeface="Raleway"/>
                  <a:ea typeface="Raleway"/>
                  <a:cs typeface="Raleway"/>
                  <a:sym typeface="Raleway"/>
                </a:rPr>
                <a:t>  algorithms</a:t>
              </a:r>
              <a:br>
                <a:rPr lang="en" sz="1500">
                  <a:solidFill>
                    <a:schemeClr val="lt1"/>
                  </a:solidFill>
                  <a:latin typeface="Raleway"/>
                  <a:ea typeface="Raleway"/>
                  <a:cs typeface="Raleway"/>
                  <a:sym typeface="Raleway"/>
                </a:rPr>
              </a:br>
              <a:r>
                <a:rPr lang="en" sz="1500">
                  <a:solidFill>
                    <a:schemeClr val="lt1"/>
                  </a:solidFill>
                  <a:latin typeface="Raleway"/>
                  <a:ea typeface="Raleway"/>
                  <a:cs typeface="Raleway"/>
                  <a:sym typeface="Raleway"/>
                </a:rPr>
                <a:t>-Cost effective</a:t>
              </a:r>
              <a:endParaRPr sz="900">
                <a:solidFill>
                  <a:schemeClr val="lt1"/>
                </a:solidFill>
                <a:latin typeface="Raleway"/>
                <a:ea typeface="Raleway"/>
                <a:cs typeface="Raleway"/>
                <a:sym typeface="Raleway"/>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nvSpPr>
        <p:spPr>
          <a:xfrm>
            <a:off x="411875" y="221000"/>
            <a:ext cx="5191200" cy="3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Raleway"/>
                <a:ea typeface="Raleway"/>
                <a:cs typeface="Raleway"/>
                <a:sym typeface="Raleway"/>
              </a:rPr>
              <a:t>Cost Structure</a:t>
            </a:r>
            <a:endParaRPr b="1" sz="3600">
              <a:solidFill>
                <a:schemeClr val="lt2"/>
              </a:solidFill>
              <a:latin typeface="Raleway"/>
              <a:ea typeface="Raleway"/>
              <a:cs typeface="Raleway"/>
              <a:sym typeface="Raleway"/>
            </a:endParaRPr>
          </a:p>
        </p:txBody>
      </p:sp>
      <p:graphicFrame>
        <p:nvGraphicFramePr>
          <p:cNvPr id="231" name="Google Shape;231;p42"/>
          <p:cNvGraphicFramePr/>
          <p:nvPr/>
        </p:nvGraphicFramePr>
        <p:xfrm>
          <a:off x="902275" y="1337975"/>
          <a:ext cx="3000000" cy="3000000"/>
        </p:xfrm>
        <a:graphic>
          <a:graphicData uri="http://schemas.openxmlformats.org/drawingml/2006/table">
            <a:tbl>
              <a:tblPr>
                <a:noFill/>
                <a:tableStyleId>{95A7051A-2C27-4AC7-A5FB-3AE3238F6B53}</a:tableStyleId>
              </a:tblPr>
              <a:tblGrid>
                <a:gridCol w="2634000"/>
                <a:gridCol w="2192000"/>
                <a:gridCol w="2413000"/>
              </a:tblGrid>
              <a:tr h="399325">
                <a:tc>
                  <a:txBody>
                    <a:bodyPr/>
                    <a:lstStyle/>
                    <a:p>
                      <a:pPr indent="0" lvl="0" marL="0" rtl="0" algn="ctr">
                        <a:spcBef>
                          <a:spcPts val="0"/>
                        </a:spcBef>
                        <a:spcAft>
                          <a:spcPts val="0"/>
                        </a:spcAft>
                        <a:buNone/>
                      </a:pPr>
                      <a:r>
                        <a:rPr b="1" lang="en"/>
                        <a:t>Item</a:t>
                      </a:r>
                      <a:endParaRPr b="1"/>
                    </a:p>
                  </a:txBody>
                  <a:tcPr marT="91425" marB="91425" marR="91425" marL="91425"/>
                </a:tc>
                <a:tc>
                  <a:txBody>
                    <a:bodyPr/>
                    <a:lstStyle/>
                    <a:p>
                      <a:pPr indent="0" lvl="0" marL="0" rtl="0" algn="ctr">
                        <a:spcBef>
                          <a:spcPts val="0"/>
                        </a:spcBef>
                        <a:spcAft>
                          <a:spcPts val="0"/>
                        </a:spcAft>
                        <a:buNone/>
                      </a:pPr>
                      <a:r>
                        <a:rPr b="1" lang="en"/>
                        <a:t>Quantity</a:t>
                      </a:r>
                      <a:endParaRPr b="1"/>
                    </a:p>
                  </a:txBody>
                  <a:tcPr marT="91425" marB="91425" marR="91425" marL="91425"/>
                </a:tc>
                <a:tc>
                  <a:txBody>
                    <a:bodyPr/>
                    <a:lstStyle/>
                    <a:p>
                      <a:pPr indent="0" lvl="0" marL="0" rtl="0" algn="ctr">
                        <a:spcBef>
                          <a:spcPts val="0"/>
                        </a:spcBef>
                        <a:spcAft>
                          <a:spcPts val="0"/>
                        </a:spcAft>
                        <a:buNone/>
                      </a:pPr>
                      <a:r>
                        <a:rPr b="1" lang="en"/>
                        <a:t>Cost</a:t>
                      </a:r>
                      <a:endParaRPr b="1"/>
                    </a:p>
                  </a:txBody>
                  <a:tcPr marT="91425" marB="91425" marR="91425" marL="91425"/>
                </a:tc>
              </a:tr>
              <a:tr h="399325">
                <a:tc>
                  <a:txBody>
                    <a:bodyPr/>
                    <a:lstStyle/>
                    <a:p>
                      <a:pPr indent="0" lvl="0" marL="0" rtl="0" algn="ctr">
                        <a:spcBef>
                          <a:spcPts val="0"/>
                        </a:spcBef>
                        <a:spcAft>
                          <a:spcPts val="0"/>
                        </a:spcAft>
                        <a:buNone/>
                      </a:pPr>
                      <a:r>
                        <a:rPr lang="en"/>
                        <a:t>5010 360Kv Brushless Motor</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c>
                  <a:txBody>
                    <a:bodyPr/>
                    <a:lstStyle/>
                    <a:p>
                      <a:pPr indent="0" lvl="0" marL="0" rtl="0" algn="ctr">
                        <a:spcBef>
                          <a:spcPts val="0"/>
                        </a:spcBef>
                        <a:spcAft>
                          <a:spcPts val="0"/>
                        </a:spcAft>
                        <a:buNone/>
                      </a:pPr>
                      <a:r>
                        <a:rPr lang="en"/>
                        <a:t>6000</a:t>
                      </a:r>
                      <a:endParaRPr/>
                    </a:p>
                  </a:txBody>
                  <a:tcPr marT="91425" marB="91425" marR="91425" marL="91425"/>
                </a:tc>
              </a:tr>
              <a:tr h="399325">
                <a:tc>
                  <a:txBody>
                    <a:bodyPr/>
                    <a:lstStyle/>
                    <a:p>
                      <a:pPr indent="0" lvl="0" marL="0" rtl="0" algn="ctr">
                        <a:spcBef>
                          <a:spcPts val="0"/>
                        </a:spcBef>
                        <a:spcAft>
                          <a:spcPts val="0"/>
                        </a:spcAft>
                        <a:buNone/>
                      </a:pPr>
                      <a:r>
                        <a:rPr lang="en"/>
                        <a:t>1555 Propeller</a:t>
                      </a:r>
                      <a:endParaRPr/>
                    </a:p>
                  </a:txBody>
                  <a:tcPr marT="91425" marB="91425" marR="91425" marL="91425"/>
                </a:tc>
                <a:tc>
                  <a:txBody>
                    <a:bodyPr/>
                    <a:lstStyle/>
                    <a:p>
                      <a:pPr indent="0" lvl="0" marL="0" rtl="0" algn="ctr">
                        <a:spcBef>
                          <a:spcPts val="0"/>
                        </a:spcBef>
                        <a:spcAft>
                          <a:spcPts val="0"/>
                        </a:spcAft>
                        <a:buNone/>
                      </a:pPr>
                      <a:r>
                        <a:rPr lang="en"/>
                        <a:t>4</a:t>
                      </a:r>
                      <a:endParaRPr/>
                    </a:p>
                  </a:txBody>
                  <a:tcPr marT="91425" marB="91425" marR="91425" marL="91425"/>
                </a:tc>
                <a:tc>
                  <a:txBody>
                    <a:bodyPr/>
                    <a:lstStyle/>
                    <a:p>
                      <a:pPr indent="0" lvl="0" marL="0" rtl="0" algn="ctr">
                        <a:spcBef>
                          <a:spcPts val="0"/>
                        </a:spcBef>
                        <a:spcAft>
                          <a:spcPts val="0"/>
                        </a:spcAft>
                        <a:buNone/>
                      </a:pPr>
                      <a:r>
                        <a:rPr lang="en"/>
                        <a:t>3000</a:t>
                      </a:r>
                      <a:endParaRPr/>
                    </a:p>
                  </a:txBody>
                  <a:tcPr marT="91425" marB="91425" marR="91425" marL="91425"/>
                </a:tc>
              </a:tr>
              <a:tr h="399325">
                <a:tc>
                  <a:txBody>
                    <a:bodyPr/>
                    <a:lstStyle/>
                    <a:p>
                      <a:pPr indent="0" lvl="0" marL="0" rtl="0" algn="ctr">
                        <a:spcBef>
                          <a:spcPts val="0"/>
                        </a:spcBef>
                        <a:spcAft>
                          <a:spcPts val="0"/>
                        </a:spcAft>
                        <a:buNone/>
                      </a:pPr>
                      <a:r>
                        <a:rPr lang="en"/>
                        <a:t>6000 mAh 6S Battery</a:t>
                      </a:r>
                      <a:endParaRPr/>
                    </a:p>
                  </a:txBody>
                  <a:tcPr marT="91425" marB="91425" marR="91425" marL="91425"/>
                </a:tc>
                <a:tc>
                  <a:txBody>
                    <a:bodyPr/>
                    <a:lstStyle/>
                    <a:p>
                      <a:pPr indent="0" lvl="0" marL="0" rtl="0" algn="ctr">
                        <a:spcBef>
                          <a:spcPts val="0"/>
                        </a:spcBef>
                        <a:spcAft>
                          <a:spcPts val="0"/>
                        </a:spcAft>
                        <a:buNone/>
                      </a:pPr>
                      <a:r>
                        <a:rPr lang="en"/>
                        <a:t>2</a:t>
                      </a:r>
                      <a:endParaRPr/>
                    </a:p>
                  </a:txBody>
                  <a:tcPr marT="91425" marB="91425" marR="91425" marL="91425"/>
                </a:tc>
                <a:tc>
                  <a:txBody>
                    <a:bodyPr/>
                    <a:lstStyle/>
                    <a:p>
                      <a:pPr indent="0" lvl="0" marL="0" rtl="0" algn="ctr">
                        <a:spcBef>
                          <a:spcPts val="0"/>
                        </a:spcBef>
                        <a:spcAft>
                          <a:spcPts val="0"/>
                        </a:spcAft>
                        <a:buNone/>
                      </a:pPr>
                      <a:r>
                        <a:rPr lang="en"/>
                        <a:t>9000</a:t>
                      </a:r>
                      <a:endParaRPr/>
                    </a:p>
                  </a:txBody>
                  <a:tcPr marT="91425" marB="91425" marR="91425" marL="91425"/>
                </a:tc>
              </a:tr>
              <a:tr h="403200">
                <a:tc>
                  <a:txBody>
                    <a:bodyPr/>
                    <a:lstStyle/>
                    <a:p>
                      <a:pPr indent="0" lvl="0" marL="0" rtl="0" algn="ctr">
                        <a:spcBef>
                          <a:spcPts val="0"/>
                        </a:spcBef>
                        <a:spcAft>
                          <a:spcPts val="0"/>
                        </a:spcAft>
                        <a:buNone/>
                      </a:pPr>
                      <a:r>
                        <a:rPr lang="en"/>
                        <a:t>Raspberry Pi</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3000</a:t>
                      </a:r>
                      <a:endParaRPr/>
                    </a:p>
                  </a:txBody>
                  <a:tcPr marT="91425" marB="91425" marR="91425" marL="91425"/>
                </a:tc>
              </a:tr>
              <a:tr h="403200">
                <a:tc>
                  <a:txBody>
                    <a:bodyPr/>
                    <a:lstStyle/>
                    <a:p>
                      <a:pPr indent="0" lvl="0" marL="0" rtl="0" algn="ctr">
                        <a:spcBef>
                          <a:spcPts val="0"/>
                        </a:spcBef>
                        <a:spcAft>
                          <a:spcPts val="0"/>
                        </a:spcAft>
                        <a:buNone/>
                      </a:pPr>
                      <a:r>
                        <a:rPr lang="en"/>
                        <a:t>Pixhawk Controller</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5000</a:t>
                      </a:r>
                      <a:endParaRPr/>
                    </a:p>
                  </a:txBody>
                  <a:tcPr marT="91425" marB="91425" marR="91425" marL="91425"/>
                </a:tc>
              </a:tr>
              <a:tr h="399325">
                <a:tc>
                  <a:txBody>
                    <a:bodyPr/>
                    <a:lstStyle/>
                    <a:p>
                      <a:pPr indent="0" lvl="0" marL="0" rtl="0" algn="ctr">
                        <a:spcBef>
                          <a:spcPts val="0"/>
                        </a:spcBef>
                        <a:spcAft>
                          <a:spcPts val="0"/>
                        </a:spcAft>
                        <a:buNone/>
                      </a:pPr>
                      <a:r>
                        <a:rPr lang="en"/>
                        <a:t>Miscellaneous</a:t>
                      </a:r>
                      <a:endParaRPr/>
                    </a:p>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x</a:t>
                      </a:r>
                      <a:endParaRPr/>
                    </a:p>
                  </a:txBody>
                  <a:tcPr marT="91425" marB="91425" marR="91425" marL="91425"/>
                </a:tc>
                <a:tc>
                  <a:txBody>
                    <a:bodyPr/>
                    <a:lstStyle/>
                    <a:p>
                      <a:pPr indent="0" lvl="0" marL="0" rtl="0" algn="ctr">
                        <a:spcBef>
                          <a:spcPts val="0"/>
                        </a:spcBef>
                        <a:spcAft>
                          <a:spcPts val="0"/>
                        </a:spcAft>
                        <a:buNone/>
                      </a:pPr>
                      <a:r>
                        <a:rPr lang="en"/>
                        <a:t>4000</a:t>
                      </a:r>
                      <a:endParaRPr/>
                    </a:p>
                  </a:txBody>
                  <a:tcPr marT="91425" marB="91425" marR="91425" marL="91425"/>
                </a:tc>
              </a:tr>
              <a:tr h="399325">
                <a:tc>
                  <a:txBody>
                    <a:bodyPr/>
                    <a:lstStyle/>
                    <a:p>
                      <a:pPr indent="0" lvl="0" marL="0" rtl="0" algn="ctr">
                        <a:spcBef>
                          <a:spcPts val="0"/>
                        </a:spcBef>
                        <a:spcAft>
                          <a:spcPts val="0"/>
                        </a:spcAft>
                        <a:buNone/>
                      </a:pPr>
                      <a:r>
                        <a:rPr lang="en"/>
                        <a:t>Total</a:t>
                      </a:r>
                      <a:endParaRPr/>
                    </a:p>
                  </a:txBody>
                  <a:tcPr marT="91425" marB="91425" marR="91425" marL="91425"/>
                </a:tc>
                <a:tc>
                  <a:txBody>
                    <a:bodyPr/>
                    <a:lstStyle/>
                    <a:p>
                      <a:pPr indent="0" lvl="0" marL="0" rtl="0" algn="ctr">
                        <a:spcBef>
                          <a:spcPts val="0"/>
                        </a:spcBef>
                        <a:spcAft>
                          <a:spcPts val="0"/>
                        </a:spcAft>
                        <a:buNone/>
                      </a:pPr>
                      <a:r>
                        <a:rPr lang="en"/>
                        <a:t>1</a:t>
                      </a:r>
                      <a:endParaRPr/>
                    </a:p>
                  </a:txBody>
                  <a:tcPr marT="91425" marB="91425" marR="91425" marL="91425"/>
                </a:tc>
                <a:tc>
                  <a:txBody>
                    <a:bodyPr/>
                    <a:lstStyle/>
                    <a:p>
                      <a:pPr indent="0" lvl="0" marL="0" rtl="0" algn="ctr">
                        <a:spcBef>
                          <a:spcPts val="0"/>
                        </a:spcBef>
                        <a:spcAft>
                          <a:spcPts val="0"/>
                        </a:spcAft>
                        <a:buNone/>
                      </a:pPr>
                      <a:r>
                        <a:rPr lang="en"/>
                        <a:t>30000</a:t>
                      </a:r>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3"/>
          <p:cNvSpPr txBox="1"/>
          <p:nvPr>
            <p:ph idx="2" type="body"/>
          </p:nvPr>
        </p:nvSpPr>
        <p:spPr>
          <a:xfrm>
            <a:off x="5029400" y="602300"/>
            <a:ext cx="3837000" cy="3695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4200">
                <a:solidFill>
                  <a:schemeClr val="lt2"/>
                </a:solidFill>
              </a:rPr>
              <a:t>Market Analysis</a:t>
            </a:r>
            <a:endParaRPr sz="4200">
              <a:solidFill>
                <a:schemeClr val="lt2"/>
              </a:solidFill>
            </a:endParaRPr>
          </a:p>
        </p:txBody>
      </p:sp>
      <p:pic>
        <p:nvPicPr>
          <p:cNvPr id="237" name="Google Shape;237;p43"/>
          <p:cNvPicPr preferRelativeResize="0"/>
          <p:nvPr/>
        </p:nvPicPr>
        <p:blipFill>
          <a:blip r:embed="rId3">
            <a:alphaModFix/>
          </a:blip>
          <a:stretch>
            <a:fillRect/>
          </a:stretch>
        </p:blipFill>
        <p:spPr>
          <a:xfrm>
            <a:off x="925325" y="1242813"/>
            <a:ext cx="2870500" cy="26578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4"/>
          <p:cNvSpPr txBox="1"/>
          <p:nvPr/>
        </p:nvSpPr>
        <p:spPr>
          <a:xfrm>
            <a:off x="618300" y="1140250"/>
            <a:ext cx="7907400" cy="26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aleway"/>
                <a:ea typeface="Raleway"/>
                <a:cs typeface="Raleway"/>
                <a:sym typeface="Raleway"/>
              </a:rPr>
              <a:t>Small drone market is estimated to reach USD 40.31 billion by 2025. Everyone from Walmart to Amazon, from Dominos to Mercedes is exploring drone delivery system as their options. It can avoid traffic to ensure on time delivery of time sensitive products like medicines. </a:t>
            </a:r>
            <a:br>
              <a:rPr lang="en" sz="1800">
                <a:latin typeface="Raleway"/>
                <a:ea typeface="Raleway"/>
                <a:cs typeface="Raleway"/>
                <a:sym typeface="Raleway"/>
              </a:rPr>
            </a:br>
            <a:br>
              <a:rPr lang="en" sz="1800">
                <a:latin typeface="Raleway"/>
                <a:ea typeface="Raleway"/>
                <a:cs typeface="Raleway"/>
                <a:sym typeface="Raleway"/>
              </a:rPr>
            </a:br>
            <a:r>
              <a:rPr lang="en" sz="1800">
                <a:latin typeface="Raleway"/>
                <a:ea typeface="Raleway"/>
                <a:cs typeface="Raleway"/>
                <a:sym typeface="Raleway"/>
              </a:rPr>
              <a:t>With efficient delivery mechanisms and cost efficient design, our drone is best suited for a country like India. It can be trained to work flawlessly in diverse environment and lighting conditions. It would strengthen the ground-level operation of all the delivery associated industries. </a:t>
            </a:r>
            <a:endParaRPr sz="1800">
              <a:latin typeface="Raleway"/>
              <a:ea typeface="Raleway"/>
              <a:cs typeface="Raleway"/>
              <a:sym typeface="Raleway"/>
            </a:endParaRPr>
          </a:p>
          <a:p>
            <a:pPr indent="0" lvl="0" marL="0" rtl="0" algn="l">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5"/>
          <p:cNvSpPr txBox="1"/>
          <p:nvPr>
            <p:ph idx="2" type="body"/>
          </p:nvPr>
        </p:nvSpPr>
        <p:spPr>
          <a:xfrm>
            <a:off x="5029400" y="602300"/>
            <a:ext cx="3837000" cy="3695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4200">
                <a:solidFill>
                  <a:schemeClr val="lt2"/>
                </a:solidFill>
              </a:rPr>
              <a:t>STP ANALYSIS</a:t>
            </a:r>
            <a:endParaRPr sz="4200">
              <a:solidFill>
                <a:schemeClr val="lt2"/>
              </a:solidFill>
            </a:endParaRPr>
          </a:p>
        </p:txBody>
      </p:sp>
      <p:sp>
        <p:nvSpPr>
          <p:cNvPr id="248" name="Google Shape;248;p45"/>
          <p:cNvSpPr/>
          <p:nvPr/>
        </p:nvSpPr>
        <p:spPr>
          <a:xfrm>
            <a:off x="1102408" y="1418461"/>
            <a:ext cx="2315100" cy="2315100"/>
          </a:xfrm>
          <a:prstGeom prst="donut">
            <a:avLst>
              <a:gd fmla="val 16067" name="adj"/>
            </a:avLst>
          </a:prstGeom>
          <a:solidFill>
            <a:srgbClr val="000000">
              <a:alpha val="107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9" name="Google Shape;249;p45"/>
          <p:cNvCxnSpPr/>
          <p:nvPr/>
        </p:nvCxnSpPr>
        <p:spPr>
          <a:xfrm flipH="1">
            <a:off x="3125639" y="1849168"/>
            <a:ext cx="395100" cy="230100"/>
          </a:xfrm>
          <a:prstGeom prst="straightConnector1">
            <a:avLst/>
          </a:prstGeom>
          <a:noFill/>
          <a:ln cap="flat" cmpd="sng" w="19050">
            <a:solidFill>
              <a:srgbClr val="085631"/>
            </a:solidFill>
            <a:prstDash val="solid"/>
            <a:round/>
            <a:headEnd len="med" w="med" type="oval"/>
            <a:tailEnd len="sm" w="sm" type="none"/>
          </a:ln>
        </p:spPr>
      </p:cxnSp>
      <p:cxnSp>
        <p:nvCxnSpPr>
          <p:cNvPr id="250" name="Google Shape;250;p45"/>
          <p:cNvCxnSpPr/>
          <p:nvPr/>
        </p:nvCxnSpPr>
        <p:spPr>
          <a:xfrm rot="10800000">
            <a:off x="2249828" y="3578031"/>
            <a:ext cx="0" cy="419700"/>
          </a:xfrm>
          <a:prstGeom prst="straightConnector1">
            <a:avLst/>
          </a:prstGeom>
          <a:noFill/>
          <a:ln cap="flat" cmpd="sng" w="19050">
            <a:solidFill>
              <a:srgbClr val="0E9453"/>
            </a:solidFill>
            <a:prstDash val="solid"/>
            <a:round/>
            <a:headEnd len="med" w="med" type="oval"/>
            <a:tailEnd len="sm" w="sm" type="none"/>
          </a:ln>
        </p:spPr>
      </p:cxnSp>
      <p:cxnSp>
        <p:nvCxnSpPr>
          <p:cNvPr id="251" name="Google Shape;251;p45"/>
          <p:cNvCxnSpPr/>
          <p:nvPr/>
        </p:nvCxnSpPr>
        <p:spPr>
          <a:xfrm>
            <a:off x="994375" y="1849168"/>
            <a:ext cx="395100" cy="230100"/>
          </a:xfrm>
          <a:prstGeom prst="straightConnector1">
            <a:avLst/>
          </a:prstGeom>
          <a:noFill/>
          <a:ln cap="flat" cmpd="sng" w="19050">
            <a:solidFill>
              <a:srgbClr val="65F0AD"/>
            </a:solidFill>
            <a:prstDash val="solid"/>
            <a:round/>
            <a:headEnd len="med" w="med" type="oval"/>
            <a:tailEnd len="sm" w="sm" type="none"/>
          </a:ln>
        </p:spPr>
      </p:cxnSp>
      <p:sp>
        <p:nvSpPr>
          <p:cNvPr id="252" name="Google Shape;252;p45"/>
          <p:cNvSpPr/>
          <p:nvPr/>
        </p:nvSpPr>
        <p:spPr>
          <a:xfrm rot="1799767">
            <a:off x="1031806" y="1346118"/>
            <a:ext cx="2452488" cy="2452488"/>
          </a:xfrm>
          <a:prstGeom prst="blockArc">
            <a:avLst>
              <a:gd fmla="val 14414370" name="adj1"/>
              <a:gd fmla="val 694" name="adj2"/>
              <a:gd fmla="val 9562" name="adj3"/>
            </a:avLst>
          </a:prstGeom>
          <a:solidFill>
            <a:srgbClr val="085631"/>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5"/>
          <p:cNvSpPr/>
          <p:nvPr/>
        </p:nvSpPr>
        <p:spPr>
          <a:xfrm flipH="1" rot="-1799767">
            <a:off x="1033505" y="1346118"/>
            <a:ext cx="2452488" cy="2452488"/>
          </a:xfrm>
          <a:prstGeom prst="blockArc">
            <a:avLst>
              <a:gd fmla="val 14348563" name="adj1"/>
              <a:gd fmla="val 21472873" name="adj2"/>
              <a:gd fmla="val 9381" name="adj3"/>
            </a:avLst>
          </a:prstGeom>
          <a:solidFill>
            <a:srgbClr val="65F0AD"/>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5"/>
          <p:cNvSpPr/>
          <p:nvPr/>
        </p:nvSpPr>
        <p:spPr>
          <a:xfrm rot="-8100000">
            <a:off x="2091553" y="1292462"/>
            <a:ext cx="330926" cy="330926"/>
          </a:xfrm>
          <a:prstGeom prst="rtTriangle">
            <a:avLst/>
          </a:prstGeom>
          <a:solidFill>
            <a:srgbClr val="65F0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5"/>
          <p:cNvSpPr/>
          <p:nvPr/>
        </p:nvSpPr>
        <p:spPr>
          <a:xfrm flipH="1" rot="-9000751">
            <a:off x="1032634" y="1344725"/>
            <a:ext cx="2451928" cy="2451928"/>
          </a:xfrm>
          <a:prstGeom prst="blockArc">
            <a:avLst>
              <a:gd fmla="val 14316164" name="adj1"/>
              <a:gd fmla="val 21502663" name="adj2"/>
              <a:gd fmla="val 9415" name="adj3"/>
            </a:avLst>
          </a:prstGeom>
          <a:solidFill>
            <a:srgbClr val="0E9453"/>
          </a:solidFill>
          <a:ln>
            <a:noFill/>
          </a:ln>
          <a:effectLst>
            <a:outerShdw blurRad="71438" rotWithShape="0" algn="bl" dir="5400000" dist="9525">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5"/>
          <p:cNvSpPr/>
          <p:nvPr/>
        </p:nvSpPr>
        <p:spPr>
          <a:xfrm rot="-1028292">
            <a:off x="3096993" y="2953366"/>
            <a:ext cx="285057" cy="285057"/>
          </a:xfrm>
          <a:prstGeom prst="rtTriangle">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45"/>
          <p:cNvSpPr/>
          <p:nvPr/>
        </p:nvSpPr>
        <p:spPr>
          <a:xfrm rot="6359291">
            <a:off x="1119411" y="2951589"/>
            <a:ext cx="331108" cy="331108"/>
          </a:xfrm>
          <a:prstGeom prst="rtTriangle">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5"/>
          <p:cNvSpPr txBox="1"/>
          <p:nvPr/>
        </p:nvSpPr>
        <p:spPr>
          <a:xfrm>
            <a:off x="1388600" y="3997725"/>
            <a:ext cx="1742700" cy="4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aleway"/>
                <a:ea typeface="Raleway"/>
                <a:cs typeface="Raleway"/>
                <a:sym typeface="Raleway"/>
              </a:rPr>
              <a:t>Segmentation</a:t>
            </a:r>
            <a:endParaRPr b="1" sz="1800">
              <a:latin typeface="Raleway"/>
              <a:ea typeface="Raleway"/>
              <a:cs typeface="Raleway"/>
              <a:sym typeface="Raleway"/>
            </a:endParaRPr>
          </a:p>
        </p:txBody>
      </p:sp>
      <p:sp>
        <p:nvSpPr>
          <p:cNvPr id="259" name="Google Shape;259;p45"/>
          <p:cNvSpPr txBox="1"/>
          <p:nvPr/>
        </p:nvSpPr>
        <p:spPr>
          <a:xfrm rot="-3342387">
            <a:off x="117124" y="1458432"/>
            <a:ext cx="1256050" cy="46805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aleway"/>
                <a:ea typeface="Raleway"/>
                <a:cs typeface="Raleway"/>
                <a:sym typeface="Raleway"/>
              </a:rPr>
              <a:t>Targeting</a:t>
            </a:r>
            <a:endParaRPr b="1" sz="1800">
              <a:latin typeface="Raleway"/>
              <a:ea typeface="Raleway"/>
              <a:cs typeface="Raleway"/>
              <a:sym typeface="Raleway"/>
            </a:endParaRPr>
          </a:p>
        </p:txBody>
      </p:sp>
      <p:sp>
        <p:nvSpPr>
          <p:cNvPr id="260" name="Google Shape;260;p45"/>
          <p:cNvSpPr txBox="1"/>
          <p:nvPr/>
        </p:nvSpPr>
        <p:spPr>
          <a:xfrm rot="3410037">
            <a:off x="3027846" y="1548760"/>
            <a:ext cx="1464719" cy="46796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aleway"/>
                <a:ea typeface="Raleway"/>
                <a:cs typeface="Raleway"/>
                <a:sym typeface="Raleway"/>
              </a:rPr>
              <a:t>Positioning</a:t>
            </a:r>
            <a:endParaRPr b="1" sz="1800">
              <a:latin typeface="Raleway"/>
              <a:ea typeface="Raleway"/>
              <a:cs typeface="Raleway"/>
              <a:sym typeface="Ralew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grpSp>
        <p:nvGrpSpPr>
          <p:cNvPr id="265" name="Google Shape;265;p46"/>
          <p:cNvGrpSpPr/>
          <p:nvPr/>
        </p:nvGrpSpPr>
        <p:grpSpPr>
          <a:xfrm>
            <a:off x="579924" y="700956"/>
            <a:ext cx="2787397" cy="2404128"/>
            <a:chOff x="1083025" y="2306625"/>
            <a:chExt cx="1834900" cy="1582600"/>
          </a:xfrm>
        </p:grpSpPr>
        <p:sp>
          <p:nvSpPr>
            <p:cNvPr id="266" name="Google Shape;266;p46"/>
            <p:cNvSpPr txBox="1"/>
            <p:nvPr/>
          </p:nvSpPr>
          <p:spPr>
            <a:xfrm>
              <a:off x="1235825" y="2695025"/>
              <a:ext cx="15051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65F0AD"/>
                  </a:solidFill>
                  <a:latin typeface="Raleway"/>
                  <a:ea typeface="Raleway"/>
                  <a:cs typeface="Raleway"/>
                  <a:sym typeface="Raleway"/>
                </a:rPr>
                <a:t>Segmentation</a:t>
              </a:r>
              <a:endParaRPr b="1" sz="1800">
                <a:solidFill>
                  <a:srgbClr val="65F0AD"/>
                </a:solidFill>
                <a:latin typeface="Raleway"/>
                <a:ea typeface="Raleway"/>
                <a:cs typeface="Raleway"/>
                <a:sym typeface="Raleway"/>
              </a:endParaRPr>
            </a:p>
          </p:txBody>
        </p:sp>
        <p:sp>
          <p:nvSpPr>
            <p:cNvPr id="267" name="Google Shape;267;p46"/>
            <p:cNvSpPr txBox="1"/>
            <p:nvPr/>
          </p:nvSpPr>
          <p:spPr>
            <a:xfrm>
              <a:off x="1215700" y="3151825"/>
              <a:ext cx="15456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We have</a:t>
              </a:r>
              <a:r>
                <a:rPr lang="en">
                  <a:latin typeface="Proxima Nova"/>
                  <a:ea typeface="Proxima Nova"/>
                  <a:cs typeface="Proxima Nova"/>
                  <a:sym typeface="Proxima Nova"/>
                </a:rPr>
                <a:t> focussed on e-commerce establishments, which can be generically segmented into various groups such as B2B, B2C, C2B, B2A, C2A etc.</a:t>
              </a:r>
              <a:endParaRPr>
                <a:latin typeface="Proxima Nova"/>
                <a:ea typeface="Proxima Nova"/>
                <a:cs typeface="Proxima Nova"/>
                <a:sym typeface="Proxima Nova"/>
              </a:endParaRPr>
            </a:p>
            <a:p>
              <a:pPr indent="0" lvl="0" marL="0" rtl="0" algn="l">
                <a:lnSpc>
                  <a:spcPct val="115000"/>
                </a:lnSpc>
                <a:spcBef>
                  <a:spcPts val="0"/>
                </a:spcBef>
                <a:spcAft>
                  <a:spcPts val="1600"/>
                </a:spcAft>
                <a:buNone/>
              </a:pPr>
              <a:r>
                <a:t/>
              </a:r>
              <a:endParaRPr sz="800">
                <a:solidFill>
                  <a:srgbClr val="0C58D3"/>
                </a:solidFill>
                <a:latin typeface="Roboto"/>
                <a:ea typeface="Roboto"/>
                <a:cs typeface="Roboto"/>
                <a:sym typeface="Roboto"/>
              </a:endParaRPr>
            </a:p>
          </p:txBody>
        </p:sp>
        <p:sp>
          <p:nvSpPr>
            <p:cNvPr id="268" name="Google Shape;268;p46"/>
            <p:cNvSpPr/>
            <p:nvPr/>
          </p:nvSpPr>
          <p:spPr>
            <a:xfrm flipH="1">
              <a:off x="1083025" y="2306625"/>
              <a:ext cx="1834800" cy="143400"/>
            </a:xfrm>
            <a:prstGeom prst="parallelogram">
              <a:avLst>
                <a:gd fmla="val 96952" name="adj"/>
              </a:avLst>
            </a:prstGeom>
            <a:solidFill>
              <a:srgbClr val="65F0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69" name="Google Shape;269;p46"/>
            <p:cNvSpPr/>
            <p:nvPr/>
          </p:nvSpPr>
          <p:spPr>
            <a:xfrm>
              <a:off x="1083125" y="2460449"/>
              <a:ext cx="1834800" cy="143400"/>
            </a:xfrm>
            <a:prstGeom prst="parallelogram">
              <a:avLst>
                <a:gd fmla="val 96952" name="adj"/>
              </a:avLst>
            </a:prstGeom>
            <a:solidFill>
              <a:srgbClr val="65F0A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46"/>
          <p:cNvGrpSpPr/>
          <p:nvPr/>
        </p:nvGrpSpPr>
        <p:grpSpPr>
          <a:xfrm>
            <a:off x="3176107" y="700956"/>
            <a:ext cx="2787397" cy="2404128"/>
            <a:chOff x="1083025" y="2306625"/>
            <a:chExt cx="1834900" cy="1582600"/>
          </a:xfrm>
        </p:grpSpPr>
        <p:sp>
          <p:nvSpPr>
            <p:cNvPr id="271" name="Google Shape;271;p46"/>
            <p:cNvSpPr txBox="1"/>
            <p:nvPr/>
          </p:nvSpPr>
          <p:spPr>
            <a:xfrm>
              <a:off x="1235825" y="2695025"/>
              <a:ext cx="15051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0E9453"/>
                  </a:solidFill>
                  <a:latin typeface="Raleway"/>
                  <a:ea typeface="Raleway"/>
                  <a:cs typeface="Raleway"/>
                  <a:sym typeface="Raleway"/>
                </a:rPr>
                <a:t>Targeting</a:t>
              </a:r>
              <a:endParaRPr b="1" sz="1800">
                <a:solidFill>
                  <a:srgbClr val="0E9453"/>
                </a:solidFill>
                <a:latin typeface="Raleway"/>
                <a:ea typeface="Raleway"/>
                <a:cs typeface="Raleway"/>
                <a:sym typeface="Raleway"/>
              </a:endParaRPr>
            </a:p>
          </p:txBody>
        </p:sp>
        <p:sp>
          <p:nvSpPr>
            <p:cNvPr id="272" name="Google Shape;272;p46"/>
            <p:cNvSpPr txBox="1"/>
            <p:nvPr/>
          </p:nvSpPr>
          <p:spPr>
            <a:xfrm>
              <a:off x="1215700" y="3151825"/>
              <a:ext cx="15456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roxima Nova"/>
                  <a:ea typeface="Proxima Nova"/>
                  <a:cs typeface="Proxima Nova"/>
                  <a:sym typeface="Proxima Nova"/>
                </a:rPr>
                <a:t>We intend to target the last stage of B2C e-commerce solutions i.e the delivery of packages from last nodes of transit to the consumer itself. This element is currently solely dependent on manual delivery of goods, which increases human contact.</a:t>
              </a:r>
              <a:endParaRPr>
                <a:latin typeface="Proxima Nova"/>
                <a:ea typeface="Proxima Nova"/>
                <a:cs typeface="Proxima Nova"/>
                <a:sym typeface="Proxima Nova"/>
              </a:endParaRPr>
            </a:p>
            <a:p>
              <a:pPr indent="0" lvl="0" marL="0" rtl="0" algn="l">
                <a:lnSpc>
                  <a:spcPct val="115000"/>
                </a:lnSpc>
                <a:spcBef>
                  <a:spcPts val="0"/>
                </a:spcBef>
                <a:spcAft>
                  <a:spcPts val="1600"/>
                </a:spcAft>
                <a:buNone/>
              </a:pPr>
              <a:r>
                <a:t/>
              </a:r>
              <a:endParaRPr sz="800">
                <a:solidFill>
                  <a:srgbClr val="0C58D3"/>
                </a:solidFill>
                <a:latin typeface="Roboto"/>
                <a:ea typeface="Roboto"/>
                <a:cs typeface="Roboto"/>
                <a:sym typeface="Roboto"/>
              </a:endParaRPr>
            </a:p>
          </p:txBody>
        </p:sp>
        <p:sp>
          <p:nvSpPr>
            <p:cNvPr id="273" name="Google Shape;273;p46"/>
            <p:cNvSpPr/>
            <p:nvPr/>
          </p:nvSpPr>
          <p:spPr>
            <a:xfrm flipH="1">
              <a:off x="1083025" y="2306625"/>
              <a:ext cx="1834800" cy="143400"/>
            </a:xfrm>
            <a:prstGeom prst="parallelogram">
              <a:avLst>
                <a:gd fmla="val 96952" name="adj"/>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74" name="Google Shape;274;p46"/>
            <p:cNvSpPr/>
            <p:nvPr/>
          </p:nvSpPr>
          <p:spPr>
            <a:xfrm>
              <a:off x="1083125" y="2460449"/>
              <a:ext cx="1834800" cy="143400"/>
            </a:xfrm>
            <a:prstGeom prst="parallelogram">
              <a:avLst>
                <a:gd fmla="val 96952" name="adj"/>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46"/>
          <p:cNvGrpSpPr/>
          <p:nvPr/>
        </p:nvGrpSpPr>
        <p:grpSpPr>
          <a:xfrm>
            <a:off x="5776690" y="699875"/>
            <a:ext cx="2787397" cy="2404128"/>
            <a:chOff x="1083025" y="2306625"/>
            <a:chExt cx="1834900" cy="1582600"/>
          </a:xfrm>
        </p:grpSpPr>
        <p:sp>
          <p:nvSpPr>
            <p:cNvPr id="276" name="Google Shape;276;p46"/>
            <p:cNvSpPr txBox="1"/>
            <p:nvPr/>
          </p:nvSpPr>
          <p:spPr>
            <a:xfrm>
              <a:off x="1247880" y="2705426"/>
              <a:ext cx="15051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085631"/>
                  </a:solidFill>
                  <a:latin typeface="Raleway"/>
                  <a:ea typeface="Raleway"/>
                  <a:cs typeface="Raleway"/>
                  <a:sym typeface="Raleway"/>
                </a:rPr>
                <a:t>Positioning</a:t>
              </a:r>
              <a:endParaRPr b="1" sz="1800">
                <a:solidFill>
                  <a:srgbClr val="085631"/>
                </a:solidFill>
                <a:latin typeface="Raleway"/>
                <a:ea typeface="Raleway"/>
                <a:cs typeface="Raleway"/>
                <a:sym typeface="Raleway"/>
              </a:endParaRPr>
            </a:p>
          </p:txBody>
        </p:sp>
        <p:sp>
          <p:nvSpPr>
            <p:cNvPr id="277" name="Google Shape;277;p46"/>
            <p:cNvSpPr txBox="1"/>
            <p:nvPr/>
          </p:nvSpPr>
          <p:spPr>
            <a:xfrm>
              <a:off x="1215700" y="3151825"/>
              <a:ext cx="15456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Proxima Nova"/>
                  <a:ea typeface="Proxima Nova"/>
                  <a:cs typeface="Proxima Nova"/>
                  <a:sym typeface="Proxima Nova"/>
                </a:rPr>
                <a:t>Current commercial payload carrying drones lack proper systems for efficient delivery of packages apart from other problems. Our drone makes use of the latest LiDAR Technology providing efficient Obstacle Avoidance and Collision Prevention features unlike the costly counterparts making use of High Resolution Cameras thus making it cost effective.</a:t>
              </a:r>
              <a:endParaRPr sz="1300">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800">
                <a:solidFill>
                  <a:srgbClr val="858585"/>
                </a:solidFill>
                <a:latin typeface="Roboto"/>
                <a:ea typeface="Roboto"/>
                <a:cs typeface="Roboto"/>
                <a:sym typeface="Roboto"/>
              </a:endParaRPr>
            </a:p>
            <a:p>
              <a:pPr indent="0" lvl="0" marL="0" rtl="0" algn="l">
                <a:lnSpc>
                  <a:spcPct val="115000"/>
                </a:lnSpc>
                <a:spcBef>
                  <a:spcPts val="1600"/>
                </a:spcBef>
                <a:spcAft>
                  <a:spcPts val="0"/>
                </a:spcAft>
                <a:buNone/>
              </a:pPr>
              <a:r>
                <a:t/>
              </a:r>
              <a:endParaRPr sz="800">
                <a:solidFill>
                  <a:srgbClr val="858585"/>
                </a:solidFill>
                <a:latin typeface="Roboto"/>
                <a:ea typeface="Roboto"/>
                <a:cs typeface="Roboto"/>
                <a:sym typeface="Roboto"/>
              </a:endParaRPr>
            </a:p>
            <a:p>
              <a:pPr indent="0" lvl="0" marL="0" rtl="0" algn="l">
                <a:lnSpc>
                  <a:spcPct val="115000"/>
                </a:lnSpc>
                <a:spcBef>
                  <a:spcPts val="1600"/>
                </a:spcBef>
                <a:spcAft>
                  <a:spcPts val="1600"/>
                </a:spcAft>
                <a:buNone/>
              </a:pPr>
              <a:r>
                <a:t/>
              </a:r>
              <a:endParaRPr sz="800">
                <a:solidFill>
                  <a:srgbClr val="858585"/>
                </a:solidFill>
                <a:latin typeface="Roboto"/>
                <a:ea typeface="Roboto"/>
                <a:cs typeface="Roboto"/>
                <a:sym typeface="Roboto"/>
              </a:endParaRPr>
            </a:p>
          </p:txBody>
        </p:sp>
        <p:sp>
          <p:nvSpPr>
            <p:cNvPr id="278" name="Google Shape;278;p46"/>
            <p:cNvSpPr/>
            <p:nvPr/>
          </p:nvSpPr>
          <p:spPr>
            <a:xfrm flipH="1">
              <a:off x="1083025" y="2306625"/>
              <a:ext cx="1834800" cy="143400"/>
            </a:xfrm>
            <a:prstGeom prst="parallelogram">
              <a:avLst>
                <a:gd fmla="val 96952" name="adj"/>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79" name="Google Shape;279;p46"/>
            <p:cNvSpPr/>
            <p:nvPr/>
          </p:nvSpPr>
          <p:spPr>
            <a:xfrm>
              <a:off x="1083125" y="2460449"/>
              <a:ext cx="1834800" cy="143400"/>
            </a:xfrm>
            <a:prstGeom prst="parallelogram">
              <a:avLst>
                <a:gd fmla="val 96952" name="adj"/>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7"/>
          <p:cNvSpPr txBox="1"/>
          <p:nvPr/>
        </p:nvSpPr>
        <p:spPr>
          <a:xfrm>
            <a:off x="204550" y="204525"/>
            <a:ext cx="8497500" cy="44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2"/>
                </a:solidFill>
                <a:latin typeface="Proxima Nova"/>
                <a:ea typeface="Proxima Nova"/>
                <a:cs typeface="Proxima Nova"/>
                <a:sym typeface="Proxima Nova"/>
              </a:rPr>
              <a:t>Future Improvements</a:t>
            </a:r>
            <a:endParaRPr b="1" sz="3600">
              <a:solidFill>
                <a:schemeClr val="lt2"/>
              </a:solidFill>
              <a:latin typeface="Proxima Nova"/>
              <a:ea typeface="Proxima Nova"/>
              <a:cs typeface="Proxima Nova"/>
              <a:sym typeface="Proxima Nova"/>
            </a:endParaRPr>
          </a:p>
          <a:p>
            <a:pPr indent="0" lvl="0" marL="0" rtl="0" algn="l">
              <a:spcBef>
                <a:spcPts val="0"/>
              </a:spcBef>
              <a:spcAft>
                <a:spcPts val="0"/>
              </a:spcAft>
              <a:buNone/>
            </a:pPr>
            <a:r>
              <a:t/>
            </a:r>
            <a:endParaRPr>
              <a:latin typeface="Proxima Nova"/>
              <a:ea typeface="Proxima Nova"/>
              <a:cs typeface="Proxima Nova"/>
              <a:sym typeface="Proxima Nova"/>
            </a:endParaRPr>
          </a:p>
          <a:p>
            <a:pPr indent="0" lvl="0" marL="0" rtl="0" algn="l">
              <a:spcBef>
                <a:spcPts val="0"/>
              </a:spcBef>
              <a:spcAft>
                <a:spcPts val="0"/>
              </a:spcAft>
              <a:buNone/>
            </a:pPr>
            <a:r>
              <a:rPr lang="en" sz="1800">
                <a:latin typeface="Proxima Nova"/>
                <a:ea typeface="Proxima Nova"/>
                <a:cs typeface="Proxima Nova"/>
                <a:sym typeface="Proxima Nova"/>
              </a:rPr>
              <a:t>-</a:t>
            </a:r>
            <a:r>
              <a:rPr lang="en">
                <a:latin typeface="Proxima Nova"/>
                <a:ea typeface="Proxima Nova"/>
                <a:cs typeface="Proxima Nova"/>
                <a:sym typeface="Proxima Nova"/>
              </a:rPr>
              <a:t>  </a:t>
            </a:r>
            <a:r>
              <a:rPr lang="en" sz="1800">
                <a:latin typeface="Raleway"/>
                <a:ea typeface="Raleway"/>
                <a:cs typeface="Raleway"/>
                <a:sym typeface="Raleway"/>
              </a:rPr>
              <a:t>Overheating problems can be solved using appropriate cooling system.</a:t>
            </a:r>
            <a:endParaRPr sz="1800">
              <a:latin typeface="Raleway"/>
              <a:ea typeface="Raleway"/>
              <a:cs typeface="Raleway"/>
              <a:sym typeface="Raleway"/>
            </a:endParaRPr>
          </a:p>
          <a:p>
            <a:pPr indent="0" lvl="0" marL="0" rtl="0" algn="l">
              <a:spcBef>
                <a:spcPts val="0"/>
              </a:spcBef>
              <a:spcAft>
                <a:spcPts val="0"/>
              </a:spcAft>
              <a:buNone/>
            </a:pPr>
            <a:r>
              <a:t/>
            </a:r>
            <a:endParaRPr sz="1800">
              <a:latin typeface="Raleway"/>
              <a:ea typeface="Raleway"/>
              <a:cs typeface="Raleway"/>
              <a:sym typeface="Raleway"/>
            </a:endParaRPr>
          </a:p>
          <a:p>
            <a:pPr indent="0" lvl="0" marL="0" rtl="0" algn="l">
              <a:spcBef>
                <a:spcPts val="0"/>
              </a:spcBef>
              <a:spcAft>
                <a:spcPts val="0"/>
              </a:spcAft>
              <a:buNone/>
            </a:pPr>
            <a:r>
              <a:rPr lang="en" sz="1800">
                <a:latin typeface="Raleway"/>
                <a:ea typeface="Raleway"/>
                <a:cs typeface="Raleway"/>
                <a:sym typeface="Raleway"/>
              </a:rPr>
              <a:t>- Battery performance can be optimized using Battery Management System.</a:t>
            </a:r>
            <a:endParaRPr sz="1800">
              <a:latin typeface="Raleway"/>
              <a:ea typeface="Raleway"/>
              <a:cs typeface="Raleway"/>
              <a:sym typeface="Raleway"/>
            </a:endParaRPr>
          </a:p>
          <a:p>
            <a:pPr indent="0" lvl="0" marL="0" rtl="0" algn="l">
              <a:spcBef>
                <a:spcPts val="0"/>
              </a:spcBef>
              <a:spcAft>
                <a:spcPts val="0"/>
              </a:spcAft>
              <a:buNone/>
            </a:pPr>
            <a:r>
              <a:t/>
            </a:r>
            <a:endParaRPr sz="1800">
              <a:latin typeface="Raleway"/>
              <a:ea typeface="Raleway"/>
              <a:cs typeface="Raleway"/>
              <a:sym typeface="Raleway"/>
            </a:endParaRPr>
          </a:p>
          <a:p>
            <a:pPr indent="0" lvl="0" marL="0" rtl="0" algn="l">
              <a:spcBef>
                <a:spcPts val="0"/>
              </a:spcBef>
              <a:spcAft>
                <a:spcPts val="0"/>
              </a:spcAft>
              <a:buNone/>
            </a:pPr>
            <a:r>
              <a:rPr lang="en" sz="1800">
                <a:latin typeface="Raleway"/>
                <a:ea typeface="Raleway"/>
                <a:cs typeface="Raleway"/>
                <a:sym typeface="Raleway"/>
              </a:rPr>
              <a:t>- Self mounting and demounting mechanisms can be incorporated.</a:t>
            </a:r>
            <a:endParaRPr sz="1800">
              <a:latin typeface="Raleway"/>
              <a:ea typeface="Raleway"/>
              <a:cs typeface="Raleway"/>
              <a:sym typeface="Raleway"/>
            </a:endParaRPr>
          </a:p>
          <a:p>
            <a:pPr indent="0" lvl="0" marL="0" rtl="0" algn="l">
              <a:spcBef>
                <a:spcPts val="0"/>
              </a:spcBef>
              <a:spcAft>
                <a:spcPts val="0"/>
              </a:spcAft>
              <a:buNone/>
            </a:pPr>
            <a:r>
              <a:t/>
            </a:r>
            <a:endParaRPr sz="1800">
              <a:latin typeface="Raleway"/>
              <a:ea typeface="Raleway"/>
              <a:cs typeface="Raleway"/>
              <a:sym typeface="Raleway"/>
            </a:endParaRPr>
          </a:p>
          <a:p>
            <a:pPr indent="0" lvl="0" marL="0" rtl="0" algn="l">
              <a:spcBef>
                <a:spcPts val="0"/>
              </a:spcBef>
              <a:spcAft>
                <a:spcPts val="0"/>
              </a:spcAft>
              <a:buNone/>
            </a:pPr>
            <a:r>
              <a:rPr lang="en" sz="1800">
                <a:latin typeface="Raleway"/>
                <a:ea typeface="Raleway"/>
                <a:cs typeface="Raleway"/>
                <a:sym typeface="Raleway"/>
              </a:rPr>
              <a:t>- IoT Based Devices used for data transfer between on-board components and</a:t>
            </a:r>
            <a:endParaRPr sz="1800">
              <a:latin typeface="Raleway"/>
              <a:ea typeface="Raleway"/>
              <a:cs typeface="Raleway"/>
              <a:sym typeface="Raleway"/>
            </a:endParaRPr>
          </a:p>
          <a:p>
            <a:pPr indent="0" lvl="0" marL="0" rtl="0" algn="l">
              <a:spcBef>
                <a:spcPts val="0"/>
              </a:spcBef>
              <a:spcAft>
                <a:spcPts val="0"/>
              </a:spcAft>
              <a:buNone/>
            </a:pPr>
            <a:r>
              <a:rPr lang="en" sz="1800">
                <a:latin typeface="Raleway"/>
                <a:ea typeface="Raleway"/>
                <a:cs typeface="Raleway"/>
                <a:sym typeface="Raleway"/>
              </a:rPr>
              <a:t>   Ground Control Station can be modified.</a:t>
            </a:r>
            <a:endParaRPr sz="1800">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