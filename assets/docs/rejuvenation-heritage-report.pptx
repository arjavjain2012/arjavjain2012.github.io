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Content"/>
      <p:regular r:id="rId15"/>
      <p:bold r:id="rId16"/>
    </p:embeddedFont>
    <p:embeddedFont>
      <p:font typeface="Helvetica Neue"/>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1" roundtripDataSignature="AMtx7mhQ+cjlGqdgi7TpkEd/gW2MQjBd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HelveticaNeue-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Content-regular.fntdata"/><Relationship Id="rId14" Type="http://schemas.openxmlformats.org/officeDocument/2006/relationships/slide" Target="slides/slide10.xml"/><Relationship Id="rId17" Type="http://schemas.openxmlformats.org/officeDocument/2006/relationships/font" Target="fonts/HelveticaNeue-regular.fntdata"/><Relationship Id="rId16" Type="http://schemas.openxmlformats.org/officeDocument/2006/relationships/font" Target="fonts/Content-bold.fntdata"/><Relationship Id="rId5" Type="http://schemas.openxmlformats.org/officeDocument/2006/relationships/slide" Target="slides/slide1.xml"/><Relationship Id="rId19" Type="http://schemas.openxmlformats.org/officeDocument/2006/relationships/font" Target="fonts/HelveticaNeue-italic.fntdata"/><Relationship Id="rId6" Type="http://schemas.openxmlformats.org/officeDocument/2006/relationships/slide" Target="slides/slide2.xml"/><Relationship Id="rId18" Type="http://schemas.openxmlformats.org/officeDocument/2006/relationships/font" Target="fonts/HelveticaNeue-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994634d4b8_5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994634d4b8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994634d4b8_5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994634d4b8_5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994634d4b8_12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994634d4b8_1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994634d4b8_8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994634d4b8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994634d4b8_7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994634d4b8_7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1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1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1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1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4" name="Google Shape;64;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6.jpg"/><Relationship Id="rId5" Type="http://schemas.openxmlformats.org/officeDocument/2006/relationships/image" Target="../media/image9.jpg"/><Relationship Id="rId6" Type="http://schemas.openxmlformats.org/officeDocument/2006/relationships/image" Target="../media/image10.jpg"/><Relationship Id="rId7"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994634d4b8_5_5"/>
          <p:cNvSpPr txBox="1"/>
          <p:nvPr/>
        </p:nvSpPr>
        <p:spPr>
          <a:xfrm>
            <a:off x="3638100" y="254525"/>
            <a:ext cx="4915800" cy="101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6000" u="sng">
                <a:latin typeface="Calibri"/>
                <a:ea typeface="Calibri"/>
                <a:cs typeface="Calibri"/>
                <a:sym typeface="Calibri"/>
              </a:rPr>
              <a:t>Tech4Heritage</a:t>
            </a:r>
            <a:endParaRPr b="1" sz="6000" u="sng">
              <a:latin typeface="Calibri"/>
              <a:ea typeface="Calibri"/>
              <a:cs typeface="Calibri"/>
              <a:sym typeface="Calibri"/>
            </a:endParaRPr>
          </a:p>
        </p:txBody>
      </p:sp>
      <p:sp>
        <p:nvSpPr>
          <p:cNvPr id="85" name="Google Shape;85;g994634d4b8_5_5"/>
          <p:cNvSpPr txBox="1"/>
          <p:nvPr/>
        </p:nvSpPr>
        <p:spPr>
          <a:xfrm>
            <a:off x="4100250" y="1366325"/>
            <a:ext cx="39915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200">
                <a:latin typeface="Calibri"/>
                <a:ea typeface="Calibri"/>
                <a:cs typeface="Calibri"/>
                <a:sym typeface="Calibri"/>
              </a:rPr>
              <a:t>Sample Phase 1 Submission</a:t>
            </a:r>
            <a:endParaRPr b="1" sz="2200">
              <a:latin typeface="Calibri"/>
              <a:ea typeface="Calibri"/>
              <a:cs typeface="Calibri"/>
              <a:sym typeface="Calibri"/>
            </a:endParaRPr>
          </a:p>
        </p:txBody>
      </p:sp>
      <p:sp>
        <p:nvSpPr>
          <p:cNvPr id="86" name="Google Shape;86;g994634d4b8_5_5"/>
          <p:cNvSpPr txBox="1"/>
          <p:nvPr/>
        </p:nvSpPr>
        <p:spPr>
          <a:xfrm>
            <a:off x="3869250" y="3117600"/>
            <a:ext cx="4453500" cy="62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3000" u="sng">
                <a:latin typeface="Comic Sans MS"/>
                <a:ea typeface="Comic Sans MS"/>
                <a:cs typeface="Comic Sans MS"/>
                <a:sym typeface="Comic Sans MS"/>
              </a:rPr>
              <a:t>Team128 Ancient_AI</a:t>
            </a:r>
            <a:endParaRPr sz="3000" u="sng">
              <a:latin typeface="Comic Sans MS"/>
              <a:ea typeface="Comic Sans MS"/>
              <a:cs typeface="Comic Sans MS"/>
              <a:sym typeface="Comic Sans MS"/>
            </a:endParaRPr>
          </a:p>
        </p:txBody>
      </p:sp>
      <p:sp>
        <p:nvSpPr>
          <p:cNvPr id="87" name="Google Shape;87;g994634d4b8_5_5"/>
          <p:cNvSpPr txBox="1"/>
          <p:nvPr/>
        </p:nvSpPr>
        <p:spPr>
          <a:xfrm>
            <a:off x="951000" y="4969375"/>
            <a:ext cx="4272900" cy="16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latin typeface="Calibri"/>
                <a:ea typeface="Calibri"/>
                <a:cs typeface="Calibri"/>
                <a:sym typeface="Calibri"/>
              </a:rPr>
              <a:t>Members:</a:t>
            </a:r>
            <a:endParaRPr sz="2000">
              <a:latin typeface="Calibri"/>
              <a:ea typeface="Calibri"/>
              <a:cs typeface="Calibri"/>
              <a:sym typeface="Calibri"/>
            </a:endParaRPr>
          </a:p>
          <a:p>
            <a:pPr indent="0" lvl="0" marL="0" rtl="0" algn="l">
              <a:spcBef>
                <a:spcPts val="0"/>
              </a:spcBef>
              <a:spcAft>
                <a:spcPts val="0"/>
              </a:spcAft>
              <a:buNone/>
            </a:pPr>
            <a:r>
              <a:rPr lang="en-US" sz="2000">
                <a:latin typeface="Calibri"/>
                <a:ea typeface="Calibri"/>
                <a:cs typeface="Calibri"/>
                <a:sym typeface="Calibri"/>
              </a:rPr>
              <a:t>Parth Chhabra (Team Captain)</a:t>
            </a:r>
            <a:endParaRPr sz="2000">
              <a:latin typeface="Calibri"/>
              <a:ea typeface="Calibri"/>
              <a:cs typeface="Calibri"/>
              <a:sym typeface="Calibri"/>
            </a:endParaRPr>
          </a:p>
          <a:p>
            <a:pPr indent="0" lvl="0" marL="0" rtl="0" algn="l">
              <a:spcBef>
                <a:spcPts val="0"/>
              </a:spcBef>
              <a:spcAft>
                <a:spcPts val="0"/>
              </a:spcAft>
              <a:buNone/>
            </a:pPr>
            <a:r>
              <a:rPr lang="en-US" sz="2000">
                <a:latin typeface="Calibri"/>
                <a:ea typeface="Calibri"/>
                <a:cs typeface="Calibri"/>
                <a:sym typeface="Calibri"/>
              </a:rPr>
              <a:t>Arjav Jain</a:t>
            </a:r>
            <a:endParaRPr sz="2000">
              <a:latin typeface="Calibri"/>
              <a:ea typeface="Calibri"/>
              <a:cs typeface="Calibri"/>
              <a:sym typeface="Calibri"/>
            </a:endParaRPr>
          </a:p>
          <a:p>
            <a:pPr indent="0" lvl="0" marL="0" rtl="0" algn="l">
              <a:spcBef>
                <a:spcPts val="0"/>
              </a:spcBef>
              <a:spcAft>
                <a:spcPts val="0"/>
              </a:spcAft>
              <a:buNone/>
            </a:pPr>
            <a:r>
              <a:rPr lang="en-US" sz="2000">
                <a:latin typeface="Calibri"/>
                <a:ea typeface="Calibri"/>
                <a:cs typeface="Calibri"/>
                <a:sym typeface="Calibri"/>
              </a:rPr>
              <a:t>Aryan Prasad</a:t>
            </a:r>
            <a:endParaRPr sz="2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Kushagra Babbar</a:t>
            </a:r>
            <a:endParaRPr sz="200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994634d4b8_5_14"/>
          <p:cNvSpPr txBox="1"/>
          <p:nvPr>
            <p:ph idx="4294967295" type="ctrTitle"/>
          </p:nvPr>
        </p:nvSpPr>
        <p:spPr>
          <a:xfrm>
            <a:off x="538150" y="242899"/>
            <a:ext cx="9144000" cy="871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US" sz="3900" u="sng">
                <a:latin typeface="Helvetica Neue"/>
                <a:ea typeface="Helvetica Neue"/>
                <a:cs typeface="Helvetica Neue"/>
                <a:sym typeface="Helvetica Neue"/>
              </a:rPr>
              <a:t>Dataset</a:t>
            </a:r>
            <a:endParaRPr b="1" sz="3900" u="sng">
              <a:latin typeface="Helvetica Neue"/>
              <a:ea typeface="Helvetica Neue"/>
              <a:cs typeface="Helvetica Neue"/>
              <a:sym typeface="Helvetica Neue"/>
            </a:endParaRPr>
          </a:p>
        </p:txBody>
      </p:sp>
      <p:sp>
        <p:nvSpPr>
          <p:cNvPr id="93" name="Google Shape;93;g994634d4b8_5_14"/>
          <p:cNvSpPr txBox="1"/>
          <p:nvPr/>
        </p:nvSpPr>
        <p:spPr>
          <a:xfrm>
            <a:off x="681800" y="1176425"/>
            <a:ext cx="1269900" cy="114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4" name="Google Shape;94;g994634d4b8_5_14"/>
          <p:cNvSpPr txBox="1"/>
          <p:nvPr/>
        </p:nvSpPr>
        <p:spPr>
          <a:xfrm>
            <a:off x="688500" y="1216525"/>
            <a:ext cx="10815000" cy="53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latin typeface="Calibri"/>
                <a:ea typeface="Calibri"/>
                <a:cs typeface="Calibri"/>
                <a:sym typeface="Calibri"/>
              </a:rPr>
              <a:t>The research and the the work behind nitpicking a proper dataset was worth the experience. Following are the precautionary measures and factors that we had the utmost concern of:   </a:t>
            </a:r>
            <a:endParaRPr sz="1900">
              <a:latin typeface="Calibri"/>
              <a:ea typeface="Calibri"/>
              <a:cs typeface="Calibri"/>
              <a:sym typeface="Calibri"/>
            </a:endParaRPr>
          </a:p>
          <a:p>
            <a:pPr indent="0" lvl="0" marL="0" rtl="0" algn="l">
              <a:spcBef>
                <a:spcPts val="0"/>
              </a:spcBef>
              <a:spcAft>
                <a:spcPts val="0"/>
              </a:spcAft>
              <a:buNone/>
            </a:pPr>
            <a:r>
              <a:t/>
            </a:r>
            <a:endParaRPr sz="1900">
              <a:latin typeface="Calibri"/>
              <a:ea typeface="Calibri"/>
              <a:cs typeface="Calibri"/>
              <a:sym typeface="Calibri"/>
            </a:endParaRPr>
          </a:p>
          <a:p>
            <a:pPr indent="-349250" lvl="0" marL="457200" rtl="0" algn="l">
              <a:spcBef>
                <a:spcPts val="0"/>
              </a:spcBef>
              <a:spcAft>
                <a:spcPts val="0"/>
              </a:spcAft>
              <a:buSzPts val="1900"/>
              <a:buFont typeface="Calibri"/>
              <a:buChar char="●"/>
            </a:pPr>
            <a:r>
              <a:rPr lang="en-US" sz="1900">
                <a:latin typeface="Calibri"/>
                <a:ea typeface="Calibri"/>
                <a:cs typeface="Calibri"/>
                <a:sym typeface="Calibri"/>
              </a:rPr>
              <a:t>Since the competition revolves around rejuvenating Indias’ heritage, it became immensely necessary to include only the images having Indian significance. Western art differed from our requirements in terms of the the style of paintings, the historical choices of colour shades and most significantly, the age of the artwork. All of the images have been duly evaluated taking into account, its similarity to given sample data.</a:t>
            </a:r>
            <a:endParaRPr sz="1900">
              <a:latin typeface="Calibri"/>
              <a:ea typeface="Calibri"/>
              <a:cs typeface="Calibri"/>
              <a:sym typeface="Calibri"/>
            </a:endParaRPr>
          </a:p>
          <a:p>
            <a:pPr indent="-349250" lvl="0" marL="457200" rtl="0" algn="l">
              <a:spcBef>
                <a:spcPts val="0"/>
              </a:spcBef>
              <a:spcAft>
                <a:spcPts val="0"/>
              </a:spcAft>
              <a:buSzPts val="1900"/>
              <a:buFont typeface="Calibri"/>
              <a:buChar char="●"/>
            </a:pPr>
            <a:r>
              <a:rPr lang="en-US" sz="1900">
                <a:latin typeface="Calibri"/>
                <a:ea typeface="Calibri"/>
                <a:cs typeface="Calibri"/>
                <a:sym typeface="Calibri"/>
              </a:rPr>
              <a:t>In order to extend the flexibility of the program in acceptance of varying resolutions of images, we ensured that we resize our images to </a:t>
            </a:r>
            <a:r>
              <a:rPr b="1" lang="en-US" sz="1900">
                <a:latin typeface="Calibri"/>
                <a:ea typeface="Calibri"/>
                <a:cs typeface="Calibri"/>
                <a:sym typeface="Calibri"/>
              </a:rPr>
              <a:t>500 X 500 px</a:t>
            </a:r>
            <a:r>
              <a:rPr lang="en-US" sz="1900">
                <a:latin typeface="Calibri"/>
                <a:ea typeface="Calibri"/>
                <a:cs typeface="Calibri"/>
                <a:sym typeface="Calibri"/>
              </a:rPr>
              <a:t> and </a:t>
            </a:r>
            <a:r>
              <a:rPr b="1" lang="en-US" sz="1900">
                <a:latin typeface="Calibri"/>
                <a:ea typeface="Calibri"/>
                <a:cs typeface="Calibri"/>
                <a:sym typeface="Calibri"/>
              </a:rPr>
              <a:t>normalized the data</a:t>
            </a:r>
            <a:r>
              <a:rPr lang="en-US" sz="1900">
                <a:latin typeface="Calibri"/>
                <a:ea typeface="Calibri"/>
                <a:cs typeface="Calibri"/>
                <a:sym typeface="Calibri"/>
              </a:rPr>
              <a:t> on all pixels for maintaining mathematical uniformity.</a:t>
            </a:r>
            <a:endParaRPr sz="1900">
              <a:latin typeface="Calibri"/>
              <a:ea typeface="Calibri"/>
              <a:cs typeface="Calibri"/>
              <a:sym typeface="Calibri"/>
            </a:endParaRPr>
          </a:p>
          <a:p>
            <a:pPr indent="-349250" lvl="0" marL="457200" rtl="0" algn="l">
              <a:spcBef>
                <a:spcPts val="0"/>
              </a:spcBef>
              <a:spcAft>
                <a:spcPts val="0"/>
              </a:spcAft>
              <a:buSzPts val="1900"/>
              <a:buFont typeface="Calibri"/>
              <a:buChar char="●"/>
            </a:pPr>
            <a:r>
              <a:rPr lang="en-US" sz="1900">
                <a:latin typeface="Calibri"/>
                <a:ea typeface="Calibri"/>
                <a:cs typeface="Calibri"/>
                <a:sym typeface="Calibri"/>
              </a:rPr>
              <a:t>With the plan of implementing a proper deep learning network, we have developed a function </a:t>
            </a:r>
            <a:r>
              <a:rPr b="1" lang="en-US" sz="1900">
                <a:latin typeface="Calibri"/>
                <a:ea typeface="Calibri"/>
                <a:cs typeface="Calibri"/>
                <a:sym typeface="Calibri"/>
              </a:rPr>
              <a:t>apply_distortion()</a:t>
            </a:r>
            <a:r>
              <a:rPr lang="en-US" sz="1900">
                <a:latin typeface="Calibri"/>
                <a:ea typeface="Calibri"/>
                <a:cs typeface="Calibri"/>
                <a:sym typeface="Calibri"/>
              </a:rPr>
              <a:t> which distorts the image in addition to the distortions already present. We have channelized various values for pixels in hsv mode which tints the accommodated images using one of our predefined mathematical models for each of them. This way, we eliminate the layman’s idea of imparting distortion through binary colours(B&amp;W) which might possibly overfit the model only one of the infinite number of ways a painting could be patched.</a:t>
            </a:r>
            <a:endParaRPr sz="1900">
              <a:latin typeface="Calibri"/>
              <a:ea typeface="Calibri"/>
              <a:cs typeface="Calibri"/>
              <a:sym typeface="Calibri"/>
            </a:endParaRPr>
          </a:p>
          <a:p>
            <a:pPr indent="0" lvl="0" marL="457200" rtl="0" algn="l">
              <a:spcBef>
                <a:spcPts val="0"/>
              </a:spcBef>
              <a:spcAft>
                <a:spcPts val="0"/>
              </a:spcAft>
              <a:buNone/>
            </a:pPr>
            <a:r>
              <a:t/>
            </a:r>
            <a:endParaRPr sz="19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g994634d4b8_12_2"/>
          <p:cNvPicPr preferRelativeResize="0"/>
          <p:nvPr/>
        </p:nvPicPr>
        <p:blipFill>
          <a:blip r:embed="rId3">
            <a:alphaModFix/>
          </a:blip>
          <a:stretch>
            <a:fillRect/>
          </a:stretch>
        </p:blipFill>
        <p:spPr>
          <a:xfrm>
            <a:off x="8795600" y="498575"/>
            <a:ext cx="3157450" cy="6085575"/>
          </a:xfrm>
          <a:prstGeom prst="rect">
            <a:avLst/>
          </a:prstGeom>
          <a:noFill/>
          <a:ln>
            <a:noFill/>
          </a:ln>
        </p:spPr>
      </p:pic>
      <p:pic>
        <p:nvPicPr>
          <p:cNvPr id="100" name="Google Shape;100;g994634d4b8_12_2"/>
          <p:cNvPicPr preferRelativeResize="0"/>
          <p:nvPr/>
        </p:nvPicPr>
        <p:blipFill rotWithShape="1">
          <a:blip r:embed="rId4">
            <a:alphaModFix/>
          </a:blip>
          <a:srcRect b="8842" l="4589" r="0" t="0"/>
          <a:stretch/>
        </p:blipFill>
        <p:spPr>
          <a:xfrm>
            <a:off x="165100" y="284675"/>
            <a:ext cx="4003475" cy="3086975"/>
          </a:xfrm>
          <a:prstGeom prst="rect">
            <a:avLst/>
          </a:prstGeom>
          <a:noFill/>
          <a:ln>
            <a:noFill/>
          </a:ln>
        </p:spPr>
      </p:pic>
      <p:pic>
        <p:nvPicPr>
          <p:cNvPr id="101" name="Google Shape;101;g994634d4b8_12_2"/>
          <p:cNvPicPr preferRelativeResize="0"/>
          <p:nvPr/>
        </p:nvPicPr>
        <p:blipFill>
          <a:blip r:embed="rId5">
            <a:alphaModFix/>
          </a:blip>
          <a:stretch>
            <a:fillRect/>
          </a:stretch>
        </p:blipFill>
        <p:spPr>
          <a:xfrm>
            <a:off x="4371750" y="3524050"/>
            <a:ext cx="4207976" cy="3181550"/>
          </a:xfrm>
          <a:prstGeom prst="rect">
            <a:avLst/>
          </a:prstGeom>
          <a:noFill/>
          <a:ln>
            <a:noFill/>
          </a:ln>
        </p:spPr>
      </p:pic>
      <p:pic>
        <p:nvPicPr>
          <p:cNvPr id="102" name="Google Shape;102;g994634d4b8_12_2"/>
          <p:cNvPicPr preferRelativeResize="0"/>
          <p:nvPr/>
        </p:nvPicPr>
        <p:blipFill>
          <a:blip r:embed="rId6">
            <a:alphaModFix/>
          </a:blip>
          <a:stretch>
            <a:fillRect/>
          </a:stretch>
        </p:blipFill>
        <p:spPr>
          <a:xfrm>
            <a:off x="4371750" y="284675"/>
            <a:ext cx="4207975" cy="3086975"/>
          </a:xfrm>
          <a:prstGeom prst="rect">
            <a:avLst/>
          </a:prstGeom>
          <a:noFill/>
          <a:ln>
            <a:noFill/>
          </a:ln>
        </p:spPr>
      </p:pic>
      <p:pic>
        <p:nvPicPr>
          <p:cNvPr id="103" name="Google Shape;103;g994634d4b8_12_2"/>
          <p:cNvPicPr preferRelativeResize="0"/>
          <p:nvPr/>
        </p:nvPicPr>
        <p:blipFill>
          <a:blip r:embed="rId7">
            <a:alphaModFix/>
          </a:blip>
          <a:stretch>
            <a:fillRect/>
          </a:stretch>
        </p:blipFill>
        <p:spPr>
          <a:xfrm>
            <a:off x="152400" y="3524050"/>
            <a:ext cx="4003476" cy="3181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994634d4b8_8_0"/>
          <p:cNvSpPr txBox="1"/>
          <p:nvPr>
            <p:ph type="ctrTitle"/>
          </p:nvPr>
        </p:nvSpPr>
        <p:spPr>
          <a:xfrm>
            <a:off x="152400" y="100025"/>
            <a:ext cx="9144000" cy="557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sz="2400">
                <a:latin typeface="Helvetica Neue"/>
                <a:ea typeface="Helvetica Neue"/>
                <a:cs typeface="Helvetica Neue"/>
                <a:sym typeface="Helvetica Neue"/>
              </a:rPr>
              <a:t>Roadmap</a:t>
            </a:r>
            <a:endParaRPr sz="2400">
              <a:latin typeface="Helvetica Neue"/>
              <a:ea typeface="Helvetica Neue"/>
              <a:cs typeface="Helvetica Neue"/>
              <a:sym typeface="Helvetica Neue"/>
            </a:endParaRPr>
          </a:p>
        </p:txBody>
      </p:sp>
      <p:sp>
        <p:nvSpPr>
          <p:cNvPr id="109" name="Google Shape;109;g994634d4b8_8_0"/>
          <p:cNvSpPr txBox="1"/>
          <p:nvPr/>
        </p:nvSpPr>
        <p:spPr>
          <a:xfrm>
            <a:off x="242900" y="814400"/>
            <a:ext cx="11730000" cy="58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pic>
        <p:nvPicPr>
          <p:cNvPr id="110" name="Google Shape;110;g994634d4b8_8_0"/>
          <p:cNvPicPr preferRelativeResize="0"/>
          <p:nvPr/>
        </p:nvPicPr>
        <p:blipFill>
          <a:blip r:embed="rId3">
            <a:alphaModFix/>
          </a:blip>
          <a:stretch>
            <a:fillRect/>
          </a:stretch>
        </p:blipFill>
        <p:spPr>
          <a:xfrm>
            <a:off x="242900" y="695325"/>
            <a:ext cx="10458450" cy="6067425"/>
          </a:xfrm>
          <a:prstGeom prst="rect">
            <a:avLst/>
          </a:prstGeom>
          <a:noFill/>
          <a:ln>
            <a:noFill/>
          </a:ln>
        </p:spPr>
      </p:pic>
      <p:pic>
        <p:nvPicPr>
          <p:cNvPr id="111" name="Google Shape;111;g994634d4b8_8_0"/>
          <p:cNvPicPr preferRelativeResize="0"/>
          <p:nvPr/>
        </p:nvPicPr>
        <p:blipFill>
          <a:blip r:embed="rId4">
            <a:alphaModFix/>
          </a:blip>
          <a:stretch>
            <a:fillRect/>
          </a:stretch>
        </p:blipFill>
        <p:spPr>
          <a:xfrm>
            <a:off x="8805875" y="5961725"/>
            <a:ext cx="2752725" cy="481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15" name="Shape 115"/>
        <p:cNvGrpSpPr/>
        <p:nvPr/>
      </p:nvGrpSpPr>
      <p:grpSpPr>
        <a:xfrm>
          <a:off x="0" y="0"/>
          <a:ext cx="0" cy="0"/>
          <a:chOff x="0" y="0"/>
          <a:chExt cx="0" cy="0"/>
        </a:xfrm>
      </p:grpSpPr>
      <p:sp>
        <p:nvSpPr>
          <p:cNvPr id="116" name="Google Shape;116;p1"/>
          <p:cNvSpPr txBox="1"/>
          <p:nvPr/>
        </p:nvSpPr>
        <p:spPr>
          <a:xfrm flipH="1">
            <a:off x="339212" y="442453"/>
            <a:ext cx="1153194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sng" cap="none" strike="noStrike">
                <a:solidFill>
                  <a:srgbClr val="555555"/>
                </a:solidFill>
                <a:latin typeface="Helvetica Neue"/>
                <a:ea typeface="Helvetica Neue"/>
                <a:cs typeface="Helvetica Neue"/>
                <a:sym typeface="Helvetica Neue"/>
              </a:rPr>
              <a:t>Generative Adversarial Networks:</a:t>
            </a:r>
            <a:endParaRPr/>
          </a:p>
          <a:p>
            <a:pPr indent="0" lvl="0" marL="0" marR="0" rtl="0" algn="l">
              <a:spcBef>
                <a:spcPts val="0"/>
              </a:spcBef>
              <a:spcAft>
                <a:spcPts val="0"/>
              </a:spcAft>
              <a:buNone/>
            </a:pPr>
            <a:r>
              <a:t/>
            </a:r>
            <a:endParaRPr b="1" i="0" sz="1800" u="sng" cap="none" strike="noStrike">
              <a:solidFill>
                <a:srgbClr val="555555"/>
              </a:solidFill>
              <a:latin typeface="Helvetica Neue"/>
              <a:ea typeface="Helvetica Neue"/>
              <a:cs typeface="Helvetica Neue"/>
              <a:sym typeface="Helvetica Neue"/>
            </a:endParaRPr>
          </a:p>
          <a:p>
            <a:pPr indent="0" lvl="0" marL="0" marR="0" rtl="0" algn="l">
              <a:spcBef>
                <a:spcPts val="0"/>
              </a:spcBef>
              <a:spcAft>
                <a:spcPts val="0"/>
              </a:spcAft>
              <a:buNone/>
            </a:pPr>
            <a:r>
              <a:rPr b="0" i="0" lang="en-US" sz="1800" u="none" cap="none" strike="noStrike">
                <a:solidFill>
                  <a:srgbClr val="555555"/>
                </a:solidFill>
                <a:latin typeface="Helvetica Neue"/>
                <a:ea typeface="Helvetica Neue"/>
                <a:cs typeface="Helvetica Neue"/>
                <a:sym typeface="Helvetica Neue"/>
              </a:rPr>
              <a:t>GANs are an approach to generative modeling using deep learning methods, such as convolutional neural networks.</a:t>
            </a:r>
            <a:endParaRPr/>
          </a:p>
          <a:p>
            <a:pPr indent="0" lvl="0" marL="0" marR="0" rtl="0" algn="l">
              <a:spcBef>
                <a:spcPts val="0"/>
              </a:spcBef>
              <a:spcAft>
                <a:spcPts val="0"/>
              </a:spcAft>
              <a:buNone/>
            </a:pPr>
            <a:r>
              <a:rPr b="0" i="0" lang="en-US" sz="1800" u="none" cap="none" strike="noStrike">
                <a:solidFill>
                  <a:srgbClr val="555555"/>
                </a:solidFill>
                <a:latin typeface="Helvetica Neue"/>
                <a:ea typeface="Helvetica Neue"/>
                <a:cs typeface="Helvetica Neue"/>
                <a:sym typeface="Helvetica Neue"/>
              </a:rPr>
              <a:t>Generative modeling is an unsupervised learning task in machine learning that involves automatically discovering and learning the regularities or patterns in input data in such a way that the model can be used to generate or output new examples that plausibly could have been drawn from the original dataset.</a:t>
            </a:r>
            <a:endParaRPr/>
          </a:p>
          <a:p>
            <a:pPr indent="0" lvl="0" marL="0" marR="0" rtl="0" algn="l">
              <a:spcBef>
                <a:spcPts val="0"/>
              </a:spcBef>
              <a:spcAft>
                <a:spcPts val="0"/>
              </a:spcAft>
              <a:buNone/>
            </a:pPr>
            <a:r>
              <a:t/>
            </a:r>
            <a:endParaRPr b="0" i="0" sz="1800" u="none" cap="none" strike="noStrike">
              <a:solidFill>
                <a:srgbClr val="555555"/>
              </a:solidFill>
              <a:latin typeface="Helvetica Neue"/>
              <a:ea typeface="Helvetica Neue"/>
              <a:cs typeface="Helvetica Neue"/>
              <a:sym typeface="Helvetica Neue"/>
            </a:endParaRPr>
          </a:p>
        </p:txBody>
      </p:sp>
      <p:pic>
        <p:nvPicPr>
          <p:cNvPr descr="Diagram&#10;&#10;Description automatically generated" id="117" name="Google Shape;117;p1"/>
          <p:cNvPicPr preferRelativeResize="0"/>
          <p:nvPr/>
        </p:nvPicPr>
        <p:blipFill rotWithShape="1">
          <a:blip r:embed="rId3">
            <a:alphaModFix/>
          </a:blip>
          <a:srcRect b="0" l="0" r="0" t="0"/>
          <a:stretch/>
        </p:blipFill>
        <p:spPr>
          <a:xfrm>
            <a:off x="2778955" y="2475414"/>
            <a:ext cx="5048250" cy="2390775"/>
          </a:xfrm>
          <a:prstGeom prst="rect">
            <a:avLst/>
          </a:prstGeom>
          <a:noFill/>
          <a:ln>
            <a:noFill/>
          </a:ln>
        </p:spPr>
      </p:pic>
      <p:sp>
        <p:nvSpPr>
          <p:cNvPr id="118" name="Google Shape;118;p1"/>
          <p:cNvSpPr txBox="1"/>
          <p:nvPr/>
        </p:nvSpPr>
        <p:spPr>
          <a:xfrm>
            <a:off x="339212" y="4913361"/>
            <a:ext cx="10194758"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555555"/>
                </a:solidFill>
                <a:latin typeface="Helvetica Neue"/>
                <a:ea typeface="Helvetica Neue"/>
                <a:cs typeface="Helvetica Neue"/>
                <a:sym typeface="Helvetica Neue"/>
              </a:rPr>
              <a:t>GANs are a clever way of training a generative model by framing the problem as a supervised learning problem with two sub-models: the generator model that we train to generate new examples, and the discriminator model that tries to classify examples as either real (from the domain) or fake (generated). The two models are trained together in a zero-sum game, adversarial, until the discriminator model is fooled about half the time, meaning the generator model is generating plausible examples.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nvSpPr>
        <p:spPr>
          <a:xfrm>
            <a:off x="96252" y="120315"/>
            <a:ext cx="11261559"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sng">
                <a:solidFill>
                  <a:srgbClr val="292929"/>
                </a:solidFill>
                <a:latin typeface="Content"/>
                <a:ea typeface="Content"/>
                <a:cs typeface="Content"/>
                <a:sym typeface="Content"/>
              </a:rPr>
              <a:t>Denoising Autoencoder used in GAN :</a:t>
            </a:r>
            <a:endParaRPr/>
          </a:p>
          <a:p>
            <a:pPr indent="0" lvl="0" marL="0" marR="0" rtl="0" algn="l">
              <a:spcBef>
                <a:spcPts val="0"/>
              </a:spcBef>
              <a:spcAft>
                <a:spcPts val="0"/>
              </a:spcAft>
              <a:buNone/>
            </a:pPr>
            <a:r>
              <a:t/>
            </a:r>
            <a:endParaRPr b="1" i="0" sz="1800">
              <a:solidFill>
                <a:srgbClr val="292929"/>
              </a:solidFill>
              <a:latin typeface="Content"/>
              <a:ea typeface="Content"/>
              <a:cs typeface="Content"/>
              <a:sym typeface="Content"/>
            </a:endParaRPr>
          </a:p>
          <a:p>
            <a:pPr indent="0" lvl="0" marL="0" marR="0" rtl="0" algn="l">
              <a:spcBef>
                <a:spcPts val="0"/>
              </a:spcBef>
              <a:spcAft>
                <a:spcPts val="0"/>
              </a:spcAft>
              <a:buNone/>
            </a:pPr>
            <a:r>
              <a:rPr b="0" i="0" lang="en-US" sz="1800">
                <a:solidFill>
                  <a:srgbClr val="292929"/>
                </a:solidFill>
                <a:latin typeface="Content"/>
                <a:ea typeface="Content"/>
                <a:cs typeface="Content"/>
                <a:sym typeface="Content"/>
              </a:rPr>
              <a:t>An autoencoder is a type of neural network that attempts to replicate its input </a:t>
            </a:r>
            <a:r>
              <a:rPr b="1" i="0" lang="en-US" sz="1800">
                <a:solidFill>
                  <a:srgbClr val="292929"/>
                </a:solidFill>
                <a:latin typeface="Content"/>
                <a:ea typeface="Content"/>
                <a:cs typeface="Content"/>
                <a:sym typeface="Content"/>
              </a:rPr>
              <a:t>x</a:t>
            </a:r>
            <a:r>
              <a:rPr b="0" i="0" lang="en-US" sz="1800">
                <a:solidFill>
                  <a:srgbClr val="292929"/>
                </a:solidFill>
                <a:latin typeface="Content"/>
                <a:ea typeface="Content"/>
                <a:cs typeface="Content"/>
                <a:sym typeface="Content"/>
              </a:rPr>
              <a:t> on its output. It consists of two components, an encoder </a:t>
            </a:r>
            <a:r>
              <a:rPr b="0" i="1" lang="en-US" sz="1800">
                <a:solidFill>
                  <a:srgbClr val="292929"/>
                </a:solidFill>
                <a:latin typeface="Content"/>
                <a:ea typeface="Content"/>
                <a:cs typeface="Content"/>
                <a:sym typeface="Content"/>
              </a:rPr>
              <a:t>E</a:t>
            </a:r>
            <a:r>
              <a:rPr b="0" i="0" lang="en-US" sz="1800">
                <a:solidFill>
                  <a:srgbClr val="292929"/>
                </a:solidFill>
                <a:latin typeface="Content"/>
                <a:ea typeface="Content"/>
                <a:cs typeface="Content"/>
                <a:sym typeface="Content"/>
              </a:rPr>
              <a:t> and a decoder </a:t>
            </a:r>
            <a:r>
              <a:rPr b="0" i="1" lang="en-US" sz="1800">
                <a:solidFill>
                  <a:srgbClr val="292929"/>
                </a:solidFill>
                <a:latin typeface="Content"/>
                <a:ea typeface="Content"/>
                <a:cs typeface="Content"/>
                <a:sym typeface="Content"/>
              </a:rPr>
              <a:t>D</a:t>
            </a:r>
            <a:r>
              <a:rPr b="0" i="0" lang="en-US" sz="1800">
                <a:solidFill>
                  <a:srgbClr val="292929"/>
                </a:solidFill>
                <a:latin typeface="Content"/>
                <a:ea typeface="Content"/>
                <a:cs typeface="Content"/>
                <a:sym typeface="Content"/>
              </a:rPr>
              <a:t>. </a:t>
            </a:r>
            <a:endParaRPr/>
          </a:p>
          <a:p>
            <a:pPr indent="0" lvl="0" marL="0" marR="0" rtl="0" algn="l">
              <a:spcBef>
                <a:spcPts val="0"/>
              </a:spcBef>
              <a:spcAft>
                <a:spcPts val="0"/>
              </a:spcAft>
              <a:buNone/>
            </a:pPr>
            <a:r>
              <a:rPr b="0" i="0" lang="en-US" sz="1800">
                <a:solidFill>
                  <a:srgbClr val="292929"/>
                </a:solidFill>
                <a:latin typeface="Content"/>
                <a:ea typeface="Content"/>
                <a:cs typeface="Content"/>
                <a:sym typeface="Content"/>
              </a:rPr>
              <a:t>Encoders output is a vector with a lower dimension, also called a latent space vector. There are some uses for a higher dimensional latent space, but we shall neglect the case for our purposes. </a:t>
            </a:r>
            <a:endParaRPr/>
          </a:p>
          <a:p>
            <a:pPr indent="0" lvl="0" marL="0" marR="0" rtl="0" algn="l">
              <a:spcBef>
                <a:spcPts val="0"/>
              </a:spcBef>
              <a:spcAft>
                <a:spcPts val="0"/>
              </a:spcAft>
              <a:buNone/>
            </a:pPr>
            <a:r>
              <a:t/>
            </a:r>
            <a:endParaRPr b="0" i="0" sz="1800">
              <a:solidFill>
                <a:srgbClr val="292929"/>
              </a:solidFill>
              <a:latin typeface="Content"/>
              <a:ea typeface="Content"/>
              <a:cs typeface="Content"/>
              <a:sym typeface="Content"/>
            </a:endParaRPr>
          </a:p>
          <a:p>
            <a:pPr indent="0" lvl="0" marL="0" marR="0" rtl="0" algn="l">
              <a:spcBef>
                <a:spcPts val="0"/>
              </a:spcBef>
              <a:spcAft>
                <a:spcPts val="0"/>
              </a:spcAft>
              <a:buNone/>
            </a:pPr>
            <a:r>
              <a:rPr b="0" i="0" lang="en-US" sz="1800">
                <a:solidFill>
                  <a:srgbClr val="292929"/>
                </a:solidFill>
                <a:latin typeface="Content"/>
                <a:ea typeface="Content"/>
                <a:cs typeface="Content"/>
                <a:sym typeface="Content"/>
              </a:rPr>
              <a:t>We do not want the network to learn an identity function, but rather make it produce an approximate copy, which still holds the same properties as original input. Consequently, the network is encouraged to learn the most important and potentially useful feature representations in the latent space.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 visual representation of an encoder-decoder is given below.</a:t>
            </a:r>
            <a:endParaRPr/>
          </a:p>
        </p:txBody>
      </p:sp>
      <p:pic>
        <p:nvPicPr>
          <p:cNvPr descr="A picture containing object, clock, sign, street&#10;&#10;Description automatically generated" id="124" name="Google Shape;124;p2"/>
          <p:cNvPicPr preferRelativeResize="0"/>
          <p:nvPr/>
        </p:nvPicPr>
        <p:blipFill rotWithShape="1">
          <a:blip r:embed="rId3">
            <a:alphaModFix/>
          </a:blip>
          <a:srcRect b="0" l="0" r="0" t="0"/>
          <a:stretch/>
        </p:blipFill>
        <p:spPr>
          <a:xfrm>
            <a:off x="2294021" y="3782849"/>
            <a:ext cx="6622954" cy="239091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type="title"/>
          </p:nvPr>
        </p:nvSpPr>
        <p:spPr>
          <a:xfrm>
            <a:off x="838200" y="375486"/>
            <a:ext cx="10375200" cy="1620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92929"/>
              </a:buClr>
              <a:buSzPts val="1800"/>
              <a:buFont typeface="Content"/>
              <a:buNone/>
            </a:pPr>
            <a:r>
              <a:rPr b="1" i="0" lang="en-US" sz="1800" u="sng">
                <a:solidFill>
                  <a:srgbClr val="292929"/>
                </a:solidFill>
                <a:latin typeface="Content"/>
                <a:ea typeface="Content"/>
                <a:cs typeface="Content"/>
                <a:sym typeface="Content"/>
              </a:rPr>
              <a:t>Loss Function L:</a:t>
            </a:r>
            <a:br>
              <a:rPr b="0" i="0" lang="en-US" sz="1800">
                <a:solidFill>
                  <a:srgbClr val="292929"/>
                </a:solidFill>
                <a:latin typeface="Content"/>
                <a:ea typeface="Content"/>
                <a:cs typeface="Content"/>
                <a:sym typeface="Content"/>
              </a:rPr>
            </a:br>
            <a:br>
              <a:rPr b="0" i="0" lang="en-US" sz="1800">
                <a:solidFill>
                  <a:srgbClr val="292929"/>
                </a:solidFill>
                <a:latin typeface="Content"/>
                <a:ea typeface="Content"/>
                <a:cs typeface="Content"/>
                <a:sym typeface="Content"/>
              </a:rPr>
            </a:br>
            <a:r>
              <a:rPr b="0" i="0" lang="en-US" sz="1800">
                <a:solidFill>
                  <a:srgbClr val="292929"/>
                </a:solidFill>
                <a:latin typeface="Content"/>
                <a:ea typeface="Content"/>
                <a:cs typeface="Content"/>
                <a:sym typeface="Content"/>
              </a:rPr>
              <a:t>The training process minimizes a loss function </a:t>
            </a:r>
            <a:r>
              <a:rPr b="0" i="1" lang="en-US" sz="1800">
                <a:solidFill>
                  <a:srgbClr val="292929"/>
                </a:solidFill>
                <a:latin typeface="Content"/>
                <a:ea typeface="Content"/>
                <a:cs typeface="Content"/>
                <a:sym typeface="Content"/>
              </a:rPr>
              <a:t>L</a:t>
            </a:r>
            <a:r>
              <a:rPr b="0" i="0" lang="en-US" sz="1800">
                <a:solidFill>
                  <a:srgbClr val="292929"/>
                </a:solidFill>
                <a:latin typeface="Content"/>
                <a:ea typeface="Content"/>
                <a:cs typeface="Content"/>
                <a:sym typeface="Content"/>
              </a:rPr>
              <a:t>, which measures how different two data points are. Depending on the usage, different loss functions can be used in place for </a:t>
            </a:r>
            <a:r>
              <a:rPr b="0" i="1" lang="en-US" sz="1800">
                <a:solidFill>
                  <a:srgbClr val="292929"/>
                </a:solidFill>
                <a:latin typeface="Content"/>
                <a:ea typeface="Content"/>
                <a:cs typeface="Content"/>
                <a:sym typeface="Content"/>
              </a:rPr>
              <a:t>L</a:t>
            </a:r>
            <a:r>
              <a:rPr b="0" i="0" lang="en-US" sz="1800">
                <a:solidFill>
                  <a:srgbClr val="292929"/>
                </a:solidFill>
                <a:latin typeface="Content"/>
                <a:ea typeface="Content"/>
                <a:cs typeface="Content"/>
                <a:sym typeface="Content"/>
              </a:rPr>
              <a:t>. Some of the most popular are mean-squared error and cross-entropy. </a:t>
            </a:r>
            <a:endParaRPr sz="1800"/>
          </a:p>
        </p:txBody>
      </p:sp>
      <p:sp>
        <p:nvSpPr>
          <p:cNvPr id="130" name="Google Shape;130;p3"/>
          <p:cNvSpPr txBox="1"/>
          <p:nvPr/>
        </p:nvSpPr>
        <p:spPr>
          <a:xfrm>
            <a:off x="838201" y="2133099"/>
            <a:ext cx="10086600" cy="4524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sng">
                <a:solidFill>
                  <a:srgbClr val="292929"/>
                </a:solidFill>
                <a:latin typeface="Content"/>
                <a:ea typeface="Content"/>
                <a:cs typeface="Content"/>
                <a:sym typeface="Content"/>
              </a:rPr>
              <a:t>Criteria:</a:t>
            </a:r>
            <a:endParaRPr/>
          </a:p>
          <a:p>
            <a:pPr indent="0" lvl="0" marL="0" marR="0" rtl="0" algn="l">
              <a:spcBef>
                <a:spcPts val="0"/>
              </a:spcBef>
              <a:spcAft>
                <a:spcPts val="0"/>
              </a:spcAft>
              <a:buNone/>
            </a:pPr>
            <a:r>
              <a:t/>
            </a:r>
            <a:endParaRPr b="0" i="0" sz="1800">
              <a:solidFill>
                <a:srgbClr val="292929"/>
              </a:solidFill>
              <a:latin typeface="Content"/>
              <a:ea typeface="Content"/>
              <a:cs typeface="Content"/>
              <a:sym typeface="Content"/>
            </a:endParaRPr>
          </a:p>
          <a:p>
            <a:pPr indent="0" lvl="0" marL="0" marR="0" rtl="0" algn="l">
              <a:spcBef>
                <a:spcPts val="0"/>
              </a:spcBef>
              <a:spcAft>
                <a:spcPts val="0"/>
              </a:spcAft>
              <a:buNone/>
            </a:pPr>
            <a:r>
              <a:rPr lang="en-US" sz="1800">
                <a:solidFill>
                  <a:srgbClr val="292929"/>
                </a:solidFill>
                <a:latin typeface="Content"/>
                <a:ea typeface="Content"/>
                <a:cs typeface="Content"/>
                <a:sym typeface="Content"/>
              </a:rPr>
              <a:t>A</a:t>
            </a:r>
            <a:r>
              <a:rPr b="0" i="0" lang="en-US" sz="1800">
                <a:solidFill>
                  <a:srgbClr val="292929"/>
                </a:solidFill>
                <a:latin typeface="Content"/>
                <a:ea typeface="Content"/>
                <a:cs typeface="Content"/>
                <a:sym typeface="Content"/>
              </a:rPr>
              <a:t> modification is presented over the autoencoders idea that enables us to recover partially damaged data by changing the criteria for reconstruction. </a:t>
            </a:r>
            <a:endParaRPr/>
          </a:p>
          <a:p>
            <a:pPr indent="0" lvl="0" marL="0" marR="0" rtl="0" algn="l">
              <a:spcBef>
                <a:spcPts val="0"/>
              </a:spcBef>
              <a:spcAft>
                <a:spcPts val="0"/>
              </a:spcAft>
              <a:buNone/>
            </a:pPr>
            <a:r>
              <a:t/>
            </a:r>
            <a:endParaRPr sz="1800">
              <a:solidFill>
                <a:srgbClr val="292929"/>
              </a:solidFill>
              <a:latin typeface="Content"/>
              <a:ea typeface="Content"/>
              <a:cs typeface="Content"/>
              <a:sym typeface="Content"/>
            </a:endParaRPr>
          </a:p>
          <a:p>
            <a:pPr indent="0" lvl="0" marL="0" marR="0" rtl="0" algn="l">
              <a:spcBef>
                <a:spcPts val="0"/>
              </a:spcBef>
              <a:spcAft>
                <a:spcPts val="0"/>
              </a:spcAft>
              <a:buNone/>
            </a:pPr>
            <a:r>
              <a:rPr b="0" i="0" lang="en-US" sz="1800">
                <a:solidFill>
                  <a:srgbClr val="292929"/>
                </a:solidFill>
                <a:latin typeface="Content"/>
                <a:ea typeface="Content"/>
                <a:cs typeface="Content"/>
                <a:sym typeface="Content"/>
              </a:rPr>
              <a:t>Instead of learning to replicate the input directly, the input is damaged beforehand, and the network’s output is trained to approximate the undamaged original image. </a:t>
            </a:r>
            <a:endParaRPr/>
          </a:p>
          <a:p>
            <a:pPr indent="0" lvl="0" marL="0" marR="0" rtl="0" algn="l">
              <a:spcBef>
                <a:spcPts val="0"/>
              </a:spcBef>
              <a:spcAft>
                <a:spcPts val="0"/>
              </a:spcAft>
              <a:buNone/>
            </a:pPr>
            <a:r>
              <a:t/>
            </a:r>
            <a:endParaRPr sz="1800">
              <a:solidFill>
                <a:srgbClr val="292929"/>
              </a:solidFill>
              <a:latin typeface="Content"/>
              <a:ea typeface="Content"/>
              <a:cs typeface="Content"/>
              <a:sym typeface="Content"/>
            </a:endParaRPr>
          </a:p>
          <a:p>
            <a:pPr indent="0" lvl="0" marL="0" marR="0" rtl="0" algn="l">
              <a:spcBef>
                <a:spcPts val="0"/>
              </a:spcBef>
              <a:spcAft>
                <a:spcPts val="0"/>
              </a:spcAft>
              <a:buNone/>
            </a:pPr>
            <a:r>
              <a:rPr b="0" i="0" lang="en-US" sz="1800">
                <a:solidFill>
                  <a:srgbClr val="292929"/>
                </a:solidFill>
                <a:latin typeface="Content"/>
                <a:ea typeface="Content"/>
                <a:cs typeface="Content"/>
                <a:sym typeface="Content"/>
              </a:rPr>
              <a:t>In order to create a deep architecture, we can stack multiple encoder/decoder pairs, by chaining multiple autoencoders so that each encoder’s output is the input to the next.  The motivation behind this architecture is to have each latent layer represent more abstract features, like how most other deep neural networks work. </a:t>
            </a:r>
            <a:endParaRPr/>
          </a:p>
          <a:p>
            <a:pPr indent="0" lvl="0" marL="0" marR="0" rtl="0" algn="l">
              <a:spcBef>
                <a:spcPts val="0"/>
              </a:spcBef>
              <a:spcAft>
                <a:spcPts val="0"/>
              </a:spcAft>
              <a:buNone/>
            </a:pPr>
            <a:r>
              <a:t/>
            </a:r>
            <a:endParaRPr b="0" i="0" sz="1800">
              <a:solidFill>
                <a:srgbClr val="292929"/>
              </a:solidFill>
              <a:latin typeface="Content"/>
              <a:ea typeface="Content"/>
              <a:cs typeface="Content"/>
              <a:sym typeface="Content"/>
            </a:endParaRPr>
          </a:p>
          <a:p>
            <a:pPr indent="0" lvl="0" marL="0" marR="0" rtl="0" algn="l">
              <a:spcBef>
                <a:spcPts val="0"/>
              </a:spcBef>
              <a:spcAft>
                <a:spcPts val="0"/>
              </a:spcAft>
              <a:buNone/>
            </a:pPr>
            <a:r>
              <a:rPr b="0" i="0" lang="en-US" sz="1800">
                <a:solidFill>
                  <a:srgbClr val="292929"/>
                </a:solidFill>
                <a:latin typeface="Content"/>
                <a:ea typeface="Content"/>
                <a:cs typeface="Content"/>
                <a:sym typeface="Content"/>
              </a:rPr>
              <a:t>The process of denoising training together with the usage of deep layers enable the model to build a well-structured and robust hidden layer of features, from which it is possible to reconstruct the original image.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nvSpPr>
        <p:spPr>
          <a:xfrm>
            <a:off x="288759" y="352926"/>
            <a:ext cx="10347158"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rgbClr val="292929"/>
                </a:solidFill>
                <a:latin typeface="Content"/>
                <a:ea typeface="Content"/>
                <a:cs typeface="Content"/>
                <a:sym typeface="Content"/>
              </a:rPr>
              <a:t>Context Encoder</a:t>
            </a:r>
            <a:endParaRPr/>
          </a:p>
          <a:p>
            <a:pPr indent="0" lvl="0" marL="0" marR="0" rtl="0" algn="l">
              <a:spcBef>
                <a:spcPts val="0"/>
              </a:spcBef>
              <a:spcAft>
                <a:spcPts val="0"/>
              </a:spcAft>
              <a:buNone/>
            </a:pPr>
            <a:r>
              <a:rPr b="0" i="0" lang="en-US" sz="1800">
                <a:solidFill>
                  <a:srgbClr val="292929"/>
                </a:solidFill>
                <a:latin typeface="Content"/>
                <a:ea typeface="Content"/>
                <a:cs typeface="Content"/>
                <a:sym typeface="Content"/>
              </a:rPr>
              <a:t>The </a:t>
            </a:r>
            <a:r>
              <a:rPr b="1" i="0" lang="en-US" sz="1800">
                <a:solidFill>
                  <a:srgbClr val="292929"/>
                </a:solidFill>
                <a:latin typeface="Content"/>
                <a:ea typeface="Content"/>
                <a:cs typeface="Content"/>
                <a:sym typeface="Content"/>
              </a:rPr>
              <a:t>Context Encoder</a:t>
            </a:r>
            <a:r>
              <a:rPr b="0" i="0" lang="en-US" sz="1800">
                <a:solidFill>
                  <a:srgbClr val="292929"/>
                </a:solidFill>
                <a:latin typeface="Content"/>
                <a:ea typeface="Content"/>
                <a:cs typeface="Content"/>
                <a:sym typeface="Content"/>
              </a:rPr>
              <a:t> framework is based on an autoencoder architecture with an adversarial discriminator, while exclusively using convolutional layers with varying kernel sizes and channel counts. Like denoising autoencoders, we do not try to reconstruct the input image, but rather generate a patch to fill in the missing or damaged area of the input. This concept </a:t>
            </a:r>
            <a:r>
              <a:rPr lang="en-US" sz="1800">
                <a:solidFill>
                  <a:srgbClr val="292929"/>
                </a:solidFill>
                <a:latin typeface="Content"/>
                <a:ea typeface="Content"/>
                <a:cs typeface="Content"/>
                <a:sym typeface="Content"/>
              </a:rPr>
              <a:t>will be used while making the model.</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rgbClr val="292929"/>
              </a:solidFill>
              <a:latin typeface="Content"/>
              <a:ea typeface="Content"/>
              <a:cs typeface="Content"/>
              <a:sym typeface="Content"/>
            </a:endParaRPr>
          </a:p>
          <a:p>
            <a:pPr indent="0" lvl="0" marL="0" marR="0" rtl="0" algn="l">
              <a:spcBef>
                <a:spcPts val="0"/>
              </a:spcBef>
              <a:spcAft>
                <a:spcPts val="0"/>
              </a:spcAft>
              <a:buNone/>
            </a:pPr>
            <a:r>
              <a:t/>
            </a:r>
            <a:endParaRPr b="0" i="0" sz="1800">
              <a:solidFill>
                <a:srgbClr val="292929"/>
              </a:solidFill>
              <a:latin typeface="Content"/>
              <a:ea typeface="Content"/>
              <a:cs typeface="Content"/>
              <a:sym typeface="Content"/>
            </a:endParaRPr>
          </a:p>
          <a:p>
            <a:pPr indent="0" lvl="0" marL="0" marR="0" rtl="0" algn="l">
              <a:spcBef>
                <a:spcPts val="0"/>
              </a:spcBef>
              <a:spcAft>
                <a:spcPts val="0"/>
              </a:spcAft>
              <a:buNone/>
            </a:pPr>
            <a:r>
              <a:rPr b="0" i="0" lang="en-US" sz="1800">
                <a:solidFill>
                  <a:srgbClr val="292929"/>
                </a:solidFill>
                <a:latin typeface="Content"/>
                <a:ea typeface="Content"/>
                <a:cs typeface="Content"/>
                <a:sym typeface="Content"/>
              </a:rPr>
              <a:t>Like vanilla autoencoders, all training is performed in an unsupervised manner, meaning no class label information is supplied to the model and there is no conditioning for the evaluation. Therefore, for significantly damaged images the model might perform successful inpainting, while differing in the class characteristic content.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800">
                <a:solidFill>
                  <a:srgbClr val="292929"/>
                </a:solidFill>
                <a:latin typeface="Content"/>
                <a:ea typeface="Content"/>
                <a:cs typeface="Content"/>
                <a:sym typeface="Content"/>
              </a:rPr>
              <a:t>Through the discriminator’s opinion, the generator is pushed to produce sharper results instead of uncertain averages. The adversarial loss is joined with reconstruction loss and both are weighed with the respective coefficients.</a:t>
            </a:r>
            <a:endParaRPr sz="1800">
              <a:solidFill>
                <a:schemeClr val="dk1"/>
              </a:solidFill>
              <a:latin typeface="Calibri"/>
              <a:ea typeface="Calibri"/>
              <a:cs typeface="Calibri"/>
              <a:sym typeface="Calibri"/>
            </a:endParaRPr>
          </a:p>
        </p:txBody>
      </p:sp>
      <p:pic>
        <p:nvPicPr>
          <p:cNvPr descr="Diagram&#10;&#10;Description automatically generated" id="136" name="Google Shape;136;p4"/>
          <p:cNvPicPr preferRelativeResize="0"/>
          <p:nvPr/>
        </p:nvPicPr>
        <p:blipFill rotWithShape="1">
          <a:blip r:embed="rId3">
            <a:alphaModFix/>
          </a:blip>
          <a:srcRect b="0" l="0" r="0" t="0"/>
          <a:stretch/>
        </p:blipFill>
        <p:spPr>
          <a:xfrm>
            <a:off x="2727158" y="4291913"/>
            <a:ext cx="5253790" cy="256608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
          <p:cNvSpPr txBox="1"/>
          <p:nvPr/>
        </p:nvSpPr>
        <p:spPr>
          <a:xfrm>
            <a:off x="1906500" y="443400"/>
            <a:ext cx="4345500" cy="5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00">
                <a:latin typeface="Comic Sans MS"/>
                <a:ea typeface="Comic Sans MS"/>
                <a:cs typeface="Comic Sans MS"/>
                <a:sym typeface="Comic Sans MS"/>
              </a:rPr>
              <a:t>Interim Function :</a:t>
            </a:r>
            <a:endParaRPr b="1" sz="2500">
              <a:latin typeface="Comic Sans MS"/>
              <a:ea typeface="Comic Sans MS"/>
              <a:cs typeface="Comic Sans MS"/>
              <a:sym typeface="Comic Sans MS"/>
            </a:endParaRPr>
          </a:p>
        </p:txBody>
      </p:sp>
      <p:sp>
        <p:nvSpPr>
          <p:cNvPr id="142" name="Google Shape;142;p5"/>
          <p:cNvSpPr txBox="1"/>
          <p:nvPr/>
        </p:nvSpPr>
        <p:spPr>
          <a:xfrm>
            <a:off x="1463250" y="1906600"/>
            <a:ext cx="1950900" cy="88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00">
                <a:latin typeface="Comic Sans MS"/>
                <a:ea typeface="Comic Sans MS"/>
                <a:cs typeface="Comic Sans MS"/>
                <a:sym typeface="Comic Sans MS"/>
              </a:rPr>
              <a:t>Generator</a:t>
            </a:r>
            <a:endParaRPr b="1" sz="2700">
              <a:latin typeface="Comic Sans MS"/>
              <a:ea typeface="Comic Sans MS"/>
              <a:cs typeface="Comic Sans MS"/>
              <a:sym typeface="Comic Sans MS"/>
            </a:endParaRPr>
          </a:p>
        </p:txBody>
      </p:sp>
      <p:sp>
        <p:nvSpPr>
          <p:cNvPr id="143" name="Google Shape;143;p5"/>
          <p:cNvSpPr txBox="1"/>
          <p:nvPr/>
        </p:nvSpPr>
        <p:spPr>
          <a:xfrm>
            <a:off x="4552425" y="2054500"/>
            <a:ext cx="2497800" cy="4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00">
                <a:latin typeface="Comic Sans MS"/>
                <a:ea typeface="Comic Sans MS"/>
                <a:cs typeface="Comic Sans MS"/>
                <a:sym typeface="Comic Sans MS"/>
              </a:rPr>
              <a:t>Discriminator</a:t>
            </a:r>
            <a:endParaRPr b="1" sz="2700">
              <a:latin typeface="Comic Sans MS"/>
              <a:ea typeface="Comic Sans MS"/>
              <a:cs typeface="Comic Sans MS"/>
              <a:sym typeface="Comic Sans MS"/>
            </a:endParaRPr>
          </a:p>
        </p:txBody>
      </p:sp>
      <p:sp>
        <p:nvSpPr>
          <p:cNvPr id="144" name="Google Shape;144;p5"/>
          <p:cNvSpPr txBox="1"/>
          <p:nvPr/>
        </p:nvSpPr>
        <p:spPr>
          <a:xfrm>
            <a:off x="3473275" y="3044650"/>
            <a:ext cx="2409300" cy="67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00">
                <a:latin typeface="Comic Sans MS"/>
                <a:ea typeface="Comic Sans MS"/>
                <a:cs typeface="Comic Sans MS"/>
                <a:sym typeface="Comic Sans MS"/>
              </a:rPr>
              <a:t>GAN </a:t>
            </a:r>
            <a:endParaRPr b="1" sz="2700">
              <a:latin typeface="Comic Sans MS"/>
              <a:ea typeface="Comic Sans MS"/>
              <a:cs typeface="Comic Sans MS"/>
              <a:sym typeface="Comic Sans MS"/>
            </a:endParaRPr>
          </a:p>
          <a:p>
            <a:pPr indent="0" lvl="0" marL="0" rtl="0" algn="l">
              <a:spcBef>
                <a:spcPts val="0"/>
              </a:spcBef>
              <a:spcAft>
                <a:spcPts val="0"/>
              </a:spcAft>
              <a:buNone/>
            </a:pPr>
            <a:r>
              <a:rPr b="1" lang="en-US" sz="2700">
                <a:latin typeface="Comic Sans MS"/>
                <a:ea typeface="Comic Sans MS"/>
                <a:cs typeface="Comic Sans MS"/>
                <a:sym typeface="Comic Sans MS"/>
              </a:rPr>
              <a:t>Model</a:t>
            </a:r>
            <a:endParaRPr b="1" sz="2700">
              <a:latin typeface="Comic Sans MS"/>
              <a:ea typeface="Comic Sans MS"/>
              <a:cs typeface="Comic Sans MS"/>
              <a:sym typeface="Comic Sans MS"/>
            </a:endParaRPr>
          </a:p>
        </p:txBody>
      </p:sp>
      <p:sp>
        <p:nvSpPr>
          <p:cNvPr id="145" name="Google Shape;145;p5"/>
          <p:cNvSpPr/>
          <p:nvPr/>
        </p:nvSpPr>
        <p:spPr>
          <a:xfrm flipH="1" rot="-5400000">
            <a:off x="5158375" y="2763773"/>
            <a:ext cx="768600" cy="1005000"/>
          </a:xfrm>
          <a:prstGeom prst="bentUpArrow">
            <a:avLst>
              <a:gd fmla="val 26932"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txBox="1"/>
          <p:nvPr/>
        </p:nvSpPr>
        <p:spPr>
          <a:xfrm>
            <a:off x="147800" y="1906600"/>
            <a:ext cx="1241400" cy="67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latin typeface="Comic Sans MS"/>
                <a:ea typeface="Comic Sans MS"/>
                <a:cs typeface="Comic Sans MS"/>
                <a:sym typeface="Comic Sans MS"/>
              </a:rPr>
              <a:t>Damaged </a:t>
            </a:r>
            <a:endParaRPr b="1" sz="1800">
              <a:latin typeface="Comic Sans MS"/>
              <a:ea typeface="Comic Sans MS"/>
              <a:cs typeface="Comic Sans MS"/>
              <a:sym typeface="Comic Sans MS"/>
            </a:endParaRPr>
          </a:p>
          <a:p>
            <a:pPr indent="0" lvl="0" marL="0" rtl="0" algn="l">
              <a:spcBef>
                <a:spcPts val="0"/>
              </a:spcBef>
              <a:spcAft>
                <a:spcPts val="0"/>
              </a:spcAft>
              <a:buNone/>
            </a:pPr>
            <a:r>
              <a:rPr b="1" lang="en-US" sz="1800">
                <a:latin typeface="Comic Sans MS"/>
                <a:ea typeface="Comic Sans MS"/>
                <a:cs typeface="Comic Sans MS"/>
                <a:sym typeface="Comic Sans MS"/>
              </a:rPr>
              <a:t>Images</a:t>
            </a:r>
            <a:endParaRPr b="1" sz="1800">
              <a:latin typeface="Comic Sans MS"/>
              <a:ea typeface="Comic Sans MS"/>
              <a:cs typeface="Comic Sans MS"/>
              <a:sym typeface="Comic Sans MS"/>
            </a:endParaRPr>
          </a:p>
        </p:txBody>
      </p:sp>
      <p:sp>
        <p:nvSpPr>
          <p:cNvPr id="147" name="Google Shape;147;p5"/>
          <p:cNvSpPr txBox="1"/>
          <p:nvPr/>
        </p:nvSpPr>
        <p:spPr>
          <a:xfrm>
            <a:off x="7478875" y="1921450"/>
            <a:ext cx="1079100" cy="67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latin typeface="Comic Sans MS"/>
                <a:ea typeface="Comic Sans MS"/>
                <a:cs typeface="Comic Sans MS"/>
                <a:sym typeface="Comic Sans MS"/>
              </a:rPr>
              <a:t>Clean</a:t>
            </a:r>
            <a:endParaRPr b="1" sz="1800">
              <a:latin typeface="Comic Sans MS"/>
              <a:ea typeface="Comic Sans MS"/>
              <a:cs typeface="Comic Sans MS"/>
              <a:sym typeface="Comic Sans MS"/>
            </a:endParaRPr>
          </a:p>
          <a:p>
            <a:pPr indent="0" lvl="0" marL="0" rtl="0" algn="l">
              <a:spcBef>
                <a:spcPts val="0"/>
              </a:spcBef>
              <a:spcAft>
                <a:spcPts val="0"/>
              </a:spcAft>
              <a:buNone/>
            </a:pPr>
            <a:r>
              <a:rPr b="1" lang="en-US" sz="1800">
                <a:latin typeface="Comic Sans MS"/>
                <a:ea typeface="Comic Sans MS"/>
                <a:cs typeface="Comic Sans MS"/>
                <a:sym typeface="Comic Sans MS"/>
              </a:rPr>
              <a:t>Images</a:t>
            </a:r>
            <a:endParaRPr b="1" sz="1800">
              <a:latin typeface="Comic Sans MS"/>
              <a:ea typeface="Comic Sans MS"/>
              <a:cs typeface="Comic Sans MS"/>
              <a:sym typeface="Comic Sans MS"/>
            </a:endParaRPr>
          </a:p>
        </p:txBody>
      </p:sp>
      <p:sp>
        <p:nvSpPr>
          <p:cNvPr id="148" name="Google Shape;148;p5"/>
          <p:cNvSpPr/>
          <p:nvPr/>
        </p:nvSpPr>
        <p:spPr>
          <a:xfrm>
            <a:off x="1049400" y="1629425"/>
            <a:ext cx="1404000" cy="413700"/>
          </a:xfrm>
          <a:prstGeom prst="curvedDown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flipH="1">
            <a:off x="6045175" y="1640800"/>
            <a:ext cx="1596300" cy="413700"/>
          </a:xfrm>
          <a:prstGeom prst="curvedDown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4197575" y="4241825"/>
            <a:ext cx="2497800" cy="1064100"/>
          </a:xfrm>
          <a:prstGeom prst="curvedUp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rot="10800000">
            <a:off x="1226825" y="4241827"/>
            <a:ext cx="2660400" cy="1064100"/>
          </a:xfrm>
          <a:prstGeom prst="curvedDown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txBox="1"/>
          <p:nvPr/>
        </p:nvSpPr>
        <p:spPr>
          <a:xfrm>
            <a:off x="4744475" y="3953625"/>
            <a:ext cx="1404000" cy="5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latin typeface="Calibri"/>
                <a:ea typeface="Calibri"/>
                <a:cs typeface="Calibri"/>
                <a:sym typeface="Calibri"/>
              </a:rPr>
              <a:t>Feedback</a:t>
            </a:r>
            <a:endParaRPr b="1" sz="2000">
              <a:latin typeface="Calibri"/>
              <a:ea typeface="Calibri"/>
              <a:cs typeface="Calibri"/>
              <a:sym typeface="Calibri"/>
            </a:endParaRPr>
          </a:p>
        </p:txBody>
      </p:sp>
      <p:sp>
        <p:nvSpPr>
          <p:cNvPr id="153" name="Google Shape;153;p5"/>
          <p:cNvSpPr txBox="1"/>
          <p:nvPr/>
        </p:nvSpPr>
        <p:spPr>
          <a:xfrm>
            <a:off x="2010075" y="4035000"/>
            <a:ext cx="1256400" cy="5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latin typeface="Calibri"/>
                <a:ea typeface="Calibri"/>
                <a:cs typeface="Calibri"/>
                <a:sym typeface="Calibri"/>
              </a:rPr>
              <a:t>Feedback</a:t>
            </a:r>
            <a:endParaRPr b="1" sz="2000">
              <a:latin typeface="Calibri"/>
              <a:ea typeface="Calibri"/>
              <a:cs typeface="Calibri"/>
              <a:sym typeface="Calibri"/>
            </a:endParaRPr>
          </a:p>
        </p:txBody>
      </p:sp>
      <p:sp>
        <p:nvSpPr>
          <p:cNvPr id="154" name="Google Shape;154;p5"/>
          <p:cNvSpPr txBox="1"/>
          <p:nvPr/>
        </p:nvSpPr>
        <p:spPr>
          <a:xfrm>
            <a:off x="9459375" y="3709725"/>
            <a:ext cx="17883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latin typeface="Comic Sans MS"/>
                <a:ea typeface="Comic Sans MS"/>
                <a:cs typeface="Comic Sans MS"/>
                <a:sym typeface="Comic Sans MS"/>
              </a:rPr>
              <a:t>Generator</a:t>
            </a:r>
            <a:endParaRPr b="1" sz="2400">
              <a:latin typeface="Comic Sans MS"/>
              <a:ea typeface="Comic Sans MS"/>
              <a:cs typeface="Comic Sans MS"/>
              <a:sym typeface="Comic Sans MS"/>
            </a:endParaRPr>
          </a:p>
        </p:txBody>
      </p:sp>
      <p:sp>
        <p:nvSpPr>
          <p:cNvPr id="155" name="Google Shape;155;p5"/>
          <p:cNvSpPr txBox="1"/>
          <p:nvPr/>
        </p:nvSpPr>
        <p:spPr>
          <a:xfrm>
            <a:off x="9592325" y="1729300"/>
            <a:ext cx="17883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latin typeface="Comic Sans MS"/>
                <a:ea typeface="Comic Sans MS"/>
                <a:cs typeface="Comic Sans MS"/>
                <a:sym typeface="Comic Sans MS"/>
              </a:rPr>
              <a:t>Damaged Images</a:t>
            </a:r>
            <a:endParaRPr b="1" sz="2000">
              <a:latin typeface="Comic Sans MS"/>
              <a:ea typeface="Comic Sans MS"/>
              <a:cs typeface="Comic Sans MS"/>
              <a:sym typeface="Comic Sans MS"/>
            </a:endParaRPr>
          </a:p>
        </p:txBody>
      </p:sp>
      <p:sp>
        <p:nvSpPr>
          <p:cNvPr id="156" name="Google Shape;156;p5"/>
          <p:cNvSpPr txBox="1"/>
          <p:nvPr/>
        </p:nvSpPr>
        <p:spPr>
          <a:xfrm>
            <a:off x="9695800" y="5557350"/>
            <a:ext cx="1404000" cy="76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latin typeface="Comic Sans MS"/>
                <a:ea typeface="Comic Sans MS"/>
                <a:cs typeface="Comic Sans MS"/>
                <a:sym typeface="Comic Sans MS"/>
              </a:rPr>
              <a:t>Restored </a:t>
            </a:r>
            <a:br>
              <a:rPr b="1" lang="en-US" sz="2000">
                <a:latin typeface="Comic Sans MS"/>
                <a:ea typeface="Comic Sans MS"/>
                <a:cs typeface="Comic Sans MS"/>
                <a:sym typeface="Comic Sans MS"/>
              </a:rPr>
            </a:br>
            <a:r>
              <a:rPr b="1" lang="en-US" sz="2000">
                <a:latin typeface="Comic Sans MS"/>
                <a:ea typeface="Comic Sans MS"/>
                <a:cs typeface="Comic Sans MS"/>
                <a:sym typeface="Comic Sans MS"/>
              </a:rPr>
              <a:t>Images</a:t>
            </a:r>
            <a:endParaRPr b="1" sz="2000">
              <a:latin typeface="Comic Sans MS"/>
              <a:ea typeface="Comic Sans MS"/>
              <a:cs typeface="Comic Sans MS"/>
              <a:sym typeface="Comic Sans MS"/>
            </a:endParaRPr>
          </a:p>
        </p:txBody>
      </p:sp>
      <p:sp>
        <p:nvSpPr>
          <p:cNvPr id="157" name="Google Shape;157;p5"/>
          <p:cNvSpPr/>
          <p:nvPr/>
        </p:nvSpPr>
        <p:spPr>
          <a:xfrm rot="5400000">
            <a:off x="1891875" y="2778475"/>
            <a:ext cx="753900" cy="975600"/>
          </a:xfrm>
          <a:prstGeom prst="bentUpArrow">
            <a:avLst>
              <a:gd fmla="val 25000"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10094850" y="2675200"/>
            <a:ext cx="399000" cy="1064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10057800" y="4330575"/>
            <a:ext cx="473100" cy="13302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994634d4b8_7_35"/>
          <p:cNvSpPr txBox="1"/>
          <p:nvPr/>
        </p:nvSpPr>
        <p:spPr>
          <a:xfrm>
            <a:off x="2305700" y="251275"/>
            <a:ext cx="3975900" cy="79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00">
                <a:latin typeface="Comic Sans MS"/>
                <a:ea typeface="Comic Sans MS"/>
                <a:cs typeface="Comic Sans MS"/>
                <a:sym typeface="Comic Sans MS"/>
              </a:rPr>
              <a:t>Interim Function :</a:t>
            </a:r>
            <a:endParaRPr b="1" sz="2700">
              <a:latin typeface="Comic Sans MS"/>
              <a:ea typeface="Comic Sans MS"/>
              <a:cs typeface="Comic Sans MS"/>
              <a:sym typeface="Comic Sans MS"/>
            </a:endParaRPr>
          </a:p>
        </p:txBody>
      </p:sp>
      <p:sp>
        <p:nvSpPr>
          <p:cNvPr id="165" name="Google Shape;165;g994634d4b8_7_35"/>
          <p:cNvSpPr txBox="1"/>
          <p:nvPr/>
        </p:nvSpPr>
        <p:spPr>
          <a:xfrm>
            <a:off x="1285900" y="1226750"/>
            <a:ext cx="9858300" cy="403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latin typeface="Comic Sans MS"/>
                <a:ea typeface="Comic Sans MS"/>
                <a:cs typeface="Comic Sans MS"/>
                <a:sym typeface="Comic Sans MS"/>
              </a:rPr>
              <a:t>In this function we create our generator and discriminator models. </a:t>
            </a:r>
            <a:endParaRPr b="1" sz="2000">
              <a:latin typeface="Comic Sans MS"/>
              <a:ea typeface="Comic Sans MS"/>
              <a:cs typeface="Comic Sans MS"/>
              <a:sym typeface="Comic Sans MS"/>
            </a:endParaRPr>
          </a:p>
          <a:p>
            <a:pPr indent="0" lvl="0" marL="0" rtl="0" algn="l">
              <a:spcBef>
                <a:spcPts val="0"/>
              </a:spcBef>
              <a:spcAft>
                <a:spcPts val="0"/>
              </a:spcAft>
              <a:buNone/>
            </a:pPr>
            <a:r>
              <a:t/>
            </a:r>
            <a:endParaRPr b="1" sz="2000">
              <a:latin typeface="Comic Sans MS"/>
              <a:ea typeface="Comic Sans MS"/>
              <a:cs typeface="Comic Sans MS"/>
              <a:sym typeface="Comic Sans MS"/>
            </a:endParaRPr>
          </a:p>
          <a:p>
            <a:pPr indent="0" lvl="0" marL="0" rtl="0" algn="l">
              <a:spcBef>
                <a:spcPts val="0"/>
              </a:spcBef>
              <a:spcAft>
                <a:spcPts val="0"/>
              </a:spcAft>
              <a:buNone/>
            </a:pPr>
            <a:r>
              <a:rPr b="1" lang="en-US" sz="2000">
                <a:latin typeface="Comic Sans MS"/>
                <a:ea typeface="Comic Sans MS"/>
                <a:cs typeface="Comic Sans MS"/>
                <a:sym typeface="Comic Sans MS"/>
              </a:rPr>
              <a:t>Then we build our final model by concating both of the above models with their respective losses as stated above in the road map . </a:t>
            </a:r>
            <a:endParaRPr b="1" sz="2000">
              <a:latin typeface="Comic Sans MS"/>
              <a:ea typeface="Comic Sans MS"/>
              <a:cs typeface="Comic Sans MS"/>
              <a:sym typeface="Comic Sans MS"/>
            </a:endParaRPr>
          </a:p>
          <a:p>
            <a:pPr indent="0" lvl="0" marL="0" rtl="0" algn="l">
              <a:spcBef>
                <a:spcPts val="0"/>
              </a:spcBef>
              <a:spcAft>
                <a:spcPts val="0"/>
              </a:spcAft>
              <a:buNone/>
            </a:pPr>
            <a:r>
              <a:t/>
            </a:r>
            <a:endParaRPr b="1" sz="2000">
              <a:latin typeface="Comic Sans MS"/>
              <a:ea typeface="Comic Sans MS"/>
              <a:cs typeface="Comic Sans MS"/>
              <a:sym typeface="Comic Sans MS"/>
            </a:endParaRPr>
          </a:p>
          <a:p>
            <a:pPr indent="0" lvl="0" marL="0" rtl="0" algn="l">
              <a:spcBef>
                <a:spcPts val="0"/>
              </a:spcBef>
              <a:spcAft>
                <a:spcPts val="0"/>
              </a:spcAft>
              <a:buNone/>
            </a:pPr>
            <a:r>
              <a:rPr b="1" lang="en-US" sz="2000">
                <a:latin typeface="Comic Sans MS"/>
                <a:ea typeface="Comic Sans MS"/>
                <a:cs typeface="Comic Sans MS"/>
                <a:sym typeface="Comic Sans MS"/>
              </a:rPr>
              <a:t>The final GAN model is trained with our dataset with damaged images and clean images . </a:t>
            </a:r>
            <a:endParaRPr b="1" sz="2000">
              <a:latin typeface="Comic Sans MS"/>
              <a:ea typeface="Comic Sans MS"/>
              <a:cs typeface="Comic Sans MS"/>
              <a:sym typeface="Comic Sans MS"/>
            </a:endParaRPr>
          </a:p>
          <a:p>
            <a:pPr indent="0" lvl="0" marL="0" rtl="0" algn="l">
              <a:spcBef>
                <a:spcPts val="0"/>
              </a:spcBef>
              <a:spcAft>
                <a:spcPts val="0"/>
              </a:spcAft>
              <a:buNone/>
            </a:pPr>
            <a:r>
              <a:t/>
            </a:r>
            <a:endParaRPr b="1" sz="2000">
              <a:latin typeface="Comic Sans MS"/>
              <a:ea typeface="Comic Sans MS"/>
              <a:cs typeface="Comic Sans MS"/>
              <a:sym typeface="Comic Sans MS"/>
            </a:endParaRPr>
          </a:p>
          <a:p>
            <a:pPr indent="0" lvl="0" marL="0" rtl="0" algn="l">
              <a:spcBef>
                <a:spcPts val="0"/>
              </a:spcBef>
              <a:spcAft>
                <a:spcPts val="0"/>
              </a:spcAft>
              <a:buNone/>
            </a:pPr>
            <a:r>
              <a:rPr b="1" lang="en-US" sz="2000">
                <a:latin typeface="Comic Sans MS"/>
                <a:ea typeface="Comic Sans MS"/>
                <a:cs typeface="Comic Sans MS"/>
                <a:sym typeface="Comic Sans MS"/>
              </a:rPr>
              <a:t>It learns to extract features from the generator elements and fill the missing elements in the damaged images . </a:t>
            </a:r>
            <a:endParaRPr b="1" sz="2000">
              <a:latin typeface="Comic Sans MS"/>
              <a:ea typeface="Comic Sans MS"/>
              <a:cs typeface="Comic Sans MS"/>
              <a:sym typeface="Comic Sans MS"/>
            </a:endParaRPr>
          </a:p>
          <a:p>
            <a:pPr indent="0" lvl="0" marL="0" rtl="0" algn="l">
              <a:spcBef>
                <a:spcPts val="0"/>
              </a:spcBef>
              <a:spcAft>
                <a:spcPts val="0"/>
              </a:spcAft>
              <a:buNone/>
            </a:pPr>
            <a:r>
              <a:t/>
            </a:r>
            <a:endParaRPr b="1" sz="2000">
              <a:latin typeface="Comic Sans MS"/>
              <a:ea typeface="Comic Sans MS"/>
              <a:cs typeface="Comic Sans MS"/>
              <a:sym typeface="Comic Sans MS"/>
            </a:endParaRPr>
          </a:p>
          <a:p>
            <a:pPr indent="0" lvl="0" marL="0" rtl="0" algn="l">
              <a:spcBef>
                <a:spcPts val="0"/>
              </a:spcBef>
              <a:spcAft>
                <a:spcPts val="0"/>
              </a:spcAft>
              <a:buNone/>
            </a:pPr>
            <a:r>
              <a:rPr b="1" lang="en-US" sz="2000">
                <a:latin typeface="Comic Sans MS"/>
                <a:ea typeface="Comic Sans MS"/>
                <a:cs typeface="Comic Sans MS"/>
                <a:sym typeface="Comic Sans MS"/>
              </a:rPr>
              <a:t>Thus we get our restored images .</a:t>
            </a:r>
            <a:endParaRPr b="1" sz="2000">
              <a:latin typeface="Comic Sans MS"/>
              <a:ea typeface="Comic Sans MS"/>
              <a:cs typeface="Comic Sans MS"/>
              <a:sym typeface="Comic Sans M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2020-09-27T15:10:33Z</dcterms:created>
  <dc:creator>Parth Chhabra</dc:creator>
</cp:coreProperties>
</file>